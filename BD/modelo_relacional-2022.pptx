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ink/ink1.xml" ContentType="application/inkml+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49"/>
  </p:notesMasterIdLst>
  <p:handoutMasterIdLst>
    <p:handoutMasterId r:id="rId50"/>
  </p:handoutMasterIdLst>
  <p:sldIdLst>
    <p:sldId id="335" r:id="rId2"/>
    <p:sldId id="336" r:id="rId3"/>
    <p:sldId id="259" r:id="rId4"/>
    <p:sldId id="261" r:id="rId5"/>
    <p:sldId id="337" r:id="rId6"/>
    <p:sldId id="338" r:id="rId7"/>
    <p:sldId id="364" r:id="rId8"/>
    <p:sldId id="383" r:id="rId9"/>
    <p:sldId id="367" r:id="rId10"/>
    <p:sldId id="372" r:id="rId11"/>
    <p:sldId id="384" r:id="rId12"/>
    <p:sldId id="276" r:id="rId13"/>
    <p:sldId id="392" r:id="rId14"/>
    <p:sldId id="370" r:id="rId15"/>
    <p:sldId id="341" r:id="rId16"/>
    <p:sldId id="287" r:id="rId17"/>
    <p:sldId id="371" r:id="rId18"/>
    <p:sldId id="385" r:id="rId19"/>
    <p:sldId id="373" r:id="rId20"/>
    <p:sldId id="393" r:id="rId21"/>
    <p:sldId id="394" r:id="rId22"/>
    <p:sldId id="395" r:id="rId23"/>
    <p:sldId id="466" r:id="rId24"/>
    <p:sldId id="382" r:id="rId25"/>
    <p:sldId id="467" r:id="rId26"/>
    <p:sldId id="468" r:id="rId27"/>
    <p:sldId id="381" r:id="rId28"/>
    <p:sldId id="469" r:id="rId29"/>
    <p:sldId id="470" r:id="rId30"/>
    <p:sldId id="475" r:id="rId31"/>
    <p:sldId id="386" r:id="rId32"/>
    <p:sldId id="476" r:id="rId33"/>
    <p:sldId id="477" r:id="rId34"/>
    <p:sldId id="472" r:id="rId35"/>
    <p:sldId id="473" r:id="rId36"/>
    <p:sldId id="471" r:id="rId37"/>
    <p:sldId id="474" r:id="rId38"/>
    <p:sldId id="517" r:id="rId39"/>
    <p:sldId id="516" r:id="rId40"/>
    <p:sldId id="404" r:id="rId41"/>
    <p:sldId id="515" r:id="rId42"/>
    <p:sldId id="375" r:id="rId43"/>
    <p:sldId id="342" r:id="rId44"/>
    <p:sldId id="428" r:id="rId45"/>
    <p:sldId id="518" r:id="rId46"/>
    <p:sldId id="429" r:id="rId47"/>
    <p:sldId id="436" r:id="rId48"/>
  </p:sldIdLst>
  <p:sldSz cx="12192000" cy="6858000"/>
  <p:notesSz cx="6997700" cy="9283700"/>
  <p:custShowLst>
    <p:custShow name="Custom Show 1" id="0">
      <p:sldLst>
        <p:sld r:id="rId2"/>
      </p:sldLst>
    </p:custShow>
  </p:custShowLst>
  <p:defaultTextStyle>
    <a:defPPr>
      <a:defRPr lang="en-US"/>
    </a:defPPr>
    <a:lvl1pPr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5pPr>
    <a:lvl6pPr marL="22860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6pPr>
    <a:lvl7pPr marL="27432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7pPr>
    <a:lvl8pPr marL="32004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8pPr>
    <a:lvl9pPr marL="36576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707" userDrawn="1">
          <p15:clr>
            <a:srgbClr val="A4A3A4"/>
          </p15:clr>
        </p15:guide>
        <p15:guide id="2" pos="76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S Sudarshan" initials="SS" lastIdx="1" clrIdx="1">
    <p:extLst>
      <p:ext uri="{19B8F6BF-5375-455C-9EA6-DF929625EA0E}">
        <p15:presenceInfo xmlns:p15="http://schemas.microsoft.com/office/powerpoint/2012/main" userId="b463bc06a992a747"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EEFB"/>
    <a:srgbClr val="FF9933"/>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8" autoAdjust="0"/>
    <p:restoredTop sz="94377" autoAdjust="0"/>
  </p:normalViewPr>
  <p:slideViewPr>
    <p:cSldViewPr snapToGrid="0">
      <p:cViewPr varScale="1">
        <p:scale>
          <a:sx n="121" d="100"/>
          <a:sy n="121" d="100"/>
        </p:scale>
        <p:origin x="232" y="176"/>
      </p:cViewPr>
      <p:guideLst>
        <p:guide orient="horz" pos="707"/>
        <p:guide pos="768"/>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handoutMaster" Target="handoutMasters/handoutMaster1.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commentAuthors" Target="commentAuthor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7266" name="Rectangle 2">
            <a:extLst>
              <a:ext uri="{FF2B5EF4-FFF2-40B4-BE49-F238E27FC236}">
                <a16:creationId xmlns:a16="http://schemas.microsoft.com/office/drawing/2014/main" id="{C6EF5354-BFFB-44DF-8FA7-1A088153BD87}"/>
              </a:ext>
            </a:extLst>
          </p:cNvPr>
          <p:cNvSpPr>
            <a:spLocks noGrp="1" noChangeArrowheads="1"/>
          </p:cNvSpPr>
          <p:nvPr>
            <p:ph type="hdr" sz="quarter"/>
          </p:nvPr>
        </p:nvSpPr>
        <p:spPr bwMode="auto">
          <a:xfrm>
            <a:off x="0" y="0"/>
            <a:ext cx="3032125" cy="463550"/>
          </a:xfrm>
          <a:prstGeom prst="rect">
            <a:avLst/>
          </a:prstGeom>
          <a:noFill/>
          <a:ln w="9525">
            <a:noFill/>
            <a:miter lim="800000"/>
            <a:headEnd/>
            <a:tailEnd/>
          </a:ln>
          <a:effectLst/>
        </p:spPr>
        <p:txBody>
          <a:bodyPr vert="horz" wrap="square" lIns="93027" tIns="46514" rIns="93027" bIns="46514" numCol="1" anchor="t" anchorCtr="0" compatLnSpc="1">
            <a:prstTxWarp prst="textNoShape">
              <a:avLst/>
            </a:prstTxWarp>
          </a:bodyPr>
          <a:lstStyle>
            <a:lvl1pPr defTabSz="930275">
              <a:defRPr sz="1300">
                <a:latin typeface="Helvetica" charset="0"/>
                <a:ea typeface="+mn-ea"/>
                <a:cs typeface="+mn-cs"/>
              </a:defRPr>
            </a:lvl1pPr>
          </a:lstStyle>
          <a:p>
            <a:pPr>
              <a:defRPr/>
            </a:pPr>
            <a:endParaRPr lang="en-US"/>
          </a:p>
        </p:txBody>
      </p:sp>
      <p:sp>
        <p:nvSpPr>
          <p:cNvPr id="267267" name="Rectangle 3">
            <a:extLst>
              <a:ext uri="{FF2B5EF4-FFF2-40B4-BE49-F238E27FC236}">
                <a16:creationId xmlns:a16="http://schemas.microsoft.com/office/drawing/2014/main" id="{5BBF6CF9-ADFE-4F6E-89A0-8CB582D8FFC5}"/>
              </a:ext>
            </a:extLst>
          </p:cNvPr>
          <p:cNvSpPr>
            <a:spLocks noGrp="1" noChangeArrowheads="1"/>
          </p:cNvSpPr>
          <p:nvPr>
            <p:ph type="dt" sz="quarter" idx="1"/>
          </p:nvPr>
        </p:nvSpPr>
        <p:spPr bwMode="auto">
          <a:xfrm>
            <a:off x="3965575" y="0"/>
            <a:ext cx="3032125" cy="463550"/>
          </a:xfrm>
          <a:prstGeom prst="rect">
            <a:avLst/>
          </a:prstGeom>
          <a:noFill/>
          <a:ln w="9525">
            <a:noFill/>
            <a:miter lim="800000"/>
            <a:headEnd/>
            <a:tailEnd/>
          </a:ln>
          <a:effectLst/>
        </p:spPr>
        <p:txBody>
          <a:bodyPr vert="horz" wrap="square" lIns="93027" tIns="46514" rIns="93027" bIns="46514" numCol="1" anchor="t" anchorCtr="0" compatLnSpc="1">
            <a:prstTxWarp prst="textNoShape">
              <a:avLst/>
            </a:prstTxWarp>
          </a:bodyPr>
          <a:lstStyle>
            <a:lvl1pPr algn="r" defTabSz="930275">
              <a:defRPr sz="1300">
                <a:latin typeface="Helvetica" charset="0"/>
                <a:ea typeface="+mn-ea"/>
                <a:cs typeface="+mn-cs"/>
              </a:defRPr>
            </a:lvl1pPr>
          </a:lstStyle>
          <a:p>
            <a:pPr>
              <a:defRPr/>
            </a:pPr>
            <a:endParaRPr lang="en-US"/>
          </a:p>
        </p:txBody>
      </p:sp>
      <p:sp>
        <p:nvSpPr>
          <p:cNvPr id="267268" name="Rectangle 4">
            <a:extLst>
              <a:ext uri="{FF2B5EF4-FFF2-40B4-BE49-F238E27FC236}">
                <a16:creationId xmlns:a16="http://schemas.microsoft.com/office/drawing/2014/main" id="{8C120FC7-7BCE-4696-BB5D-C087861E4B4E}"/>
              </a:ext>
            </a:extLst>
          </p:cNvPr>
          <p:cNvSpPr>
            <a:spLocks noGrp="1" noChangeArrowheads="1"/>
          </p:cNvSpPr>
          <p:nvPr>
            <p:ph type="ftr" sz="quarter" idx="2"/>
          </p:nvPr>
        </p:nvSpPr>
        <p:spPr bwMode="auto">
          <a:xfrm>
            <a:off x="0" y="8820150"/>
            <a:ext cx="3032125" cy="463550"/>
          </a:xfrm>
          <a:prstGeom prst="rect">
            <a:avLst/>
          </a:prstGeom>
          <a:noFill/>
          <a:ln w="9525">
            <a:noFill/>
            <a:miter lim="800000"/>
            <a:headEnd/>
            <a:tailEnd/>
          </a:ln>
          <a:effectLst/>
        </p:spPr>
        <p:txBody>
          <a:bodyPr vert="horz" wrap="square" lIns="93027" tIns="46514" rIns="93027" bIns="46514" numCol="1" anchor="b" anchorCtr="0" compatLnSpc="1">
            <a:prstTxWarp prst="textNoShape">
              <a:avLst/>
            </a:prstTxWarp>
          </a:bodyPr>
          <a:lstStyle>
            <a:lvl1pPr defTabSz="930275">
              <a:defRPr sz="1300">
                <a:latin typeface="Helvetica" charset="0"/>
                <a:ea typeface="+mn-ea"/>
                <a:cs typeface="+mn-cs"/>
              </a:defRPr>
            </a:lvl1pPr>
          </a:lstStyle>
          <a:p>
            <a:pPr>
              <a:defRPr/>
            </a:pPr>
            <a:endParaRPr lang="en-US"/>
          </a:p>
        </p:txBody>
      </p:sp>
      <p:sp>
        <p:nvSpPr>
          <p:cNvPr id="267269" name="Rectangle 5">
            <a:extLst>
              <a:ext uri="{FF2B5EF4-FFF2-40B4-BE49-F238E27FC236}">
                <a16:creationId xmlns:a16="http://schemas.microsoft.com/office/drawing/2014/main" id="{6735A123-7D3E-455E-AB82-1C3749BB052A}"/>
              </a:ext>
            </a:extLst>
          </p:cNvPr>
          <p:cNvSpPr>
            <a:spLocks noGrp="1" noChangeArrowheads="1"/>
          </p:cNvSpPr>
          <p:nvPr>
            <p:ph type="sldNum" sz="quarter" idx="3"/>
          </p:nvPr>
        </p:nvSpPr>
        <p:spPr bwMode="auto">
          <a:xfrm>
            <a:off x="3965575" y="8820150"/>
            <a:ext cx="3032125" cy="463550"/>
          </a:xfrm>
          <a:prstGeom prst="rect">
            <a:avLst/>
          </a:prstGeom>
          <a:noFill/>
          <a:ln w="9525">
            <a:noFill/>
            <a:miter lim="800000"/>
            <a:headEnd/>
            <a:tailEnd/>
          </a:ln>
          <a:effectLst/>
        </p:spPr>
        <p:txBody>
          <a:bodyPr vert="horz" wrap="square" lIns="93027" tIns="46514" rIns="93027" bIns="46514" numCol="1" anchor="b" anchorCtr="0" compatLnSpc="1">
            <a:prstTxWarp prst="textNoShape">
              <a:avLst/>
            </a:prstTxWarp>
          </a:bodyPr>
          <a:lstStyle>
            <a:lvl1pPr algn="r" defTabSz="930275">
              <a:defRPr sz="1300"/>
            </a:lvl1pPr>
          </a:lstStyle>
          <a:p>
            <a:pPr>
              <a:defRPr/>
            </a:pPr>
            <a:fld id="{A8B4C920-550B-4EA7-9CB5-2D8883A273BF}"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9-08T08:31:18.166"/>
    </inkml:context>
    <inkml:brush xml:id="br0">
      <inkml:brushProperty name="width" value="0.05" units="cm"/>
      <inkml:brushProperty name="height" value="0.05" units="cm"/>
      <inkml:brushProperty name="color" value="#E71224"/>
    </inkml:brush>
  </inkml:definitions>
  <inkml:trace contextRef="#ctx0" brushRef="#br0">1 1 24575,'0'0'0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0642" name="Rectangle 2">
            <a:extLst>
              <a:ext uri="{FF2B5EF4-FFF2-40B4-BE49-F238E27FC236}">
                <a16:creationId xmlns:a16="http://schemas.microsoft.com/office/drawing/2014/main" id="{2E8AF117-EF14-4BF3-AB7D-D75C4F934CCD}"/>
              </a:ext>
            </a:extLst>
          </p:cNvPr>
          <p:cNvSpPr>
            <a:spLocks noGrp="1" noChangeArrowheads="1"/>
          </p:cNvSpPr>
          <p:nvPr>
            <p:ph type="hdr" sz="quarter"/>
          </p:nvPr>
        </p:nvSpPr>
        <p:spPr bwMode="auto">
          <a:xfrm>
            <a:off x="0" y="0"/>
            <a:ext cx="3032125" cy="463550"/>
          </a:xfrm>
          <a:prstGeom prst="rect">
            <a:avLst/>
          </a:prstGeom>
          <a:noFill/>
          <a:ln w="9525">
            <a:noFill/>
            <a:miter lim="800000"/>
            <a:headEnd/>
            <a:tailEnd/>
          </a:ln>
          <a:effectLst/>
        </p:spPr>
        <p:txBody>
          <a:bodyPr vert="horz" wrap="none" lIns="93027" tIns="46514" rIns="93027" bIns="46514" numCol="1" anchor="t" anchorCtr="0" compatLnSpc="1">
            <a:prstTxWarp prst="textNoShape">
              <a:avLst/>
            </a:prstTxWarp>
          </a:bodyPr>
          <a:lstStyle>
            <a:lvl1pPr defTabSz="930275">
              <a:defRPr sz="1300">
                <a:latin typeface="Helvetica" charset="0"/>
                <a:ea typeface="+mn-ea"/>
                <a:cs typeface="+mn-cs"/>
              </a:defRPr>
            </a:lvl1pPr>
          </a:lstStyle>
          <a:p>
            <a:pPr>
              <a:defRPr/>
            </a:pPr>
            <a:endParaRPr lang="en-US"/>
          </a:p>
        </p:txBody>
      </p:sp>
      <p:sp>
        <p:nvSpPr>
          <p:cNvPr id="240643" name="Rectangle 3">
            <a:extLst>
              <a:ext uri="{FF2B5EF4-FFF2-40B4-BE49-F238E27FC236}">
                <a16:creationId xmlns:a16="http://schemas.microsoft.com/office/drawing/2014/main" id="{D7D2DA5C-BED3-45D1-AFD2-94AF29863ABC}"/>
              </a:ext>
            </a:extLst>
          </p:cNvPr>
          <p:cNvSpPr>
            <a:spLocks noGrp="1" noChangeArrowheads="1"/>
          </p:cNvSpPr>
          <p:nvPr>
            <p:ph type="dt" idx="1"/>
          </p:nvPr>
        </p:nvSpPr>
        <p:spPr bwMode="auto">
          <a:xfrm>
            <a:off x="3965575" y="0"/>
            <a:ext cx="3032125" cy="463550"/>
          </a:xfrm>
          <a:prstGeom prst="rect">
            <a:avLst/>
          </a:prstGeom>
          <a:noFill/>
          <a:ln w="9525">
            <a:noFill/>
            <a:miter lim="800000"/>
            <a:headEnd/>
            <a:tailEnd/>
          </a:ln>
          <a:effectLst/>
        </p:spPr>
        <p:txBody>
          <a:bodyPr vert="horz" wrap="none" lIns="93027" tIns="46514" rIns="93027" bIns="46514" numCol="1" anchor="t" anchorCtr="0" compatLnSpc="1">
            <a:prstTxWarp prst="textNoShape">
              <a:avLst/>
            </a:prstTxWarp>
          </a:bodyPr>
          <a:lstStyle>
            <a:lvl1pPr algn="r" defTabSz="930275">
              <a:defRPr sz="1300">
                <a:latin typeface="Helvetica" charset="0"/>
                <a:ea typeface="+mn-ea"/>
                <a:cs typeface="+mn-cs"/>
              </a:defRPr>
            </a:lvl1pPr>
          </a:lstStyle>
          <a:p>
            <a:pPr>
              <a:defRPr/>
            </a:pPr>
            <a:endParaRPr lang="en-US"/>
          </a:p>
        </p:txBody>
      </p:sp>
      <p:sp>
        <p:nvSpPr>
          <p:cNvPr id="3076" name="Rectangle 4">
            <a:extLst>
              <a:ext uri="{FF2B5EF4-FFF2-40B4-BE49-F238E27FC236}">
                <a16:creationId xmlns:a16="http://schemas.microsoft.com/office/drawing/2014/main" id="{A2936E5F-4C9B-4144-9261-C3F188AA67D9}"/>
              </a:ext>
            </a:extLst>
          </p:cNvPr>
          <p:cNvSpPr>
            <a:spLocks noGrp="1" noRot="1" noChangeAspect="1" noChangeArrowheads="1" noTextEdit="1"/>
          </p:cNvSpPr>
          <p:nvPr>
            <p:ph type="sldImg" idx="2"/>
          </p:nvPr>
        </p:nvSpPr>
        <p:spPr bwMode="auto">
          <a:xfrm>
            <a:off x="404813" y="696913"/>
            <a:ext cx="6188075" cy="34813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0645" name="Rectangle 5">
            <a:extLst>
              <a:ext uri="{FF2B5EF4-FFF2-40B4-BE49-F238E27FC236}">
                <a16:creationId xmlns:a16="http://schemas.microsoft.com/office/drawing/2014/main" id="{D73F14C5-05F8-4300-9D01-F3633C854740}"/>
              </a:ext>
            </a:extLst>
          </p:cNvPr>
          <p:cNvSpPr>
            <a:spLocks noGrp="1" noChangeArrowheads="1"/>
          </p:cNvSpPr>
          <p:nvPr>
            <p:ph type="body" sz="quarter" idx="3"/>
          </p:nvPr>
        </p:nvSpPr>
        <p:spPr bwMode="auto">
          <a:xfrm>
            <a:off x="931863" y="4410075"/>
            <a:ext cx="5133975" cy="4176713"/>
          </a:xfrm>
          <a:prstGeom prst="rect">
            <a:avLst/>
          </a:prstGeom>
          <a:noFill/>
          <a:ln w="9525">
            <a:noFill/>
            <a:miter lim="800000"/>
            <a:headEnd/>
            <a:tailEnd/>
          </a:ln>
          <a:effectLst/>
        </p:spPr>
        <p:txBody>
          <a:bodyPr vert="horz" wrap="none" lIns="93027" tIns="46514" rIns="93027" bIns="46514"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40646" name="Rectangle 6">
            <a:extLst>
              <a:ext uri="{FF2B5EF4-FFF2-40B4-BE49-F238E27FC236}">
                <a16:creationId xmlns:a16="http://schemas.microsoft.com/office/drawing/2014/main" id="{BCB6CAD9-A006-4455-8054-9CACB290288C}"/>
              </a:ext>
            </a:extLst>
          </p:cNvPr>
          <p:cNvSpPr>
            <a:spLocks noGrp="1" noChangeArrowheads="1"/>
          </p:cNvSpPr>
          <p:nvPr>
            <p:ph type="ftr" sz="quarter" idx="4"/>
          </p:nvPr>
        </p:nvSpPr>
        <p:spPr bwMode="auto">
          <a:xfrm>
            <a:off x="0" y="8820150"/>
            <a:ext cx="3032125" cy="463550"/>
          </a:xfrm>
          <a:prstGeom prst="rect">
            <a:avLst/>
          </a:prstGeom>
          <a:noFill/>
          <a:ln w="9525">
            <a:noFill/>
            <a:miter lim="800000"/>
            <a:headEnd/>
            <a:tailEnd/>
          </a:ln>
          <a:effectLst/>
        </p:spPr>
        <p:txBody>
          <a:bodyPr vert="horz" wrap="none" lIns="93027" tIns="46514" rIns="93027" bIns="46514" numCol="1" anchor="b" anchorCtr="0" compatLnSpc="1">
            <a:prstTxWarp prst="textNoShape">
              <a:avLst/>
            </a:prstTxWarp>
          </a:bodyPr>
          <a:lstStyle>
            <a:lvl1pPr defTabSz="930275">
              <a:defRPr sz="1300">
                <a:latin typeface="Helvetica" charset="0"/>
                <a:ea typeface="+mn-ea"/>
                <a:cs typeface="+mn-cs"/>
              </a:defRPr>
            </a:lvl1pPr>
          </a:lstStyle>
          <a:p>
            <a:pPr>
              <a:defRPr/>
            </a:pPr>
            <a:endParaRPr lang="en-US"/>
          </a:p>
        </p:txBody>
      </p:sp>
      <p:sp>
        <p:nvSpPr>
          <p:cNvPr id="240647" name="Rectangle 7">
            <a:extLst>
              <a:ext uri="{FF2B5EF4-FFF2-40B4-BE49-F238E27FC236}">
                <a16:creationId xmlns:a16="http://schemas.microsoft.com/office/drawing/2014/main" id="{63060AD7-0C3D-477B-BD60-55C8EBDB9451}"/>
              </a:ext>
            </a:extLst>
          </p:cNvPr>
          <p:cNvSpPr>
            <a:spLocks noGrp="1" noChangeArrowheads="1"/>
          </p:cNvSpPr>
          <p:nvPr>
            <p:ph type="sldNum" sz="quarter" idx="5"/>
          </p:nvPr>
        </p:nvSpPr>
        <p:spPr bwMode="auto">
          <a:xfrm>
            <a:off x="3965575" y="8820150"/>
            <a:ext cx="3032125" cy="463550"/>
          </a:xfrm>
          <a:prstGeom prst="rect">
            <a:avLst/>
          </a:prstGeom>
          <a:noFill/>
          <a:ln w="9525">
            <a:noFill/>
            <a:miter lim="800000"/>
            <a:headEnd/>
            <a:tailEnd/>
          </a:ln>
          <a:effectLst/>
        </p:spPr>
        <p:txBody>
          <a:bodyPr vert="horz" wrap="none" lIns="93027" tIns="46514" rIns="93027" bIns="46514" numCol="1" anchor="b" anchorCtr="0" compatLnSpc="1">
            <a:prstTxWarp prst="textNoShape">
              <a:avLst/>
            </a:prstTxWarp>
          </a:bodyPr>
          <a:lstStyle>
            <a:lvl1pPr algn="r" defTabSz="930275">
              <a:defRPr sz="1300"/>
            </a:lvl1pPr>
          </a:lstStyle>
          <a:p>
            <a:pPr>
              <a:defRPr/>
            </a:pPr>
            <a:fld id="{AE66C03C-4B0E-4149-8287-A3B340EB818D}"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ＭＳ Ｐゴシック" charset="0"/>
      </a:defRPr>
    </a:lvl1pPr>
    <a:lvl2pPr marL="4572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1DE2DCE1-2EFC-4C42-8DFC-CBA6F33233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1637794-A468-4EC6-9DD2-8F932E639220}" type="slidenum">
              <a:rPr lang="en-US" altLang="en-US" sz="1300" smtClean="0"/>
              <a:pPr/>
              <a:t>1</a:t>
            </a:fld>
            <a:endParaRPr lang="en-US" altLang="en-US" sz="1300" dirty="0"/>
          </a:p>
        </p:txBody>
      </p:sp>
      <p:sp>
        <p:nvSpPr>
          <p:cNvPr id="6147" name="Rectangle 2">
            <a:extLst>
              <a:ext uri="{FF2B5EF4-FFF2-40B4-BE49-F238E27FC236}">
                <a16:creationId xmlns:a16="http://schemas.microsoft.com/office/drawing/2014/main" id="{607B12F9-7FC5-42D0-9964-0865785D1C17}"/>
              </a:ext>
            </a:extLst>
          </p:cNvPr>
          <p:cNvSpPr>
            <a:spLocks noGrp="1" noRot="1" noChangeAspect="1" noChangeArrowheads="1" noTextEdit="1"/>
          </p:cNvSpPr>
          <p:nvPr>
            <p:ph type="sldImg"/>
          </p:nvPr>
        </p:nvSpPr>
        <p:spPr>
          <a:xfrm>
            <a:off x="404813" y="696913"/>
            <a:ext cx="6188075" cy="3481387"/>
          </a:xfrm>
          <a:ln/>
        </p:spPr>
      </p:sp>
      <p:sp>
        <p:nvSpPr>
          <p:cNvPr id="6148" name="Rectangle 3">
            <a:extLst>
              <a:ext uri="{FF2B5EF4-FFF2-40B4-BE49-F238E27FC236}">
                <a16:creationId xmlns:a16="http://schemas.microsoft.com/office/drawing/2014/main" id="{2BC6D4DE-B9DA-4FD2-A997-14A566E8D5B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001" eaLnBrk="0" hangingPunct="0">
              <a:defRPr sz="2400">
                <a:solidFill>
                  <a:schemeClr val="tx1"/>
                </a:solidFill>
                <a:latin typeface="Helvetica" panose="020B0604020202020204" pitchFamily="34" charset="0"/>
                <a:ea typeface="MS PGothic" panose="020B0600070205080204" pitchFamily="34" charset="-128"/>
              </a:defRPr>
            </a:lvl1pPr>
            <a:lvl2pPr marL="734863" indent="-282640" defTabSz="928001" eaLnBrk="0" hangingPunct="0">
              <a:defRPr sz="2400">
                <a:solidFill>
                  <a:schemeClr val="tx1"/>
                </a:solidFill>
                <a:latin typeface="Helvetica" panose="020B0604020202020204" pitchFamily="34" charset="0"/>
                <a:ea typeface="MS PGothic" panose="020B0600070205080204" pitchFamily="34" charset="-128"/>
              </a:defRPr>
            </a:lvl2pPr>
            <a:lvl3pPr marL="1130558" indent="-226112" defTabSz="928001" eaLnBrk="0" hangingPunct="0">
              <a:defRPr sz="2400">
                <a:solidFill>
                  <a:schemeClr val="tx1"/>
                </a:solidFill>
                <a:latin typeface="Helvetica" panose="020B0604020202020204" pitchFamily="34" charset="0"/>
                <a:ea typeface="MS PGothic" panose="020B0600070205080204" pitchFamily="34" charset="-128"/>
              </a:defRPr>
            </a:lvl3pPr>
            <a:lvl4pPr marL="1582781" indent="-226112" defTabSz="928001" eaLnBrk="0" hangingPunct="0">
              <a:defRPr sz="2400">
                <a:solidFill>
                  <a:schemeClr val="tx1"/>
                </a:solidFill>
                <a:latin typeface="Helvetica" panose="020B0604020202020204" pitchFamily="34" charset="0"/>
                <a:ea typeface="MS PGothic" panose="020B0600070205080204" pitchFamily="34" charset="-128"/>
              </a:defRPr>
            </a:lvl4pPr>
            <a:lvl5pPr marL="2035005" indent="-226112" defTabSz="928001" eaLnBrk="0" hangingPunct="0">
              <a:defRPr sz="2400">
                <a:solidFill>
                  <a:schemeClr val="tx1"/>
                </a:solidFill>
                <a:latin typeface="Helvetica" panose="020B0604020202020204" pitchFamily="34" charset="0"/>
                <a:ea typeface="MS PGothic" panose="020B0600070205080204" pitchFamily="34" charset="-128"/>
              </a:defRPr>
            </a:lvl5pPr>
            <a:lvl6pPr marL="248722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39451"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391675"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4389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fld id="{A5814F0E-33C5-4FFC-97A8-A1EDBAA0258F}" type="slidenum">
              <a:rPr lang="en-US" altLang="en-US" sz="1200"/>
              <a:pPr/>
              <a:t>2</a:t>
            </a:fld>
            <a:endParaRPr lang="en-US" altLang="en-US" sz="1200" dirty="0"/>
          </a:p>
        </p:txBody>
      </p:sp>
      <p:sp>
        <p:nvSpPr>
          <p:cNvPr id="72706" name="Rectangle 2"/>
          <p:cNvSpPr>
            <a:spLocks noChangeArrowheads="1"/>
          </p:cNvSpPr>
          <p:nvPr/>
        </p:nvSpPr>
        <p:spPr bwMode="auto">
          <a:xfrm>
            <a:off x="3965991" y="1"/>
            <a:ext cx="3031710" cy="462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286" tIns="45643" rIns="91286" bIns="45643" anchor="ct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endParaRPr lang="en-US" altLang="en-US" sz="1800" dirty="0"/>
          </a:p>
        </p:txBody>
      </p:sp>
      <p:sp>
        <p:nvSpPr>
          <p:cNvPr id="72707" name="Rectangle 3"/>
          <p:cNvSpPr>
            <a:spLocks noChangeArrowheads="1"/>
          </p:cNvSpPr>
          <p:nvPr/>
        </p:nvSpPr>
        <p:spPr bwMode="auto">
          <a:xfrm>
            <a:off x="3965991" y="8821402"/>
            <a:ext cx="3031710" cy="462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903" tIns="45146" rIns="91903" bIns="45146" anchor="b"/>
          <a:lstStyle>
            <a:lvl1pPr defTabSz="930275" eaLnBrk="0" hangingPunct="0">
              <a:defRPr sz="2400">
                <a:solidFill>
                  <a:schemeClr val="tx1"/>
                </a:solidFill>
                <a:latin typeface="Helvetica" panose="020B0604020202020204" pitchFamily="34" charset="0"/>
                <a:ea typeface="MS PGothic" panose="020B0600070205080204" pitchFamily="34" charset="-128"/>
              </a:defRPr>
            </a:lvl1pPr>
            <a:lvl2pPr marL="742950" indent="-285750" defTabSz="930275"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defTabSz="930275"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defTabSz="930275"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defTabSz="930275"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pPr algn="r"/>
            <a:r>
              <a:rPr lang="en-US" altLang="en-US" sz="1300" dirty="0">
                <a:latin typeface="Times New Roman" panose="02020603050405020304" pitchFamily="18" charset="0"/>
              </a:rPr>
              <a:t>1</a:t>
            </a:r>
          </a:p>
        </p:txBody>
      </p:sp>
      <p:sp>
        <p:nvSpPr>
          <p:cNvPr id="72708" name="Rectangle 4"/>
          <p:cNvSpPr>
            <a:spLocks noChangeArrowheads="1"/>
          </p:cNvSpPr>
          <p:nvPr/>
        </p:nvSpPr>
        <p:spPr bwMode="auto">
          <a:xfrm>
            <a:off x="0" y="8821402"/>
            <a:ext cx="3031710" cy="462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286" tIns="45643" rIns="91286" bIns="45643" anchor="ct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endParaRPr lang="en-US" altLang="en-US" sz="1800" dirty="0"/>
          </a:p>
        </p:txBody>
      </p:sp>
      <p:sp>
        <p:nvSpPr>
          <p:cNvPr id="72709" name="Rectangle 5"/>
          <p:cNvSpPr>
            <a:spLocks noChangeArrowheads="1"/>
          </p:cNvSpPr>
          <p:nvPr/>
        </p:nvSpPr>
        <p:spPr bwMode="auto">
          <a:xfrm>
            <a:off x="0" y="1"/>
            <a:ext cx="3031710" cy="462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286" tIns="45643" rIns="91286" bIns="45643" anchor="ct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endParaRPr lang="en-US" altLang="en-US" sz="1800" dirty="0"/>
          </a:p>
        </p:txBody>
      </p:sp>
      <p:sp>
        <p:nvSpPr>
          <p:cNvPr id="72710" name="Rectangle 6"/>
          <p:cNvSpPr>
            <a:spLocks noGrp="1" noRot="1" noChangeAspect="1" noChangeArrowheads="1" noTextEdit="1"/>
          </p:cNvSpPr>
          <p:nvPr>
            <p:ph type="sldImg"/>
          </p:nvPr>
        </p:nvSpPr>
        <p:spPr>
          <a:xfrm>
            <a:off x="417513" y="703263"/>
            <a:ext cx="6162675" cy="3467100"/>
          </a:xfrm>
          <a:ln w="12700" cap="flat"/>
        </p:spPr>
      </p:sp>
      <p:sp>
        <p:nvSpPr>
          <p:cNvPr id="72711" name="Rectangle 7"/>
          <p:cNvSpPr>
            <a:spLocks noGrp="1" noChangeArrowheads="1"/>
          </p:cNvSpPr>
          <p:nvPr>
            <p:ph type="body" idx="1"/>
          </p:nvPr>
        </p:nvSpPr>
        <p:spPr>
          <a:xfrm>
            <a:off x="931146" y="4410702"/>
            <a:ext cx="5135409" cy="417483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903" tIns="45146" rIns="91903" bIns="45146" anchor="ctr"/>
          <a:lstStyle/>
          <a:p>
            <a:endParaRPr lang="en-US"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2225" name="Text Box 1">
            <a:extLst>
              <a:ext uri="{FF2B5EF4-FFF2-40B4-BE49-F238E27FC236}">
                <a16:creationId xmlns:a16="http://schemas.microsoft.com/office/drawing/2014/main" id="{538FBDD6-5805-404B-984E-A5214F3AC5C7}"/>
              </a:ext>
            </a:extLst>
          </p:cNvPr>
          <p:cNvSpPr>
            <a:spLocks noGrp="1" noRot="1" noChangeAspect="1" noChangeArrowheads="1"/>
          </p:cNvSpPr>
          <p:nvPr>
            <p:ph type="sldImg"/>
          </p:nvPr>
        </p:nvSpPr>
        <p:spPr>
          <a:xfrm>
            <a:off x="381000" y="685800"/>
            <a:ext cx="6096000" cy="3429000"/>
          </a:xfrm>
          <a:solidFill>
            <a:srgbClr val="FFFFFF"/>
          </a:solidFill>
          <a:ln>
            <a:solidFill>
              <a:srgbClr val="000000"/>
            </a:solidFill>
            <a:miter lim="800000"/>
            <a:headEnd/>
            <a:tailEnd/>
          </a:ln>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52226" name="Text Box 2">
            <a:extLst>
              <a:ext uri="{FF2B5EF4-FFF2-40B4-BE49-F238E27FC236}">
                <a16:creationId xmlns:a16="http://schemas.microsoft.com/office/drawing/2014/main" id="{3D4CD9BE-B387-FA4B-A2D6-6EAADD81D58E}"/>
              </a:ext>
            </a:extLst>
          </p:cNvPr>
          <p:cNvSpPr>
            <a:spLocks noGrp="1" noChangeArrowheads="1"/>
          </p:cNvSpPr>
          <p:nvPr>
            <p:ph type="body" idx="1"/>
          </p:nvPr>
        </p:nvSpPr>
        <p:spPr>
          <a:xfrm>
            <a:off x="685800" y="4343400"/>
            <a:ext cx="5481638" cy="41116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pPr>
              <a:buFont typeface="Times New Roman" charset="0"/>
              <a:buNone/>
              <a:defRPr/>
            </a:pPr>
            <a:endParaRPr lang="pt-PT">
              <a:cs typeface="+mn-cs"/>
            </a:endParaRPr>
          </a:p>
        </p:txBody>
      </p:sp>
    </p:spTree>
    <p:extLst>
      <p:ext uri="{BB962C8B-B14F-4D97-AF65-F5344CB8AC3E}">
        <p14:creationId xmlns:p14="http://schemas.microsoft.com/office/powerpoint/2010/main" val="14931226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4273" name="Text Box 1">
            <a:extLst>
              <a:ext uri="{FF2B5EF4-FFF2-40B4-BE49-F238E27FC236}">
                <a16:creationId xmlns:a16="http://schemas.microsoft.com/office/drawing/2014/main" id="{DC1470CA-327B-BD40-9D20-45855F61ECB1}"/>
              </a:ext>
            </a:extLst>
          </p:cNvPr>
          <p:cNvSpPr>
            <a:spLocks noGrp="1" noRot="1" noChangeAspect="1" noChangeArrowheads="1"/>
          </p:cNvSpPr>
          <p:nvPr>
            <p:ph type="sldImg"/>
          </p:nvPr>
        </p:nvSpPr>
        <p:spPr>
          <a:xfrm>
            <a:off x="381000" y="685800"/>
            <a:ext cx="6096000" cy="3429000"/>
          </a:xfrm>
          <a:solidFill>
            <a:srgbClr val="FFFFFF"/>
          </a:solidFill>
          <a:ln>
            <a:solidFill>
              <a:srgbClr val="000000"/>
            </a:solidFill>
            <a:miter lim="800000"/>
            <a:headEnd/>
            <a:tailEnd/>
          </a:ln>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54274" name="Text Box 2">
            <a:extLst>
              <a:ext uri="{FF2B5EF4-FFF2-40B4-BE49-F238E27FC236}">
                <a16:creationId xmlns:a16="http://schemas.microsoft.com/office/drawing/2014/main" id="{6066B48D-4213-C846-8655-5E00759B737C}"/>
              </a:ext>
            </a:extLst>
          </p:cNvPr>
          <p:cNvSpPr>
            <a:spLocks noGrp="1" noChangeArrowheads="1"/>
          </p:cNvSpPr>
          <p:nvPr>
            <p:ph type="body" idx="1"/>
          </p:nvPr>
        </p:nvSpPr>
        <p:spPr>
          <a:xfrm>
            <a:off x="685800" y="4343400"/>
            <a:ext cx="5481638" cy="41116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pPr>
              <a:buFont typeface="Times New Roman" charset="0"/>
              <a:buNone/>
              <a:defRPr/>
            </a:pPr>
            <a:endParaRPr lang="pt-PT">
              <a:cs typeface="+mn-cs"/>
            </a:endParaRPr>
          </a:p>
        </p:txBody>
      </p:sp>
    </p:spTree>
    <p:extLst>
      <p:ext uri="{BB962C8B-B14F-4D97-AF65-F5344CB8AC3E}">
        <p14:creationId xmlns:p14="http://schemas.microsoft.com/office/powerpoint/2010/main" val="31306888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787" eaLnBrk="0" hangingPunct="0">
              <a:defRPr sz="1600">
                <a:solidFill>
                  <a:schemeClr val="tx1"/>
                </a:solidFill>
                <a:latin typeface="Helvetica" panose="020B0604020202020204" pitchFamily="34" charset="0"/>
                <a:ea typeface="MS PGothic" panose="020B0600070205080204" pitchFamily="34" charset="-128"/>
              </a:defRPr>
            </a:lvl1pPr>
            <a:lvl2pPr marL="741761" indent="-285293" defTabSz="928787" eaLnBrk="0" hangingPunct="0">
              <a:defRPr sz="1600">
                <a:solidFill>
                  <a:schemeClr val="tx1"/>
                </a:solidFill>
                <a:latin typeface="Helvetica" panose="020B0604020202020204" pitchFamily="34" charset="0"/>
                <a:ea typeface="MS PGothic" panose="020B0600070205080204" pitchFamily="34" charset="-128"/>
              </a:defRPr>
            </a:lvl2pPr>
            <a:lvl3pPr marL="1141171" indent="-228234" defTabSz="928787" eaLnBrk="0" hangingPunct="0">
              <a:defRPr sz="1600">
                <a:solidFill>
                  <a:schemeClr val="tx1"/>
                </a:solidFill>
                <a:latin typeface="Helvetica" panose="020B0604020202020204" pitchFamily="34" charset="0"/>
                <a:ea typeface="MS PGothic" panose="020B0600070205080204" pitchFamily="34" charset="-128"/>
              </a:defRPr>
            </a:lvl3pPr>
            <a:lvl4pPr marL="1597640" indent="-228234" defTabSz="928787" eaLnBrk="0" hangingPunct="0">
              <a:defRPr sz="1600">
                <a:solidFill>
                  <a:schemeClr val="tx1"/>
                </a:solidFill>
                <a:latin typeface="Helvetica" panose="020B0604020202020204" pitchFamily="34" charset="0"/>
                <a:ea typeface="MS PGothic" panose="020B0600070205080204" pitchFamily="34" charset="-128"/>
              </a:defRPr>
            </a:lvl4pPr>
            <a:lvl5pPr marL="2054108" indent="-228234" defTabSz="928787" eaLnBrk="0" hangingPunct="0">
              <a:defRPr sz="1600">
                <a:solidFill>
                  <a:schemeClr val="tx1"/>
                </a:solidFill>
                <a:latin typeface="Helvetica" panose="020B0604020202020204" pitchFamily="34" charset="0"/>
                <a:ea typeface="MS PGothic" panose="020B0600070205080204" pitchFamily="34" charset="-128"/>
              </a:defRPr>
            </a:lvl5pPr>
            <a:lvl6pPr marL="2510577"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67045"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3514"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79982"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B24B64C8-56F4-412C-A096-460A1996127B}" type="slidenum">
              <a:rPr lang="en-US" altLang="en-US" sz="1200"/>
              <a:pPr/>
              <a:t>5</a:t>
            </a:fld>
            <a:endParaRPr lang="en-US" altLang="en-US" sz="1200"/>
          </a:p>
        </p:txBody>
      </p:sp>
      <p:sp>
        <p:nvSpPr>
          <p:cNvPr id="30722" name="Rectangle 2"/>
          <p:cNvSpPr>
            <a:spLocks noGrp="1" noRot="1" noChangeAspect="1" noChangeArrowheads="1" noTextEdit="1"/>
          </p:cNvSpPr>
          <p:nvPr>
            <p:ph type="sldImg"/>
          </p:nvPr>
        </p:nvSpPr>
        <p:spPr>
          <a:xfrm>
            <a:off x="404813" y="696913"/>
            <a:ext cx="6188075" cy="3481387"/>
          </a:xfrm>
          <a:ln/>
        </p:spPr>
      </p:sp>
      <p:sp>
        <p:nvSpPr>
          <p:cNvPr id="3072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787" eaLnBrk="0" hangingPunct="0">
              <a:defRPr sz="1600">
                <a:solidFill>
                  <a:schemeClr val="tx1"/>
                </a:solidFill>
                <a:latin typeface="Helvetica" panose="020B0604020202020204" pitchFamily="34" charset="0"/>
                <a:ea typeface="MS PGothic" panose="020B0600070205080204" pitchFamily="34" charset="-128"/>
              </a:defRPr>
            </a:lvl1pPr>
            <a:lvl2pPr marL="741761" indent="-285293" defTabSz="928787" eaLnBrk="0" hangingPunct="0">
              <a:defRPr sz="1600">
                <a:solidFill>
                  <a:schemeClr val="tx1"/>
                </a:solidFill>
                <a:latin typeface="Helvetica" panose="020B0604020202020204" pitchFamily="34" charset="0"/>
                <a:ea typeface="MS PGothic" panose="020B0600070205080204" pitchFamily="34" charset="-128"/>
              </a:defRPr>
            </a:lvl2pPr>
            <a:lvl3pPr marL="1141171" indent="-228234" defTabSz="928787" eaLnBrk="0" hangingPunct="0">
              <a:defRPr sz="1600">
                <a:solidFill>
                  <a:schemeClr val="tx1"/>
                </a:solidFill>
                <a:latin typeface="Helvetica" panose="020B0604020202020204" pitchFamily="34" charset="0"/>
                <a:ea typeface="MS PGothic" panose="020B0600070205080204" pitchFamily="34" charset="-128"/>
              </a:defRPr>
            </a:lvl3pPr>
            <a:lvl4pPr marL="1597640" indent="-228234" defTabSz="928787" eaLnBrk="0" hangingPunct="0">
              <a:defRPr sz="1600">
                <a:solidFill>
                  <a:schemeClr val="tx1"/>
                </a:solidFill>
                <a:latin typeface="Helvetica" panose="020B0604020202020204" pitchFamily="34" charset="0"/>
                <a:ea typeface="MS PGothic" panose="020B0600070205080204" pitchFamily="34" charset="-128"/>
              </a:defRPr>
            </a:lvl4pPr>
            <a:lvl5pPr marL="2054108" indent="-228234" defTabSz="928787" eaLnBrk="0" hangingPunct="0">
              <a:defRPr sz="1600">
                <a:solidFill>
                  <a:schemeClr val="tx1"/>
                </a:solidFill>
                <a:latin typeface="Helvetica" panose="020B0604020202020204" pitchFamily="34" charset="0"/>
                <a:ea typeface="MS PGothic" panose="020B0600070205080204" pitchFamily="34" charset="-128"/>
              </a:defRPr>
            </a:lvl5pPr>
            <a:lvl6pPr marL="2510577"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67045"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3514"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79982"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348DD873-39B1-4B0F-9E11-CA0A5E740CE2}" type="slidenum">
              <a:rPr lang="en-US" altLang="en-US" sz="1200"/>
              <a:pPr/>
              <a:t>6</a:t>
            </a:fld>
            <a:endParaRPr lang="en-US" altLang="en-US" sz="1200"/>
          </a:p>
        </p:txBody>
      </p:sp>
      <p:sp>
        <p:nvSpPr>
          <p:cNvPr id="31746" name="Rectangle 2"/>
          <p:cNvSpPr>
            <a:spLocks noGrp="1" noRot="1" noChangeAspect="1" noChangeArrowheads="1" noTextEdit="1"/>
          </p:cNvSpPr>
          <p:nvPr>
            <p:ph type="sldImg"/>
          </p:nvPr>
        </p:nvSpPr>
        <p:spPr>
          <a:xfrm>
            <a:off x="404813" y="696913"/>
            <a:ext cx="6188075" cy="3481387"/>
          </a:xfrm>
          <a:ln/>
        </p:spPr>
      </p:sp>
      <p:sp>
        <p:nvSpPr>
          <p:cNvPr id="317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787" eaLnBrk="0" hangingPunct="0">
              <a:defRPr sz="1600">
                <a:solidFill>
                  <a:schemeClr val="tx1"/>
                </a:solidFill>
                <a:latin typeface="Helvetica" panose="020B0604020202020204" pitchFamily="34" charset="0"/>
                <a:ea typeface="MS PGothic" panose="020B0600070205080204" pitchFamily="34" charset="-128"/>
              </a:defRPr>
            </a:lvl1pPr>
            <a:lvl2pPr marL="741761" indent="-285293" defTabSz="928787" eaLnBrk="0" hangingPunct="0">
              <a:defRPr sz="1600">
                <a:solidFill>
                  <a:schemeClr val="tx1"/>
                </a:solidFill>
                <a:latin typeface="Helvetica" panose="020B0604020202020204" pitchFamily="34" charset="0"/>
                <a:ea typeface="MS PGothic" panose="020B0600070205080204" pitchFamily="34" charset="-128"/>
              </a:defRPr>
            </a:lvl2pPr>
            <a:lvl3pPr marL="1141171" indent="-228234" defTabSz="928787" eaLnBrk="0" hangingPunct="0">
              <a:defRPr sz="1600">
                <a:solidFill>
                  <a:schemeClr val="tx1"/>
                </a:solidFill>
                <a:latin typeface="Helvetica" panose="020B0604020202020204" pitchFamily="34" charset="0"/>
                <a:ea typeface="MS PGothic" panose="020B0600070205080204" pitchFamily="34" charset="-128"/>
              </a:defRPr>
            </a:lvl3pPr>
            <a:lvl4pPr marL="1597640" indent="-228234" defTabSz="928787" eaLnBrk="0" hangingPunct="0">
              <a:defRPr sz="1600">
                <a:solidFill>
                  <a:schemeClr val="tx1"/>
                </a:solidFill>
                <a:latin typeface="Helvetica" panose="020B0604020202020204" pitchFamily="34" charset="0"/>
                <a:ea typeface="MS PGothic" panose="020B0600070205080204" pitchFamily="34" charset="-128"/>
              </a:defRPr>
            </a:lvl4pPr>
            <a:lvl5pPr marL="2054108" indent="-228234" defTabSz="928787" eaLnBrk="0" hangingPunct="0">
              <a:defRPr sz="1600">
                <a:solidFill>
                  <a:schemeClr val="tx1"/>
                </a:solidFill>
                <a:latin typeface="Helvetica" panose="020B0604020202020204" pitchFamily="34" charset="0"/>
                <a:ea typeface="MS PGothic" panose="020B0600070205080204" pitchFamily="34" charset="-128"/>
              </a:defRPr>
            </a:lvl5pPr>
            <a:lvl6pPr marL="2510577"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67045"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3514"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79982"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348DD873-39B1-4B0F-9E11-CA0A5E740CE2}" type="slidenum">
              <a:rPr lang="en-US" altLang="en-US" sz="1200"/>
              <a:pPr/>
              <a:t>7</a:t>
            </a:fld>
            <a:endParaRPr lang="en-US" altLang="en-US" sz="1200"/>
          </a:p>
        </p:txBody>
      </p:sp>
      <p:sp>
        <p:nvSpPr>
          <p:cNvPr id="31746" name="Rectangle 2"/>
          <p:cNvSpPr>
            <a:spLocks noGrp="1" noRot="1" noChangeAspect="1" noChangeArrowheads="1" noTextEdit="1"/>
          </p:cNvSpPr>
          <p:nvPr>
            <p:ph type="sldImg"/>
          </p:nvPr>
        </p:nvSpPr>
        <p:spPr>
          <a:xfrm>
            <a:off x="404813" y="696913"/>
            <a:ext cx="6188075" cy="3481387"/>
          </a:xfrm>
          <a:ln/>
        </p:spPr>
      </p:sp>
      <p:sp>
        <p:nvSpPr>
          <p:cNvPr id="317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001" eaLnBrk="0" hangingPunct="0">
              <a:defRPr sz="2400">
                <a:solidFill>
                  <a:schemeClr val="tx1"/>
                </a:solidFill>
                <a:latin typeface="Helvetica" panose="020B0604020202020204" pitchFamily="34" charset="0"/>
                <a:ea typeface="MS PGothic" panose="020B0600070205080204" pitchFamily="34" charset="-128"/>
              </a:defRPr>
            </a:lvl1pPr>
            <a:lvl2pPr marL="734863" indent="-282640" defTabSz="928001" eaLnBrk="0" hangingPunct="0">
              <a:defRPr sz="2400">
                <a:solidFill>
                  <a:schemeClr val="tx1"/>
                </a:solidFill>
                <a:latin typeface="Helvetica" panose="020B0604020202020204" pitchFamily="34" charset="0"/>
                <a:ea typeface="MS PGothic" panose="020B0600070205080204" pitchFamily="34" charset="-128"/>
              </a:defRPr>
            </a:lvl2pPr>
            <a:lvl3pPr marL="1130558" indent="-226112" defTabSz="928001" eaLnBrk="0" hangingPunct="0">
              <a:defRPr sz="2400">
                <a:solidFill>
                  <a:schemeClr val="tx1"/>
                </a:solidFill>
                <a:latin typeface="Helvetica" panose="020B0604020202020204" pitchFamily="34" charset="0"/>
                <a:ea typeface="MS PGothic" panose="020B0600070205080204" pitchFamily="34" charset="-128"/>
              </a:defRPr>
            </a:lvl3pPr>
            <a:lvl4pPr marL="1582781" indent="-226112" defTabSz="928001" eaLnBrk="0" hangingPunct="0">
              <a:defRPr sz="2400">
                <a:solidFill>
                  <a:schemeClr val="tx1"/>
                </a:solidFill>
                <a:latin typeface="Helvetica" panose="020B0604020202020204" pitchFamily="34" charset="0"/>
                <a:ea typeface="MS PGothic" panose="020B0600070205080204" pitchFamily="34" charset="-128"/>
              </a:defRPr>
            </a:lvl4pPr>
            <a:lvl5pPr marL="2035005" indent="-226112" defTabSz="928001" eaLnBrk="0" hangingPunct="0">
              <a:defRPr sz="2400">
                <a:solidFill>
                  <a:schemeClr val="tx1"/>
                </a:solidFill>
                <a:latin typeface="Helvetica" panose="020B0604020202020204" pitchFamily="34" charset="0"/>
                <a:ea typeface="MS PGothic" panose="020B0600070205080204" pitchFamily="34" charset="-128"/>
              </a:defRPr>
            </a:lvl5pPr>
            <a:lvl6pPr marL="248722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39451"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391675"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4389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fld id="{A5814F0E-33C5-4FFC-97A8-A1EDBAA0258F}" type="slidenum">
              <a:rPr lang="en-US" altLang="en-US" sz="1200"/>
              <a:pPr/>
              <a:t>8</a:t>
            </a:fld>
            <a:endParaRPr lang="en-US" altLang="en-US" sz="1200" dirty="0"/>
          </a:p>
        </p:txBody>
      </p:sp>
      <p:sp>
        <p:nvSpPr>
          <p:cNvPr id="72706" name="Rectangle 2"/>
          <p:cNvSpPr>
            <a:spLocks noChangeArrowheads="1"/>
          </p:cNvSpPr>
          <p:nvPr/>
        </p:nvSpPr>
        <p:spPr bwMode="auto">
          <a:xfrm>
            <a:off x="3965991" y="1"/>
            <a:ext cx="3031710" cy="462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286" tIns="45643" rIns="91286" bIns="45643" anchor="ct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endParaRPr lang="en-US" altLang="en-US" sz="1800" dirty="0"/>
          </a:p>
        </p:txBody>
      </p:sp>
      <p:sp>
        <p:nvSpPr>
          <p:cNvPr id="72707" name="Rectangle 3"/>
          <p:cNvSpPr>
            <a:spLocks noChangeArrowheads="1"/>
          </p:cNvSpPr>
          <p:nvPr/>
        </p:nvSpPr>
        <p:spPr bwMode="auto">
          <a:xfrm>
            <a:off x="3965991" y="8821402"/>
            <a:ext cx="3031710" cy="462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903" tIns="45146" rIns="91903" bIns="45146" anchor="b"/>
          <a:lstStyle>
            <a:lvl1pPr defTabSz="930275" eaLnBrk="0" hangingPunct="0">
              <a:defRPr sz="2400">
                <a:solidFill>
                  <a:schemeClr val="tx1"/>
                </a:solidFill>
                <a:latin typeface="Helvetica" panose="020B0604020202020204" pitchFamily="34" charset="0"/>
                <a:ea typeface="MS PGothic" panose="020B0600070205080204" pitchFamily="34" charset="-128"/>
              </a:defRPr>
            </a:lvl1pPr>
            <a:lvl2pPr marL="742950" indent="-285750" defTabSz="930275"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defTabSz="930275"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defTabSz="930275"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defTabSz="930275"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pPr algn="r"/>
            <a:r>
              <a:rPr lang="en-US" altLang="en-US" sz="1300" dirty="0">
                <a:latin typeface="Times New Roman" panose="02020603050405020304" pitchFamily="18" charset="0"/>
              </a:rPr>
              <a:t>1</a:t>
            </a:r>
          </a:p>
        </p:txBody>
      </p:sp>
      <p:sp>
        <p:nvSpPr>
          <p:cNvPr id="72708" name="Rectangle 4"/>
          <p:cNvSpPr>
            <a:spLocks noChangeArrowheads="1"/>
          </p:cNvSpPr>
          <p:nvPr/>
        </p:nvSpPr>
        <p:spPr bwMode="auto">
          <a:xfrm>
            <a:off x="0" y="8821402"/>
            <a:ext cx="3031710" cy="462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286" tIns="45643" rIns="91286" bIns="45643" anchor="ct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endParaRPr lang="en-US" altLang="en-US" sz="1800" dirty="0"/>
          </a:p>
        </p:txBody>
      </p:sp>
      <p:sp>
        <p:nvSpPr>
          <p:cNvPr id="72709" name="Rectangle 5"/>
          <p:cNvSpPr>
            <a:spLocks noChangeArrowheads="1"/>
          </p:cNvSpPr>
          <p:nvPr/>
        </p:nvSpPr>
        <p:spPr bwMode="auto">
          <a:xfrm>
            <a:off x="0" y="1"/>
            <a:ext cx="3031710" cy="462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286" tIns="45643" rIns="91286" bIns="45643" anchor="ct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endParaRPr lang="en-US" altLang="en-US" sz="1800" dirty="0"/>
          </a:p>
        </p:txBody>
      </p:sp>
      <p:sp>
        <p:nvSpPr>
          <p:cNvPr id="72710" name="Rectangle 6"/>
          <p:cNvSpPr>
            <a:spLocks noGrp="1" noRot="1" noChangeAspect="1" noChangeArrowheads="1" noTextEdit="1"/>
          </p:cNvSpPr>
          <p:nvPr>
            <p:ph type="sldImg"/>
          </p:nvPr>
        </p:nvSpPr>
        <p:spPr>
          <a:xfrm>
            <a:off x="417513" y="703263"/>
            <a:ext cx="6162675" cy="3467100"/>
          </a:xfrm>
          <a:ln w="12700" cap="flat"/>
        </p:spPr>
      </p:sp>
      <p:sp>
        <p:nvSpPr>
          <p:cNvPr id="72711" name="Rectangle 7"/>
          <p:cNvSpPr>
            <a:spLocks noGrp="1" noChangeArrowheads="1"/>
          </p:cNvSpPr>
          <p:nvPr>
            <p:ph type="body" idx="1"/>
          </p:nvPr>
        </p:nvSpPr>
        <p:spPr>
          <a:xfrm>
            <a:off x="931146" y="4410702"/>
            <a:ext cx="5135409" cy="417483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903" tIns="45146" rIns="91903" bIns="45146" anchor="ctr"/>
          <a:lstStyle/>
          <a:p>
            <a:endParaRPr lang="en-US" altLang="en-US" dirty="0"/>
          </a:p>
        </p:txBody>
      </p:sp>
    </p:spTree>
    <p:extLst>
      <p:ext uri="{BB962C8B-B14F-4D97-AF65-F5344CB8AC3E}">
        <p14:creationId xmlns:p14="http://schemas.microsoft.com/office/powerpoint/2010/main" val="136319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001" eaLnBrk="0" hangingPunct="0">
              <a:defRPr sz="2400">
                <a:solidFill>
                  <a:schemeClr val="tx1"/>
                </a:solidFill>
                <a:latin typeface="Helvetica" panose="020B0604020202020204" pitchFamily="34" charset="0"/>
                <a:ea typeface="MS PGothic" panose="020B0600070205080204" pitchFamily="34" charset="-128"/>
              </a:defRPr>
            </a:lvl1pPr>
            <a:lvl2pPr marL="734863" indent="-282640" defTabSz="928001" eaLnBrk="0" hangingPunct="0">
              <a:defRPr sz="2400">
                <a:solidFill>
                  <a:schemeClr val="tx1"/>
                </a:solidFill>
                <a:latin typeface="Helvetica" panose="020B0604020202020204" pitchFamily="34" charset="0"/>
                <a:ea typeface="MS PGothic" panose="020B0600070205080204" pitchFamily="34" charset="-128"/>
              </a:defRPr>
            </a:lvl2pPr>
            <a:lvl3pPr marL="1130558" indent="-226112" defTabSz="928001" eaLnBrk="0" hangingPunct="0">
              <a:defRPr sz="2400">
                <a:solidFill>
                  <a:schemeClr val="tx1"/>
                </a:solidFill>
                <a:latin typeface="Helvetica" panose="020B0604020202020204" pitchFamily="34" charset="0"/>
                <a:ea typeface="MS PGothic" panose="020B0600070205080204" pitchFamily="34" charset="-128"/>
              </a:defRPr>
            </a:lvl3pPr>
            <a:lvl4pPr marL="1582781" indent="-226112" defTabSz="928001" eaLnBrk="0" hangingPunct="0">
              <a:defRPr sz="2400">
                <a:solidFill>
                  <a:schemeClr val="tx1"/>
                </a:solidFill>
                <a:latin typeface="Helvetica" panose="020B0604020202020204" pitchFamily="34" charset="0"/>
                <a:ea typeface="MS PGothic" panose="020B0600070205080204" pitchFamily="34" charset="-128"/>
              </a:defRPr>
            </a:lvl4pPr>
            <a:lvl5pPr marL="2035005" indent="-226112" defTabSz="928001" eaLnBrk="0" hangingPunct="0">
              <a:defRPr sz="2400">
                <a:solidFill>
                  <a:schemeClr val="tx1"/>
                </a:solidFill>
                <a:latin typeface="Helvetica" panose="020B0604020202020204" pitchFamily="34" charset="0"/>
                <a:ea typeface="MS PGothic" panose="020B0600070205080204" pitchFamily="34" charset="-128"/>
              </a:defRPr>
            </a:lvl5pPr>
            <a:lvl6pPr marL="248722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39451"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391675"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4389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fld id="{A5814F0E-33C5-4FFC-97A8-A1EDBAA0258F}" type="slidenum">
              <a:rPr lang="en-US" altLang="en-US" sz="1200"/>
              <a:pPr/>
              <a:t>9</a:t>
            </a:fld>
            <a:endParaRPr lang="en-US" altLang="en-US" sz="1200"/>
          </a:p>
        </p:txBody>
      </p:sp>
      <p:sp>
        <p:nvSpPr>
          <p:cNvPr id="72706" name="Rectangle 2"/>
          <p:cNvSpPr>
            <a:spLocks noChangeArrowheads="1"/>
          </p:cNvSpPr>
          <p:nvPr/>
        </p:nvSpPr>
        <p:spPr bwMode="auto">
          <a:xfrm>
            <a:off x="3965991" y="1"/>
            <a:ext cx="3031710" cy="462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286" tIns="45643" rIns="91286" bIns="45643" anchor="ct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endParaRPr lang="en-US" altLang="en-US" sz="1800"/>
          </a:p>
        </p:txBody>
      </p:sp>
      <p:sp>
        <p:nvSpPr>
          <p:cNvPr id="72707" name="Rectangle 3"/>
          <p:cNvSpPr>
            <a:spLocks noChangeArrowheads="1"/>
          </p:cNvSpPr>
          <p:nvPr/>
        </p:nvSpPr>
        <p:spPr bwMode="auto">
          <a:xfrm>
            <a:off x="3965991" y="8821402"/>
            <a:ext cx="3031710" cy="462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903" tIns="45146" rIns="91903" bIns="45146" anchor="b"/>
          <a:lstStyle>
            <a:lvl1pPr defTabSz="930275" eaLnBrk="0" hangingPunct="0">
              <a:defRPr sz="2400">
                <a:solidFill>
                  <a:schemeClr val="tx1"/>
                </a:solidFill>
                <a:latin typeface="Helvetica" panose="020B0604020202020204" pitchFamily="34" charset="0"/>
                <a:ea typeface="MS PGothic" panose="020B0600070205080204" pitchFamily="34" charset="-128"/>
              </a:defRPr>
            </a:lvl1pPr>
            <a:lvl2pPr marL="742950" indent="-285750" defTabSz="930275"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defTabSz="930275"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defTabSz="930275"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defTabSz="930275"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pPr algn="r"/>
            <a:r>
              <a:rPr lang="en-US" altLang="en-US" sz="1300">
                <a:latin typeface="Times New Roman" panose="02020603050405020304" pitchFamily="18" charset="0"/>
              </a:rPr>
              <a:t>1</a:t>
            </a:r>
          </a:p>
        </p:txBody>
      </p:sp>
      <p:sp>
        <p:nvSpPr>
          <p:cNvPr id="72708" name="Rectangle 4"/>
          <p:cNvSpPr>
            <a:spLocks noChangeArrowheads="1"/>
          </p:cNvSpPr>
          <p:nvPr/>
        </p:nvSpPr>
        <p:spPr bwMode="auto">
          <a:xfrm>
            <a:off x="0" y="8821402"/>
            <a:ext cx="3031710" cy="462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286" tIns="45643" rIns="91286" bIns="45643" anchor="ct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endParaRPr lang="en-US" altLang="en-US" sz="1800"/>
          </a:p>
        </p:txBody>
      </p:sp>
      <p:sp>
        <p:nvSpPr>
          <p:cNvPr id="72709" name="Rectangle 5"/>
          <p:cNvSpPr>
            <a:spLocks noChangeArrowheads="1"/>
          </p:cNvSpPr>
          <p:nvPr/>
        </p:nvSpPr>
        <p:spPr bwMode="auto">
          <a:xfrm>
            <a:off x="0" y="1"/>
            <a:ext cx="3031710" cy="462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286" tIns="45643" rIns="91286" bIns="45643" anchor="ct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endParaRPr lang="en-US" altLang="en-US" sz="1800"/>
          </a:p>
        </p:txBody>
      </p:sp>
      <p:sp>
        <p:nvSpPr>
          <p:cNvPr id="72710" name="Rectangle 6"/>
          <p:cNvSpPr>
            <a:spLocks noGrp="1" noRot="1" noChangeAspect="1" noChangeArrowheads="1" noTextEdit="1"/>
          </p:cNvSpPr>
          <p:nvPr>
            <p:ph type="sldImg"/>
          </p:nvPr>
        </p:nvSpPr>
        <p:spPr>
          <a:xfrm>
            <a:off x="417513" y="703263"/>
            <a:ext cx="6162675" cy="3467100"/>
          </a:xfrm>
          <a:ln w="12700" cap="flat"/>
        </p:spPr>
      </p:sp>
      <p:sp>
        <p:nvSpPr>
          <p:cNvPr id="72711" name="Rectangle 7"/>
          <p:cNvSpPr>
            <a:spLocks noGrp="1" noChangeArrowheads="1"/>
          </p:cNvSpPr>
          <p:nvPr>
            <p:ph type="body" idx="1"/>
          </p:nvPr>
        </p:nvSpPr>
        <p:spPr>
          <a:xfrm>
            <a:off x="931146" y="4410702"/>
            <a:ext cx="5135409" cy="417483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903" tIns="45146" rIns="91903" bIns="45146" anchor="ctr"/>
          <a:lstStyle/>
          <a:p>
            <a:endParaRPr lang="en-US" altLang="en-US"/>
          </a:p>
        </p:txBody>
      </p:sp>
    </p:spTree>
    <p:extLst>
      <p:ext uri="{BB962C8B-B14F-4D97-AF65-F5344CB8AC3E}">
        <p14:creationId xmlns:p14="http://schemas.microsoft.com/office/powerpoint/2010/main" val="4814928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787" eaLnBrk="0" hangingPunct="0">
              <a:defRPr sz="1600">
                <a:solidFill>
                  <a:schemeClr val="tx1"/>
                </a:solidFill>
                <a:latin typeface="Helvetica" panose="020B0604020202020204" pitchFamily="34" charset="0"/>
                <a:ea typeface="MS PGothic" panose="020B0600070205080204" pitchFamily="34" charset="-128"/>
              </a:defRPr>
            </a:lvl1pPr>
            <a:lvl2pPr marL="741761" indent="-285293" defTabSz="928787" eaLnBrk="0" hangingPunct="0">
              <a:defRPr sz="1600">
                <a:solidFill>
                  <a:schemeClr val="tx1"/>
                </a:solidFill>
                <a:latin typeface="Helvetica" panose="020B0604020202020204" pitchFamily="34" charset="0"/>
                <a:ea typeface="MS PGothic" panose="020B0600070205080204" pitchFamily="34" charset="-128"/>
              </a:defRPr>
            </a:lvl2pPr>
            <a:lvl3pPr marL="1141171" indent="-228234" defTabSz="928787" eaLnBrk="0" hangingPunct="0">
              <a:defRPr sz="1600">
                <a:solidFill>
                  <a:schemeClr val="tx1"/>
                </a:solidFill>
                <a:latin typeface="Helvetica" panose="020B0604020202020204" pitchFamily="34" charset="0"/>
                <a:ea typeface="MS PGothic" panose="020B0600070205080204" pitchFamily="34" charset="-128"/>
              </a:defRPr>
            </a:lvl3pPr>
            <a:lvl4pPr marL="1597640" indent="-228234" defTabSz="928787" eaLnBrk="0" hangingPunct="0">
              <a:defRPr sz="1600">
                <a:solidFill>
                  <a:schemeClr val="tx1"/>
                </a:solidFill>
                <a:latin typeface="Helvetica" panose="020B0604020202020204" pitchFamily="34" charset="0"/>
                <a:ea typeface="MS PGothic" panose="020B0600070205080204" pitchFamily="34" charset="-128"/>
              </a:defRPr>
            </a:lvl4pPr>
            <a:lvl5pPr marL="2054108" indent="-228234" defTabSz="928787" eaLnBrk="0" hangingPunct="0">
              <a:defRPr sz="1600">
                <a:solidFill>
                  <a:schemeClr val="tx1"/>
                </a:solidFill>
                <a:latin typeface="Helvetica" panose="020B0604020202020204" pitchFamily="34" charset="0"/>
                <a:ea typeface="MS PGothic" panose="020B0600070205080204" pitchFamily="34" charset="-128"/>
              </a:defRPr>
            </a:lvl5pPr>
            <a:lvl6pPr marL="2510577"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67045"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3514"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79982"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CA82168F-E865-405F-BB81-ED9E0172F23B}" type="slidenum">
              <a:rPr lang="en-US" altLang="en-US" sz="1200"/>
              <a:pPr/>
              <a:t>10</a:t>
            </a:fld>
            <a:endParaRPr lang="en-US" altLang="en-US" sz="1200"/>
          </a:p>
        </p:txBody>
      </p:sp>
      <p:sp>
        <p:nvSpPr>
          <p:cNvPr id="34818" name="Rectangle 2"/>
          <p:cNvSpPr>
            <a:spLocks noGrp="1" noRot="1" noChangeAspect="1" noChangeArrowheads="1" noTextEdit="1"/>
          </p:cNvSpPr>
          <p:nvPr>
            <p:ph type="sldImg"/>
          </p:nvPr>
        </p:nvSpPr>
        <p:spPr>
          <a:xfrm>
            <a:off x="404813" y="696913"/>
            <a:ext cx="6188075" cy="3481387"/>
          </a:xfrm>
          <a:ln/>
        </p:spPr>
      </p:sp>
      <p:sp>
        <p:nvSpPr>
          <p:cNvPr id="348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0206259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001" eaLnBrk="0" hangingPunct="0">
              <a:defRPr sz="2400">
                <a:solidFill>
                  <a:schemeClr val="tx1"/>
                </a:solidFill>
                <a:latin typeface="Helvetica" panose="020B0604020202020204" pitchFamily="34" charset="0"/>
                <a:ea typeface="MS PGothic" panose="020B0600070205080204" pitchFamily="34" charset="-128"/>
              </a:defRPr>
            </a:lvl1pPr>
            <a:lvl2pPr marL="734863" indent="-282640" defTabSz="928001" eaLnBrk="0" hangingPunct="0">
              <a:defRPr sz="2400">
                <a:solidFill>
                  <a:schemeClr val="tx1"/>
                </a:solidFill>
                <a:latin typeface="Helvetica" panose="020B0604020202020204" pitchFamily="34" charset="0"/>
                <a:ea typeface="MS PGothic" panose="020B0600070205080204" pitchFamily="34" charset="-128"/>
              </a:defRPr>
            </a:lvl2pPr>
            <a:lvl3pPr marL="1130558" indent="-226112" defTabSz="928001" eaLnBrk="0" hangingPunct="0">
              <a:defRPr sz="2400">
                <a:solidFill>
                  <a:schemeClr val="tx1"/>
                </a:solidFill>
                <a:latin typeface="Helvetica" panose="020B0604020202020204" pitchFamily="34" charset="0"/>
                <a:ea typeface="MS PGothic" panose="020B0600070205080204" pitchFamily="34" charset="-128"/>
              </a:defRPr>
            </a:lvl3pPr>
            <a:lvl4pPr marL="1582781" indent="-226112" defTabSz="928001" eaLnBrk="0" hangingPunct="0">
              <a:defRPr sz="2400">
                <a:solidFill>
                  <a:schemeClr val="tx1"/>
                </a:solidFill>
                <a:latin typeface="Helvetica" panose="020B0604020202020204" pitchFamily="34" charset="0"/>
                <a:ea typeface="MS PGothic" panose="020B0600070205080204" pitchFamily="34" charset="-128"/>
              </a:defRPr>
            </a:lvl4pPr>
            <a:lvl5pPr marL="2035005" indent="-226112" defTabSz="928001" eaLnBrk="0" hangingPunct="0">
              <a:defRPr sz="2400">
                <a:solidFill>
                  <a:schemeClr val="tx1"/>
                </a:solidFill>
                <a:latin typeface="Helvetica" panose="020B0604020202020204" pitchFamily="34" charset="0"/>
                <a:ea typeface="MS PGothic" panose="020B0600070205080204" pitchFamily="34" charset="-128"/>
              </a:defRPr>
            </a:lvl5pPr>
            <a:lvl6pPr marL="248722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39451"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391675"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4389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fld id="{A5814F0E-33C5-4FFC-97A8-A1EDBAA0258F}" type="slidenum">
              <a:rPr lang="en-US" altLang="en-US" sz="1200"/>
              <a:pPr/>
              <a:t>11</a:t>
            </a:fld>
            <a:endParaRPr lang="en-US" altLang="en-US" sz="1200" dirty="0"/>
          </a:p>
        </p:txBody>
      </p:sp>
      <p:sp>
        <p:nvSpPr>
          <p:cNvPr id="72706" name="Rectangle 2"/>
          <p:cNvSpPr>
            <a:spLocks noChangeArrowheads="1"/>
          </p:cNvSpPr>
          <p:nvPr/>
        </p:nvSpPr>
        <p:spPr bwMode="auto">
          <a:xfrm>
            <a:off x="3965991" y="1"/>
            <a:ext cx="3031710" cy="462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286" tIns="45643" rIns="91286" bIns="45643" anchor="ct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endParaRPr lang="en-US" altLang="en-US" sz="1800" dirty="0"/>
          </a:p>
        </p:txBody>
      </p:sp>
      <p:sp>
        <p:nvSpPr>
          <p:cNvPr id="72707" name="Rectangle 3"/>
          <p:cNvSpPr>
            <a:spLocks noChangeArrowheads="1"/>
          </p:cNvSpPr>
          <p:nvPr/>
        </p:nvSpPr>
        <p:spPr bwMode="auto">
          <a:xfrm>
            <a:off x="3965991" y="8821402"/>
            <a:ext cx="3031710" cy="462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903" tIns="45146" rIns="91903" bIns="45146" anchor="b"/>
          <a:lstStyle>
            <a:lvl1pPr defTabSz="930275" eaLnBrk="0" hangingPunct="0">
              <a:defRPr sz="2400">
                <a:solidFill>
                  <a:schemeClr val="tx1"/>
                </a:solidFill>
                <a:latin typeface="Helvetica" panose="020B0604020202020204" pitchFamily="34" charset="0"/>
                <a:ea typeface="MS PGothic" panose="020B0600070205080204" pitchFamily="34" charset="-128"/>
              </a:defRPr>
            </a:lvl1pPr>
            <a:lvl2pPr marL="742950" indent="-285750" defTabSz="930275"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defTabSz="930275"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defTabSz="930275"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defTabSz="930275"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pPr algn="r"/>
            <a:r>
              <a:rPr lang="en-US" altLang="en-US" sz="1300" dirty="0">
                <a:latin typeface="Times New Roman" panose="02020603050405020304" pitchFamily="18" charset="0"/>
              </a:rPr>
              <a:t>1</a:t>
            </a:r>
          </a:p>
        </p:txBody>
      </p:sp>
      <p:sp>
        <p:nvSpPr>
          <p:cNvPr id="72708" name="Rectangle 4"/>
          <p:cNvSpPr>
            <a:spLocks noChangeArrowheads="1"/>
          </p:cNvSpPr>
          <p:nvPr/>
        </p:nvSpPr>
        <p:spPr bwMode="auto">
          <a:xfrm>
            <a:off x="0" y="8821402"/>
            <a:ext cx="3031710" cy="462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286" tIns="45643" rIns="91286" bIns="45643" anchor="ct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endParaRPr lang="en-US" altLang="en-US" sz="1800" dirty="0"/>
          </a:p>
        </p:txBody>
      </p:sp>
      <p:sp>
        <p:nvSpPr>
          <p:cNvPr id="72709" name="Rectangle 5"/>
          <p:cNvSpPr>
            <a:spLocks noChangeArrowheads="1"/>
          </p:cNvSpPr>
          <p:nvPr/>
        </p:nvSpPr>
        <p:spPr bwMode="auto">
          <a:xfrm>
            <a:off x="0" y="1"/>
            <a:ext cx="3031710" cy="462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286" tIns="45643" rIns="91286" bIns="45643" anchor="ct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endParaRPr lang="en-US" altLang="en-US" sz="1800" dirty="0"/>
          </a:p>
        </p:txBody>
      </p:sp>
      <p:sp>
        <p:nvSpPr>
          <p:cNvPr id="72710" name="Rectangle 6"/>
          <p:cNvSpPr>
            <a:spLocks noGrp="1" noRot="1" noChangeAspect="1" noChangeArrowheads="1" noTextEdit="1"/>
          </p:cNvSpPr>
          <p:nvPr>
            <p:ph type="sldImg"/>
          </p:nvPr>
        </p:nvSpPr>
        <p:spPr>
          <a:xfrm>
            <a:off x="417513" y="703263"/>
            <a:ext cx="6162675" cy="3467100"/>
          </a:xfrm>
          <a:ln w="12700" cap="flat"/>
        </p:spPr>
      </p:sp>
      <p:sp>
        <p:nvSpPr>
          <p:cNvPr id="72711" name="Rectangle 7"/>
          <p:cNvSpPr>
            <a:spLocks noGrp="1" noChangeArrowheads="1"/>
          </p:cNvSpPr>
          <p:nvPr>
            <p:ph type="body" idx="1"/>
          </p:nvPr>
        </p:nvSpPr>
        <p:spPr>
          <a:xfrm>
            <a:off x="931146" y="4410702"/>
            <a:ext cx="5135409" cy="417483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903" tIns="45146" rIns="91903" bIns="45146" anchor="ctr"/>
          <a:lstStyle/>
          <a:p>
            <a:endParaRPr lang="en-US" altLang="en-US" dirty="0"/>
          </a:p>
        </p:txBody>
      </p:sp>
    </p:spTree>
    <p:extLst>
      <p:ext uri="{BB962C8B-B14F-4D97-AF65-F5344CB8AC3E}">
        <p14:creationId xmlns:p14="http://schemas.microsoft.com/office/powerpoint/2010/main" val="30569722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9633" name="Text Box 1">
            <a:extLst>
              <a:ext uri="{FF2B5EF4-FFF2-40B4-BE49-F238E27FC236}">
                <a16:creationId xmlns:a16="http://schemas.microsoft.com/office/drawing/2014/main" id="{E999905D-BD23-C540-A742-58ABD553BA28}"/>
              </a:ext>
            </a:extLst>
          </p:cNvPr>
          <p:cNvSpPr>
            <a:spLocks noGrp="1" noRot="1" noChangeAspect="1" noChangeArrowheads="1"/>
          </p:cNvSpPr>
          <p:nvPr>
            <p:ph type="sldImg"/>
          </p:nvPr>
        </p:nvSpPr>
        <p:spPr>
          <a:xfrm>
            <a:off x="381000" y="685800"/>
            <a:ext cx="6096000" cy="3429000"/>
          </a:xfrm>
          <a:solidFill>
            <a:srgbClr val="FFFFFF"/>
          </a:solidFill>
          <a:ln>
            <a:solidFill>
              <a:srgbClr val="000000"/>
            </a:solidFill>
            <a:miter lim="800000"/>
            <a:headEnd/>
            <a:tailEnd/>
          </a:ln>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69634" name="Text Box 2">
            <a:extLst>
              <a:ext uri="{FF2B5EF4-FFF2-40B4-BE49-F238E27FC236}">
                <a16:creationId xmlns:a16="http://schemas.microsoft.com/office/drawing/2014/main" id="{1A87368E-071B-4140-BE68-44EEE6DA7464}"/>
              </a:ext>
            </a:extLst>
          </p:cNvPr>
          <p:cNvSpPr>
            <a:spLocks noGrp="1" noChangeArrowheads="1"/>
          </p:cNvSpPr>
          <p:nvPr>
            <p:ph type="body" idx="1"/>
          </p:nvPr>
        </p:nvSpPr>
        <p:spPr>
          <a:xfrm>
            <a:off x="685800" y="4343400"/>
            <a:ext cx="5481638" cy="41116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pPr>
              <a:buFont typeface="Times New Roman" charset="0"/>
              <a:buNone/>
              <a:defRPr/>
            </a:pPr>
            <a:endParaRPr lang="pt-PT">
              <a:cs typeface="+mn-cs"/>
            </a:endParaRPr>
          </a:p>
        </p:txBody>
      </p:sp>
    </p:spTree>
    <p:extLst>
      <p:ext uri="{BB962C8B-B14F-4D97-AF65-F5344CB8AC3E}">
        <p14:creationId xmlns:p14="http://schemas.microsoft.com/office/powerpoint/2010/main" val="29198289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787" eaLnBrk="0" hangingPunct="0">
              <a:defRPr sz="1600">
                <a:solidFill>
                  <a:schemeClr val="tx1"/>
                </a:solidFill>
                <a:latin typeface="Helvetica" panose="020B0604020202020204" pitchFamily="34" charset="0"/>
                <a:ea typeface="MS PGothic" panose="020B0600070205080204" pitchFamily="34" charset="-128"/>
              </a:defRPr>
            </a:lvl1pPr>
            <a:lvl2pPr marL="741761" indent="-285293" defTabSz="928787" eaLnBrk="0" hangingPunct="0">
              <a:defRPr sz="1600">
                <a:solidFill>
                  <a:schemeClr val="tx1"/>
                </a:solidFill>
                <a:latin typeface="Helvetica" panose="020B0604020202020204" pitchFamily="34" charset="0"/>
                <a:ea typeface="MS PGothic" panose="020B0600070205080204" pitchFamily="34" charset="-128"/>
              </a:defRPr>
            </a:lvl2pPr>
            <a:lvl3pPr marL="1141171" indent="-228234" defTabSz="928787" eaLnBrk="0" hangingPunct="0">
              <a:defRPr sz="1600">
                <a:solidFill>
                  <a:schemeClr val="tx1"/>
                </a:solidFill>
                <a:latin typeface="Helvetica" panose="020B0604020202020204" pitchFamily="34" charset="0"/>
                <a:ea typeface="MS PGothic" panose="020B0600070205080204" pitchFamily="34" charset="-128"/>
              </a:defRPr>
            </a:lvl3pPr>
            <a:lvl4pPr marL="1597640" indent="-228234" defTabSz="928787" eaLnBrk="0" hangingPunct="0">
              <a:defRPr sz="1600">
                <a:solidFill>
                  <a:schemeClr val="tx1"/>
                </a:solidFill>
                <a:latin typeface="Helvetica" panose="020B0604020202020204" pitchFamily="34" charset="0"/>
                <a:ea typeface="MS PGothic" panose="020B0600070205080204" pitchFamily="34" charset="-128"/>
              </a:defRPr>
            </a:lvl4pPr>
            <a:lvl5pPr marL="2054108" indent="-228234" defTabSz="928787" eaLnBrk="0" hangingPunct="0">
              <a:defRPr sz="1600">
                <a:solidFill>
                  <a:schemeClr val="tx1"/>
                </a:solidFill>
                <a:latin typeface="Helvetica" panose="020B0604020202020204" pitchFamily="34" charset="0"/>
                <a:ea typeface="MS PGothic" panose="020B0600070205080204" pitchFamily="34" charset="-128"/>
              </a:defRPr>
            </a:lvl5pPr>
            <a:lvl6pPr marL="2510577"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67045"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3514"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79982"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CA82168F-E865-405F-BB81-ED9E0172F23B}" type="slidenum">
              <a:rPr lang="en-US" altLang="en-US" sz="1200"/>
              <a:pPr/>
              <a:t>14</a:t>
            </a:fld>
            <a:endParaRPr lang="en-US" altLang="en-US" sz="1200"/>
          </a:p>
        </p:txBody>
      </p:sp>
      <p:sp>
        <p:nvSpPr>
          <p:cNvPr id="34818" name="Rectangle 2"/>
          <p:cNvSpPr>
            <a:spLocks noGrp="1" noRot="1" noChangeAspect="1" noChangeArrowheads="1" noTextEdit="1"/>
          </p:cNvSpPr>
          <p:nvPr>
            <p:ph type="sldImg"/>
          </p:nvPr>
        </p:nvSpPr>
        <p:spPr>
          <a:xfrm>
            <a:off x="404813" y="696913"/>
            <a:ext cx="6188075" cy="3481387"/>
          </a:xfrm>
          <a:ln/>
        </p:spPr>
      </p:sp>
      <p:sp>
        <p:nvSpPr>
          <p:cNvPr id="348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9088063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787" eaLnBrk="0" hangingPunct="0">
              <a:defRPr sz="1600">
                <a:solidFill>
                  <a:schemeClr val="tx1"/>
                </a:solidFill>
                <a:latin typeface="Helvetica" panose="020B0604020202020204" pitchFamily="34" charset="0"/>
                <a:ea typeface="MS PGothic" panose="020B0600070205080204" pitchFamily="34" charset="-128"/>
              </a:defRPr>
            </a:lvl1pPr>
            <a:lvl2pPr marL="741761" indent="-285293" defTabSz="928787" eaLnBrk="0" hangingPunct="0">
              <a:defRPr sz="1600">
                <a:solidFill>
                  <a:schemeClr val="tx1"/>
                </a:solidFill>
                <a:latin typeface="Helvetica" panose="020B0604020202020204" pitchFamily="34" charset="0"/>
                <a:ea typeface="MS PGothic" panose="020B0600070205080204" pitchFamily="34" charset="-128"/>
              </a:defRPr>
            </a:lvl2pPr>
            <a:lvl3pPr marL="1141171" indent="-228234" defTabSz="928787" eaLnBrk="0" hangingPunct="0">
              <a:defRPr sz="1600">
                <a:solidFill>
                  <a:schemeClr val="tx1"/>
                </a:solidFill>
                <a:latin typeface="Helvetica" panose="020B0604020202020204" pitchFamily="34" charset="0"/>
                <a:ea typeface="MS PGothic" panose="020B0600070205080204" pitchFamily="34" charset="-128"/>
              </a:defRPr>
            </a:lvl3pPr>
            <a:lvl4pPr marL="1597640" indent="-228234" defTabSz="928787" eaLnBrk="0" hangingPunct="0">
              <a:defRPr sz="1600">
                <a:solidFill>
                  <a:schemeClr val="tx1"/>
                </a:solidFill>
                <a:latin typeface="Helvetica" panose="020B0604020202020204" pitchFamily="34" charset="0"/>
                <a:ea typeface="MS PGothic" panose="020B0600070205080204" pitchFamily="34" charset="-128"/>
              </a:defRPr>
            </a:lvl4pPr>
            <a:lvl5pPr marL="2054108" indent="-228234" defTabSz="928787" eaLnBrk="0" hangingPunct="0">
              <a:defRPr sz="1600">
                <a:solidFill>
                  <a:schemeClr val="tx1"/>
                </a:solidFill>
                <a:latin typeface="Helvetica" panose="020B0604020202020204" pitchFamily="34" charset="0"/>
                <a:ea typeface="MS PGothic" panose="020B0600070205080204" pitchFamily="34" charset="-128"/>
              </a:defRPr>
            </a:lvl5pPr>
            <a:lvl6pPr marL="2510577"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67045"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3514"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79982"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CA82168F-E865-405F-BB81-ED9E0172F23B}" type="slidenum">
              <a:rPr lang="en-US" altLang="en-US" sz="1200"/>
              <a:pPr/>
              <a:t>15</a:t>
            </a:fld>
            <a:endParaRPr lang="en-US" altLang="en-US" sz="1200"/>
          </a:p>
        </p:txBody>
      </p:sp>
      <p:sp>
        <p:nvSpPr>
          <p:cNvPr id="34818" name="Rectangle 2"/>
          <p:cNvSpPr>
            <a:spLocks noGrp="1" noRot="1" noChangeAspect="1" noChangeArrowheads="1" noTextEdit="1"/>
          </p:cNvSpPr>
          <p:nvPr>
            <p:ph type="sldImg"/>
          </p:nvPr>
        </p:nvSpPr>
        <p:spPr>
          <a:xfrm>
            <a:off x="404813" y="696913"/>
            <a:ext cx="6188075" cy="3481387"/>
          </a:xfrm>
          <a:ln/>
        </p:spPr>
      </p:sp>
      <p:sp>
        <p:nvSpPr>
          <p:cNvPr id="348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0897" name="Text Box 1">
            <a:extLst>
              <a:ext uri="{FF2B5EF4-FFF2-40B4-BE49-F238E27FC236}">
                <a16:creationId xmlns:a16="http://schemas.microsoft.com/office/drawing/2014/main" id="{79038CDF-8714-2B41-91C7-4D9A84637B7E}"/>
              </a:ext>
            </a:extLst>
          </p:cNvPr>
          <p:cNvSpPr>
            <a:spLocks noGrp="1" noRot="1" noChangeAspect="1" noChangeArrowheads="1"/>
          </p:cNvSpPr>
          <p:nvPr>
            <p:ph type="sldImg"/>
          </p:nvPr>
        </p:nvSpPr>
        <p:spPr>
          <a:xfrm>
            <a:off x="381000" y="685800"/>
            <a:ext cx="6096000" cy="3429000"/>
          </a:xfrm>
          <a:solidFill>
            <a:srgbClr val="FFFFFF"/>
          </a:solidFill>
          <a:ln>
            <a:solidFill>
              <a:srgbClr val="000000"/>
            </a:solidFill>
            <a:miter lim="800000"/>
            <a:headEnd/>
            <a:tailEnd/>
          </a:ln>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80898" name="Text Box 2">
            <a:extLst>
              <a:ext uri="{FF2B5EF4-FFF2-40B4-BE49-F238E27FC236}">
                <a16:creationId xmlns:a16="http://schemas.microsoft.com/office/drawing/2014/main" id="{36303962-FED5-464F-9396-DA411B2A3374}"/>
              </a:ext>
            </a:extLst>
          </p:cNvPr>
          <p:cNvSpPr>
            <a:spLocks noGrp="1" noChangeArrowheads="1"/>
          </p:cNvSpPr>
          <p:nvPr>
            <p:ph type="body" idx="1"/>
          </p:nvPr>
        </p:nvSpPr>
        <p:spPr>
          <a:xfrm>
            <a:off x="685800" y="4343400"/>
            <a:ext cx="5481638" cy="41116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pPr>
              <a:buFont typeface="Times New Roman" charset="0"/>
              <a:buNone/>
              <a:defRPr/>
            </a:pPr>
            <a:endParaRPr lang="pt-PT">
              <a:cs typeface="+mn-cs"/>
            </a:endParaRPr>
          </a:p>
        </p:txBody>
      </p:sp>
    </p:spTree>
    <p:extLst>
      <p:ext uri="{BB962C8B-B14F-4D97-AF65-F5344CB8AC3E}">
        <p14:creationId xmlns:p14="http://schemas.microsoft.com/office/powerpoint/2010/main" val="22714714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787" eaLnBrk="0" hangingPunct="0">
              <a:defRPr sz="1600">
                <a:solidFill>
                  <a:schemeClr val="tx1"/>
                </a:solidFill>
                <a:latin typeface="Helvetica" panose="020B0604020202020204" pitchFamily="34" charset="0"/>
                <a:ea typeface="MS PGothic" panose="020B0600070205080204" pitchFamily="34" charset="-128"/>
              </a:defRPr>
            </a:lvl1pPr>
            <a:lvl2pPr marL="741761" indent="-285293" defTabSz="928787" eaLnBrk="0" hangingPunct="0">
              <a:defRPr sz="1600">
                <a:solidFill>
                  <a:schemeClr val="tx1"/>
                </a:solidFill>
                <a:latin typeface="Helvetica" panose="020B0604020202020204" pitchFamily="34" charset="0"/>
                <a:ea typeface="MS PGothic" panose="020B0600070205080204" pitchFamily="34" charset="-128"/>
              </a:defRPr>
            </a:lvl2pPr>
            <a:lvl3pPr marL="1141171" indent="-228234" defTabSz="928787" eaLnBrk="0" hangingPunct="0">
              <a:defRPr sz="1600">
                <a:solidFill>
                  <a:schemeClr val="tx1"/>
                </a:solidFill>
                <a:latin typeface="Helvetica" panose="020B0604020202020204" pitchFamily="34" charset="0"/>
                <a:ea typeface="MS PGothic" panose="020B0600070205080204" pitchFamily="34" charset="-128"/>
              </a:defRPr>
            </a:lvl3pPr>
            <a:lvl4pPr marL="1597640" indent="-228234" defTabSz="928787" eaLnBrk="0" hangingPunct="0">
              <a:defRPr sz="1600">
                <a:solidFill>
                  <a:schemeClr val="tx1"/>
                </a:solidFill>
                <a:latin typeface="Helvetica" panose="020B0604020202020204" pitchFamily="34" charset="0"/>
                <a:ea typeface="MS PGothic" panose="020B0600070205080204" pitchFamily="34" charset="-128"/>
              </a:defRPr>
            </a:lvl4pPr>
            <a:lvl5pPr marL="2054108" indent="-228234" defTabSz="928787" eaLnBrk="0" hangingPunct="0">
              <a:defRPr sz="1600">
                <a:solidFill>
                  <a:schemeClr val="tx1"/>
                </a:solidFill>
                <a:latin typeface="Helvetica" panose="020B0604020202020204" pitchFamily="34" charset="0"/>
                <a:ea typeface="MS PGothic" panose="020B0600070205080204" pitchFamily="34" charset="-128"/>
              </a:defRPr>
            </a:lvl5pPr>
            <a:lvl6pPr marL="2510577"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67045"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3514"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79982"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CA82168F-E865-405F-BB81-ED9E0172F23B}" type="slidenum">
              <a:rPr lang="en-US" altLang="en-US" sz="1200"/>
              <a:pPr/>
              <a:t>17</a:t>
            </a:fld>
            <a:endParaRPr lang="en-US" altLang="en-US" sz="1200"/>
          </a:p>
        </p:txBody>
      </p:sp>
      <p:sp>
        <p:nvSpPr>
          <p:cNvPr id="34818" name="Rectangle 2"/>
          <p:cNvSpPr>
            <a:spLocks noGrp="1" noRot="1" noChangeAspect="1" noChangeArrowheads="1" noTextEdit="1"/>
          </p:cNvSpPr>
          <p:nvPr>
            <p:ph type="sldImg"/>
          </p:nvPr>
        </p:nvSpPr>
        <p:spPr>
          <a:xfrm>
            <a:off x="404813" y="696913"/>
            <a:ext cx="6188075" cy="3481387"/>
          </a:xfrm>
          <a:ln/>
        </p:spPr>
      </p:sp>
      <p:sp>
        <p:nvSpPr>
          <p:cNvPr id="348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4385971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001" eaLnBrk="0" hangingPunct="0">
              <a:defRPr sz="2400">
                <a:solidFill>
                  <a:schemeClr val="tx1"/>
                </a:solidFill>
                <a:latin typeface="Helvetica" panose="020B0604020202020204" pitchFamily="34" charset="0"/>
                <a:ea typeface="MS PGothic" panose="020B0600070205080204" pitchFamily="34" charset="-128"/>
              </a:defRPr>
            </a:lvl1pPr>
            <a:lvl2pPr marL="734863" indent="-282640" defTabSz="928001" eaLnBrk="0" hangingPunct="0">
              <a:defRPr sz="2400">
                <a:solidFill>
                  <a:schemeClr val="tx1"/>
                </a:solidFill>
                <a:latin typeface="Helvetica" panose="020B0604020202020204" pitchFamily="34" charset="0"/>
                <a:ea typeface="MS PGothic" panose="020B0600070205080204" pitchFamily="34" charset="-128"/>
              </a:defRPr>
            </a:lvl2pPr>
            <a:lvl3pPr marL="1130558" indent="-226112" defTabSz="928001" eaLnBrk="0" hangingPunct="0">
              <a:defRPr sz="2400">
                <a:solidFill>
                  <a:schemeClr val="tx1"/>
                </a:solidFill>
                <a:latin typeface="Helvetica" panose="020B0604020202020204" pitchFamily="34" charset="0"/>
                <a:ea typeface="MS PGothic" panose="020B0600070205080204" pitchFamily="34" charset="-128"/>
              </a:defRPr>
            </a:lvl3pPr>
            <a:lvl4pPr marL="1582781" indent="-226112" defTabSz="928001" eaLnBrk="0" hangingPunct="0">
              <a:defRPr sz="2400">
                <a:solidFill>
                  <a:schemeClr val="tx1"/>
                </a:solidFill>
                <a:latin typeface="Helvetica" panose="020B0604020202020204" pitchFamily="34" charset="0"/>
                <a:ea typeface="MS PGothic" panose="020B0600070205080204" pitchFamily="34" charset="-128"/>
              </a:defRPr>
            </a:lvl4pPr>
            <a:lvl5pPr marL="2035005" indent="-226112" defTabSz="928001" eaLnBrk="0" hangingPunct="0">
              <a:defRPr sz="2400">
                <a:solidFill>
                  <a:schemeClr val="tx1"/>
                </a:solidFill>
                <a:latin typeface="Helvetica" panose="020B0604020202020204" pitchFamily="34" charset="0"/>
                <a:ea typeface="MS PGothic" panose="020B0600070205080204" pitchFamily="34" charset="-128"/>
              </a:defRPr>
            </a:lvl5pPr>
            <a:lvl6pPr marL="248722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39451"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391675"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4389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fld id="{A5814F0E-33C5-4FFC-97A8-A1EDBAA0258F}" type="slidenum">
              <a:rPr lang="en-US" altLang="en-US" sz="1200"/>
              <a:pPr/>
              <a:t>18</a:t>
            </a:fld>
            <a:endParaRPr lang="en-US" altLang="en-US" sz="1200" dirty="0"/>
          </a:p>
        </p:txBody>
      </p:sp>
      <p:sp>
        <p:nvSpPr>
          <p:cNvPr id="72706" name="Rectangle 2"/>
          <p:cNvSpPr>
            <a:spLocks noChangeArrowheads="1"/>
          </p:cNvSpPr>
          <p:nvPr/>
        </p:nvSpPr>
        <p:spPr bwMode="auto">
          <a:xfrm>
            <a:off x="3965991" y="1"/>
            <a:ext cx="3031710" cy="462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286" tIns="45643" rIns="91286" bIns="45643" anchor="ct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endParaRPr lang="en-US" altLang="en-US" sz="1800" dirty="0"/>
          </a:p>
        </p:txBody>
      </p:sp>
      <p:sp>
        <p:nvSpPr>
          <p:cNvPr id="72707" name="Rectangle 3"/>
          <p:cNvSpPr>
            <a:spLocks noChangeArrowheads="1"/>
          </p:cNvSpPr>
          <p:nvPr/>
        </p:nvSpPr>
        <p:spPr bwMode="auto">
          <a:xfrm>
            <a:off x="3965991" y="8821402"/>
            <a:ext cx="3031710" cy="462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903" tIns="45146" rIns="91903" bIns="45146" anchor="b"/>
          <a:lstStyle>
            <a:lvl1pPr defTabSz="930275" eaLnBrk="0" hangingPunct="0">
              <a:defRPr sz="2400">
                <a:solidFill>
                  <a:schemeClr val="tx1"/>
                </a:solidFill>
                <a:latin typeface="Helvetica" panose="020B0604020202020204" pitchFamily="34" charset="0"/>
                <a:ea typeface="MS PGothic" panose="020B0600070205080204" pitchFamily="34" charset="-128"/>
              </a:defRPr>
            </a:lvl1pPr>
            <a:lvl2pPr marL="742950" indent="-285750" defTabSz="930275"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defTabSz="930275"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defTabSz="930275"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defTabSz="930275"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pPr algn="r"/>
            <a:r>
              <a:rPr lang="en-US" altLang="en-US" sz="1300" dirty="0">
                <a:latin typeface="Times New Roman" panose="02020603050405020304" pitchFamily="18" charset="0"/>
              </a:rPr>
              <a:t>1</a:t>
            </a:r>
          </a:p>
        </p:txBody>
      </p:sp>
      <p:sp>
        <p:nvSpPr>
          <p:cNvPr id="72708" name="Rectangle 4"/>
          <p:cNvSpPr>
            <a:spLocks noChangeArrowheads="1"/>
          </p:cNvSpPr>
          <p:nvPr/>
        </p:nvSpPr>
        <p:spPr bwMode="auto">
          <a:xfrm>
            <a:off x="0" y="8821402"/>
            <a:ext cx="3031710" cy="462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286" tIns="45643" rIns="91286" bIns="45643" anchor="ct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endParaRPr lang="en-US" altLang="en-US" sz="1800" dirty="0"/>
          </a:p>
        </p:txBody>
      </p:sp>
      <p:sp>
        <p:nvSpPr>
          <p:cNvPr id="72709" name="Rectangle 5"/>
          <p:cNvSpPr>
            <a:spLocks noChangeArrowheads="1"/>
          </p:cNvSpPr>
          <p:nvPr/>
        </p:nvSpPr>
        <p:spPr bwMode="auto">
          <a:xfrm>
            <a:off x="0" y="1"/>
            <a:ext cx="3031710" cy="462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286" tIns="45643" rIns="91286" bIns="45643" anchor="ct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endParaRPr lang="en-US" altLang="en-US" sz="1800" dirty="0"/>
          </a:p>
        </p:txBody>
      </p:sp>
      <p:sp>
        <p:nvSpPr>
          <p:cNvPr id="72710" name="Rectangle 6"/>
          <p:cNvSpPr>
            <a:spLocks noGrp="1" noRot="1" noChangeAspect="1" noChangeArrowheads="1" noTextEdit="1"/>
          </p:cNvSpPr>
          <p:nvPr>
            <p:ph type="sldImg"/>
          </p:nvPr>
        </p:nvSpPr>
        <p:spPr>
          <a:xfrm>
            <a:off x="417513" y="703263"/>
            <a:ext cx="6162675" cy="3467100"/>
          </a:xfrm>
          <a:ln w="12700" cap="flat"/>
        </p:spPr>
      </p:sp>
      <p:sp>
        <p:nvSpPr>
          <p:cNvPr id="72711" name="Rectangle 7"/>
          <p:cNvSpPr>
            <a:spLocks noGrp="1" noChangeArrowheads="1"/>
          </p:cNvSpPr>
          <p:nvPr>
            <p:ph type="body" idx="1"/>
          </p:nvPr>
        </p:nvSpPr>
        <p:spPr>
          <a:xfrm>
            <a:off x="931146" y="4410702"/>
            <a:ext cx="5135409" cy="417483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903" tIns="45146" rIns="91903" bIns="45146" anchor="ctr"/>
          <a:lstStyle/>
          <a:p>
            <a:endParaRPr lang="en-US" altLang="en-US" dirty="0"/>
          </a:p>
        </p:txBody>
      </p:sp>
    </p:spTree>
    <p:extLst>
      <p:ext uri="{BB962C8B-B14F-4D97-AF65-F5344CB8AC3E}">
        <p14:creationId xmlns:p14="http://schemas.microsoft.com/office/powerpoint/2010/main" val="33026528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001" eaLnBrk="0" hangingPunct="0">
              <a:defRPr sz="2400">
                <a:solidFill>
                  <a:schemeClr val="tx1"/>
                </a:solidFill>
                <a:latin typeface="Helvetica" panose="020B0604020202020204" pitchFamily="34" charset="0"/>
                <a:ea typeface="MS PGothic" panose="020B0600070205080204" pitchFamily="34" charset="-128"/>
              </a:defRPr>
            </a:lvl1pPr>
            <a:lvl2pPr marL="734863" indent="-282640" defTabSz="928001" eaLnBrk="0" hangingPunct="0">
              <a:defRPr sz="2400">
                <a:solidFill>
                  <a:schemeClr val="tx1"/>
                </a:solidFill>
                <a:latin typeface="Helvetica" panose="020B0604020202020204" pitchFamily="34" charset="0"/>
                <a:ea typeface="MS PGothic" panose="020B0600070205080204" pitchFamily="34" charset="-128"/>
              </a:defRPr>
            </a:lvl2pPr>
            <a:lvl3pPr marL="1130558" indent="-226112" defTabSz="928001" eaLnBrk="0" hangingPunct="0">
              <a:defRPr sz="2400">
                <a:solidFill>
                  <a:schemeClr val="tx1"/>
                </a:solidFill>
                <a:latin typeface="Helvetica" panose="020B0604020202020204" pitchFamily="34" charset="0"/>
                <a:ea typeface="MS PGothic" panose="020B0600070205080204" pitchFamily="34" charset="-128"/>
              </a:defRPr>
            </a:lvl3pPr>
            <a:lvl4pPr marL="1582781" indent="-226112" defTabSz="928001" eaLnBrk="0" hangingPunct="0">
              <a:defRPr sz="2400">
                <a:solidFill>
                  <a:schemeClr val="tx1"/>
                </a:solidFill>
                <a:latin typeface="Helvetica" panose="020B0604020202020204" pitchFamily="34" charset="0"/>
                <a:ea typeface="MS PGothic" panose="020B0600070205080204" pitchFamily="34" charset="-128"/>
              </a:defRPr>
            </a:lvl4pPr>
            <a:lvl5pPr marL="2035005" indent="-226112" defTabSz="928001" eaLnBrk="0" hangingPunct="0">
              <a:defRPr sz="2400">
                <a:solidFill>
                  <a:schemeClr val="tx1"/>
                </a:solidFill>
                <a:latin typeface="Helvetica" panose="020B0604020202020204" pitchFamily="34" charset="0"/>
                <a:ea typeface="MS PGothic" panose="020B0600070205080204" pitchFamily="34" charset="-128"/>
              </a:defRPr>
            </a:lvl5pPr>
            <a:lvl6pPr marL="248722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39451"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391675"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4389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fld id="{A5814F0E-33C5-4FFC-97A8-A1EDBAA0258F}" type="slidenum">
              <a:rPr lang="en-US" altLang="en-US" sz="1200"/>
              <a:pPr/>
              <a:t>21</a:t>
            </a:fld>
            <a:endParaRPr lang="en-US" altLang="en-US" sz="1200" dirty="0"/>
          </a:p>
        </p:txBody>
      </p:sp>
      <p:sp>
        <p:nvSpPr>
          <p:cNvPr id="72706" name="Rectangle 2"/>
          <p:cNvSpPr>
            <a:spLocks noChangeArrowheads="1"/>
          </p:cNvSpPr>
          <p:nvPr/>
        </p:nvSpPr>
        <p:spPr bwMode="auto">
          <a:xfrm>
            <a:off x="3965991" y="1"/>
            <a:ext cx="3031710" cy="462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286" tIns="45643" rIns="91286" bIns="45643" anchor="ct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endParaRPr lang="en-US" altLang="en-US" sz="1800" dirty="0"/>
          </a:p>
        </p:txBody>
      </p:sp>
      <p:sp>
        <p:nvSpPr>
          <p:cNvPr id="72707" name="Rectangle 3"/>
          <p:cNvSpPr>
            <a:spLocks noChangeArrowheads="1"/>
          </p:cNvSpPr>
          <p:nvPr/>
        </p:nvSpPr>
        <p:spPr bwMode="auto">
          <a:xfrm>
            <a:off x="3965991" y="8821402"/>
            <a:ext cx="3031710" cy="462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903" tIns="45146" rIns="91903" bIns="45146" anchor="b"/>
          <a:lstStyle>
            <a:lvl1pPr defTabSz="930275" eaLnBrk="0" hangingPunct="0">
              <a:defRPr sz="2400">
                <a:solidFill>
                  <a:schemeClr val="tx1"/>
                </a:solidFill>
                <a:latin typeface="Helvetica" panose="020B0604020202020204" pitchFamily="34" charset="0"/>
                <a:ea typeface="MS PGothic" panose="020B0600070205080204" pitchFamily="34" charset="-128"/>
              </a:defRPr>
            </a:lvl1pPr>
            <a:lvl2pPr marL="742950" indent="-285750" defTabSz="930275"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defTabSz="930275"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defTabSz="930275"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defTabSz="930275"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pPr algn="r"/>
            <a:r>
              <a:rPr lang="en-US" altLang="en-US" sz="1300" dirty="0">
                <a:latin typeface="Times New Roman" panose="02020603050405020304" pitchFamily="18" charset="0"/>
              </a:rPr>
              <a:t>1</a:t>
            </a:r>
          </a:p>
        </p:txBody>
      </p:sp>
      <p:sp>
        <p:nvSpPr>
          <p:cNvPr id="72708" name="Rectangle 4"/>
          <p:cNvSpPr>
            <a:spLocks noChangeArrowheads="1"/>
          </p:cNvSpPr>
          <p:nvPr/>
        </p:nvSpPr>
        <p:spPr bwMode="auto">
          <a:xfrm>
            <a:off x="0" y="8821402"/>
            <a:ext cx="3031710" cy="462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286" tIns="45643" rIns="91286" bIns="45643" anchor="ct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endParaRPr lang="en-US" altLang="en-US" sz="1800" dirty="0"/>
          </a:p>
        </p:txBody>
      </p:sp>
      <p:sp>
        <p:nvSpPr>
          <p:cNvPr id="72709" name="Rectangle 5"/>
          <p:cNvSpPr>
            <a:spLocks noChangeArrowheads="1"/>
          </p:cNvSpPr>
          <p:nvPr/>
        </p:nvSpPr>
        <p:spPr bwMode="auto">
          <a:xfrm>
            <a:off x="0" y="1"/>
            <a:ext cx="3031710" cy="462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286" tIns="45643" rIns="91286" bIns="45643" anchor="ct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endParaRPr lang="en-US" altLang="en-US" sz="1800" dirty="0"/>
          </a:p>
        </p:txBody>
      </p:sp>
      <p:sp>
        <p:nvSpPr>
          <p:cNvPr id="72710" name="Rectangle 6"/>
          <p:cNvSpPr>
            <a:spLocks noGrp="1" noRot="1" noChangeAspect="1" noChangeArrowheads="1" noTextEdit="1"/>
          </p:cNvSpPr>
          <p:nvPr>
            <p:ph type="sldImg"/>
          </p:nvPr>
        </p:nvSpPr>
        <p:spPr>
          <a:xfrm>
            <a:off x="417513" y="703263"/>
            <a:ext cx="6162675" cy="3467100"/>
          </a:xfrm>
          <a:ln w="12700" cap="flat"/>
        </p:spPr>
      </p:sp>
      <p:sp>
        <p:nvSpPr>
          <p:cNvPr id="72711" name="Rectangle 7"/>
          <p:cNvSpPr>
            <a:spLocks noGrp="1" noChangeArrowheads="1"/>
          </p:cNvSpPr>
          <p:nvPr>
            <p:ph type="body" idx="1"/>
          </p:nvPr>
        </p:nvSpPr>
        <p:spPr>
          <a:xfrm>
            <a:off x="931146" y="4410702"/>
            <a:ext cx="5135409" cy="417483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903" tIns="45146" rIns="91903" bIns="45146" anchor="ctr"/>
          <a:lstStyle/>
          <a:p>
            <a:endParaRPr lang="en-US" altLang="en-US" dirty="0"/>
          </a:p>
        </p:txBody>
      </p:sp>
    </p:spTree>
    <p:extLst>
      <p:ext uri="{BB962C8B-B14F-4D97-AF65-F5344CB8AC3E}">
        <p14:creationId xmlns:p14="http://schemas.microsoft.com/office/powerpoint/2010/main" val="25745648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00">
              <a:defRPr sz="1600">
                <a:solidFill>
                  <a:schemeClr val="tx1"/>
                </a:solidFill>
                <a:latin typeface="Helvetica" panose="020B0604020202020204" pitchFamily="34" charset="0"/>
                <a:ea typeface="ＭＳ Ｐゴシック" panose="020B0600070205080204" pitchFamily="34" charset="-128"/>
              </a:defRPr>
            </a:lvl1pPr>
            <a:lvl2pPr marL="742950" indent="-285750" defTabSz="927100">
              <a:defRPr sz="1600">
                <a:solidFill>
                  <a:schemeClr val="tx1"/>
                </a:solidFill>
                <a:latin typeface="Helvetica" panose="020B0604020202020204" pitchFamily="34" charset="0"/>
                <a:ea typeface="ＭＳ Ｐゴシック" panose="020B0600070205080204" pitchFamily="34" charset="-128"/>
              </a:defRPr>
            </a:lvl2pPr>
            <a:lvl3pPr marL="1143000" indent="-228600" defTabSz="927100">
              <a:defRPr sz="1600">
                <a:solidFill>
                  <a:schemeClr val="tx1"/>
                </a:solidFill>
                <a:latin typeface="Helvetica" panose="020B0604020202020204" pitchFamily="34" charset="0"/>
                <a:ea typeface="ＭＳ Ｐゴシック" panose="020B0600070205080204" pitchFamily="34" charset="-128"/>
              </a:defRPr>
            </a:lvl3pPr>
            <a:lvl4pPr marL="1600200" indent="-228600" defTabSz="927100">
              <a:defRPr sz="1600">
                <a:solidFill>
                  <a:schemeClr val="tx1"/>
                </a:solidFill>
                <a:latin typeface="Helvetica" panose="020B0604020202020204" pitchFamily="34" charset="0"/>
                <a:ea typeface="ＭＳ Ｐゴシック" panose="020B0600070205080204" pitchFamily="34" charset="-128"/>
              </a:defRPr>
            </a:lvl4pPr>
            <a:lvl5pPr marL="2057400" indent="-228600" defTabSz="927100">
              <a:defRPr sz="1600">
                <a:solidFill>
                  <a:schemeClr val="tx1"/>
                </a:solidFill>
                <a:latin typeface="Helvetica" panose="020B0604020202020204" pitchFamily="34" charset="0"/>
                <a:ea typeface="ＭＳ Ｐゴシック" panose="020B0600070205080204" pitchFamily="34" charset="-128"/>
              </a:defRPr>
            </a:lvl5pPr>
            <a:lvl6pPr marL="2514600" indent="-228600" defTabSz="9271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271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271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271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D9B5DD2D-80F8-4C47-BE29-F71863EB928E}" type="slidenum">
              <a:rPr lang="en-US" altLang="en-US" sz="1200"/>
              <a:pPr/>
              <a:t>23</a:t>
            </a:fld>
            <a:endParaRPr lang="en-US" altLang="en-US" sz="1200"/>
          </a:p>
        </p:txBody>
      </p:sp>
      <p:sp>
        <p:nvSpPr>
          <p:cNvPr id="138243" name="Rectangle 2"/>
          <p:cNvSpPr>
            <a:spLocks noGrp="1" noRot="1" noChangeAspect="1" noChangeArrowheads="1" noTextEdit="1"/>
          </p:cNvSpPr>
          <p:nvPr>
            <p:ph type="sldImg"/>
          </p:nvPr>
        </p:nvSpPr>
        <p:spPr>
          <a:xfrm>
            <a:off x="404813" y="696913"/>
            <a:ext cx="6188075" cy="3481387"/>
          </a:xfrm>
          <a:ln/>
        </p:spPr>
      </p:sp>
      <p:sp>
        <p:nvSpPr>
          <p:cNvPr id="138244" name="Rectangle 3"/>
          <p:cNvSpPr>
            <a:spLocks noGrp="1" noChangeArrowheads="1"/>
          </p:cNvSpPr>
          <p:nvPr>
            <p:ph type="body" idx="1"/>
          </p:nvPr>
        </p:nvSpPr>
        <p:spPr>
          <a:xfrm>
            <a:off x="931414" y="4410392"/>
            <a:ext cx="5134874" cy="41757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5601123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7"/>
          <p:cNvSpPr txBox="1">
            <a:spLocks noGrp="1" noChangeArrowheads="1"/>
          </p:cNvSpPr>
          <p:nvPr/>
        </p:nvSpPr>
        <p:spPr bwMode="auto">
          <a:xfrm>
            <a:off x="3966171" y="8820783"/>
            <a:ext cx="3031529" cy="4629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3022" tIns="46511" rIns="93022" bIns="46511" anchor="b"/>
          <a:lstStyle>
            <a:lvl1pPr defTabSz="930275">
              <a:defRPr sz="1600">
                <a:solidFill>
                  <a:schemeClr val="tx1"/>
                </a:solidFill>
                <a:latin typeface="Helvetica" panose="020B0604020202020204" pitchFamily="34" charset="0"/>
                <a:ea typeface="ＭＳ Ｐゴシック" panose="020B0600070205080204" pitchFamily="34" charset="-128"/>
              </a:defRPr>
            </a:lvl1pPr>
            <a:lvl2pPr marL="742950" indent="-285750" defTabSz="930275">
              <a:defRPr sz="1600">
                <a:solidFill>
                  <a:schemeClr val="tx1"/>
                </a:solidFill>
                <a:latin typeface="Helvetica" panose="020B0604020202020204" pitchFamily="34" charset="0"/>
                <a:ea typeface="ＭＳ Ｐゴシック" panose="020B0600070205080204" pitchFamily="34" charset="-128"/>
              </a:defRPr>
            </a:lvl2pPr>
            <a:lvl3pPr marL="1143000" indent="-228600" defTabSz="930275">
              <a:defRPr sz="1600">
                <a:solidFill>
                  <a:schemeClr val="tx1"/>
                </a:solidFill>
                <a:latin typeface="Helvetica" panose="020B0604020202020204" pitchFamily="34" charset="0"/>
                <a:ea typeface="ＭＳ Ｐゴシック" panose="020B0600070205080204" pitchFamily="34" charset="-128"/>
              </a:defRPr>
            </a:lvl3pPr>
            <a:lvl4pPr marL="1600200" indent="-228600" defTabSz="930275">
              <a:defRPr sz="1600">
                <a:solidFill>
                  <a:schemeClr val="tx1"/>
                </a:solidFill>
                <a:latin typeface="Helvetica" panose="020B0604020202020204" pitchFamily="34" charset="0"/>
                <a:ea typeface="ＭＳ Ｐゴシック" panose="020B0600070205080204" pitchFamily="34" charset="-128"/>
              </a:defRPr>
            </a:lvl4pPr>
            <a:lvl5pPr marL="2057400" indent="-228600" defTabSz="930275">
              <a:defRPr sz="1600">
                <a:solidFill>
                  <a:schemeClr val="tx1"/>
                </a:solidFill>
                <a:latin typeface="Helvetica" panose="020B060402020202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pPr algn="r"/>
            <a:fld id="{D1584D15-F658-456F-8F61-E80EBA02FF6A}" type="slidenum">
              <a:rPr lang="en-US" altLang="en-US" sz="1200"/>
              <a:pPr algn="r"/>
              <a:t>24</a:t>
            </a:fld>
            <a:endParaRPr lang="en-US" altLang="en-US" sz="1200"/>
          </a:p>
        </p:txBody>
      </p:sp>
      <p:sp>
        <p:nvSpPr>
          <p:cNvPr id="139267" name="Rectangle 2"/>
          <p:cNvSpPr>
            <a:spLocks noGrp="1" noRot="1" noChangeAspect="1" noChangeArrowheads="1" noTextEdit="1"/>
          </p:cNvSpPr>
          <p:nvPr>
            <p:ph type="sldImg"/>
          </p:nvPr>
        </p:nvSpPr>
        <p:spPr>
          <a:xfrm>
            <a:off x="404813" y="696913"/>
            <a:ext cx="6188075" cy="3481387"/>
          </a:xfrm>
          <a:ln/>
        </p:spPr>
      </p:sp>
      <p:sp>
        <p:nvSpPr>
          <p:cNvPr id="139268" name="Rectangle 3"/>
          <p:cNvSpPr>
            <a:spLocks noGrp="1" noChangeArrowheads="1"/>
          </p:cNvSpPr>
          <p:nvPr>
            <p:ph type="body" idx="1"/>
          </p:nvPr>
        </p:nvSpPr>
        <p:spPr>
          <a:xfrm>
            <a:off x="931414" y="4410392"/>
            <a:ext cx="5134874" cy="41757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0724316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7"/>
          <p:cNvSpPr txBox="1">
            <a:spLocks noGrp="1" noChangeArrowheads="1"/>
          </p:cNvSpPr>
          <p:nvPr/>
        </p:nvSpPr>
        <p:spPr bwMode="auto">
          <a:xfrm>
            <a:off x="3966171" y="8820783"/>
            <a:ext cx="3031529" cy="4629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3022" tIns="46511" rIns="93022" bIns="46511" anchor="b"/>
          <a:lstStyle>
            <a:lvl1pPr defTabSz="930275">
              <a:defRPr sz="1600">
                <a:solidFill>
                  <a:schemeClr val="tx1"/>
                </a:solidFill>
                <a:latin typeface="Helvetica" panose="020B0604020202020204" pitchFamily="34" charset="0"/>
                <a:ea typeface="ＭＳ Ｐゴシック" panose="020B0600070205080204" pitchFamily="34" charset="-128"/>
              </a:defRPr>
            </a:lvl1pPr>
            <a:lvl2pPr marL="742950" indent="-285750" defTabSz="930275">
              <a:defRPr sz="1600">
                <a:solidFill>
                  <a:schemeClr val="tx1"/>
                </a:solidFill>
                <a:latin typeface="Helvetica" panose="020B0604020202020204" pitchFamily="34" charset="0"/>
                <a:ea typeface="ＭＳ Ｐゴシック" panose="020B0600070205080204" pitchFamily="34" charset="-128"/>
              </a:defRPr>
            </a:lvl2pPr>
            <a:lvl3pPr marL="1143000" indent="-228600" defTabSz="930275">
              <a:defRPr sz="1600">
                <a:solidFill>
                  <a:schemeClr val="tx1"/>
                </a:solidFill>
                <a:latin typeface="Helvetica" panose="020B0604020202020204" pitchFamily="34" charset="0"/>
                <a:ea typeface="ＭＳ Ｐゴシック" panose="020B0600070205080204" pitchFamily="34" charset="-128"/>
              </a:defRPr>
            </a:lvl3pPr>
            <a:lvl4pPr marL="1600200" indent="-228600" defTabSz="930275">
              <a:defRPr sz="1600">
                <a:solidFill>
                  <a:schemeClr val="tx1"/>
                </a:solidFill>
                <a:latin typeface="Helvetica" panose="020B0604020202020204" pitchFamily="34" charset="0"/>
                <a:ea typeface="ＭＳ Ｐゴシック" panose="020B0600070205080204" pitchFamily="34" charset="-128"/>
              </a:defRPr>
            </a:lvl4pPr>
            <a:lvl5pPr marL="2057400" indent="-228600" defTabSz="930275">
              <a:defRPr sz="1600">
                <a:solidFill>
                  <a:schemeClr val="tx1"/>
                </a:solidFill>
                <a:latin typeface="Helvetica" panose="020B060402020202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pPr algn="r"/>
            <a:fld id="{D1584D15-F658-456F-8F61-E80EBA02FF6A}" type="slidenum">
              <a:rPr lang="en-US" altLang="en-US" sz="1200"/>
              <a:pPr algn="r"/>
              <a:t>25</a:t>
            </a:fld>
            <a:endParaRPr lang="en-US" altLang="en-US" sz="1200"/>
          </a:p>
        </p:txBody>
      </p:sp>
      <p:sp>
        <p:nvSpPr>
          <p:cNvPr id="139267" name="Rectangle 2"/>
          <p:cNvSpPr>
            <a:spLocks noGrp="1" noRot="1" noChangeAspect="1" noChangeArrowheads="1" noTextEdit="1"/>
          </p:cNvSpPr>
          <p:nvPr>
            <p:ph type="sldImg"/>
          </p:nvPr>
        </p:nvSpPr>
        <p:spPr>
          <a:xfrm>
            <a:off x="404813" y="696913"/>
            <a:ext cx="6188075" cy="3481387"/>
          </a:xfrm>
          <a:ln/>
        </p:spPr>
      </p:sp>
      <p:sp>
        <p:nvSpPr>
          <p:cNvPr id="139268" name="Rectangle 3"/>
          <p:cNvSpPr>
            <a:spLocks noGrp="1" noChangeArrowheads="1"/>
          </p:cNvSpPr>
          <p:nvPr>
            <p:ph type="body" idx="1"/>
          </p:nvPr>
        </p:nvSpPr>
        <p:spPr>
          <a:xfrm>
            <a:off x="931414" y="4410392"/>
            <a:ext cx="5134874" cy="41757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2237699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00">
              <a:defRPr sz="1600">
                <a:solidFill>
                  <a:schemeClr val="tx1"/>
                </a:solidFill>
                <a:latin typeface="Helvetica" panose="020B0604020202020204" pitchFamily="34" charset="0"/>
                <a:ea typeface="ＭＳ Ｐゴシック" panose="020B0600070205080204" pitchFamily="34" charset="-128"/>
              </a:defRPr>
            </a:lvl1pPr>
            <a:lvl2pPr marL="742950" indent="-285750" defTabSz="927100">
              <a:defRPr sz="1600">
                <a:solidFill>
                  <a:schemeClr val="tx1"/>
                </a:solidFill>
                <a:latin typeface="Helvetica" panose="020B0604020202020204" pitchFamily="34" charset="0"/>
                <a:ea typeface="ＭＳ Ｐゴシック" panose="020B0600070205080204" pitchFamily="34" charset="-128"/>
              </a:defRPr>
            </a:lvl2pPr>
            <a:lvl3pPr marL="1143000" indent="-228600" defTabSz="927100">
              <a:defRPr sz="1600">
                <a:solidFill>
                  <a:schemeClr val="tx1"/>
                </a:solidFill>
                <a:latin typeface="Helvetica" panose="020B0604020202020204" pitchFamily="34" charset="0"/>
                <a:ea typeface="ＭＳ Ｐゴシック" panose="020B0600070205080204" pitchFamily="34" charset="-128"/>
              </a:defRPr>
            </a:lvl3pPr>
            <a:lvl4pPr marL="1600200" indent="-228600" defTabSz="927100">
              <a:defRPr sz="1600">
                <a:solidFill>
                  <a:schemeClr val="tx1"/>
                </a:solidFill>
                <a:latin typeface="Helvetica" panose="020B0604020202020204" pitchFamily="34" charset="0"/>
                <a:ea typeface="ＭＳ Ｐゴシック" panose="020B0600070205080204" pitchFamily="34" charset="-128"/>
              </a:defRPr>
            </a:lvl4pPr>
            <a:lvl5pPr marL="2057400" indent="-228600" defTabSz="927100">
              <a:defRPr sz="1600">
                <a:solidFill>
                  <a:schemeClr val="tx1"/>
                </a:solidFill>
                <a:latin typeface="Helvetica" panose="020B0604020202020204" pitchFamily="34" charset="0"/>
                <a:ea typeface="ＭＳ Ｐゴシック" panose="020B0600070205080204" pitchFamily="34" charset="-128"/>
              </a:defRPr>
            </a:lvl5pPr>
            <a:lvl6pPr marL="2514600" indent="-228600" defTabSz="9271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271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271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271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D9B5DD2D-80F8-4C47-BE29-F71863EB928E}" type="slidenum">
              <a:rPr lang="en-US" altLang="en-US" sz="1200"/>
              <a:pPr/>
              <a:t>26</a:t>
            </a:fld>
            <a:endParaRPr lang="en-US" altLang="en-US" sz="1200"/>
          </a:p>
        </p:txBody>
      </p:sp>
      <p:sp>
        <p:nvSpPr>
          <p:cNvPr id="138243" name="Rectangle 2"/>
          <p:cNvSpPr>
            <a:spLocks noGrp="1" noRot="1" noChangeAspect="1" noChangeArrowheads="1" noTextEdit="1"/>
          </p:cNvSpPr>
          <p:nvPr>
            <p:ph type="sldImg"/>
          </p:nvPr>
        </p:nvSpPr>
        <p:spPr>
          <a:xfrm>
            <a:off x="404813" y="696913"/>
            <a:ext cx="6188075" cy="3481387"/>
          </a:xfrm>
          <a:ln/>
        </p:spPr>
      </p:sp>
      <p:sp>
        <p:nvSpPr>
          <p:cNvPr id="138244" name="Rectangle 3"/>
          <p:cNvSpPr>
            <a:spLocks noGrp="1" noChangeArrowheads="1"/>
          </p:cNvSpPr>
          <p:nvPr>
            <p:ph type="body" idx="1"/>
          </p:nvPr>
        </p:nvSpPr>
        <p:spPr>
          <a:xfrm>
            <a:off x="931414" y="4410392"/>
            <a:ext cx="5134874" cy="41757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413482297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00">
              <a:defRPr sz="1600">
                <a:solidFill>
                  <a:schemeClr val="tx1"/>
                </a:solidFill>
                <a:latin typeface="Helvetica" panose="020B0604020202020204" pitchFamily="34" charset="0"/>
                <a:ea typeface="ＭＳ Ｐゴシック" panose="020B0600070205080204" pitchFamily="34" charset="-128"/>
              </a:defRPr>
            </a:lvl1pPr>
            <a:lvl2pPr marL="742950" indent="-285750" defTabSz="927100">
              <a:defRPr sz="1600">
                <a:solidFill>
                  <a:schemeClr val="tx1"/>
                </a:solidFill>
                <a:latin typeface="Helvetica" panose="020B0604020202020204" pitchFamily="34" charset="0"/>
                <a:ea typeface="ＭＳ Ｐゴシック" panose="020B0600070205080204" pitchFamily="34" charset="-128"/>
              </a:defRPr>
            </a:lvl2pPr>
            <a:lvl3pPr marL="1143000" indent="-228600" defTabSz="927100">
              <a:defRPr sz="1600">
                <a:solidFill>
                  <a:schemeClr val="tx1"/>
                </a:solidFill>
                <a:latin typeface="Helvetica" panose="020B0604020202020204" pitchFamily="34" charset="0"/>
                <a:ea typeface="ＭＳ Ｐゴシック" panose="020B0600070205080204" pitchFamily="34" charset="-128"/>
              </a:defRPr>
            </a:lvl3pPr>
            <a:lvl4pPr marL="1600200" indent="-228600" defTabSz="927100">
              <a:defRPr sz="1600">
                <a:solidFill>
                  <a:schemeClr val="tx1"/>
                </a:solidFill>
                <a:latin typeface="Helvetica" panose="020B0604020202020204" pitchFamily="34" charset="0"/>
                <a:ea typeface="ＭＳ Ｐゴシック" panose="020B0600070205080204" pitchFamily="34" charset="-128"/>
              </a:defRPr>
            </a:lvl4pPr>
            <a:lvl5pPr marL="2057400" indent="-228600" defTabSz="927100">
              <a:defRPr sz="1600">
                <a:solidFill>
                  <a:schemeClr val="tx1"/>
                </a:solidFill>
                <a:latin typeface="Helvetica" panose="020B0604020202020204" pitchFamily="34" charset="0"/>
                <a:ea typeface="ＭＳ Ｐゴシック" panose="020B0600070205080204" pitchFamily="34" charset="-128"/>
              </a:defRPr>
            </a:lvl5pPr>
            <a:lvl6pPr marL="2514600" indent="-228600" defTabSz="9271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271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271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271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D9B5DD2D-80F8-4C47-BE29-F71863EB928E}" type="slidenum">
              <a:rPr lang="en-US" altLang="en-US" sz="1200"/>
              <a:pPr/>
              <a:t>27</a:t>
            </a:fld>
            <a:endParaRPr lang="en-US" altLang="en-US" sz="1200"/>
          </a:p>
        </p:txBody>
      </p:sp>
      <p:sp>
        <p:nvSpPr>
          <p:cNvPr id="138243" name="Rectangle 2"/>
          <p:cNvSpPr>
            <a:spLocks noGrp="1" noRot="1" noChangeAspect="1" noChangeArrowheads="1" noTextEdit="1"/>
          </p:cNvSpPr>
          <p:nvPr>
            <p:ph type="sldImg"/>
          </p:nvPr>
        </p:nvSpPr>
        <p:spPr>
          <a:xfrm>
            <a:off x="404813" y="696913"/>
            <a:ext cx="6188075" cy="3481387"/>
          </a:xfrm>
          <a:ln/>
        </p:spPr>
      </p:sp>
      <p:sp>
        <p:nvSpPr>
          <p:cNvPr id="138244" name="Rectangle 3"/>
          <p:cNvSpPr>
            <a:spLocks noGrp="1" noChangeArrowheads="1"/>
          </p:cNvSpPr>
          <p:nvPr>
            <p:ph type="body" idx="1"/>
          </p:nvPr>
        </p:nvSpPr>
        <p:spPr>
          <a:xfrm>
            <a:off x="931414" y="4410392"/>
            <a:ext cx="5134874" cy="41757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416265082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00">
              <a:defRPr sz="1600">
                <a:solidFill>
                  <a:schemeClr val="tx1"/>
                </a:solidFill>
                <a:latin typeface="Helvetica" panose="020B0604020202020204" pitchFamily="34" charset="0"/>
                <a:ea typeface="ＭＳ Ｐゴシック" panose="020B0600070205080204" pitchFamily="34" charset="-128"/>
              </a:defRPr>
            </a:lvl1pPr>
            <a:lvl2pPr marL="742950" indent="-285750" defTabSz="927100">
              <a:defRPr sz="1600">
                <a:solidFill>
                  <a:schemeClr val="tx1"/>
                </a:solidFill>
                <a:latin typeface="Helvetica" panose="020B0604020202020204" pitchFamily="34" charset="0"/>
                <a:ea typeface="ＭＳ Ｐゴシック" panose="020B0600070205080204" pitchFamily="34" charset="-128"/>
              </a:defRPr>
            </a:lvl2pPr>
            <a:lvl3pPr marL="1143000" indent="-228600" defTabSz="927100">
              <a:defRPr sz="1600">
                <a:solidFill>
                  <a:schemeClr val="tx1"/>
                </a:solidFill>
                <a:latin typeface="Helvetica" panose="020B0604020202020204" pitchFamily="34" charset="0"/>
                <a:ea typeface="ＭＳ Ｐゴシック" panose="020B0600070205080204" pitchFamily="34" charset="-128"/>
              </a:defRPr>
            </a:lvl3pPr>
            <a:lvl4pPr marL="1600200" indent="-228600" defTabSz="927100">
              <a:defRPr sz="1600">
                <a:solidFill>
                  <a:schemeClr val="tx1"/>
                </a:solidFill>
                <a:latin typeface="Helvetica" panose="020B0604020202020204" pitchFamily="34" charset="0"/>
                <a:ea typeface="ＭＳ Ｐゴシック" panose="020B0600070205080204" pitchFamily="34" charset="-128"/>
              </a:defRPr>
            </a:lvl4pPr>
            <a:lvl5pPr marL="2057400" indent="-228600" defTabSz="927100">
              <a:defRPr sz="1600">
                <a:solidFill>
                  <a:schemeClr val="tx1"/>
                </a:solidFill>
                <a:latin typeface="Helvetica" panose="020B0604020202020204" pitchFamily="34" charset="0"/>
                <a:ea typeface="ＭＳ Ｐゴシック" panose="020B0600070205080204" pitchFamily="34" charset="-128"/>
              </a:defRPr>
            </a:lvl5pPr>
            <a:lvl6pPr marL="2514600" indent="-228600" defTabSz="9271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271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271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271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D9B5DD2D-80F8-4C47-BE29-F71863EB928E}" type="slidenum">
              <a:rPr lang="en-US" altLang="en-US" sz="1200"/>
              <a:pPr/>
              <a:t>28</a:t>
            </a:fld>
            <a:endParaRPr lang="en-US" altLang="en-US" sz="1200"/>
          </a:p>
        </p:txBody>
      </p:sp>
      <p:sp>
        <p:nvSpPr>
          <p:cNvPr id="138243" name="Rectangle 2"/>
          <p:cNvSpPr>
            <a:spLocks noGrp="1" noRot="1" noChangeAspect="1" noChangeArrowheads="1" noTextEdit="1"/>
          </p:cNvSpPr>
          <p:nvPr>
            <p:ph type="sldImg"/>
          </p:nvPr>
        </p:nvSpPr>
        <p:spPr>
          <a:xfrm>
            <a:off x="404813" y="696913"/>
            <a:ext cx="6188075" cy="3481387"/>
          </a:xfrm>
          <a:ln/>
        </p:spPr>
      </p:sp>
      <p:sp>
        <p:nvSpPr>
          <p:cNvPr id="138244" name="Rectangle 3"/>
          <p:cNvSpPr>
            <a:spLocks noGrp="1" noChangeArrowheads="1"/>
          </p:cNvSpPr>
          <p:nvPr>
            <p:ph type="body" idx="1"/>
          </p:nvPr>
        </p:nvSpPr>
        <p:spPr>
          <a:xfrm>
            <a:off x="931414" y="4410392"/>
            <a:ext cx="5134874" cy="41757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245495071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7"/>
          <p:cNvSpPr txBox="1">
            <a:spLocks noGrp="1" noChangeArrowheads="1"/>
          </p:cNvSpPr>
          <p:nvPr/>
        </p:nvSpPr>
        <p:spPr bwMode="auto">
          <a:xfrm>
            <a:off x="3966171" y="8820783"/>
            <a:ext cx="3031529" cy="4629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3022" tIns="46511" rIns="93022" bIns="46511" anchor="b"/>
          <a:lstStyle>
            <a:lvl1pPr defTabSz="930275">
              <a:defRPr sz="1600">
                <a:solidFill>
                  <a:schemeClr val="tx1"/>
                </a:solidFill>
                <a:latin typeface="Helvetica" panose="020B0604020202020204" pitchFamily="34" charset="0"/>
                <a:ea typeface="ＭＳ Ｐゴシック" panose="020B0600070205080204" pitchFamily="34" charset="-128"/>
              </a:defRPr>
            </a:lvl1pPr>
            <a:lvl2pPr marL="742950" indent="-285750" defTabSz="930275">
              <a:defRPr sz="1600">
                <a:solidFill>
                  <a:schemeClr val="tx1"/>
                </a:solidFill>
                <a:latin typeface="Helvetica" panose="020B0604020202020204" pitchFamily="34" charset="0"/>
                <a:ea typeface="ＭＳ Ｐゴシック" panose="020B0600070205080204" pitchFamily="34" charset="-128"/>
              </a:defRPr>
            </a:lvl2pPr>
            <a:lvl3pPr marL="1143000" indent="-228600" defTabSz="930275">
              <a:defRPr sz="1600">
                <a:solidFill>
                  <a:schemeClr val="tx1"/>
                </a:solidFill>
                <a:latin typeface="Helvetica" panose="020B0604020202020204" pitchFamily="34" charset="0"/>
                <a:ea typeface="ＭＳ Ｐゴシック" panose="020B0600070205080204" pitchFamily="34" charset="-128"/>
              </a:defRPr>
            </a:lvl3pPr>
            <a:lvl4pPr marL="1600200" indent="-228600" defTabSz="930275">
              <a:defRPr sz="1600">
                <a:solidFill>
                  <a:schemeClr val="tx1"/>
                </a:solidFill>
                <a:latin typeface="Helvetica" panose="020B0604020202020204" pitchFamily="34" charset="0"/>
                <a:ea typeface="ＭＳ Ｐゴシック" panose="020B0600070205080204" pitchFamily="34" charset="-128"/>
              </a:defRPr>
            </a:lvl4pPr>
            <a:lvl5pPr marL="2057400" indent="-228600" defTabSz="930275">
              <a:defRPr sz="1600">
                <a:solidFill>
                  <a:schemeClr val="tx1"/>
                </a:solidFill>
                <a:latin typeface="Helvetica" panose="020B060402020202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pPr algn="r"/>
            <a:fld id="{52C13233-64BC-4954-9464-11A8667DC6C3}" type="slidenum">
              <a:rPr lang="en-US" altLang="en-US" sz="1200"/>
              <a:pPr algn="r"/>
              <a:t>29</a:t>
            </a:fld>
            <a:endParaRPr lang="en-US" altLang="en-US" sz="1200"/>
          </a:p>
        </p:txBody>
      </p:sp>
      <p:sp>
        <p:nvSpPr>
          <p:cNvPr id="140291" name="Rectangle 2"/>
          <p:cNvSpPr>
            <a:spLocks noGrp="1" noRot="1" noChangeAspect="1" noChangeArrowheads="1" noTextEdit="1"/>
          </p:cNvSpPr>
          <p:nvPr>
            <p:ph type="sldImg"/>
          </p:nvPr>
        </p:nvSpPr>
        <p:spPr>
          <a:xfrm>
            <a:off x="404813" y="696913"/>
            <a:ext cx="6188075" cy="3481387"/>
          </a:xfrm>
          <a:ln/>
        </p:spPr>
      </p:sp>
      <p:sp>
        <p:nvSpPr>
          <p:cNvPr id="140292" name="Rectangle 3"/>
          <p:cNvSpPr>
            <a:spLocks noGrp="1" noChangeArrowheads="1"/>
          </p:cNvSpPr>
          <p:nvPr>
            <p:ph type="body" idx="1"/>
          </p:nvPr>
        </p:nvSpPr>
        <p:spPr>
          <a:xfrm>
            <a:off x="931414" y="4410392"/>
            <a:ext cx="5134874" cy="41757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55527375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7"/>
          <p:cNvSpPr txBox="1">
            <a:spLocks noGrp="1" noChangeArrowheads="1"/>
          </p:cNvSpPr>
          <p:nvPr/>
        </p:nvSpPr>
        <p:spPr bwMode="auto">
          <a:xfrm>
            <a:off x="3966171" y="8820783"/>
            <a:ext cx="3031529" cy="4629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3022" tIns="46511" rIns="93022" bIns="46511" anchor="b"/>
          <a:lstStyle>
            <a:lvl1pPr defTabSz="930275">
              <a:defRPr sz="1600">
                <a:solidFill>
                  <a:schemeClr val="tx1"/>
                </a:solidFill>
                <a:latin typeface="Helvetica" panose="020B0604020202020204" pitchFamily="34" charset="0"/>
                <a:ea typeface="ＭＳ Ｐゴシック" panose="020B0600070205080204" pitchFamily="34" charset="-128"/>
              </a:defRPr>
            </a:lvl1pPr>
            <a:lvl2pPr marL="742950" indent="-285750" defTabSz="930275">
              <a:defRPr sz="1600">
                <a:solidFill>
                  <a:schemeClr val="tx1"/>
                </a:solidFill>
                <a:latin typeface="Helvetica" panose="020B0604020202020204" pitchFamily="34" charset="0"/>
                <a:ea typeface="ＭＳ Ｐゴシック" panose="020B0600070205080204" pitchFamily="34" charset="-128"/>
              </a:defRPr>
            </a:lvl2pPr>
            <a:lvl3pPr marL="1143000" indent="-228600" defTabSz="930275">
              <a:defRPr sz="1600">
                <a:solidFill>
                  <a:schemeClr val="tx1"/>
                </a:solidFill>
                <a:latin typeface="Helvetica" panose="020B0604020202020204" pitchFamily="34" charset="0"/>
                <a:ea typeface="ＭＳ Ｐゴシック" panose="020B0600070205080204" pitchFamily="34" charset="-128"/>
              </a:defRPr>
            </a:lvl3pPr>
            <a:lvl4pPr marL="1600200" indent="-228600" defTabSz="930275">
              <a:defRPr sz="1600">
                <a:solidFill>
                  <a:schemeClr val="tx1"/>
                </a:solidFill>
                <a:latin typeface="Helvetica" panose="020B0604020202020204" pitchFamily="34" charset="0"/>
                <a:ea typeface="ＭＳ Ｐゴシック" panose="020B0600070205080204" pitchFamily="34" charset="-128"/>
              </a:defRPr>
            </a:lvl4pPr>
            <a:lvl5pPr marL="2057400" indent="-228600" defTabSz="930275">
              <a:defRPr sz="1600">
                <a:solidFill>
                  <a:schemeClr val="tx1"/>
                </a:solidFill>
                <a:latin typeface="Helvetica" panose="020B060402020202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pPr algn="r"/>
            <a:fld id="{D1584D15-F658-456F-8F61-E80EBA02FF6A}" type="slidenum">
              <a:rPr lang="en-US" altLang="en-US" sz="1200"/>
              <a:pPr algn="r"/>
              <a:t>30</a:t>
            </a:fld>
            <a:endParaRPr lang="en-US" altLang="en-US" sz="1200"/>
          </a:p>
        </p:txBody>
      </p:sp>
      <p:sp>
        <p:nvSpPr>
          <p:cNvPr id="139267" name="Rectangle 2"/>
          <p:cNvSpPr>
            <a:spLocks noGrp="1" noRot="1" noChangeAspect="1" noChangeArrowheads="1" noTextEdit="1"/>
          </p:cNvSpPr>
          <p:nvPr>
            <p:ph type="sldImg"/>
          </p:nvPr>
        </p:nvSpPr>
        <p:spPr>
          <a:xfrm>
            <a:off x="404813" y="696913"/>
            <a:ext cx="6188075" cy="3481387"/>
          </a:xfrm>
          <a:ln/>
        </p:spPr>
      </p:sp>
      <p:sp>
        <p:nvSpPr>
          <p:cNvPr id="139268" name="Rectangle 3"/>
          <p:cNvSpPr>
            <a:spLocks noGrp="1" noChangeArrowheads="1"/>
          </p:cNvSpPr>
          <p:nvPr>
            <p:ph type="body" idx="1"/>
          </p:nvPr>
        </p:nvSpPr>
        <p:spPr>
          <a:xfrm>
            <a:off x="931414" y="4410392"/>
            <a:ext cx="5134874" cy="41757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37304292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7"/>
          <p:cNvSpPr txBox="1">
            <a:spLocks noGrp="1" noChangeArrowheads="1"/>
          </p:cNvSpPr>
          <p:nvPr/>
        </p:nvSpPr>
        <p:spPr bwMode="auto">
          <a:xfrm>
            <a:off x="3966171" y="8820783"/>
            <a:ext cx="3031529" cy="4629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3022" tIns="46511" rIns="93022" bIns="46511" anchor="b"/>
          <a:lstStyle>
            <a:lvl1pPr defTabSz="930275">
              <a:defRPr sz="1600">
                <a:solidFill>
                  <a:schemeClr val="tx1"/>
                </a:solidFill>
                <a:latin typeface="Helvetica" panose="020B0604020202020204" pitchFamily="34" charset="0"/>
                <a:ea typeface="ＭＳ Ｐゴシック" panose="020B0600070205080204" pitchFamily="34" charset="-128"/>
              </a:defRPr>
            </a:lvl1pPr>
            <a:lvl2pPr marL="742950" indent="-285750" defTabSz="930275">
              <a:defRPr sz="1600">
                <a:solidFill>
                  <a:schemeClr val="tx1"/>
                </a:solidFill>
                <a:latin typeface="Helvetica" panose="020B0604020202020204" pitchFamily="34" charset="0"/>
                <a:ea typeface="ＭＳ Ｐゴシック" panose="020B0600070205080204" pitchFamily="34" charset="-128"/>
              </a:defRPr>
            </a:lvl2pPr>
            <a:lvl3pPr marL="1143000" indent="-228600" defTabSz="930275">
              <a:defRPr sz="1600">
                <a:solidFill>
                  <a:schemeClr val="tx1"/>
                </a:solidFill>
                <a:latin typeface="Helvetica" panose="020B0604020202020204" pitchFamily="34" charset="0"/>
                <a:ea typeface="ＭＳ Ｐゴシック" panose="020B0600070205080204" pitchFamily="34" charset="-128"/>
              </a:defRPr>
            </a:lvl3pPr>
            <a:lvl4pPr marL="1600200" indent="-228600" defTabSz="930275">
              <a:defRPr sz="1600">
                <a:solidFill>
                  <a:schemeClr val="tx1"/>
                </a:solidFill>
                <a:latin typeface="Helvetica" panose="020B0604020202020204" pitchFamily="34" charset="0"/>
                <a:ea typeface="ＭＳ Ｐゴシック" panose="020B0600070205080204" pitchFamily="34" charset="-128"/>
              </a:defRPr>
            </a:lvl4pPr>
            <a:lvl5pPr marL="2057400" indent="-228600" defTabSz="930275">
              <a:defRPr sz="1600">
                <a:solidFill>
                  <a:schemeClr val="tx1"/>
                </a:solidFill>
                <a:latin typeface="Helvetica" panose="020B060402020202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pPr algn="r"/>
            <a:fld id="{03671C7C-5C30-4951-A09C-C7DE0069A227}" type="slidenum">
              <a:rPr lang="en-US" altLang="en-US" sz="1200"/>
              <a:pPr algn="r"/>
              <a:t>31</a:t>
            </a:fld>
            <a:endParaRPr lang="en-US" altLang="en-US" sz="1200"/>
          </a:p>
        </p:txBody>
      </p:sp>
      <p:sp>
        <p:nvSpPr>
          <p:cNvPr id="143363" name="Rectangle 2"/>
          <p:cNvSpPr>
            <a:spLocks noGrp="1" noRot="1" noChangeAspect="1" noChangeArrowheads="1" noTextEdit="1"/>
          </p:cNvSpPr>
          <p:nvPr>
            <p:ph type="sldImg"/>
          </p:nvPr>
        </p:nvSpPr>
        <p:spPr>
          <a:xfrm>
            <a:off x="404813" y="696913"/>
            <a:ext cx="6188075" cy="3481387"/>
          </a:xfrm>
          <a:ln/>
        </p:spPr>
      </p:sp>
      <p:sp>
        <p:nvSpPr>
          <p:cNvPr id="143364" name="Rectangle 3"/>
          <p:cNvSpPr>
            <a:spLocks noGrp="1" noChangeArrowheads="1"/>
          </p:cNvSpPr>
          <p:nvPr>
            <p:ph type="body" idx="1"/>
          </p:nvPr>
        </p:nvSpPr>
        <p:spPr>
          <a:xfrm>
            <a:off x="931414" y="4410392"/>
            <a:ext cx="5134874" cy="41757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11444393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7"/>
          <p:cNvSpPr txBox="1">
            <a:spLocks noGrp="1" noChangeArrowheads="1"/>
          </p:cNvSpPr>
          <p:nvPr/>
        </p:nvSpPr>
        <p:spPr bwMode="auto">
          <a:xfrm>
            <a:off x="3966171" y="8820783"/>
            <a:ext cx="3031529" cy="4629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3022" tIns="46511" rIns="93022" bIns="46511" anchor="b"/>
          <a:lstStyle>
            <a:lvl1pPr defTabSz="930275">
              <a:defRPr sz="1600">
                <a:solidFill>
                  <a:schemeClr val="tx1"/>
                </a:solidFill>
                <a:latin typeface="Helvetica" panose="020B0604020202020204" pitchFamily="34" charset="0"/>
                <a:ea typeface="ＭＳ Ｐゴシック" panose="020B0600070205080204" pitchFamily="34" charset="-128"/>
              </a:defRPr>
            </a:lvl1pPr>
            <a:lvl2pPr marL="742950" indent="-285750" defTabSz="930275">
              <a:defRPr sz="1600">
                <a:solidFill>
                  <a:schemeClr val="tx1"/>
                </a:solidFill>
                <a:latin typeface="Helvetica" panose="020B0604020202020204" pitchFamily="34" charset="0"/>
                <a:ea typeface="ＭＳ Ｐゴシック" panose="020B0600070205080204" pitchFamily="34" charset="-128"/>
              </a:defRPr>
            </a:lvl2pPr>
            <a:lvl3pPr marL="1143000" indent="-228600" defTabSz="930275">
              <a:defRPr sz="1600">
                <a:solidFill>
                  <a:schemeClr val="tx1"/>
                </a:solidFill>
                <a:latin typeface="Helvetica" panose="020B0604020202020204" pitchFamily="34" charset="0"/>
                <a:ea typeface="ＭＳ Ｐゴシック" panose="020B0600070205080204" pitchFamily="34" charset="-128"/>
              </a:defRPr>
            </a:lvl3pPr>
            <a:lvl4pPr marL="1600200" indent="-228600" defTabSz="930275">
              <a:defRPr sz="1600">
                <a:solidFill>
                  <a:schemeClr val="tx1"/>
                </a:solidFill>
                <a:latin typeface="Helvetica" panose="020B0604020202020204" pitchFamily="34" charset="0"/>
                <a:ea typeface="ＭＳ Ｐゴシック" panose="020B0600070205080204" pitchFamily="34" charset="-128"/>
              </a:defRPr>
            </a:lvl4pPr>
            <a:lvl5pPr marL="2057400" indent="-228600" defTabSz="930275">
              <a:defRPr sz="1600">
                <a:solidFill>
                  <a:schemeClr val="tx1"/>
                </a:solidFill>
                <a:latin typeface="Helvetica" panose="020B060402020202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pPr algn="r"/>
            <a:fld id="{03671C7C-5C30-4951-A09C-C7DE0069A227}" type="slidenum">
              <a:rPr lang="en-US" altLang="en-US" sz="1200"/>
              <a:pPr algn="r"/>
              <a:t>32</a:t>
            </a:fld>
            <a:endParaRPr lang="en-US" altLang="en-US" sz="1200"/>
          </a:p>
        </p:txBody>
      </p:sp>
      <p:sp>
        <p:nvSpPr>
          <p:cNvPr id="143363" name="Rectangle 2"/>
          <p:cNvSpPr>
            <a:spLocks noGrp="1" noRot="1" noChangeAspect="1" noChangeArrowheads="1" noTextEdit="1"/>
          </p:cNvSpPr>
          <p:nvPr>
            <p:ph type="sldImg"/>
          </p:nvPr>
        </p:nvSpPr>
        <p:spPr>
          <a:xfrm>
            <a:off x="404813" y="696913"/>
            <a:ext cx="6188075" cy="3481387"/>
          </a:xfrm>
          <a:ln/>
        </p:spPr>
      </p:sp>
      <p:sp>
        <p:nvSpPr>
          <p:cNvPr id="143364" name="Rectangle 3"/>
          <p:cNvSpPr>
            <a:spLocks noGrp="1" noChangeArrowheads="1"/>
          </p:cNvSpPr>
          <p:nvPr>
            <p:ph type="body" idx="1"/>
          </p:nvPr>
        </p:nvSpPr>
        <p:spPr>
          <a:xfrm>
            <a:off x="931414" y="4410392"/>
            <a:ext cx="5134874" cy="41757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08100929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00">
              <a:defRPr sz="1600">
                <a:solidFill>
                  <a:schemeClr val="tx1"/>
                </a:solidFill>
                <a:latin typeface="Helvetica" panose="020B0604020202020204" pitchFamily="34" charset="0"/>
                <a:ea typeface="ＭＳ Ｐゴシック" panose="020B0600070205080204" pitchFamily="34" charset="-128"/>
              </a:defRPr>
            </a:lvl1pPr>
            <a:lvl2pPr marL="742950" indent="-285750" defTabSz="927100">
              <a:defRPr sz="1600">
                <a:solidFill>
                  <a:schemeClr val="tx1"/>
                </a:solidFill>
                <a:latin typeface="Helvetica" panose="020B0604020202020204" pitchFamily="34" charset="0"/>
                <a:ea typeface="ＭＳ Ｐゴシック" panose="020B0600070205080204" pitchFamily="34" charset="-128"/>
              </a:defRPr>
            </a:lvl2pPr>
            <a:lvl3pPr marL="1143000" indent="-228600" defTabSz="927100">
              <a:defRPr sz="1600">
                <a:solidFill>
                  <a:schemeClr val="tx1"/>
                </a:solidFill>
                <a:latin typeface="Helvetica" panose="020B0604020202020204" pitchFamily="34" charset="0"/>
                <a:ea typeface="ＭＳ Ｐゴシック" panose="020B0600070205080204" pitchFamily="34" charset="-128"/>
              </a:defRPr>
            </a:lvl3pPr>
            <a:lvl4pPr marL="1600200" indent="-228600" defTabSz="927100">
              <a:defRPr sz="1600">
                <a:solidFill>
                  <a:schemeClr val="tx1"/>
                </a:solidFill>
                <a:latin typeface="Helvetica" panose="020B0604020202020204" pitchFamily="34" charset="0"/>
                <a:ea typeface="ＭＳ Ｐゴシック" panose="020B0600070205080204" pitchFamily="34" charset="-128"/>
              </a:defRPr>
            </a:lvl4pPr>
            <a:lvl5pPr marL="2057400" indent="-228600" defTabSz="927100">
              <a:defRPr sz="1600">
                <a:solidFill>
                  <a:schemeClr val="tx1"/>
                </a:solidFill>
                <a:latin typeface="Helvetica" panose="020B0604020202020204" pitchFamily="34" charset="0"/>
                <a:ea typeface="ＭＳ Ｐゴシック" panose="020B0600070205080204" pitchFamily="34" charset="-128"/>
              </a:defRPr>
            </a:lvl5pPr>
            <a:lvl6pPr marL="2514600" indent="-228600" defTabSz="9271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271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271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271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E702DC87-2809-4E8A-B7E5-19578CF611CB}" type="slidenum">
              <a:rPr lang="en-US" altLang="en-US" sz="1200"/>
              <a:pPr/>
              <a:t>33</a:t>
            </a:fld>
            <a:endParaRPr lang="en-US" altLang="en-US" sz="1200"/>
          </a:p>
        </p:txBody>
      </p:sp>
      <p:sp>
        <p:nvSpPr>
          <p:cNvPr id="141315" name="Rectangle 2"/>
          <p:cNvSpPr>
            <a:spLocks noGrp="1" noRot="1" noChangeAspect="1" noChangeArrowheads="1" noTextEdit="1"/>
          </p:cNvSpPr>
          <p:nvPr>
            <p:ph type="sldImg"/>
          </p:nvPr>
        </p:nvSpPr>
        <p:spPr>
          <a:xfrm>
            <a:off x="404813" y="696913"/>
            <a:ext cx="6188075" cy="3481387"/>
          </a:xfrm>
          <a:ln/>
        </p:spPr>
      </p:sp>
      <p:sp>
        <p:nvSpPr>
          <p:cNvPr id="141316" name="Rectangle 3"/>
          <p:cNvSpPr>
            <a:spLocks noGrp="1" noChangeArrowheads="1"/>
          </p:cNvSpPr>
          <p:nvPr>
            <p:ph type="body" idx="1"/>
          </p:nvPr>
        </p:nvSpPr>
        <p:spPr>
          <a:xfrm>
            <a:off x="931414" y="4410392"/>
            <a:ext cx="5134874" cy="41757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82849103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00">
              <a:defRPr sz="1600">
                <a:solidFill>
                  <a:schemeClr val="tx1"/>
                </a:solidFill>
                <a:latin typeface="Helvetica" panose="020B0604020202020204" pitchFamily="34" charset="0"/>
                <a:ea typeface="ＭＳ Ｐゴシック" panose="020B0600070205080204" pitchFamily="34" charset="-128"/>
              </a:defRPr>
            </a:lvl1pPr>
            <a:lvl2pPr marL="742950" indent="-285750" defTabSz="927100">
              <a:defRPr sz="1600">
                <a:solidFill>
                  <a:schemeClr val="tx1"/>
                </a:solidFill>
                <a:latin typeface="Helvetica" panose="020B0604020202020204" pitchFamily="34" charset="0"/>
                <a:ea typeface="ＭＳ Ｐゴシック" panose="020B0600070205080204" pitchFamily="34" charset="-128"/>
              </a:defRPr>
            </a:lvl2pPr>
            <a:lvl3pPr marL="1143000" indent="-228600" defTabSz="927100">
              <a:defRPr sz="1600">
                <a:solidFill>
                  <a:schemeClr val="tx1"/>
                </a:solidFill>
                <a:latin typeface="Helvetica" panose="020B0604020202020204" pitchFamily="34" charset="0"/>
                <a:ea typeface="ＭＳ Ｐゴシック" panose="020B0600070205080204" pitchFamily="34" charset="-128"/>
              </a:defRPr>
            </a:lvl3pPr>
            <a:lvl4pPr marL="1600200" indent="-228600" defTabSz="927100">
              <a:defRPr sz="1600">
                <a:solidFill>
                  <a:schemeClr val="tx1"/>
                </a:solidFill>
                <a:latin typeface="Helvetica" panose="020B0604020202020204" pitchFamily="34" charset="0"/>
                <a:ea typeface="ＭＳ Ｐゴシック" panose="020B0600070205080204" pitchFamily="34" charset="-128"/>
              </a:defRPr>
            </a:lvl4pPr>
            <a:lvl5pPr marL="2057400" indent="-228600" defTabSz="927100">
              <a:defRPr sz="1600">
                <a:solidFill>
                  <a:schemeClr val="tx1"/>
                </a:solidFill>
                <a:latin typeface="Helvetica" panose="020B0604020202020204" pitchFamily="34" charset="0"/>
                <a:ea typeface="ＭＳ Ｐゴシック" panose="020B0600070205080204" pitchFamily="34" charset="-128"/>
              </a:defRPr>
            </a:lvl5pPr>
            <a:lvl6pPr marL="2514600" indent="-228600" defTabSz="9271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271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271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271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E702DC87-2809-4E8A-B7E5-19578CF611CB}" type="slidenum">
              <a:rPr lang="en-US" altLang="en-US" sz="1200"/>
              <a:pPr/>
              <a:t>34</a:t>
            </a:fld>
            <a:endParaRPr lang="en-US" altLang="en-US" sz="1200"/>
          </a:p>
        </p:txBody>
      </p:sp>
      <p:sp>
        <p:nvSpPr>
          <p:cNvPr id="141315" name="Rectangle 2"/>
          <p:cNvSpPr>
            <a:spLocks noGrp="1" noRot="1" noChangeAspect="1" noChangeArrowheads="1" noTextEdit="1"/>
          </p:cNvSpPr>
          <p:nvPr>
            <p:ph type="sldImg"/>
          </p:nvPr>
        </p:nvSpPr>
        <p:spPr>
          <a:xfrm>
            <a:off x="404813" y="696913"/>
            <a:ext cx="6188075" cy="3481387"/>
          </a:xfrm>
          <a:ln/>
        </p:spPr>
      </p:sp>
      <p:sp>
        <p:nvSpPr>
          <p:cNvPr id="141316" name="Rectangle 3"/>
          <p:cNvSpPr>
            <a:spLocks noGrp="1" noChangeArrowheads="1"/>
          </p:cNvSpPr>
          <p:nvPr>
            <p:ph type="body" idx="1"/>
          </p:nvPr>
        </p:nvSpPr>
        <p:spPr>
          <a:xfrm>
            <a:off x="931414" y="4410392"/>
            <a:ext cx="5134874" cy="41757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81261350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00">
              <a:defRPr sz="1600">
                <a:solidFill>
                  <a:schemeClr val="tx1"/>
                </a:solidFill>
                <a:latin typeface="Helvetica" panose="020B0604020202020204" pitchFamily="34" charset="0"/>
                <a:ea typeface="ＭＳ Ｐゴシック" panose="020B0600070205080204" pitchFamily="34" charset="-128"/>
              </a:defRPr>
            </a:lvl1pPr>
            <a:lvl2pPr marL="742950" indent="-285750" defTabSz="927100">
              <a:defRPr sz="1600">
                <a:solidFill>
                  <a:schemeClr val="tx1"/>
                </a:solidFill>
                <a:latin typeface="Helvetica" panose="020B0604020202020204" pitchFamily="34" charset="0"/>
                <a:ea typeface="ＭＳ Ｐゴシック" panose="020B0600070205080204" pitchFamily="34" charset="-128"/>
              </a:defRPr>
            </a:lvl2pPr>
            <a:lvl3pPr marL="1143000" indent="-228600" defTabSz="927100">
              <a:defRPr sz="1600">
                <a:solidFill>
                  <a:schemeClr val="tx1"/>
                </a:solidFill>
                <a:latin typeface="Helvetica" panose="020B0604020202020204" pitchFamily="34" charset="0"/>
                <a:ea typeface="ＭＳ Ｐゴシック" panose="020B0600070205080204" pitchFamily="34" charset="-128"/>
              </a:defRPr>
            </a:lvl3pPr>
            <a:lvl4pPr marL="1600200" indent="-228600" defTabSz="927100">
              <a:defRPr sz="1600">
                <a:solidFill>
                  <a:schemeClr val="tx1"/>
                </a:solidFill>
                <a:latin typeface="Helvetica" panose="020B0604020202020204" pitchFamily="34" charset="0"/>
                <a:ea typeface="ＭＳ Ｐゴシック" panose="020B0600070205080204" pitchFamily="34" charset="-128"/>
              </a:defRPr>
            </a:lvl4pPr>
            <a:lvl5pPr marL="2057400" indent="-228600" defTabSz="927100">
              <a:defRPr sz="1600">
                <a:solidFill>
                  <a:schemeClr val="tx1"/>
                </a:solidFill>
                <a:latin typeface="Helvetica" panose="020B0604020202020204" pitchFamily="34" charset="0"/>
                <a:ea typeface="ＭＳ Ｐゴシック" panose="020B0600070205080204" pitchFamily="34" charset="-128"/>
              </a:defRPr>
            </a:lvl5pPr>
            <a:lvl6pPr marL="2514600" indent="-228600" defTabSz="9271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271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271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271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E702DC87-2809-4E8A-B7E5-19578CF611CB}" type="slidenum">
              <a:rPr lang="en-US" altLang="en-US" sz="1200"/>
              <a:pPr/>
              <a:t>35</a:t>
            </a:fld>
            <a:endParaRPr lang="en-US" altLang="en-US" sz="1200"/>
          </a:p>
        </p:txBody>
      </p:sp>
      <p:sp>
        <p:nvSpPr>
          <p:cNvPr id="141315" name="Rectangle 2"/>
          <p:cNvSpPr>
            <a:spLocks noGrp="1" noRot="1" noChangeAspect="1" noChangeArrowheads="1" noTextEdit="1"/>
          </p:cNvSpPr>
          <p:nvPr>
            <p:ph type="sldImg"/>
          </p:nvPr>
        </p:nvSpPr>
        <p:spPr>
          <a:xfrm>
            <a:off x="404813" y="696913"/>
            <a:ext cx="6188075" cy="3481387"/>
          </a:xfrm>
          <a:ln/>
        </p:spPr>
      </p:sp>
      <p:sp>
        <p:nvSpPr>
          <p:cNvPr id="141316" name="Rectangle 3"/>
          <p:cNvSpPr>
            <a:spLocks noGrp="1" noChangeArrowheads="1"/>
          </p:cNvSpPr>
          <p:nvPr>
            <p:ph type="body" idx="1"/>
          </p:nvPr>
        </p:nvSpPr>
        <p:spPr>
          <a:xfrm>
            <a:off x="931414" y="4410392"/>
            <a:ext cx="5134874" cy="41757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33397237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00">
              <a:defRPr sz="1600">
                <a:solidFill>
                  <a:schemeClr val="tx1"/>
                </a:solidFill>
                <a:latin typeface="Helvetica" panose="020B0604020202020204" pitchFamily="34" charset="0"/>
                <a:ea typeface="ＭＳ Ｐゴシック" panose="020B0600070205080204" pitchFamily="34" charset="-128"/>
              </a:defRPr>
            </a:lvl1pPr>
            <a:lvl2pPr marL="742950" indent="-285750" defTabSz="927100">
              <a:defRPr sz="1600">
                <a:solidFill>
                  <a:schemeClr val="tx1"/>
                </a:solidFill>
                <a:latin typeface="Helvetica" panose="020B0604020202020204" pitchFamily="34" charset="0"/>
                <a:ea typeface="ＭＳ Ｐゴシック" panose="020B0600070205080204" pitchFamily="34" charset="-128"/>
              </a:defRPr>
            </a:lvl2pPr>
            <a:lvl3pPr marL="1143000" indent="-228600" defTabSz="927100">
              <a:defRPr sz="1600">
                <a:solidFill>
                  <a:schemeClr val="tx1"/>
                </a:solidFill>
                <a:latin typeface="Helvetica" panose="020B0604020202020204" pitchFamily="34" charset="0"/>
                <a:ea typeface="ＭＳ Ｐゴシック" panose="020B0600070205080204" pitchFamily="34" charset="-128"/>
              </a:defRPr>
            </a:lvl3pPr>
            <a:lvl4pPr marL="1600200" indent="-228600" defTabSz="927100">
              <a:defRPr sz="1600">
                <a:solidFill>
                  <a:schemeClr val="tx1"/>
                </a:solidFill>
                <a:latin typeface="Helvetica" panose="020B0604020202020204" pitchFamily="34" charset="0"/>
                <a:ea typeface="ＭＳ Ｐゴシック" panose="020B0600070205080204" pitchFamily="34" charset="-128"/>
              </a:defRPr>
            </a:lvl4pPr>
            <a:lvl5pPr marL="2057400" indent="-228600" defTabSz="927100">
              <a:defRPr sz="1600">
                <a:solidFill>
                  <a:schemeClr val="tx1"/>
                </a:solidFill>
                <a:latin typeface="Helvetica" panose="020B0604020202020204" pitchFamily="34" charset="0"/>
                <a:ea typeface="ＭＳ Ｐゴシック" panose="020B0600070205080204" pitchFamily="34" charset="-128"/>
              </a:defRPr>
            </a:lvl5pPr>
            <a:lvl6pPr marL="2514600" indent="-228600" defTabSz="9271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271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271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271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E702DC87-2809-4E8A-B7E5-19578CF611CB}" type="slidenum">
              <a:rPr lang="en-US" altLang="en-US" sz="1200"/>
              <a:pPr/>
              <a:t>36</a:t>
            </a:fld>
            <a:endParaRPr lang="en-US" altLang="en-US" sz="1200"/>
          </a:p>
        </p:txBody>
      </p:sp>
      <p:sp>
        <p:nvSpPr>
          <p:cNvPr id="141315" name="Rectangle 2"/>
          <p:cNvSpPr>
            <a:spLocks noGrp="1" noRot="1" noChangeAspect="1" noChangeArrowheads="1" noTextEdit="1"/>
          </p:cNvSpPr>
          <p:nvPr>
            <p:ph type="sldImg"/>
          </p:nvPr>
        </p:nvSpPr>
        <p:spPr>
          <a:xfrm>
            <a:off x="404813" y="696913"/>
            <a:ext cx="6188075" cy="3481387"/>
          </a:xfrm>
          <a:ln/>
        </p:spPr>
      </p:sp>
      <p:sp>
        <p:nvSpPr>
          <p:cNvPr id="141316" name="Rectangle 3"/>
          <p:cNvSpPr>
            <a:spLocks noGrp="1" noChangeArrowheads="1"/>
          </p:cNvSpPr>
          <p:nvPr>
            <p:ph type="body" idx="1"/>
          </p:nvPr>
        </p:nvSpPr>
        <p:spPr>
          <a:xfrm>
            <a:off x="931414" y="4410392"/>
            <a:ext cx="5134874" cy="41757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64598557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00">
              <a:defRPr sz="1600">
                <a:solidFill>
                  <a:schemeClr val="tx1"/>
                </a:solidFill>
                <a:latin typeface="Helvetica" panose="020B0604020202020204" pitchFamily="34" charset="0"/>
                <a:ea typeface="ＭＳ Ｐゴシック" panose="020B0600070205080204" pitchFamily="34" charset="-128"/>
              </a:defRPr>
            </a:lvl1pPr>
            <a:lvl2pPr marL="742950" indent="-285750" defTabSz="927100">
              <a:defRPr sz="1600">
                <a:solidFill>
                  <a:schemeClr val="tx1"/>
                </a:solidFill>
                <a:latin typeface="Helvetica" panose="020B0604020202020204" pitchFamily="34" charset="0"/>
                <a:ea typeface="ＭＳ Ｐゴシック" panose="020B0600070205080204" pitchFamily="34" charset="-128"/>
              </a:defRPr>
            </a:lvl2pPr>
            <a:lvl3pPr marL="1143000" indent="-228600" defTabSz="927100">
              <a:defRPr sz="1600">
                <a:solidFill>
                  <a:schemeClr val="tx1"/>
                </a:solidFill>
                <a:latin typeface="Helvetica" panose="020B0604020202020204" pitchFamily="34" charset="0"/>
                <a:ea typeface="ＭＳ Ｐゴシック" panose="020B0600070205080204" pitchFamily="34" charset="-128"/>
              </a:defRPr>
            </a:lvl3pPr>
            <a:lvl4pPr marL="1600200" indent="-228600" defTabSz="927100">
              <a:defRPr sz="1600">
                <a:solidFill>
                  <a:schemeClr val="tx1"/>
                </a:solidFill>
                <a:latin typeface="Helvetica" panose="020B0604020202020204" pitchFamily="34" charset="0"/>
                <a:ea typeface="ＭＳ Ｐゴシック" panose="020B0600070205080204" pitchFamily="34" charset="-128"/>
              </a:defRPr>
            </a:lvl4pPr>
            <a:lvl5pPr marL="2057400" indent="-228600" defTabSz="927100">
              <a:defRPr sz="1600">
                <a:solidFill>
                  <a:schemeClr val="tx1"/>
                </a:solidFill>
                <a:latin typeface="Helvetica" panose="020B0604020202020204" pitchFamily="34" charset="0"/>
                <a:ea typeface="ＭＳ Ｐゴシック" panose="020B0600070205080204" pitchFamily="34" charset="-128"/>
              </a:defRPr>
            </a:lvl5pPr>
            <a:lvl6pPr marL="2514600" indent="-228600" defTabSz="9271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271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271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271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E702DC87-2809-4E8A-B7E5-19578CF611CB}" type="slidenum">
              <a:rPr lang="en-US" altLang="en-US" sz="1200"/>
              <a:pPr/>
              <a:t>37</a:t>
            </a:fld>
            <a:endParaRPr lang="en-US" altLang="en-US" sz="1200"/>
          </a:p>
        </p:txBody>
      </p:sp>
      <p:sp>
        <p:nvSpPr>
          <p:cNvPr id="141315" name="Rectangle 2"/>
          <p:cNvSpPr>
            <a:spLocks noGrp="1" noRot="1" noChangeAspect="1" noChangeArrowheads="1" noTextEdit="1"/>
          </p:cNvSpPr>
          <p:nvPr>
            <p:ph type="sldImg"/>
          </p:nvPr>
        </p:nvSpPr>
        <p:spPr>
          <a:xfrm>
            <a:off x="404813" y="696913"/>
            <a:ext cx="6188075" cy="3481387"/>
          </a:xfrm>
          <a:ln/>
        </p:spPr>
      </p:sp>
      <p:sp>
        <p:nvSpPr>
          <p:cNvPr id="141316" name="Rectangle 3"/>
          <p:cNvSpPr>
            <a:spLocks noGrp="1" noChangeArrowheads="1"/>
          </p:cNvSpPr>
          <p:nvPr>
            <p:ph type="body" idx="1"/>
          </p:nvPr>
        </p:nvSpPr>
        <p:spPr>
          <a:xfrm>
            <a:off x="931414" y="4410392"/>
            <a:ext cx="5134874" cy="41757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35206547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7"/>
          <p:cNvSpPr txBox="1">
            <a:spLocks noGrp="1" noChangeArrowheads="1"/>
          </p:cNvSpPr>
          <p:nvPr/>
        </p:nvSpPr>
        <p:spPr bwMode="auto">
          <a:xfrm>
            <a:off x="4011160" y="8896201"/>
            <a:ext cx="3065916" cy="46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3909" tIns="46955" rIns="93909" bIns="46955" anchor="b"/>
          <a:lstStyle>
            <a:lvl1pPr>
              <a:defRPr sz="1600">
                <a:solidFill>
                  <a:schemeClr val="tx1"/>
                </a:solidFill>
                <a:latin typeface="Helvetica" panose="020B0604020202020204" pitchFamily="34" charset="0"/>
                <a:ea typeface="ＭＳ Ｐゴシック" panose="020B0600070205080204" pitchFamily="34" charset="-128"/>
              </a:defRPr>
            </a:lvl1pPr>
            <a:lvl2pPr marL="742950" indent="-285750">
              <a:defRPr sz="1600">
                <a:solidFill>
                  <a:schemeClr val="tx1"/>
                </a:solidFill>
                <a:latin typeface="Helvetica" panose="020B0604020202020204" pitchFamily="34" charset="0"/>
                <a:ea typeface="ＭＳ Ｐゴシック" panose="020B0600070205080204" pitchFamily="34" charset="-128"/>
              </a:defRPr>
            </a:lvl2pPr>
            <a:lvl3pPr marL="1143000" indent="-228600">
              <a:defRPr sz="1600">
                <a:solidFill>
                  <a:schemeClr val="tx1"/>
                </a:solidFill>
                <a:latin typeface="Helvetica" panose="020B0604020202020204" pitchFamily="34" charset="0"/>
                <a:ea typeface="ＭＳ Ｐゴシック" panose="020B0600070205080204" pitchFamily="34" charset="-128"/>
              </a:defRPr>
            </a:lvl3pPr>
            <a:lvl4pPr marL="1600200" indent="-228600">
              <a:defRPr sz="1600">
                <a:solidFill>
                  <a:schemeClr val="tx1"/>
                </a:solidFill>
                <a:latin typeface="Helvetica" panose="020B0604020202020204" pitchFamily="34" charset="0"/>
                <a:ea typeface="ＭＳ Ｐゴシック" panose="020B0600070205080204" pitchFamily="34" charset="-128"/>
              </a:defRPr>
            </a:lvl4pPr>
            <a:lvl5pPr marL="2057400" indent="-228600">
              <a:defRPr sz="1600">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pPr algn="r"/>
            <a:fld id="{019A4C02-8989-47FD-A904-144A669035C3}" type="slidenum">
              <a:rPr lang="en-US" altLang="en-US" sz="1200"/>
              <a:pPr algn="r"/>
              <a:t>44</a:t>
            </a:fld>
            <a:endParaRPr lang="en-US" altLang="en-US" sz="1200"/>
          </a:p>
        </p:txBody>
      </p:sp>
      <p:sp>
        <p:nvSpPr>
          <p:cNvPr id="148483" name="Rectangle 2"/>
          <p:cNvSpPr>
            <a:spLocks noGrp="1" noRot="1" noChangeAspect="1" noChangeArrowheads="1" noTextEdit="1"/>
          </p:cNvSpPr>
          <p:nvPr>
            <p:ph type="sldImg"/>
          </p:nvPr>
        </p:nvSpPr>
        <p:spPr>
          <a:xfrm>
            <a:off x="404813" y="696913"/>
            <a:ext cx="6188075" cy="3481387"/>
          </a:xfrm>
          <a:ln/>
        </p:spPr>
      </p:sp>
      <p:sp>
        <p:nvSpPr>
          <p:cNvPr id="148484" name="Rectangle 3"/>
          <p:cNvSpPr>
            <a:spLocks noGrp="1" noChangeArrowheads="1"/>
          </p:cNvSpPr>
          <p:nvPr>
            <p:ph type="body" idx="1"/>
          </p:nvPr>
        </p:nvSpPr>
        <p:spPr>
          <a:xfrm>
            <a:off x="941979" y="4448101"/>
            <a:ext cx="5193119" cy="421146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64716285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7"/>
          <p:cNvSpPr txBox="1">
            <a:spLocks noGrp="1" noChangeArrowheads="1"/>
          </p:cNvSpPr>
          <p:nvPr/>
        </p:nvSpPr>
        <p:spPr bwMode="auto">
          <a:xfrm>
            <a:off x="4011160" y="8896201"/>
            <a:ext cx="3065916" cy="46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3909" tIns="46955" rIns="93909" bIns="46955" anchor="b"/>
          <a:lstStyle>
            <a:lvl1pPr>
              <a:defRPr sz="1600">
                <a:solidFill>
                  <a:schemeClr val="tx1"/>
                </a:solidFill>
                <a:latin typeface="Helvetica" panose="020B0604020202020204" pitchFamily="34" charset="0"/>
                <a:ea typeface="ＭＳ Ｐゴシック" panose="020B0600070205080204" pitchFamily="34" charset="-128"/>
              </a:defRPr>
            </a:lvl1pPr>
            <a:lvl2pPr marL="742950" indent="-285750">
              <a:defRPr sz="1600">
                <a:solidFill>
                  <a:schemeClr val="tx1"/>
                </a:solidFill>
                <a:latin typeface="Helvetica" panose="020B0604020202020204" pitchFamily="34" charset="0"/>
                <a:ea typeface="ＭＳ Ｐゴシック" panose="020B0600070205080204" pitchFamily="34" charset="-128"/>
              </a:defRPr>
            </a:lvl2pPr>
            <a:lvl3pPr marL="1143000" indent="-228600">
              <a:defRPr sz="1600">
                <a:solidFill>
                  <a:schemeClr val="tx1"/>
                </a:solidFill>
                <a:latin typeface="Helvetica" panose="020B0604020202020204" pitchFamily="34" charset="0"/>
                <a:ea typeface="ＭＳ Ｐゴシック" panose="020B0600070205080204" pitchFamily="34" charset="-128"/>
              </a:defRPr>
            </a:lvl3pPr>
            <a:lvl4pPr marL="1600200" indent="-228600">
              <a:defRPr sz="1600">
                <a:solidFill>
                  <a:schemeClr val="tx1"/>
                </a:solidFill>
                <a:latin typeface="Helvetica" panose="020B0604020202020204" pitchFamily="34" charset="0"/>
                <a:ea typeface="ＭＳ Ｐゴシック" panose="020B0600070205080204" pitchFamily="34" charset="-128"/>
              </a:defRPr>
            </a:lvl4pPr>
            <a:lvl5pPr marL="2057400" indent="-228600">
              <a:defRPr sz="1600">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pPr algn="r"/>
            <a:fld id="{019A4C02-8989-47FD-A904-144A669035C3}" type="slidenum">
              <a:rPr lang="en-US" altLang="en-US" sz="1200"/>
              <a:pPr algn="r"/>
              <a:t>45</a:t>
            </a:fld>
            <a:endParaRPr lang="en-US" altLang="en-US" sz="1200"/>
          </a:p>
        </p:txBody>
      </p:sp>
      <p:sp>
        <p:nvSpPr>
          <p:cNvPr id="148483" name="Rectangle 2"/>
          <p:cNvSpPr>
            <a:spLocks noGrp="1" noRot="1" noChangeAspect="1" noChangeArrowheads="1" noTextEdit="1"/>
          </p:cNvSpPr>
          <p:nvPr>
            <p:ph type="sldImg"/>
          </p:nvPr>
        </p:nvSpPr>
        <p:spPr>
          <a:xfrm>
            <a:off x="404813" y="696913"/>
            <a:ext cx="6188075" cy="3481387"/>
          </a:xfrm>
          <a:ln/>
        </p:spPr>
      </p:sp>
      <p:sp>
        <p:nvSpPr>
          <p:cNvPr id="148484" name="Rectangle 3"/>
          <p:cNvSpPr>
            <a:spLocks noGrp="1" noChangeArrowheads="1"/>
          </p:cNvSpPr>
          <p:nvPr>
            <p:ph type="body" idx="1"/>
          </p:nvPr>
        </p:nvSpPr>
        <p:spPr>
          <a:xfrm>
            <a:off x="941979" y="4448101"/>
            <a:ext cx="5193119" cy="421146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89495613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7"/>
          <p:cNvSpPr txBox="1">
            <a:spLocks noGrp="1" noChangeArrowheads="1"/>
          </p:cNvSpPr>
          <p:nvPr/>
        </p:nvSpPr>
        <p:spPr bwMode="auto">
          <a:xfrm>
            <a:off x="4011160" y="8896201"/>
            <a:ext cx="3065916" cy="46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3909" tIns="46955" rIns="93909" bIns="46955" anchor="b"/>
          <a:lstStyle>
            <a:lvl1pPr>
              <a:defRPr sz="1600">
                <a:solidFill>
                  <a:schemeClr val="tx1"/>
                </a:solidFill>
                <a:latin typeface="Helvetica" panose="020B0604020202020204" pitchFamily="34" charset="0"/>
                <a:ea typeface="ＭＳ Ｐゴシック" panose="020B0600070205080204" pitchFamily="34" charset="-128"/>
              </a:defRPr>
            </a:lvl1pPr>
            <a:lvl2pPr marL="742950" indent="-285750">
              <a:defRPr sz="1600">
                <a:solidFill>
                  <a:schemeClr val="tx1"/>
                </a:solidFill>
                <a:latin typeface="Helvetica" panose="020B0604020202020204" pitchFamily="34" charset="0"/>
                <a:ea typeface="ＭＳ Ｐゴシック" panose="020B0600070205080204" pitchFamily="34" charset="-128"/>
              </a:defRPr>
            </a:lvl2pPr>
            <a:lvl3pPr marL="1143000" indent="-228600">
              <a:defRPr sz="1600">
                <a:solidFill>
                  <a:schemeClr val="tx1"/>
                </a:solidFill>
                <a:latin typeface="Helvetica" panose="020B0604020202020204" pitchFamily="34" charset="0"/>
                <a:ea typeface="ＭＳ Ｐゴシック" panose="020B0600070205080204" pitchFamily="34" charset="-128"/>
              </a:defRPr>
            </a:lvl3pPr>
            <a:lvl4pPr marL="1600200" indent="-228600">
              <a:defRPr sz="1600">
                <a:solidFill>
                  <a:schemeClr val="tx1"/>
                </a:solidFill>
                <a:latin typeface="Helvetica" panose="020B0604020202020204" pitchFamily="34" charset="0"/>
                <a:ea typeface="ＭＳ Ｐゴシック" panose="020B0600070205080204" pitchFamily="34" charset="-128"/>
              </a:defRPr>
            </a:lvl4pPr>
            <a:lvl5pPr marL="2057400" indent="-228600">
              <a:defRPr sz="1600">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pPr algn="r"/>
            <a:fld id="{36AEDBC9-C94E-4A98-8290-172F520CC2AF}" type="slidenum">
              <a:rPr lang="en-US" altLang="en-US" sz="1200"/>
              <a:pPr algn="r"/>
              <a:t>46</a:t>
            </a:fld>
            <a:endParaRPr lang="en-US" altLang="en-US" sz="1200"/>
          </a:p>
        </p:txBody>
      </p:sp>
      <p:sp>
        <p:nvSpPr>
          <p:cNvPr id="149507" name="Rectangle 2"/>
          <p:cNvSpPr>
            <a:spLocks noGrp="1" noRot="1" noChangeAspect="1" noChangeArrowheads="1" noTextEdit="1"/>
          </p:cNvSpPr>
          <p:nvPr>
            <p:ph type="sldImg"/>
          </p:nvPr>
        </p:nvSpPr>
        <p:spPr>
          <a:xfrm>
            <a:off x="404813" y="696913"/>
            <a:ext cx="6188075" cy="3481387"/>
          </a:xfrm>
          <a:ln/>
        </p:spPr>
      </p:sp>
      <p:sp>
        <p:nvSpPr>
          <p:cNvPr id="149508" name="Rectangle 3"/>
          <p:cNvSpPr>
            <a:spLocks noGrp="1" noChangeArrowheads="1"/>
          </p:cNvSpPr>
          <p:nvPr>
            <p:ph type="body" idx="1"/>
          </p:nvPr>
        </p:nvSpPr>
        <p:spPr>
          <a:xfrm>
            <a:off x="941979" y="4448101"/>
            <a:ext cx="5193119" cy="421146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28698330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6093">
              <a:defRPr sz="1600">
                <a:solidFill>
                  <a:schemeClr val="tx1"/>
                </a:solidFill>
                <a:latin typeface="Helvetica" panose="020B0604020202020204" pitchFamily="34" charset="0"/>
                <a:ea typeface="ＭＳ Ｐゴシック" panose="020B0600070205080204" pitchFamily="34" charset="-128"/>
              </a:defRPr>
            </a:lvl1pPr>
            <a:lvl2pPr marL="750157" indent="-288522" defTabSz="936093">
              <a:defRPr sz="1600">
                <a:solidFill>
                  <a:schemeClr val="tx1"/>
                </a:solidFill>
                <a:latin typeface="Helvetica" panose="020B0604020202020204" pitchFamily="34" charset="0"/>
                <a:ea typeface="ＭＳ Ｐゴシック" panose="020B0600070205080204" pitchFamily="34" charset="-128"/>
              </a:defRPr>
            </a:lvl2pPr>
            <a:lvl3pPr marL="1154087" indent="-230817" defTabSz="936093">
              <a:defRPr sz="1600">
                <a:solidFill>
                  <a:schemeClr val="tx1"/>
                </a:solidFill>
                <a:latin typeface="Helvetica" panose="020B0604020202020204" pitchFamily="34" charset="0"/>
                <a:ea typeface="ＭＳ Ｐゴシック" panose="020B0600070205080204" pitchFamily="34" charset="-128"/>
              </a:defRPr>
            </a:lvl3pPr>
            <a:lvl4pPr marL="1615722" indent="-230817" defTabSz="936093">
              <a:defRPr sz="1600">
                <a:solidFill>
                  <a:schemeClr val="tx1"/>
                </a:solidFill>
                <a:latin typeface="Helvetica" panose="020B0604020202020204" pitchFamily="34" charset="0"/>
                <a:ea typeface="ＭＳ Ｐゴシック" panose="020B0600070205080204" pitchFamily="34" charset="-128"/>
              </a:defRPr>
            </a:lvl4pPr>
            <a:lvl5pPr marL="2077357" indent="-230817" defTabSz="936093">
              <a:defRPr sz="1600">
                <a:solidFill>
                  <a:schemeClr val="tx1"/>
                </a:solidFill>
                <a:latin typeface="Helvetica" panose="020B0604020202020204" pitchFamily="34" charset="0"/>
                <a:ea typeface="ＭＳ Ｐゴシック" panose="020B0600070205080204" pitchFamily="34" charset="-128"/>
              </a:defRPr>
            </a:lvl5pPr>
            <a:lvl6pPr marL="2538992" indent="-230817" defTabSz="936093"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3000626" indent="-230817" defTabSz="936093"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62261" indent="-230817" defTabSz="936093"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923896" indent="-230817" defTabSz="936093"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25DBE05D-165E-44E5-8FF5-12AB8BF987CB}" type="slidenum">
              <a:rPr lang="en-US" altLang="en-US" sz="1200"/>
              <a:pPr/>
              <a:t>47</a:t>
            </a:fld>
            <a:endParaRPr lang="en-US" altLang="en-US" sz="1200"/>
          </a:p>
        </p:txBody>
      </p:sp>
      <p:sp>
        <p:nvSpPr>
          <p:cNvPr id="156675" name="Rectangle 2"/>
          <p:cNvSpPr>
            <a:spLocks noGrp="1" noRot="1" noChangeAspect="1" noChangeArrowheads="1" noTextEdit="1"/>
          </p:cNvSpPr>
          <p:nvPr>
            <p:ph type="sldImg"/>
          </p:nvPr>
        </p:nvSpPr>
        <p:spPr>
          <a:xfrm>
            <a:off x="404813" y="696913"/>
            <a:ext cx="6188075" cy="3481387"/>
          </a:xfrm>
          <a:ln/>
        </p:spPr>
      </p:sp>
      <p:sp>
        <p:nvSpPr>
          <p:cNvPr id="156676" name="Rectangle 3"/>
          <p:cNvSpPr>
            <a:spLocks noGrp="1" noChangeArrowheads="1"/>
          </p:cNvSpPr>
          <p:nvPr>
            <p:ph type="body" idx="1"/>
          </p:nvPr>
        </p:nvSpPr>
        <p:spPr>
          <a:xfrm>
            <a:off x="941979" y="4448101"/>
            <a:ext cx="5193119" cy="421146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7960118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513026" name="Rectangle 2"/>
          <p:cNvSpPr>
            <a:spLocks noGrp="1" noChangeArrowheads="1"/>
          </p:cNvSpPr>
          <p:nvPr>
            <p:ph type="ctrTitle"/>
          </p:nvPr>
        </p:nvSpPr>
        <p:spPr>
          <a:xfrm>
            <a:off x="914400" y="2286000"/>
            <a:ext cx="10363200" cy="1143000"/>
          </a:xfrm>
        </p:spPr>
        <p:txBody>
          <a:bodyPr/>
          <a:lstStyle>
            <a:lvl1pPr>
              <a:defRPr sz="3600" b="0" i="0">
                <a:solidFill>
                  <a:srgbClr val="002060"/>
                </a:solidFill>
                <a:effectLst/>
                <a:latin typeface="Calibri Light" panose="020F0302020204030204" pitchFamily="34" charset="0"/>
                <a:cs typeface="Calibri Light" panose="020F0302020204030204" pitchFamily="34" charset="0"/>
              </a:defRPr>
            </a:lvl1pPr>
          </a:lstStyle>
          <a:p>
            <a:r>
              <a:rPr lang="en-US" dirty="0"/>
              <a:t>Click to edit Master title style</a:t>
            </a:r>
          </a:p>
        </p:txBody>
      </p:sp>
    </p:spTree>
    <p:extLst>
      <p:ext uri="{BB962C8B-B14F-4D97-AF65-F5344CB8AC3E}">
        <p14:creationId xmlns:p14="http://schemas.microsoft.com/office/powerpoint/2010/main" val="32604871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effectLst/>
              </a:defRPr>
            </a:lvl1pPr>
          </a:lstStyle>
          <a:p>
            <a:r>
              <a:rPr lang="en-US" dirty="0"/>
              <a:t>Click to edit Master title style</a:t>
            </a:r>
          </a:p>
        </p:txBody>
      </p:sp>
      <p:sp>
        <p:nvSpPr>
          <p:cNvPr id="3" name="Content Placeholder 2"/>
          <p:cNvSpPr>
            <a:spLocks noGrp="1"/>
          </p:cNvSpPr>
          <p:nvPr>
            <p:ph idx="1"/>
          </p:nvPr>
        </p:nvSpPr>
        <p:spPr>
          <a:xfrm>
            <a:off x="1024468" y="1093789"/>
            <a:ext cx="10276417" cy="4903787"/>
          </a:xfrm>
        </p:spPr>
        <p:txBody>
          <a:bodyPr/>
          <a:lstStyle>
            <a:lvl1pPr marL="342900" indent="-342900">
              <a:buSzPct val="110000"/>
              <a:buFont typeface="Wingdings" panose="05000000000000000000" pitchFamily="2" charset="2"/>
              <a:buChar char="§"/>
              <a:defRPr sz="1700"/>
            </a:lvl1pPr>
            <a:lvl2pPr marL="742950" indent="-285750">
              <a:buSzPct val="110000"/>
              <a:buFont typeface="Arial" panose="020B0604020202020204" pitchFamily="34" charset="0"/>
              <a:buChar char="•"/>
              <a:defRPr sz="1700"/>
            </a:lvl2pPr>
            <a:lvl3pPr marL="1085850" indent="-228600">
              <a:buFont typeface="Wingdings" panose="05000000000000000000" pitchFamily="2" charset="2"/>
              <a:buChar char="§"/>
              <a:defRPr sz="1700"/>
            </a:lvl3pPr>
            <a:lvl4pPr marL="1428750" indent="-228600">
              <a:buFont typeface="Arial" panose="020B0604020202020204" pitchFamily="34" charset="0"/>
              <a:buChar char="•"/>
              <a:defRPr sz="1700"/>
            </a:lvl4pPr>
            <a:lvl5pPr marL="1771650" indent="-228600">
              <a:buFont typeface="Wingdings" panose="05000000000000000000" pitchFamily="2" charset="2"/>
              <a:buChar char="§"/>
              <a:defRPr sz="17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243719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0" i="0" cap="all">
                <a:effectLst/>
                <a:latin typeface="Calibri Light" panose="020F0302020204030204" pitchFamily="34" charset="0"/>
                <a:cs typeface="Calibri Light" panose="020F0302020204030204" pitchFamily="34" charset="0"/>
              </a:defRPr>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Slide Number Placeholder 3">
            <a:extLst>
              <a:ext uri="{FF2B5EF4-FFF2-40B4-BE49-F238E27FC236}">
                <a16:creationId xmlns:a16="http://schemas.microsoft.com/office/drawing/2014/main" id="{336F2EBE-FF5F-4F9D-A3C2-A59A92D7809D}"/>
              </a:ext>
            </a:extLst>
          </p:cNvPr>
          <p:cNvSpPr>
            <a:spLocks noGrp="1" noChangeArrowheads="1"/>
          </p:cNvSpPr>
          <p:nvPr>
            <p:ph type="sldNum" sz="quarter" idx="10"/>
          </p:nvPr>
        </p:nvSpPr>
        <p:spPr>
          <a:xfrm>
            <a:off x="8737600" y="6400800"/>
            <a:ext cx="2540000" cy="457200"/>
          </a:xfrm>
          <a:prstGeom prst="rect">
            <a:avLst/>
          </a:prstGeom>
          <a:ln/>
        </p:spPr>
        <p:txBody>
          <a:bodyPr/>
          <a:lstStyle>
            <a:lvl1pPr>
              <a:defRPr/>
            </a:lvl1pPr>
          </a:lstStyle>
          <a:p>
            <a:pPr>
              <a:defRPr/>
            </a:pPr>
            <a:fld id="{547F3CAF-32BF-49A6-93F1-59C9E4B7C957}" type="slidenum">
              <a:rPr lang="en-US" altLang="en-US"/>
              <a:pPr>
                <a:defRPr/>
              </a:pPr>
              <a:t>‹#›</a:t>
            </a:fld>
            <a:endParaRPr lang="en-US" altLang="en-US"/>
          </a:p>
        </p:txBody>
      </p:sp>
    </p:spTree>
    <p:extLst>
      <p:ext uri="{BB962C8B-B14F-4D97-AF65-F5344CB8AC3E}">
        <p14:creationId xmlns:p14="http://schemas.microsoft.com/office/powerpoint/2010/main" val="29607090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effectLst/>
              </a:defRPr>
            </a:lvl1pPr>
          </a:lstStyle>
          <a:p>
            <a:r>
              <a:rPr lang="en-US"/>
              <a:t>Click to edit Master title style</a:t>
            </a:r>
          </a:p>
        </p:txBody>
      </p:sp>
      <p:sp>
        <p:nvSpPr>
          <p:cNvPr id="3" name="Content Placeholder 2"/>
          <p:cNvSpPr>
            <a:spLocks noGrp="1"/>
          </p:cNvSpPr>
          <p:nvPr>
            <p:ph sz="half" idx="1"/>
          </p:nvPr>
        </p:nvSpPr>
        <p:spPr>
          <a:xfrm>
            <a:off x="1085851" y="1093789"/>
            <a:ext cx="5005916" cy="4903787"/>
          </a:xfrm>
        </p:spPr>
        <p:txBody>
          <a:bodyPr/>
          <a:lstStyle>
            <a:lvl1pPr>
              <a:defRPr sz="1700"/>
            </a:lvl1pPr>
            <a:lvl2pPr>
              <a:defRPr sz="1700"/>
            </a:lvl2pPr>
            <a:lvl3pPr>
              <a:defRPr sz="1700"/>
            </a:lvl3pPr>
            <a:lvl4pPr>
              <a:defRPr sz="1700"/>
            </a:lvl4pPr>
            <a:lvl5pPr>
              <a:defRPr sz="17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94967" y="1093789"/>
            <a:ext cx="5005917" cy="4903787"/>
          </a:xfrm>
        </p:spPr>
        <p:txBody>
          <a:bodyPr/>
          <a:lstStyle>
            <a:lvl1pPr>
              <a:defRPr sz="1700"/>
            </a:lvl1pPr>
            <a:lvl2pPr>
              <a:defRPr sz="1700"/>
            </a:lvl2pPr>
            <a:lvl3pPr>
              <a:defRPr sz="1700"/>
            </a:lvl3pPr>
            <a:lvl4pPr>
              <a:defRPr sz="1700"/>
            </a:lvl4pPr>
            <a:lvl5pPr>
              <a:defRPr sz="17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3">
            <a:extLst>
              <a:ext uri="{FF2B5EF4-FFF2-40B4-BE49-F238E27FC236}">
                <a16:creationId xmlns:a16="http://schemas.microsoft.com/office/drawing/2014/main" id="{A6D4A7F0-1138-4608-80AA-D0A6F5D41187}"/>
              </a:ext>
            </a:extLst>
          </p:cNvPr>
          <p:cNvSpPr>
            <a:spLocks noGrp="1" noChangeArrowheads="1"/>
          </p:cNvSpPr>
          <p:nvPr>
            <p:ph type="sldNum" sz="quarter" idx="10"/>
          </p:nvPr>
        </p:nvSpPr>
        <p:spPr>
          <a:xfrm>
            <a:off x="8737600" y="6400800"/>
            <a:ext cx="2540000" cy="457200"/>
          </a:xfrm>
          <a:prstGeom prst="rect">
            <a:avLst/>
          </a:prstGeom>
          <a:ln/>
        </p:spPr>
        <p:txBody>
          <a:bodyPr/>
          <a:lstStyle>
            <a:lvl1pPr>
              <a:defRPr/>
            </a:lvl1pPr>
          </a:lstStyle>
          <a:p>
            <a:pPr>
              <a:defRPr/>
            </a:pPr>
            <a:fld id="{00852D5F-D37B-4E9D-98AD-511A1ABBD6A9}" type="slidenum">
              <a:rPr lang="en-US" altLang="en-US"/>
              <a:pPr>
                <a:defRPr/>
              </a:pPr>
              <a:t>‹#›</a:t>
            </a:fld>
            <a:endParaRPr lang="en-US" altLang="en-US"/>
          </a:p>
        </p:txBody>
      </p:sp>
    </p:spTree>
    <p:extLst>
      <p:ext uri="{BB962C8B-B14F-4D97-AF65-F5344CB8AC3E}">
        <p14:creationId xmlns:p14="http://schemas.microsoft.com/office/powerpoint/2010/main" val="41108020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1700"/>
            </a:lvl1pPr>
            <a:lvl2pPr>
              <a:defRPr sz="1700"/>
            </a:lvl2pPr>
            <a:lvl3pPr>
              <a:defRPr sz="1700"/>
            </a:lvl3pPr>
            <a:lvl4pPr>
              <a:defRPr sz="1700"/>
            </a:lvl4pPr>
            <a:lvl5pPr>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1700"/>
            </a:lvl1pPr>
            <a:lvl2pPr>
              <a:defRPr sz="1700"/>
            </a:lvl2pPr>
            <a:lvl3pPr>
              <a:defRPr sz="1700"/>
            </a:lvl3pPr>
            <a:lvl4pPr>
              <a:defRPr sz="1700"/>
            </a:lvl4pPr>
            <a:lvl5pPr>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3">
            <a:extLst>
              <a:ext uri="{FF2B5EF4-FFF2-40B4-BE49-F238E27FC236}">
                <a16:creationId xmlns:a16="http://schemas.microsoft.com/office/drawing/2014/main" id="{56DFCFB3-6710-4DD2-8404-7E55A930F352}"/>
              </a:ext>
            </a:extLst>
          </p:cNvPr>
          <p:cNvSpPr>
            <a:spLocks noGrp="1" noChangeArrowheads="1"/>
          </p:cNvSpPr>
          <p:nvPr>
            <p:ph type="sldNum" sz="quarter" idx="10"/>
          </p:nvPr>
        </p:nvSpPr>
        <p:spPr>
          <a:xfrm>
            <a:off x="8737600" y="6400800"/>
            <a:ext cx="2540000" cy="457200"/>
          </a:xfrm>
          <a:prstGeom prst="rect">
            <a:avLst/>
          </a:prstGeom>
          <a:ln/>
        </p:spPr>
        <p:txBody>
          <a:bodyPr/>
          <a:lstStyle>
            <a:lvl1pPr>
              <a:defRPr/>
            </a:lvl1pPr>
          </a:lstStyle>
          <a:p>
            <a:pPr>
              <a:defRPr/>
            </a:pPr>
            <a:fld id="{C0191CCC-CC48-429B-87C9-7123B48E52D4}" type="slidenum">
              <a:rPr lang="en-US" altLang="en-US"/>
              <a:pPr>
                <a:defRPr/>
              </a:pPr>
              <a:t>‹#›</a:t>
            </a:fld>
            <a:endParaRPr lang="en-US" altLang="en-US"/>
          </a:p>
        </p:txBody>
      </p:sp>
    </p:spTree>
    <p:extLst>
      <p:ext uri="{BB962C8B-B14F-4D97-AF65-F5344CB8AC3E}">
        <p14:creationId xmlns:p14="http://schemas.microsoft.com/office/powerpoint/2010/main" val="25190424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3">
            <a:extLst>
              <a:ext uri="{FF2B5EF4-FFF2-40B4-BE49-F238E27FC236}">
                <a16:creationId xmlns:a16="http://schemas.microsoft.com/office/drawing/2014/main" id="{BB431453-8F56-47C4-89BA-3EDF3CD092BA}"/>
              </a:ext>
            </a:extLst>
          </p:cNvPr>
          <p:cNvSpPr>
            <a:spLocks noGrp="1" noChangeArrowheads="1"/>
          </p:cNvSpPr>
          <p:nvPr>
            <p:ph type="sldNum" sz="quarter" idx="10"/>
          </p:nvPr>
        </p:nvSpPr>
        <p:spPr>
          <a:xfrm>
            <a:off x="8737600" y="6400800"/>
            <a:ext cx="2540000" cy="457200"/>
          </a:xfrm>
          <a:prstGeom prst="rect">
            <a:avLst/>
          </a:prstGeom>
          <a:ln/>
        </p:spPr>
        <p:txBody>
          <a:bodyPr/>
          <a:lstStyle>
            <a:lvl1pPr>
              <a:defRPr/>
            </a:lvl1pPr>
          </a:lstStyle>
          <a:p>
            <a:pPr>
              <a:defRPr/>
            </a:pPr>
            <a:fld id="{5E9D92F0-DB25-4E6B-A10D-A7937AC7A365}" type="slidenum">
              <a:rPr lang="en-US" altLang="en-US"/>
              <a:pPr>
                <a:defRPr/>
              </a:pPr>
              <a:t>‹#›</a:t>
            </a:fld>
            <a:endParaRPr lang="en-US" altLang="en-US"/>
          </a:p>
        </p:txBody>
      </p:sp>
    </p:spTree>
    <p:extLst>
      <p:ext uri="{BB962C8B-B14F-4D97-AF65-F5344CB8AC3E}">
        <p14:creationId xmlns:p14="http://schemas.microsoft.com/office/powerpoint/2010/main" val="38360057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4BE8099E-18A5-481A-9697-216087BE0676}"/>
              </a:ext>
            </a:extLst>
          </p:cNvPr>
          <p:cNvSpPr>
            <a:spLocks noGrp="1" noChangeArrowheads="1"/>
          </p:cNvSpPr>
          <p:nvPr>
            <p:ph type="sldNum" sz="quarter" idx="10"/>
          </p:nvPr>
        </p:nvSpPr>
        <p:spPr>
          <a:xfrm>
            <a:off x="8737600" y="6400800"/>
            <a:ext cx="2540000" cy="457200"/>
          </a:xfrm>
          <a:prstGeom prst="rect">
            <a:avLst/>
          </a:prstGeom>
          <a:ln/>
        </p:spPr>
        <p:txBody>
          <a:bodyPr/>
          <a:lstStyle>
            <a:lvl1pPr>
              <a:defRPr/>
            </a:lvl1pPr>
          </a:lstStyle>
          <a:p>
            <a:pPr>
              <a:defRPr/>
            </a:pPr>
            <a:fld id="{0E555C8E-F740-4D28-8DA3-D7B8E0F6F578}" type="slidenum">
              <a:rPr lang="en-US" altLang="en-US"/>
              <a:pPr>
                <a:defRPr/>
              </a:pPr>
              <a:t>‹#›</a:t>
            </a:fld>
            <a:endParaRPr lang="en-US" altLang="en-US"/>
          </a:p>
        </p:txBody>
      </p:sp>
    </p:spTree>
    <p:extLst>
      <p:ext uri="{BB962C8B-B14F-4D97-AF65-F5344CB8AC3E}">
        <p14:creationId xmlns:p14="http://schemas.microsoft.com/office/powerpoint/2010/main" val="24321476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1700"/>
            </a:lvl1pPr>
            <a:lvl2pPr>
              <a:defRPr sz="1700"/>
            </a:lvl2pPr>
            <a:lvl3pPr>
              <a:defRPr sz="1700"/>
            </a:lvl3pPr>
            <a:lvl4pPr>
              <a:defRPr sz="1700"/>
            </a:lvl4pPr>
            <a:lvl5pPr>
              <a:defRPr sz="17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3">
            <a:extLst>
              <a:ext uri="{FF2B5EF4-FFF2-40B4-BE49-F238E27FC236}">
                <a16:creationId xmlns:a16="http://schemas.microsoft.com/office/drawing/2014/main" id="{97E2C57D-1205-411A-BA90-DF60A810F6DB}"/>
              </a:ext>
            </a:extLst>
          </p:cNvPr>
          <p:cNvSpPr>
            <a:spLocks noGrp="1" noChangeArrowheads="1"/>
          </p:cNvSpPr>
          <p:nvPr>
            <p:ph type="sldNum" sz="quarter" idx="10"/>
          </p:nvPr>
        </p:nvSpPr>
        <p:spPr>
          <a:xfrm>
            <a:off x="8737600" y="6400800"/>
            <a:ext cx="2540000" cy="457200"/>
          </a:xfrm>
          <a:prstGeom prst="rect">
            <a:avLst/>
          </a:prstGeom>
          <a:ln/>
        </p:spPr>
        <p:txBody>
          <a:bodyPr/>
          <a:lstStyle>
            <a:lvl1pPr>
              <a:defRPr/>
            </a:lvl1pPr>
          </a:lstStyle>
          <a:p>
            <a:pPr>
              <a:defRPr/>
            </a:pPr>
            <a:fld id="{2BBBE5B0-1186-4DAB-9E97-511F15F5C63C}" type="slidenum">
              <a:rPr lang="en-US" altLang="en-US"/>
              <a:pPr>
                <a:defRPr/>
              </a:pPr>
              <a:t>‹#›</a:t>
            </a:fld>
            <a:endParaRPr lang="en-US" altLang="en-US"/>
          </a:p>
        </p:txBody>
      </p:sp>
    </p:spTree>
    <p:extLst>
      <p:ext uri="{BB962C8B-B14F-4D97-AF65-F5344CB8AC3E}">
        <p14:creationId xmlns:p14="http://schemas.microsoft.com/office/powerpoint/2010/main" val="13488098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3">
            <a:extLst>
              <a:ext uri="{FF2B5EF4-FFF2-40B4-BE49-F238E27FC236}">
                <a16:creationId xmlns:a16="http://schemas.microsoft.com/office/drawing/2014/main" id="{99EB6957-06EE-46F8-A450-3DB417A1F8A6}"/>
              </a:ext>
            </a:extLst>
          </p:cNvPr>
          <p:cNvSpPr>
            <a:spLocks noGrp="1" noChangeArrowheads="1"/>
          </p:cNvSpPr>
          <p:nvPr>
            <p:ph type="sldNum" sz="quarter" idx="10"/>
          </p:nvPr>
        </p:nvSpPr>
        <p:spPr>
          <a:xfrm>
            <a:off x="8737600" y="6400800"/>
            <a:ext cx="2540000" cy="457200"/>
          </a:xfrm>
          <a:prstGeom prst="rect">
            <a:avLst/>
          </a:prstGeom>
          <a:ln/>
        </p:spPr>
        <p:txBody>
          <a:bodyPr/>
          <a:lstStyle>
            <a:lvl1pPr>
              <a:defRPr/>
            </a:lvl1pPr>
          </a:lstStyle>
          <a:p>
            <a:pPr>
              <a:defRPr/>
            </a:pPr>
            <a:fld id="{F291DB2E-7BC4-4C22-ACAE-0B8B3F0C5147}" type="slidenum">
              <a:rPr lang="en-US" altLang="en-US"/>
              <a:pPr>
                <a:defRPr/>
              </a:pPr>
              <a:t>‹#›</a:t>
            </a:fld>
            <a:endParaRPr lang="en-US" altLang="en-US"/>
          </a:p>
        </p:txBody>
      </p:sp>
    </p:spTree>
    <p:extLst>
      <p:ext uri="{BB962C8B-B14F-4D97-AF65-F5344CB8AC3E}">
        <p14:creationId xmlns:p14="http://schemas.microsoft.com/office/powerpoint/2010/main" val="248140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85C950AD-734E-45C7-8042-5795FFAD6750}"/>
              </a:ext>
            </a:extLst>
          </p:cNvPr>
          <p:cNvSpPr>
            <a:spLocks noGrp="1" noChangeArrowheads="1"/>
          </p:cNvSpPr>
          <p:nvPr>
            <p:ph type="sldNum" sz="quarter" idx="10"/>
          </p:nvPr>
        </p:nvSpPr>
        <p:spPr>
          <a:xfrm>
            <a:off x="8737600" y="6400800"/>
            <a:ext cx="2540000" cy="457200"/>
          </a:xfrm>
          <a:prstGeom prst="rect">
            <a:avLst/>
          </a:prstGeom>
          <a:ln/>
        </p:spPr>
        <p:txBody>
          <a:bodyPr/>
          <a:lstStyle>
            <a:lvl1pPr>
              <a:defRPr/>
            </a:lvl1pPr>
          </a:lstStyle>
          <a:p>
            <a:pPr>
              <a:defRPr/>
            </a:pPr>
            <a:fld id="{D7E5E31B-1343-4510-8DCD-65E7B6544692}" type="slidenum">
              <a:rPr lang="en-US" altLang="en-US"/>
              <a:pPr>
                <a:defRPr/>
              </a:pPr>
              <a:t>‹#›</a:t>
            </a:fld>
            <a:endParaRPr lang="en-US" altLang="en-US"/>
          </a:p>
        </p:txBody>
      </p:sp>
    </p:spTree>
    <p:extLst>
      <p:ext uri="{BB962C8B-B14F-4D97-AF65-F5344CB8AC3E}">
        <p14:creationId xmlns:p14="http://schemas.microsoft.com/office/powerpoint/2010/main" val="17630467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01667" y="117475"/>
            <a:ext cx="2692400" cy="58801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024467" y="117475"/>
            <a:ext cx="7874000" cy="58801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C7A7A2CD-B5B0-4CF6-8038-339B0E99E366}"/>
              </a:ext>
            </a:extLst>
          </p:cNvPr>
          <p:cNvSpPr>
            <a:spLocks noGrp="1" noChangeArrowheads="1"/>
          </p:cNvSpPr>
          <p:nvPr>
            <p:ph type="sldNum" sz="quarter" idx="10"/>
          </p:nvPr>
        </p:nvSpPr>
        <p:spPr>
          <a:xfrm>
            <a:off x="8737600" y="6400800"/>
            <a:ext cx="2540000" cy="457200"/>
          </a:xfrm>
          <a:prstGeom prst="rect">
            <a:avLst/>
          </a:prstGeom>
          <a:ln/>
        </p:spPr>
        <p:txBody>
          <a:bodyPr/>
          <a:lstStyle>
            <a:lvl1pPr>
              <a:defRPr/>
            </a:lvl1pPr>
          </a:lstStyle>
          <a:p>
            <a:pPr>
              <a:defRPr/>
            </a:pPr>
            <a:fld id="{833574B0-C055-4E38-82A9-667A1DF1F8D0}" type="slidenum">
              <a:rPr lang="en-US" altLang="en-US"/>
              <a:pPr>
                <a:defRPr/>
              </a:pPr>
              <a:t>‹#›</a:t>
            </a:fld>
            <a:endParaRPr lang="en-US" altLang="en-US"/>
          </a:p>
        </p:txBody>
      </p:sp>
    </p:spTree>
    <p:extLst>
      <p:ext uri="{BB962C8B-B14F-4D97-AF65-F5344CB8AC3E}">
        <p14:creationId xmlns:p14="http://schemas.microsoft.com/office/powerpoint/2010/main" val="28946499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Slide Number Placeholder 3">
            <a:extLst>
              <a:ext uri="{FF2B5EF4-FFF2-40B4-BE49-F238E27FC236}">
                <a16:creationId xmlns:a16="http://schemas.microsoft.com/office/drawing/2014/main" id="{A9796C49-4A73-449B-A170-DFFCD45313DF}"/>
              </a:ext>
            </a:extLst>
          </p:cNvPr>
          <p:cNvSpPr>
            <a:spLocks noGrp="1" noChangeArrowheads="1"/>
          </p:cNvSpPr>
          <p:nvPr>
            <p:ph type="sldNum" sz="quarter" idx="10"/>
          </p:nvPr>
        </p:nvSpPr>
        <p:spPr>
          <a:xfrm>
            <a:off x="8737600" y="6400800"/>
            <a:ext cx="2540000" cy="457200"/>
          </a:xfrm>
          <a:prstGeom prst="rect">
            <a:avLst/>
          </a:prstGeom>
          <a:ln/>
        </p:spPr>
        <p:txBody>
          <a:bodyPr/>
          <a:lstStyle>
            <a:lvl1pPr>
              <a:defRPr/>
            </a:lvl1pPr>
          </a:lstStyle>
          <a:p>
            <a:pPr>
              <a:defRPr/>
            </a:pPr>
            <a:fld id="{300D9E99-A0D8-4F2F-B04A-331DF655FEAB}" type="slidenum">
              <a:rPr lang="en-US" altLang="en-US"/>
              <a:pPr>
                <a:defRPr/>
              </a:pPr>
              <a:t>‹#›</a:t>
            </a:fld>
            <a:endParaRPr lang="en-US" altLang="en-US"/>
          </a:p>
        </p:txBody>
      </p:sp>
    </p:spTree>
    <p:extLst>
      <p:ext uri="{BB962C8B-B14F-4D97-AF65-F5344CB8AC3E}">
        <p14:creationId xmlns:p14="http://schemas.microsoft.com/office/powerpoint/2010/main" val="24228256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56112478-D9B7-4D0D-ADE5-62D5EFAAFBBF}"/>
              </a:ext>
            </a:extLst>
          </p:cNvPr>
          <p:cNvSpPr>
            <a:spLocks noGrp="1" noChangeArrowheads="1"/>
          </p:cNvSpPr>
          <p:nvPr>
            <p:ph type="body" idx="1"/>
          </p:nvPr>
        </p:nvSpPr>
        <p:spPr bwMode="auto">
          <a:xfrm>
            <a:off x="1030780" y="1093789"/>
            <a:ext cx="10270105" cy="4903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512006" name="Rectangle 6">
            <a:extLst>
              <a:ext uri="{FF2B5EF4-FFF2-40B4-BE49-F238E27FC236}">
                <a16:creationId xmlns:a16="http://schemas.microsoft.com/office/drawing/2014/main" id="{BFAC4B4C-D3C2-4A14-871E-CC7D45F0769E}"/>
              </a:ext>
            </a:extLst>
          </p:cNvPr>
          <p:cNvSpPr>
            <a:spLocks noGrp="1" noChangeArrowheads="1"/>
          </p:cNvSpPr>
          <p:nvPr>
            <p:ph type="title"/>
          </p:nvPr>
        </p:nvSpPr>
        <p:spPr bwMode="auto">
          <a:xfrm>
            <a:off x="1024467" y="117475"/>
            <a:ext cx="10769600" cy="6096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dirty="0"/>
              <a:t>Click to edit Master title style</a:t>
            </a:r>
          </a:p>
        </p:txBody>
      </p:sp>
      <p:sp>
        <p:nvSpPr>
          <p:cNvPr id="1032" name="Freeform 8">
            <a:extLst>
              <a:ext uri="{FF2B5EF4-FFF2-40B4-BE49-F238E27FC236}">
                <a16:creationId xmlns:a16="http://schemas.microsoft.com/office/drawing/2014/main" id="{0362D880-06BD-4D02-876C-3226AC8E6F10}"/>
              </a:ext>
            </a:extLst>
          </p:cNvPr>
          <p:cNvSpPr>
            <a:spLocks/>
          </p:cNvSpPr>
          <p:nvPr/>
        </p:nvSpPr>
        <p:spPr bwMode="auto">
          <a:xfrm>
            <a:off x="11889317" y="5445126"/>
            <a:ext cx="302683" cy="47625"/>
          </a:xfrm>
          <a:custGeom>
            <a:avLst/>
            <a:gdLst>
              <a:gd name="T0" fmla="*/ 0 w 285"/>
              <a:gd name="T1" fmla="*/ 2147483646 h 61"/>
              <a:gd name="T2" fmla="*/ 2147483646 w 285"/>
              <a:gd name="T3" fmla="*/ 2147483646 h 61"/>
              <a:gd name="T4" fmla="*/ 2147483646 w 285"/>
              <a:gd name="T5" fmla="*/ 2147483646 h 61"/>
              <a:gd name="T6" fmla="*/ 2147483646 w 285"/>
              <a:gd name="T7" fmla="*/ 2147483646 h 61"/>
              <a:gd name="T8" fmla="*/ 2147483646 w 285"/>
              <a:gd name="T9" fmla="*/ 2147483646 h 61"/>
              <a:gd name="T10" fmla="*/ 2147483646 w 285"/>
              <a:gd name="T11" fmla="*/ 2147483646 h 61"/>
              <a:gd name="T12" fmla="*/ 2147483646 w 285"/>
              <a:gd name="T13" fmla="*/ 2147483646 h 61"/>
              <a:gd name="T14" fmla="*/ 2147483646 w 285"/>
              <a:gd name="T15" fmla="*/ 2147483646 h 61"/>
              <a:gd name="T16" fmla="*/ 2147483646 w 285"/>
              <a:gd name="T17" fmla="*/ 0 h 61"/>
              <a:gd name="T18" fmla="*/ 2147483646 w 285"/>
              <a:gd name="T19" fmla="*/ 0 h 61"/>
              <a:gd name="T20" fmla="*/ 2147483646 w 285"/>
              <a:gd name="T21" fmla="*/ 0 h 61"/>
              <a:gd name="T22" fmla="*/ 2147483646 w 285"/>
              <a:gd name="T23" fmla="*/ 0 h 61"/>
              <a:gd name="T24" fmla="*/ 2147483646 w 285"/>
              <a:gd name="T25" fmla="*/ 2147483646 h 61"/>
              <a:gd name="T26" fmla="*/ 2147483646 w 285"/>
              <a:gd name="T27" fmla="*/ 2147483646 h 61"/>
              <a:gd name="T28" fmla="*/ 2147483646 w 285"/>
              <a:gd name="T29" fmla="*/ 2147483646 h 61"/>
              <a:gd name="T30" fmla="*/ 2147483646 w 285"/>
              <a:gd name="T31" fmla="*/ 2147483646 h 61"/>
              <a:gd name="T32" fmla="*/ 2147483646 w 285"/>
              <a:gd name="T33" fmla="*/ 2147483646 h 61"/>
              <a:gd name="T34" fmla="*/ 2147483646 w 285"/>
              <a:gd name="T35" fmla="*/ 2147483646 h 61"/>
              <a:gd name="T36" fmla="*/ 2147483646 w 285"/>
              <a:gd name="T37" fmla="*/ 2147483646 h 61"/>
              <a:gd name="T38" fmla="*/ 2147483646 w 285"/>
              <a:gd name="T39" fmla="*/ 2147483646 h 61"/>
              <a:gd name="T40" fmla="*/ 2147483646 w 285"/>
              <a:gd name="T41" fmla="*/ 2147483646 h 61"/>
              <a:gd name="T42" fmla="*/ 2147483646 w 285"/>
              <a:gd name="T43" fmla="*/ 2147483646 h 61"/>
              <a:gd name="T44" fmla="*/ 2147483646 w 285"/>
              <a:gd name="T45" fmla="*/ 2147483646 h 61"/>
              <a:gd name="T46" fmla="*/ 2147483646 w 285"/>
              <a:gd name="T47" fmla="*/ 2147483646 h 61"/>
              <a:gd name="T48" fmla="*/ 2147483646 w 285"/>
              <a:gd name="T49" fmla="*/ 2147483646 h 61"/>
              <a:gd name="T50" fmla="*/ 2147483646 w 285"/>
              <a:gd name="T51" fmla="*/ 2147483646 h 61"/>
              <a:gd name="T52" fmla="*/ 2147483646 w 285"/>
              <a:gd name="T53" fmla="*/ 2147483646 h 61"/>
              <a:gd name="T54" fmla="*/ 2147483646 w 285"/>
              <a:gd name="T55" fmla="*/ 2147483646 h 61"/>
              <a:gd name="T56" fmla="*/ 2147483646 w 285"/>
              <a:gd name="T57" fmla="*/ 2147483646 h 61"/>
              <a:gd name="T58" fmla="*/ 2147483646 w 285"/>
              <a:gd name="T59" fmla="*/ 2147483646 h 61"/>
              <a:gd name="T60" fmla="*/ 2147483646 w 285"/>
              <a:gd name="T61" fmla="*/ 2147483646 h 61"/>
              <a:gd name="T62" fmla="*/ 2147483646 w 285"/>
              <a:gd name="T63" fmla="*/ 2147483646 h 61"/>
              <a:gd name="T64" fmla="*/ 2147483646 w 285"/>
              <a:gd name="T65" fmla="*/ 2147483646 h 61"/>
              <a:gd name="T66" fmla="*/ 2147483646 w 285"/>
              <a:gd name="T67" fmla="*/ 2147483646 h 61"/>
              <a:gd name="T68" fmla="*/ 2147483646 w 285"/>
              <a:gd name="T69" fmla="*/ 2147483646 h 61"/>
              <a:gd name="T70" fmla="*/ 2147483646 w 285"/>
              <a:gd name="T71" fmla="*/ 2147483646 h 61"/>
              <a:gd name="T72" fmla="*/ 2147483646 w 285"/>
              <a:gd name="T73" fmla="*/ 2147483646 h 61"/>
              <a:gd name="T74" fmla="*/ 2147483646 w 285"/>
              <a:gd name="T75" fmla="*/ 2147483646 h 61"/>
              <a:gd name="T76" fmla="*/ 2147483646 w 285"/>
              <a:gd name="T77" fmla="*/ 2147483646 h 61"/>
              <a:gd name="T78" fmla="*/ 2147483646 w 285"/>
              <a:gd name="T79" fmla="*/ 2147483646 h 61"/>
              <a:gd name="T80" fmla="*/ 2147483646 w 285"/>
              <a:gd name="T81" fmla="*/ 2147483646 h 61"/>
              <a:gd name="T82" fmla="*/ 2147483646 w 285"/>
              <a:gd name="T83" fmla="*/ 2147483646 h 61"/>
              <a:gd name="T84" fmla="*/ 2147483646 w 285"/>
              <a:gd name="T85" fmla="*/ 2147483646 h 61"/>
              <a:gd name="T86" fmla="*/ 2147483646 w 285"/>
              <a:gd name="T87" fmla="*/ 2147483646 h 61"/>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285" h="61">
                <a:moveTo>
                  <a:pt x="2" y="61"/>
                </a:moveTo>
                <a:lnTo>
                  <a:pt x="0" y="59"/>
                </a:lnTo>
                <a:lnTo>
                  <a:pt x="0" y="55"/>
                </a:lnTo>
                <a:lnTo>
                  <a:pt x="2" y="48"/>
                </a:lnTo>
                <a:lnTo>
                  <a:pt x="5" y="40"/>
                </a:lnTo>
                <a:lnTo>
                  <a:pt x="9" y="34"/>
                </a:lnTo>
                <a:lnTo>
                  <a:pt x="13" y="31"/>
                </a:lnTo>
                <a:lnTo>
                  <a:pt x="17" y="25"/>
                </a:lnTo>
                <a:lnTo>
                  <a:pt x="24" y="21"/>
                </a:lnTo>
                <a:lnTo>
                  <a:pt x="30" y="17"/>
                </a:lnTo>
                <a:lnTo>
                  <a:pt x="40" y="13"/>
                </a:lnTo>
                <a:lnTo>
                  <a:pt x="45" y="10"/>
                </a:lnTo>
                <a:lnTo>
                  <a:pt x="51" y="8"/>
                </a:lnTo>
                <a:lnTo>
                  <a:pt x="57" y="6"/>
                </a:lnTo>
                <a:lnTo>
                  <a:pt x="64" y="6"/>
                </a:lnTo>
                <a:lnTo>
                  <a:pt x="70" y="2"/>
                </a:lnTo>
                <a:lnTo>
                  <a:pt x="78" y="2"/>
                </a:lnTo>
                <a:lnTo>
                  <a:pt x="85" y="0"/>
                </a:lnTo>
                <a:lnTo>
                  <a:pt x="93" y="0"/>
                </a:lnTo>
                <a:lnTo>
                  <a:pt x="100" y="0"/>
                </a:lnTo>
                <a:lnTo>
                  <a:pt x="110" y="0"/>
                </a:lnTo>
                <a:lnTo>
                  <a:pt x="118" y="0"/>
                </a:lnTo>
                <a:lnTo>
                  <a:pt x="129" y="0"/>
                </a:lnTo>
                <a:lnTo>
                  <a:pt x="137" y="0"/>
                </a:lnTo>
                <a:lnTo>
                  <a:pt x="146" y="2"/>
                </a:lnTo>
                <a:lnTo>
                  <a:pt x="154" y="2"/>
                </a:lnTo>
                <a:lnTo>
                  <a:pt x="163" y="4"/>
                </a:lnTo>
                <a:lnTo>
                  <a:pt x="173" y="6"/>
                </a:lnTo>
                <a:lnTo>
                  <a:pt x="182" y="8"/>
                </a:lnTo>
                <a:lnTo>
                  <a:pt x="192" y="8"/>
                </a:lnTo>
                <a:lnTo>
                  <a:pt x="201" y="12"/>
                </a:lnTo>
                <a:lnTo>
                  <a:pt x="209" y="12"/>
                </a:lnTo>
                <a:lnTo>
                  <a:pt x="216" y="13"/>
                </a:lnTo>
                <a:lnTo>
                  <a:pt x="224" y="15"/>
                </a:lnTo>
                <a:lnTo>
                  <a:pt x="234" y="17"/>
                </a:lnTo>
                <a:lnTo>
                  <a:pt x="239" y="19"/>
                </a:lnTo>
                <a:lnTo>
                  <a:pt x="247" y="21"/>
                </a:lnTo>
                <a:lnTo>
                  <a:pt x="254" y="23"/>
                </a:lnTo>
                <a:lnTo>
                  <a:pt x="260" y="25"/>
                </a:lnTo>
                <a:lnTo>
                  <a:pt x="266" y="25"/>
                </a:lnTo>
                <a:lnTo>
                  <a:pt x="270" y="27"/>
                </a:lnTo>
                <a:lnTo>
                  <a:pt x="273" y="27"/>
                </a:lnTo>
                <a:lnTo>
                  <a:pt x="279" y="29"/>
                </a:lnTo>
                <a:lnTo>
                  <a:pt x="283" y="31"/>
                </a:lnTo>
                <a:lnTo>
                  <a:pt x="285" y="32"/>
                </a:lnTo>
                <a:lnTo>
                  <a:pt x="279" y="44"/>
                </a:lnTo>
                <a:lnTo>
                  <a:pt x="277" y="44"/>
                </a:lnTo>
                <a:lnTo>
                  <a:pt x="273" y="42"/>
                </a:lnTo>
                <a:lnTo>
                  <a:pt x="268" y="42"/>
                </a:lnTo>
                <a:lnTo>
                  <a:pt x="260" y="40"/>
                </a:lnTo>
                <a:lnTo>
                  <a:pt x="251" y="38"/>
                </a:lnTo>
                <a:lnTo>
                  <a:pt x="241" y="36"/>
                </a:lnTo>
                <a:lnTo>
                  <a:pt x="235" y="34"/>
                </a:lnTo>
                <a:lnTo>
                  <a:pt x="230" y="34"/>
                </a:lnTo>
                <a:lnTo>
                  <a:pt x="224" y="32"/>
                </a:lnTo>
                <a:lnTo>
                  <a:pt x="218" y="32"/>
                </a:lnTo>
                <a:lnTo>
                  <a:pt x="213" y="31"/>
                </a:lnTo>
                <a:lnTo>
                  <a:pt x="207" y="31"/>
                </a:lnTo>
                <a:lnTo>
                  <a:pt x="201" y="29"/>
                </a:lnTo>
                <a:lnTo>
                  <a:pt x="196" y="29"/>
                </a:lnTo>
                <a:lnTo>
                  <a:pt x="190" y="27"/>
                </a:lnTo>
                <a:lnTo>
                  <a:pt x="182" y="27"/>
                </a:lnTo>
                <a:lnTo>
                  <a:pt x="178" y="25"/>
                </a:lnTo>
                <a:lnTo>
                  <a:pt x="173" y="25"/>
                </a:lnTo>
                <a:lnTo>
                  <a:pt x="167" y="23"/>
                </a:lnTo>
                <a:lnTo>
                  <a:pt x="163" y="23"/>
                </a:lnTo>
                <a:lnTo>
                  <a:pt x="158" y="21"/>
                </a:lnTo>
                <a:lnTo>
                  <a:pt x="154" y="21"/>
                </a:lnTo>
                <a:lnTo>
                  <a:pt x="148" y="19"/>
                </a:lnTo>
                <a:lnTo>
                  <a:pt x="142" y="19"/>
                </a:lnTo>
                <a:lnTo>
                  <a:pt x="144" y="48"/>
                </a:lnTo>
                <a:lnTo>
                  <a:pt x="110" y="15"/>
                </a:lnTo>
                <a:lnTo>
                  <a:pt x="118" y="48"/>
                </a:lnTo>
                <a:lnTo>
                  <a:pt x="83" y="21"/>
                </a:lnTo>
                <a:lnTo>
                  <a:pt x="91" y="48"/>
                </a:lnTo>
                <a:lnTo>
                  <a:pt x="59" y="29"/>
                </a:lnTo>
                <a:lnTo>
                  <a:pt x="57" y="29"/>
                </a:lnTo>
                <a:lnTo>
                  <a:pt x="53" y="31"/>
                </a:lnTo>
                <a:lnTo>
                  <a:pt x="49" y="31"/>
                </a:lnTo>
                <a:lnTo>
                  <a:pt x="43" y="34"/>
                </a:lnTo>
                <a:lnTo>
                  <a:pt x="38" y="36"/>
                </a:lnTo>
                <a:lnTo>
                  <a:pt x="32" y="38"/>
                </a:lnTo>
                <a:lnTo>
                  <a:pt x="26" y="42"/>
                </a:lnTo>
                <a:lnTo>
                  <a:pt x="23" y="44"/>
                </a:lnTo>
                <a:lnTo>
                  <a:pt x="15" y="50"/>
                </a:lnTo>
                <a:lnTo>
                  <a:pt x="7" y="55"/>
                </a:lnTo>
                <a:lnTo>
                  <a:pt x="4" y="59"/>
                </a:lnTo>
                <a:lnTo>
                  <a:pt x="2" y="6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sz="1600"/>
          </a:p>
        </p:txBody>
      </p:sp>
    </p:spTree>
  </p:cSld>
  <p:clrMap bg1="lt1" tx1="dk1" bg2="lt2" tx2="dk2" accent1="accent1" accent2="accent2" accent3="accent3" accent4="accent4" accent5="accent5" accent6="accent6" hlink="hlink" folHlink="folHlink"/>
  <p:sldLayoutIdLst>
    <p:sldLayoutId id="2147483761" r:id="rId1"/>
    <p:sldLayoutId id="2147483750" r:id="rId2"/>
    <p:sldLayoutId id="2147483751" r:id="rId3"/>
    <p:sldLayoutId id="2147483752" r:id="rId4"/>
    <p:sldLayoutId id="2147483753" r:id="rId5"/>
    <p:sldLayoutId id="2147483754" r:id="rId6"/>
    <p:sldLayoutId id="2147483755" r:id="rId7"/>
    <p:sldLayoutId id="2147483756" r:id="rId8"/>
    <p:sldLayoutId id="2147483757" r:id="rId9"/>
    <p:sldLayoutId id="2147483758" r:id="rId10"/>
    <p:sldLayoutId id="2147483759" r:id="rId11"/>
    <p:sldLayoutId id="2147483760" r:id="rId12"/>
  </p:sldLayoutIdLst>
  <p:txStyles>
    <p:titleStyle>
      <a:lvl1pPr algn="l" rtl="0" eaLnBrk="0" fontAlgn="base" hangingPunct="0">
        <a:spcBef>
          <a:spcPct val="0"/>
        </a:spcBef>
        <a:spcAft>
          <a:spcPct val="0"/>
        </a:spcAft>
        <a:defRPr kumimoji="1" sz="3600" b="0" i="0">
          <a:solidFill>
            <a:srgbClr val="002060"/>
          </a:solidFill>
          <a:effectLst/>
          <a:latin typeface="Calibri Light" panose="020F0302020204030204" pitchFamily="34" charset="0"/>
          <a:ea typeface="MS PGothic" panose="020B0600070205080204" pitchFamily="34" charset="-128"/>
          <a:cs typeface="Calibri Light" panose="020F0302020204030204" pitchFamily="34" charset="0"/>
        </a:defRPr>
      </a:lvl1pPr>
      <a:lvl2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panose="020B0600070205080204" pitchFamily="34" charset="-128"/>
          <a:cs typeface="ＭＳ Ｐゴシック" charset="0"/>
        </a:defRPr>
      </a:lvl2pPr>
      <a:lvl3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panose="020B0600070205080204" pitchFamily="34" charset="-128"/>
          <a:cs typeface="ＭＳ Ｐゴシック" charset="0"/>
        </a:defRPr>
      </a:lvl3pPr>
      <a:lvl4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panose="020B0600070205080204" pitchFamily="34" charset="-128"/>
          <a:cs typeface="ＭＳ Ｐゴシック" charset="0"/>
        </a:defRPr>
      </a:lvl4pPr>
      <a:lvl5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panose="020B0600070205080204" pitchFamily="34" charset="-128"/>
          <a:cs typeface="ＭＳ Ｐゴシック" charset="0"/>
        </a:defRPr>
      </a:lvl5pPr>
      <a:lvl6pPr marL="4572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6pPr>
      <a:lvl7pPr marL="9144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7pPr>
      <a:lvl8pPr marL="13716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8pPr>
      <a:lvl9pPr marL="18288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9pPr>
    </p:titleStyle>
    <p:bodyStyle>
      <a:lvl1pPr marL="342900" indent="-342900" algn="l" rtl="0" eaLnBrk="0" fontAlgn="base" hangingPunct="0">
        <a:spcBef>
          <a:spcPct val="35000"/>
        </a:spcBef>
        <a:spcAft>
          <a:spcPct val="0"/>
        </a:spcAft>
        <a:buClr>
          <a:srgbClr val="002060"/>
        </a:buClr>
        <a:buSzPct val="100000"/>
        <a:buFont typeface="Monotype Sorts" pitchFamily="-65" charset="2"/>
        <a:buChar char="n"/>
        <a:defRPr kumimoji="1" sz="1700" b="0" i="0">
          <a:solidFill>
            <a:schemeClr val="tx1"/>
          </a:solidFill>
          <a:latin typeface="Calibri Light" panose="020F0302020204030204" pitchFamily="34" charset="0"/>
          <a:ea typeface="MS PGothic" panose="020B0600070205080204" pitchFamily="34" charset="-128"/>
          <a:cs typeface="Calibri Light" panose="020F0302020204030204" pitchFamily="34" charset="0"/>
        </a:defRPr>
      </a:lvl1pPr>
      <a:lvl2pPr marL="742950" indent="-285750" algn="l" rtl="0" eaLnBrk="0" fontAlgn="base" hangingPunct="0">
        <a:spcBef>
          <a:spcPct val="35000"/>
        </a:spcBef>
        <a:spcAft>
          <a:spcPct val="0"/>
        </a:spcAft>
        <a:buClr>
          <a:schemeClr val="folHlink"/>
        </a:buClr>
        <a:buSzPct val="95000"/>
        <a:buFont typeface="Monotype Sorts" pitchFamily="-65" charset="2"/>
        <a:buChar char="l"/>
        <a:defRPr kumimoji="1" sz="1700" b="0" i="0">
          <a:solidFill>
            <a:schemeClr val="tx1"/>
          </a:solidFill>
          <a:latin typeface="Calibri Light" panose="020F0302020204030204" pitchFamily="34" charset="0"/>
          <a:ea typeface="MS PGothic" panose="020B0600070205080204" pitchFamily="34" charset="-128"/>
          <a:cs typeface="Calibri Light" panose="020F0302020204030204" pitchFamily="34" charset="0"/>
        </a:defRPr>
      </a:lvl2pPr>
      <a:lvl3pPr marL="1085850" indent="-228600" algn="l" rtl="0" eaLnBrk="0" fontAlgn="base" hangingPunct="0">
        <a:spcBef>
          <a:spcPct val="35000"/>
        </a:spcBef>
        <a:spcAft>
          <a:spcPct val="0"/>
        </a:spcAft>
        <a:buClr>
          <a:srgbClr val="33CC33"/>
        </a:buClr>
        <a:buSzPct val="85000"/>
        <a:buFont typeface="Webdings" panose="05030102010509060703" pitchFamily="18" charset="2"/>
        <a:buChar char="4"/>
        <a:defRPr kumimoji="1" sz="1700" b="0" i="0">
          <a:solidFill>
            <a:schemeClr val="tx1"/>
          </a:solidFill>
          <a:latin typeface="Calibri Light" panose="020F0302020204030204" pitchFamily="34" charset="0"/>
          <a:ea typeface="MS PGothic" panose="020B0600070205080204" pitchFamily="34" charset="-128"/>
          <a:cs typeface="Calibri Light" panose="020F0302020204030204" pitchFamily="34" charset="0"/>
        </a:defRPr>
      </a:lvl3pPr>
      <a:lvl4pPr marL="1428750" indent="-228600" algn="l" rtl="0" eaLnBrk="0" fontAlgn="base" hangingPunct="0">
        <a:spcBef>
          <a:spcPct val="35000"/>
        </a:spcBef>
        <a:spcAft>
          <a:spcPct val="0"/>
        </a:spcAft>
        <a:buClr>
          <a:schemeClr val="hlink"/>
        </a:buClr>
        <a:buFont typeface="Times New Roman" panose="02020603050405020304" pitchFamily="18" charset="0"/>
        <a:buChar char="–"/>
        <a:defRPr kumimoji="1" sz="1700" b="0" i="0">
          <a:solidFill>
            <a:schemeClr val="tx1"/>
          </a:solidFill>
          <a:latin typeface="Calibri Light" panose="020F0302020204030204" pitchFamily="34" charset="0"/>
          <a:ea typeface="MS PGothic" panose="020B0600070205080204" pitchFamily="34" charset="-128"/>
          <a:cs typeface="Calibri Light" panose="020F0302020204030204" pitchFamily="34" charset="0"/>
        </a:defRPr>
      </a:lvl4pPr>
      <a:lvl5pPr marL="1771650" indent="-228600" algn="l" rtl="0" eaLnBrk="0" fontAlgn="base" hangingPunct="0">
        <a:spcBef>
          <a:spcPct val="35000"/>
        </a:spcBef>
        <a:spcAft>
          <a:spcPct val="0"/>
        </a:spcAft>
        <a:buClr>
          <a:schemeClr val="tx2"/>
        </a:buClr>
        <a:buSzPct val="75000"/>
        <a:buChar char="»"/>
        <a:defRPr kumimoji="1" sz="1700" b="0" i="0">
          <a:solidFill>
            <a:schemeClr val="tx1"/>
          </a:solidFill>
          <a:latin typeface="Calibri Light" panose="020F0302020204030204" pitchFamily="34" charset="0"/>
          <a:ea typeface="MS PGothic" panose="020B0600070205080204" pitchFamily="34" charset="-128"/>
          <a:cs typeface="Calibri Light" panose="020F0302020204030204" pitchFamily="34" charset="0"/>
        </a:defRPr>
      </a:lvl5pPr>
      <a:lvl6pPr marL="22288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3.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5.sv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3.sv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6" name="Rectangle 2">
            <a:extLst>
              <a:ext uri="{FF2B5EF4-FFF2-40B4-BE49-F238E27FC236}">
                <a16:creationId xmlns:a16="http://schemas.microsoft.com/office/drawing/2014/main" id="{1CB68582-BBE2-4F64-8E5F-7C76410784FB}"/>
              </a:ext>
            </a:extLst>
          </p:cNvPr>
          <p:cNvSpPr>
            <a:spLocks noGrp="1" noChangeArrowheads="1"/>
          </p:cNvSpPr>
          <p:nvPr>
            <p:ph type="ctrTitle"/>
          </p:nvPr>
        </p:nvSpPr>
        <p:spPr>
          <a:xfrm>
            <a:off x="326570" y="597874"/>
            <a:ext cx="11560629" cy="5264874"/>
          </a:xfrm>
        </p:spPr>
        <p:txBody>
          <a:bodyPr/>
          <a:lstStyle/>
          <a:p>
            <a:pPr algn="ctr">
              <a:defRPr/>
            </a:pPr>
            <a:r>
              <a:rPr lang="pt-BR" altLang="en-US" dirty="0">
                <a:effectLst>
                  <a:outerShdw sx="1000" sy="1000" algn="tl">
                    <a:srgbClr val="C0C0C0"/>
                  </a:outerShdw>
                </a:effectLst>
              </a:rPr>
              <a:t>Introdução ao Modelo Relacional e mapeamento de diagramas ER para digramas relacionais</a:t>
            </a:r>
            <a:br>
              <a:rPr lang="pt-BR" altLang="en-US" dirty="0">
                <a:effectLst>
                  <a:outerShdw sx="1000" sy="1000" algn="tl">
                    <a:srgbClr val="C0C0C0"/>
                  </a:outerShdw>
                </a:effectLst>
              </a:rPr>
            </a:br>
            <a:br>
              <a:rPr lang="pt-BR" altLang="en-US" dirty="0">
                <a:effectLst>
                  <a:outerShdw sx="1000" sy="1000" algn="tl">
                    <a:srgbClr val="C0C0C0"/>
                  </a:outerShdw>
                </a:effectLst>
              </a:rPr>
            </a:br>
            <a:br>
              <a:rPr lang="pt-BR" altLang="en-US" dirty="0">
                <a:effectLst>
                  <a:outerShdw sx="1000" sy="1000" algn="tl">
                    <a:srgbClr val="C0C0C0"/>
                  </a:outerShdw>
                </a:effectLst>
              </a:rPr>
            </a:br>
            <a:br>
              <a:rPr lang="pt-BR" altLang="en-US" dirty="0">
                <a:effectLst>
                  <a:outerShdw sx="1000" sy="1000" algn="tl">
                    <a:srgbClr val="C0C0C0"/>
                  </a:outerShdw>
                </a:effectLst>
              </a:rPr>
            </a:br>
            <a:br>
              <a:rPr lang="pt-BR" altLang="en-US" dirty="0">
                <a:effectLst>
                  <a:outerShdw sx="1000" sy="1000" algn="tl">
                    <a:srgbClr val="C0C0C0"/>
                  </a:outerShdw>
                </a:effectLst>
              </a:rPr>
            </a:br>
            <a:br>
              <a:rPr lang="pt-BR" altLang="en-US" sz="2400" dirty="0">
                <a:solidFill>
                  <a:schemeClr val="tx1"/>
                </a:solidFill>
                <a:effectLst>
                  <a:outerShdw sx="1000" sy="1000" algn="tl">
                    <a:srgbClr val="C0C0C0"/>
                  </a:outerShdw>
                </a:effectLst>
              </a:rPr>
            </a:br>
            <a:br>
              <a:rPr lang="pt-BR" altLang="en-US" sz="2400" dirty="0">
                <a:solidFill>
                  <a:schemeClr val="tx1"/>
                </a:solidFill>
                <a:effectLst>
                  <a:outerShdw sx="1000" sy="1000" algn="tl">
                    <a:srgbClr val="C0C0C0"/>
                  </a:outerShdw>
                </a:effectLst>
              </a:rPr>
            </a:br>
            <a:br>
              <a:rPr lang="pt-BR" altLang="en-US" dirty="0">
                <a:effectLst>
                  <a:outerShdw sx="1000" sy="1000" algn="tl">
                    <a:srgbClr val="C0C0C0"/>
                  </a:outerShdw>
                </a:effectLst>
              </a:rPr>
            </a:br>
            <a:r>
              <a:rPr lang="pt-BR" altLang="en-US" sz="2400" dirty="0">
                <a:solidFill>
                  <a:schemeClr val="tx1"/>
                </a:solidFill>
                <a:effectLst>
                  <a:outerShdw sx="1000" sy="1000" algn="tl">
                    <a:srgbClr val="C0C0C0"/>
                  </a:outerShdw>
                </a:effectLst>
              </a:rPr>
              <a:t>Prof. Dr. </a:t>
            </a:r>
            <a:r>
              <a:rPr lang="pt-BR" altLang="en-US" sz="2400" dirty="0" err="1">
                <a:solidFill>
                  <a:schemeClr val="tx1"/>
                </a:solidFill>
                <a:effectLst>
                  <a:outerShdw sx="1000" sy="1000" algn="tl">
                    <a:srgbClr val="C0C0C0"/>
                  </a:outerShdw>
                </a:effectLst>
              </a:rPr>
              <a:t>Linder</a:t>
            </a:r>
            <a:r>
              <a:rPr lang="pt-BR" altLang="en-US" sz="2400" dirty="0">
                <a:solidFill>
                  <a:schemeClr val="tx1"/>
                </a:solidFill>
                <a:effectLst>
                  <a:outerShdw sx="1000" sy="1000" algn="tl">
                    <a:srgbClr val="C0C0C0"/>
                  </a:outerShdw>
                </a:effectLst>
              </a:rPr>
              <a:t> Cândido da Silva</a:t>
            </a:r>
            <a:br>
              <a:rPr lang="pt-BR" altLang="en-US" sz="2400" dirty="0">
                <a:solidFill>
                  <a:schemeClr val="tx1"/>
                </a:solidFill>
                <a:effectLst>
                  <a:outerShdw sx="1000" sy="1000" algn="tl">
                    <a:srgbClr val="C0C0C0"/>
                  </a:outerShdw>
                </a:effectLst>
              </a:rPr>
            </a:br>
            <a:r>
              <a:rPr lang="pt-BR" altLang="en-US" sz="2400" dirty="0">
                <a:solidFill>
                  <a:schemeClr val="tx1"/>
                </a:solidFill>
                <a:effectLst>
                  <a:outerShdw sx="1000" sy="1000" algn="tl">
                    <a:srgbClr val="C0C0C0"/>
                  </a:outerShdw>
                </a:effectLst>
              </a:rPr>
              <a:t>2022</a:t>
            </a:r>
            <a:endParaRPr lang="pt-BR" altLang="en-US" dirty="0">
              <a:solidFill>
                <a:schemeClr val="tx1"/>
              </a:solidFill>
              <a:effectLst>
                <a:outerShdw sx="1000" sy="1000" algn="tl">
                  <a:srgbClr val="C0C0C0"/>
                </a:outerShdw>
              </a:effectLs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3762" name="Rectangle 2"/>
          <p:cNvSpPr>
            <a:spLocks noGrp="1" noChangeArrowheads="1"/>
          </p:cNvSpPr>
          <p:nvPr>
            <p:ph type="title"/>
          </p:nvPr>
        </p:nvSpPr>
        <p:spPr>
          <a:xfrm>
            <a:off x="514351" y="220345"/>
            <a:ext cx="10738696" cy="609600"/>
          </a:xfrm>
        </p:spPr>
        <p:txBody>
          <a:bodyPr vert="horz" wrap="square" lIns="90488" tIns="44450" rIns="90488" bIns="44450" numCol="1" anchor="ctr" anchorCtr="0" compatLnSpc="1">
            <a:prstTxWarp prst="textNoShape">
              <a:avLst/>
            </a:prstTxWarp>
          </a:bodyPr>
          <a:lstStyle/>
          <a:p>
            <a:pPr algn="l"/>
            <a:r>
              <a:rPr lang="pt-BR" altLang="en-US" sz="3600" dirty="0"/>
              <a:t>Tópicos gerais</a:t>
            </a:r>
          </a:p>
        </p:txBody>
      </p:sp>
      <p:sp>
        <p:nvSpPr>
          <p:cNvPr id="5122" name="Rectangle 3"/>
          <p:cNvSpPr>
            <a:spLocks noGrp="1" noChangeArrowheads="1"/>
          </p:cNvSpPr>
          <p:nvPr>
            <p:ph type="body" idx="1"/>
          </p:nvPr>
        </p:nvSpPr>
        <p:spPr>
          <a:xfrm>
            <a:off x="514350" y="1104899"/>
            <a:ext cx="11302512" cy="5433061"/>
          </a:xfrm>
        </p:spPr>
        <p:txBody>
          <a:bodyPr vert="horz" wrap="square" lIns="90488" tIns="44450" rIns="90488" bIns="44450" numCol="1" anchor="t" anchorCtr="0" compatLnSpc="1">
            <a:prstTxWarp prst="textNoShape">
              <a:avLst/>
            </a:prstTxWarp>
          </a:bodyPr>
          <a:lstStyle/>
          <a:p>
            <a:pPr marL="457200" lvl="0" indent="-457200">
              <a:buFont typeface="+mj-lt"/>
              <a:buAutoNum type="arabicPeriod"/>
            </a:pPr>
            <a:r>
              <a:rPr lang="pt-BR" altLang="en-US" sz="2400" dirty="0">
                <a:solidFill>
                  <a:schemeClr val="tx2"/>
                </a:solidFill>
              </a:rPr>
              <a:t>Origem do modelo,  conceitos de relação, </a:t>
            </a:r>
            <a:r>
              <a:rPr lang="pt-BR" altLang="en-US" sz="2400" i="1" dirty="0" err="1">
                <a:solidFill>
                  <a:schemeClr val="tx2"/>
                </a:solidFill>
              </a:rPr>
              <a:t>tuplas</a:t>
            </a:r>
            <a:r>
              <a:rPr lang="pt-BR" altLang="en-US" sz="2400" dirty="0">
                <a:solidFill>
                  <a:schemeClr val="tx2"/>
                </a:solidFill>
              </a:rPr>
              <a:t> e atributos.</a:t>
            </a:r>
            <a:endParaRPr lang="pt-BR" altLang="en-US" sz="2400" dirty="0"/>
          </a:p>
          <a:p>
            <a:pPr marL="457200" indent="-457200">
              <a:buFont typeface="+mj-lt"/>
              <a:buAutoNum type="arabicPeriod"/>
            </a:pPr>
            <a:r>
              <a:rPr lang="pt-BR" altLang="en-US" sz="2400" dirty="0">
                <a:solidFill>
                  <a:schemeClr val="accent1">
                    <a:lumMod val="50000"/>
                  </a:schemeClr>
                </a:solidFill>
              </a:rPr>
              <a:t>Esquema do Banco de Dados.</a:t>
            </a:r>
          </a:p>
          <a:p>
            <a:pPr marL="457200" indent="-457200">
              <a:buFont typeface="+mj-lt"/>
              <a:buAutoNum type="arabicPeriod"/>
            </a:pPr>
            <a:r>
              <a:rPr lang="pt-BR" altLang="en-US" sz="2400" dirty="0">
                <a:solidFill>
                  <a:schemeClr val="accent1">
                    <a:lumMod val="50000"/>
                  </a:schemeClr>
                </a:solidFill>
              </a:rPr>
              <a:t>Restrições de integridade: chaves e integridade referencial.</a:t>
            </a:r>
          </a:p>
          <a:p>
            <a:pPr marL="457200" indent="-457200">
              <a:buFont typeface="+mj-lt"/>
              <a:buAutoNum type="arabicPeriod"/>
            </a:pPr>
            <a:r>
              <a:rPr lang="pt-BR" altLang="en-US" sz="2400" dirty="0">
                <a:solidFill>
                  <a:schemeClr val="accent1">
                    <a:lumMod val="50000"/>
                  </a:schemeClr>
                </a:solidFill>
              </a:rPr>
              <a:t>Diagramas de esquema de banco de dados relacional.</a:t>
            </a:r>
          </a:p>
          <a:p>
            <a:pPr marL="457200" indent="-457200">
              <a:buFont typeface="+mj-lt"/>
              <a:buAutoNum type="arabicPeriod"/>
            </a:pPr>
            <a:r>
              <a:rPr lang="pt-BR" altLang="en-US" sz="2400" dirty="0">
                <a:solidFill>
                  <a:schemeClr val="accent1">
                    <a:lumMod val="50000"/>
                  </a:schemeClr>
                </a:solidFill>
              </a:rPr>
              <a:t>Design de Banco de Dados relacional usando diagrama Entidade-Relacionamento.</a:t>
            </a:r>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1">
            <a:extLst>
              <a:ext uri="{FF2B5EF4-FFF2-40B4-BE49-F238E27FC236}">
                <a16:creationId xmlns:a16="http://schemas.microsoft.com/office/drawing/2014/main" id="{05439710-EA79-BA4A-BA6E-180A8E445931}"/>
              </a:ext>
            </a:extLst>
          </p:cNvPr>
          <p:cNvSpPr>
            <a:spLocks noGrp="1" noChangeArrowheads="1"/>
          </p:cNvSpPr>
          <p:nvPr>
            <p:ph type="title"/>
          </p:nvPr>
        </p:nvSpPr>
        <p:spPr>
          <a:xfrm>
            <a:off x="642553" y="260351"/>
            <a:ext cx="9414262" cy="792163"/>
          </a:xfrm>
        </p:spPr>
        <p:txBody>
          <a:bodyPr vert="horz" wrap="square" lIns="90000" tIns="46800" rIns="90000" bIns="46800" numCol="1" anchor="b" anchorCtr="0" compatLnSpc="1">
            <a:prstTxWarp prst="textNoShape">
              <a:avLst/>
            </a:prstTxWarp>
          </a:bodyPr>
          <a:lstStyle/>
          <a:p>
            <a:pPr eaLnBrk="1" hangingPunct="1">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pt-BR" dirty="0"/>
              <a:t>Origens do Modelo Relacional</a:t>
            </a:r>
          </a:p>
        </p:txBody>
      </p:sp>
      <p:sp>
        <p:nvSpPr>
          <p:cNvPr id="7170" name="Rectangle 2">
            <a:extLst>
              <a:ext uri="{FF2B5EF4-FFF2-40B4-BE49-F238E27FC236}">
                <a16:creationId xmlns:a16="http://schemas.microsoft.com/office/drawing/2014/main" id="{D8FB151C-7B55-EE4B-93D8-0830F056FC1B}"/>
              </a:ext>
            </a:extLst>
          </p:cNvPr>
          <p:cNvSpPr>
            <a:spLocks noGrp="1" noChangeArrowheads="1"/>
          </p:cNvSpPr>
          <p:nvPr>
            <p:ph type="body" idx="1"/>
          </p:nvPr>
        </p:nvSpPr>
        <p:spPr>
          <a:xfrm>
            <a:off x="642552" y="1235676"/>
            <a:ext cx="10923372" cy="5160362"/>
          </a:xfrm>
        </p:spPr>
        <p:txBody>
          <a:bodyPr vert="horz" wrap="square" lIns="90000" tIns="46800" rIns="91440" bIns="46800" numCol="1" anchor="t" anchorCtr="0" compatLnSpc="1">
            <a:prstTxWarp prst="textNoShape">
              <a:avLst/>
            </a:prstTxWarp>
          </a:bodyPr>
          <a:lstStyle/>
          <a:p>
            <a:pPr eaLnBrk="1" hangingPunct="1">
              <a:spcBef>
                <a:spcPts val="600"/>
              </a:spcBef>
              <a:tabLst>
                <a:tab pos="336550" algn="l"/>
                <a:tab pos="449263" algn="l"/>
                <a:tab pos="906463" algn="l"/>
                <a:tab pos="1363663" algn="l"/>
                <a:tab pos="1820863" algn="l"/>
                <a:tab pos="2278063" algn="l"/>
                <a:tab pos="2735263" algn="l"/>
                <a:tab pos="3192463" algn="l"/>
                <a:tab pos="3649663" algn="l"/>
                <a:tab pos="4106863" algn="l"/>
                <a:tab pos="4564063" algn="l"/>
                <a:tab pos="5021263" algn="l"/>
                <a:tab pos="5478463" algn="l"/>
                <a:tab pos="5935663" algn="l"/>
                <a:tab pos="6392863" algn="l"/>
                <a:tab pos="6850063" algn="l"/>
                <a:tab pos="7307263" algn="l"/>
                <a:tab pos="7764463" algn="l"/>
                <a:tab pos="8221663" algn="l"/>
                <a:tab pos="8678863" algn="l"/>
                <a:tab pos="9136063" algn="l"/>
              </a:tabLst>
            </a:pPr>
            <a:r>
              <a:rPr lang="pt-BR" altLang="en-BR" sz="2000" dirty="0"/>
              <a:t>O Modelo de Dados Relacional é fundamentado matematicamente pela teoria dos conjuntos e lógica de predicados de primeira ordem.</a:t>
            </a:r>
          </a:p>
          <a:p>
            <a:pPr eaLnBrk="1" hangingPunct="1">
              <a:spcBef>
                <a:spcPts val="600"/>
              </a:spcBef>
              <a:tabLst>
                <a:tab pos="336550" algn="l"/>
                <a:tab pos="449263" algn="l"/>
                <a:tab pos="906463" algn="l"/>
                <a:tab pos="1363663" algn="l"/>
                <a:tab pos="1820863" algn="l"/>
                <a:tab pos="2278063" algn="l"/>
                <a:tab pos="2735263" algn="l"/>
                <a:tab pos="3192463" algn="l"/>
                <a:tab pos="3649663" algn="l"/>
                <a:tab pos="4106863" algn="l"/>
                <a:tab pos="4564063" algn="l"/>
                <a:tab pos="5021263" algn="l"/>
                <a:tab pos="5478463" algn="l"/>
                <a:tab pos="5935663" algn="l"/>
                <a:tab pos="6392863" algn="l"/>
                <a:tab pos="6850063" algn="l"/>
                <a:tab pos="7307263" algn="l"/>
                <a:tab pos="7764463" algn="l"/>
                <a:tab pos="8221663" algn="l"/>
                <a:tab pos="8678863" algn="l"/>
                <a:tab pos="9136063" algn="l"/>
              </a:tabLst>
            </a:pPr>
            <a:endParaRPr lang="pt-BR" altLang="en-BR" sz="2000" dirty="0"/>
          </a:p>
          <a:p>
            <a:pPr marL="0" indent="0" eaLnBrk="1" hangingPunct="1">
              <a:spcBef>
                <a:spcPts val="600"/>
              </a:spcBef>
              <a:buNone/>
              <a:tabLst>
                <a:tab pos="336550" algn="l"/>
                <a:tab pos="449263" algn="l"/>
                <a:tab pos="906463" algn="l"/>
                <a:tab pos="1363663" algn="l"/>
                <a:tab pos="1820863" algn="l"/>
                <a:tab pos="2278063" algn="l"/>
                <a:tab pos="2735263" algn="l"/>
                <a:tab pos="3192463" algn="l"/>
                <a:tab pos="3649663" algn="l"/>
                <a:tab pos="4106863" algn="l"/>
                <a:tab pos="4564063" algn="l"/>
                <a:tab pos="5021263" algn="l"/>
                <a:tab pos="5478463" algn="l"/>
                <a:tab pos="5935663" algn="l"/>
                <a:tab pos="6392863" algn="l"/>
                <a:tab pos="6850063" algn="l"/>
                <a:tab pos="7307263" algn="l"/>
                <a:tab pos="7764463" algn="l"/>
                <a:tab pos="8221663" algn="l"/>
                <a:tab pos="8678863" algn="l"/>
                <a:tab pos="9136063" algn="l"/>
              </a:tabLst>
            </a:pPr>
            <a:endParaRPr lang="pt-BR" altLang="en-BR" sz="2000" dirty="0"/>
          </a:p>
          <a:p>
            <a:pPr marL="346075" eaLnBrk="1" hangingPunct="1">
              <a:spcBef>
                <a:spcPts val="700"/>
              </a:spcBef>
              <a:tabLst>
                <a:tab pos="339725" algn="l"/>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pPr>
            <a:r>
              <a:rPr lang="pt-BR" altLang="en-BR" sz="2000" dirty="0"/>
              <a:t>Este modelo foi primeiramente proposto pelo Dr. Edgar F. </a:t>
            </a:r>
            <a:r>
              <a:rPr lang="pt-BR" altLang="en-BR" sz="2000" dirty="0" err="1"/>
              <a:t>Codd</a:t>
            </a:r>
            <a:r>
              <a:rPr lang="pt-BR" altLang="en-BR" sz="2000" dirty="0"/>
              <a:t> quando trabalhava na IBM </a:t>
            </a:r>
            <a:r>
              <a:rPr lang="pt-BR" altLang="en-BR" sz="2000" dirty="0" err="1"/>
              <a:t>research</a:t>
            </a:r>
            <a:r>
              <a:rPr lang="pt-BR" altLang="en-BR" sz="2000" dirty="0"/>
              <a:t> em 1970: "A </a:t>
            </a:r>
            <a:r>
              <a:rPr lang="pt-BR" altLang="en-BR" sz="2000" dirty="0" err="1"/>
              <a:t>Relational</a:t>
            </a:r>
            <a:r>
              <a:rPr lang="pt-BR" altLang="en-BR" sz="2000" dirty="0"/>
              <a:t> </a:t>
            </a:r>
            <a:r>
              <a:rPr lang="pt-BR" altLang="en-BR" sz="2000" dirty="0" err="1"/>
              <a:t>Model</a:t>
            </a:r>
            <a:r>
              <a:rPr lang="pt-BR" altLang="en-BR" sz="2000" dirty="0"/>
              <a:t> for </a:t>
            </a:r>
            <a:r>
              <a:rPr lang="pt-BR" altLang="en-BR" sz="2000" dirty="0" err="1"/>
              <a:t>Large</a:t>
            </a:r>
            <a:r>
              <a:rPr lang="pt-BR" altLang="en-BR" sz="2000" dirty="0"/>
              <a:t> </a:t>
            </a:r>
            <a:r>
              <a:rPr lang="pt-BR" altLang="en-BR" sz="2000" dirty="0" err="1"/>
              <a:t>Shared</a:t>
            </a:r>
            <a:r>
              <a:rPr lang="pt-BR" altLang="en-BR" sz="2000" dirty="0"/>
              <a:t> Data Banks”, Communications </a:t>
            </a:r>
            <a:r>
              <a:rPr lang="pt-BR" altLang="en-BR" sz="2000" dirty="0" err="1"/>
              <a:t>of</a:t>
            </a:r>
            <a:r>
              <a:rPr lang="pt-BR" altLang="en-BR" sz="2000" dirty="0"/>
              <a:t> </a:t>
            </a:r>
            <a:r>
              <a:rPr lang="pt-BR" altLang="en-BR" sz="2000" dirty="0" err="1"/>
              <a:t>the</a:t>
            </a:r>
            <a:r>
              <a:rPr lang="pt-BR" altLang="en-BR" sz="2000" dirty="0"/>
              <a:t> ACM, </a:t>
            </a:r>
            <a:r>
              <a:rPr lang="pt-BR" altLang="en-BR" sz="2000" dirty="0" err="1"/>
              <a:t>June</a:t>
            </a:r>
            <a:r>
              <a:rPr lang="pt-BR" altLang="en-BR" sz="2000" dirty="0"/>
              <a:t> 1970.</a:t>
            </a:r>
          </a:p>
          <a:p>
            <a:pPr marL="346075" eaLnBrk="1" hangingPunct="1">
              <a:spcBef>
                <a:spcPts val="700"/>
              </a:spcBef>
              <a:tabLst>
                <a:tab pos="339725" algn="l"/>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pPr>
            <a:endParaRPr lang="pt-BR" altLang="en-BR" sz="2000" dirty="0"/>
          </a:p>
          <a:p>
            <a:pPr marL="346075" eaLnBrk="1" hangingPunct="1">
              <a:spcBef>
                <a:spcPts val="700"/>
              </a:spcBef>
              <a:tabLst>
                <a:tab pos="339725" algn="l"/>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pPr>
            <a:endParaRPr lang="pt-BR" altLang="en-BR" sz="2000" dirty="0"/>
          </a:p>
          <a:p>
            <a:pPr marL="346075" eaLnBrk="1" hangingPunct="1">
              <a:spcBef>
                <a:spcPts val="700"/>
              </a:spcBef>
              <a:tabLst>
                <a:tab pos="339725" algn="l"/>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pPr>
            <a:r>
              <a:rPr lang="pt-BR" altLang="en-BR" sz="2000" dirty="0"/>
              <a:t>Este trabalho causou uma grande revolução na área de Banco de Dados e o Dr. </a:t>
            </a:r>
            <a:r>
              <a:rPr lang="pt-BR" altLang="en-BR" sz="2000" dirty="0" err="1"/>
              <a:t>Codd</a:t>
            </a:r>
            <a:r>
              <a:rPr lang="pt-BR" altLang="en-BR" sz="2000" dirty="0"/>
              <a:t> foi agraciado com o ACM Turing </a:t>
            </a:r>
            <a:r>
              <a:rPr lang="pt-BR" altLang="en-BR" sz="2000" dirty="0" err="1"/>
              <a:t>Award</a:t>
            </a:r>
            <a:r>
              <a:rPr lang="pt-BR" altLang="en-BR" sz="2000" dirty="0"/>
              <a:t> em 1981, pouco mais de uma década após a publicação do artigo.</a:t>
            </a:r>
          </a:p>
          <a:p>
            <a:pPr eaLnBrk="1" hangingPunct="1">
              <a:spcBef>
                <a:spcPts val="600"/>
              </a:spcBef>
              <a:tabLst>
                <a:tab pos="336550" algn="l"/>
                <a:tab pos="449263" algn="l"/>
                <a:tab pos="906463" algn="l"/>
                <a:tab pos="1363663" algn="l"/>
                <a:tab pos="1820863" algn="l"/>
                <a:tab pos="2278063" algn="l"/>
                <a:tab pos="2735263" algn="l"/>
                <a:tab pos="3192463" algn="l"/>
                <a:tab pos="3649663" algn="l"/>
                <a:tab pos="4106863" algn="l"/>
                <a:tab pos="4564063" algn="l"/>
                <a:tab pos="5021263" algn="l"/>
                <a:tab pos="5478463" algn="l"/>
                <a:tab pos="5935663" algn="l"/>
                <a:tab pos="6392863" algn="l"/>
                <a:tab pos="6850063" algn="l"/>
                <a:tab pos="7307263" algn="l"/>
                <a:tab pos="7764463" algn="l"/>
                <a:tab pos="8221663" algn="l"/>
                <a:tab pos="8678863" algn="l"/>
                <a:tab pos="9136063" algn="l"/>
              </a:tabLst>
            </a:pPr>
            <a:endParaRPr lang="pt-BR" altLang="en-BR" sz="2000" dirty="0"/>
          </a:p>
          <a:p>
            <a:pPr marL="0" indent="0" eaLnBrk="1" hangingPunct="1">
              <a:spcBef>
                <a:spcPts val="600"/>
              </a:spcBef>
              <a:buNone/>
              <a:tabLst>
                <a:tab pos="336550" algn="l"/>
                <a:tab pos="449263" algn="l"/>
                <a:tab pos="906463" algn="l"/>
                <a:tab pos="1363663" algn="l"/>
                <a:tab pos="1820863" algn="l"/>
                <a:tab pos="2278063" algn="l"/>
                <a:tab pos="2735263" algn="l"/>
                <a:tab pos="3192463" algn="l"/>
                <a:tab pos="3649663" algn="l"/>
                <a:tab pos="4106863" algn="l"/>
                <a:tab pos="4564063" algn="l"/>
                <a:tab pos="5021263" algn="l"/>
                <a:tab pos="5478463" algn="l"/>
                <a:tab pos="5935663" algn="l"/>
                <a:tab pos="6392863" algn="l"/>
                <a:tab pos="6850063" algn="l"/>
                <a:tab pos="7307263" algn="l"/>
                <a:tab pos="7764463" algn="l"/>
                <a:tab pos="8221663" algn="l"/>
                <a:tab pos="8678863" algn="l"/>
                <a:tab pos="9136063" algn="l"/>
              </a:tabLst>
            </a:pPr>
            <a:endParaRPr lang="pt-BR" altLang="en-BR" sz="2000" dirty="0"/>
          </a:p>
          <a:p>
            <a:pPr marL="336550" indent="-336550" eaLnBrk="1" hangingPunct="1">
              <a:spcBef>
                <a:spcPts val="600"/>
              </a:spcBef>
              <a:buClrTx/>
              <a:buNone/>
              <a:tabLst>
                <a:tab pos="336550" algn="l"/>
                <a:tab pos="449263" algn="l"/>
                <a:tab pos="906463" algn="l"/>
                <a:tab pos="1363663" algn="l"/>
                <a:tab pos="1820863" algn="l"/>
                <a:tab pos="2278063" algn="l"/>
                <a:tab pos="2735263" algn="l"/>
                <a:tab pos="3192463" algn="l"/>
                <a:tab pos="3649663" algn="l"/>
                <a:tab pos="4106863" algn="l"/>
                <a:tab pos="4564063" algn="l"/>
                <a:tab pos="5021263" algn="l"/>
                <a:tab pos="5478463" algn="l"/>
                <a:tab pos="5935663" algn="l"/>
                <a:tab pos="6392863" algn="l"/>
                <a:tab pos="6850063" algn="l"/>
                <a:tab pos="7307263" algn="l"/>
                <a:tab pos="7764463" algn="l"/>
                <a:tab pos="8221663" algn="l"/>
                <a:tab pos="8678863" algn="l"/>
                <a:tab pos="9136063" algn="l"/>
              </a:tabLst>
            </a:pPr>
            <a:endParaRPr lang="pt-BR" altLang="en-BR" sz="2000" dirty="0"/>
          </a:p>
        </p:txBody>
      </p:sp>
    </p:spTree>
    <p:extLst>
      <p:ext uri="{BB962C8B-B14F-4D97-AF65-F5344CB8AC3E}">
        <p14:creationId xmlns:p14="http://schemas.microsoft.com/office/powerpoint/2010/main" val="1175366896"/>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Rectangle 1">
            <a:extLst>
              <a:ext uri="{FF2B5EF4-FFF2-40B4-BE49-F238E27FC236}">
                <a16:creationId xmlns:a16="http://schemas.microsoft.com/office/drawing/2014/main" id="{0B1C55FF-059A-7C42-8E78-B38C363B8152}"/>
              </a:ext>
            </a:extLst>
          </p:cNvPr>
          <p:cNvSpPr>
            <a:spLocks noGrp="1" noChangeArrowheads="1"/>
          </p:cNvSpPr>
          <p:nvPr>
            <p:ph type="title"/>
          </p:nvPr>
        </p:nvSpPr>
        <p:spPr>
          <a:xfrm>
            <a:off x="444843" y="128589"/>
            <a:ext cx="9318282" cy="785811"/>
          </a:xfrm>
        </p:spPr>
        <p:txBody>
          <a:bodyPr vert="horz" wrap="square" lIns="90000" tIns="46800" rIns="90000" bIns="46800" numCol="1" anchor="b" anchorCtr="0" compatLnSpc="1">
            <a:prstTxWarp prst="textNoShape">
              <a:avLst/>
            </a:prstTxWarp>
          </a:bodyPr>
          <a:lstStyle/>
          <a:p>
            <a:pPr eaLnBrk="1" hangingPunct="1">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pt-BR" altLang="en-BR" dirty="0"/>
              <a:t>Conceitos de relação, </a:t>
            </a:r>
            <a:r>
              <a:rPr lang="pt-BR" altLang="en-BR" dirty="0" err="1"/>
              <a:t>tuplas</a:t>
            </a:r>
            <a:r>
              <a:rPr lang="pt-BR" altLang="en-BR" dirty="0"/>
              <a:t> e atributos </a:t>
            </a:r>
          </a:p>
        </p:txBody>
      </p:sp>
      <mc:AlternateContent xmlns:mc="http://schemas.openxmlformats.org/markup-compatibility/2006" xmlns:a14="http://schemas.microsoft.com/office/drawing/2010/main">
        <mc:Choice Requires="a14">
          <p:sp>
            <p:nvSpPr>
              <p:cNvPr id="9218" name="Rectangle 2">
                <a:extLst>
                  <a:ext uri="{FF2B5EF4-FFF2-40B4-BE49-F238E27FC236}">
                    <a16:creationId xmlns:a16="http://schemas.microsoft.com/office/drawing/2014/main" id="{36EDF28C-CFC4-0045-B9BB-8B5BCE71F1B6}"/>
                  </a:ext>
                </a:extLst>
              </p:cNvPr>
              <p:cNvSpPr>
                <a:spLocks noGrp="1" noChangeArrowheads="1"/>
              </p:cNvSpPr>
              <p:nvPr>
                <p:ph type="body" idx="1"/>
              </p:nvPr>
            </p:nvSpPr>
            <p:spPr>
              <a:xfrm>
                <a:off x="444843" y="1048107"/>
                <a:ext cx="11318789" cy="5214551"/>
              </a:xfrm>
            </p:spPr>
            <p:txBody>
              <a:bodyPr vert="horz" wrap="square" lIns="90000" tIns="46800" rIns="91440" bIns="46800" numCol="1" anchor="t" anchorCtr="0" compatLnSpc="1">
                <a:prstTxWarp prst="textNoShape">
                  <a:avLst/>
                </a:prstTxWarp>
              </a:bodyPr>
              <a:lstStyle/>
              <a:p>
                <a:pPr marL="349250" eaLnBrk="1" hangingPunct="1">
                  <a:lnSpc>
                    <a:spcPct val="80000"/>
                  </a:lnSpc>
                  <a:spcBef>
                    <a:spcPts val="575"/>
                  </a:spcBef>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pt-BR" altLang="en-BR" sz="2000" dirty="0"/>
                  <a:t>O termo relação se refere a um conjunto de </a:t>
                </a:r>
                <a:r>
                  <a:rPr lang="pt-BR" altLang="en-BR" sz="2000" dirty="0" err="1"/>
                  <a:t>n-tuplas</a:t>
                </a:r>
                <a:r>
                  <a:rPr lang="pt-BR" altLang="en-BR" sz="2000" dirty="0"/>
                  <a:t> (A1, A2,..., </a:t>
                </a:r>
                <a:r>
                  <a:rPr lang="pt-BR" altLang="en-BR" sz="2000" dirty="0" err="1"/>
                  <a:t>An</a:t>
                </a:r>
                <a:r>
                  <a:rPr lang="pt-BR" altLang="en-BR" sz="2000" dirty="0"/>
                  <a:t>) advindas de um subconjunto do produto cartesiano dos domínios dos atributos dom(A1)</a:t>
                </a:r>
                <a14:m>
                  <m:oMath xmlns:m="http://schemas.openxmlformats.org/officeDocument/2006/math">
                    <m:r>
                      <a:rPr lang="pt-BR" altLang="en-BR" sz="2000">
                        <a:latin typeface="Cambria Math" panose="02040503050406030204" pitchFamily="18" charset="0"/>
                      </a:rPr>
                      <m:t>×</m:t>
                    </m:r>
                  </m:oMath>
                </a14:m>
                <a:r>
                  <a:rPr lang="pt-BR" altLang="en-BR" sz="2000" dirty="0"/>
                  <a:t>dom(A2) </a:t>
                </a:r>
                <a14:m>
                  <m:oMath xmlns:m="http://schemas.openxmlformats.org/officeDocument/2006/math">
                    <m:r>
                      <a:rPr lang="pt-BR" altLang="en-BR" sz="2000">
                        <a:latin typeface="Cambria Math" panose="02040503050406030204" pitchFamily="18" charset="0"/>
                      </a:rPr>
                      <m:t>×</m:t>
                    </m:r>
                  </m:oMath>
                </a14:m>
                <a:r>
                  <a:rPr lang="pt-BR" altLang="en-BR" sz="2000" dirty="0"/>
                  <a:t>... </a:t>
                </a:r>
                <a14:m>
                  <m:oMath xmlns:m="http://schemas.openxmlformats.org/officeDocument/2006/math">
                    <m:r>
                      <a:rPr lang="pt-BR" altLang="en-BR" sz="2000">
                        <a:latin typeface="Cambria Math" panose="02040503050406030204" pitchFamily="18" charset="0"/>
                      </a:rPr>
                      <m:t>×</m:t>
                    </m:r>
                  </m:oMath>
                </a14:m>
                <a:r>
                  <a:rPr lang="pt-BR" altLang="en-BR" sz="2000" dirty="0"/>
                  <a:t>dom(</a:t>
                </a:r>
                <a:r>
                  <a:rPr lang="pt-BR" altLang="en-BR" sz="2000" dirty="0" err="1"/>
                  <a:t>An</a:t>
                </a:r>
                <a:r>
                  <a:rPr lang="pt-BR" altLang="en-BR" sz="2000" dirty="0"/>
                  <a:t>).  Informalmente, uma relação pode ser entendida (visualizada) como uma tabela de valores, onde cada linha corresponde a uma </a:t>
                </a:r>
                <a:r>
                  <a:rPr lang="pt-BR" altLang="en-BR" sz="2000" dirty="0" err="1"/>
                  <a:t>tupla</a:t>
                </a:r>
                <a:r>
                  <a:rPr lang="pt-BR" altLang="en-BR" sz="2000" dirty="0"/>
                  <a:t> e cada coluna corresponde a um atributo.</a:t>
                </a:r>
              </a:p>
              <a:p>
                <a:pPr marL="6350" indent="0" eaLnBrk="1" hangingPunct="1">
                  <a:lnSpc>
                    <a:spcPct val="80000"/>
                  </a:lnSpc>
                  <a:spcBef>
                    <a:spcPts val="575"/>
                  </a:spcBef>
                  <a:buNone/>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pt-BR" altLang="en-BR" sz="2000" dirty="0"/>
              </a:p>
              <a:p>
                <a:pPr marL="6350" indent="0" eaLnBrk="1" hangingPunct="1">
                  <a:lnSpc>
                    <a:spcPct val="80000"/>
                  </a:lnSpc>
                  <a:spcBef>
                    <a:spcPts val="575"/>
                  </a:spcBef>
                  <a:buNone/>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pt-BR" altLang="en-BR" sz="2000" dirty="0"/>
              </a:p>
              <a:p>
                <a:pPr marL="349250" eaLnBrk="1" hangingPunct="1">
                  <a:lnSpc>
                    <a:spcPct val="80000"/>
                  </a:lnSpc>
                  <a:spcBef>
                    <a:spcPts val="575"/>
                  </a:spcBef>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pt-BR" altLang="en-BR" sz="2000" dirty="0"/>
                  <a:t>Fazendo um paralelo com o modelo Entidade-Relacionamento, cada </a:t>
                </a:r>
                <a:r>
                  <a:rPr lang="pt-BR" altLang="en-BR" sz="2000" dirty="0" err="1"/>
                  <a:t>tupla</a:t>
                </a:r>
                <a:r>
                  <a:rPr lang="pt-BR" altLang="en-BR" sz="2000" dirty="0"/>
                  <a:t> (ou linha da tabela) relaciona valores de atributos a fim de descrever uma entidade ou um relacionamento entre entidades do minimundo sendo modelado. </a:t>
                </a:r>
              </a:p>
              <a:p>
                <a:pPr marL="6350" indent="0" eaLnBrk="1" hangingPunct="1">
                  <a:lnSpc>
                    <a:spcPct val="80000"/>
                  </a:lnSpc>
                  <a:spcBef>
                    <a:spcPts val="575"/>
                  </a:spcBef>
                  <a:buNone/>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pt-BR" altLang="en-BR" sz="2000" dirty="0"/>
              </a:p>
              <a:p>
                <a:pPr marL="349250" eaLnBrk="1" hangingPunct="1">
                  <a:lnSpc>
                    <a:spcPct val="80000"/>
                  </a:lnSpc>
                  <a:spcBef>
                    <a:spcPts val="575"/>
                  </a:spcBef>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pt-BR" altLang="en-BR" sz="2000" dirty="0"/>
              </a:p>
              <a:p>
                <a:pPr marL="349250" eaLnBrk="1" hangingPunct="1">
                  <a:lnSpc>
                    <a:spcPct val="80000"/>
                  </a:lnSpc>
                  <a:spcBef>
                    <a:spcPts val="575"/>
                  </a:spcBef>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pt-BR" altLang="en-BR" sz="2000" dirty="0"/>
                  <a:t>Cada coluna da tabela tem um cabeçalho que descreve parcialmente a semântica (o significado) do atributo. Formalmente, o cabeçalho da coluna é chamado de nome do atributo. Os valores dos atributos representam fatos, ou informações, extraída do minimundo para caracterizar uma entidade ou relacionamento entre entidades. Por exemplo, no contexto de uma Universidade, são atributos o RGA de um aluno, o nome de um professor, o nome de uma disciplina, etc.</a:t>
                </a:r>
              </a:p>
              <a:p>
                <a:pPr indent="-336550" eaLnBrk="1" hangingPunct="1">
                  <a:lnSpc>
                    <a:spcPct val="80000"/>
                  </a:lnSpc>
                  <a:spcBef>
                    <a:spcPts val="575"/>
                  </a:spcBef>
                  <a:buClrTx/>
                  <a:buNone/>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pt-BR" altLang="en-BR" sz="2000" dirty="0"/>
              </a:p>
              <a:p>
                <a:pPr marL="349250" eaLnBrk="1" hangingPunct="1">
                  <a:lnSpc>
                    <a:spcPct val="80000"/>
                  </a:lnSpc>
                  <a:spcBef>
                    <a:spcPts val="575"/>
                  </a:spcBef>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pt-BR" altLang="en-BR" sz="2000" dirty="0"/>
              </a:p>
            </p:txBody>
          </p:sp>
        </mc:Choice>
        <mc:Fallback xmlns="">
          <p:sp>
            <p:nvSpPr>
              <p:cNvPr id="9218" name="Rectangle 2">
                <a:extLst>
                  <a:ext uri="{FF2B5EF4-FFF2-40B4-BE49-F238E27FC236}">
                    <a16:creationId xmlns:a16="http://schemas.microsoft.com/office/drawing/2014/main" id="{36EDF28C-CFC4-0045-B9BB-8B5BCE71F1B6}"/>
                  </a:ext>
                </a:extLst>
              </p:cNvPr>
              <p:cNvSpPr>
                <a:spLocks noGrp="1" noRot="1" noChangeAspect="1" noMove="1" noResize="1" noEditPoints="1" noAdjustHandles="1" noChangeArrowheads="1" noChangeShapeType="1" noTextEdit="1"/>
              </p:cNvSpPr>
              <p:nvPr>
                <p:ph type="body" idx="1"/>
              </p:nvPr>
            </p:nvSpPr>
            <p:spPr>
              <a:xfrm>
                <a:off x="444843" y="1048107"/>
                <a:ext cx="11318789" cy="5214551"/>
              </a:xfrm>
              <a:blipFill>
                <a:blip r:embed="rId3"/>
                <a:stretch>
                  <a:fillRect l="-561" t="-2195" r="-1010"/>
                </a:stretch>
              </a:blipFill>
            </p:spPr>
            <p:txBody>
              <a:bodyPr/>
              <a:lstStyle/>
              <a:p>
                <a:r>
                  <a:rPr lang="pt-BR">
                    <a:noFill/>
                  </a:rPr>
                  <a:t> </a:t>
                </a:r>
              </a:p>
            </p:txBody>
          </p:sp>
        </mc:Fallback>
      </mc:AlternateContent>
    </p:spTree>
    <p:extLst>
      <p:ext uri="{BB962C8B-B14F-4D97-AF65-F5344CB8AC3E}">
        <p14:creationId xmlns:p14="http://schemas.microsoft.com/office/powerpoint/2010/main" val="800663037"/>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Rectangle 2"/>
          <p:cNvSpPr>
            <a:spLocks noGrp="1" noChangeArrowheads="1"/>
          </p:cNvSpPr>
          <p:nvPr>
            <p:ph type="title"/>
          </p:nvPr>
        </p:nvSpPr>
        <p:spPr>
          <a:xfrm>
            <a:off x="246004" y="117475"/>
            <a:ext cx="11548063" cy="609600"/>
          </a:xfrm>
        </p:spPr>
        <p:txBody>
          <a:bodyPr/>
          <a:lstStyle/>
          <a:p>
            <a:r>
              <a:rPr lang="pt-BR" altLang="en-US" dirty="0">
                <a:effectLst>
                  <a:outerShdw dist="38100" sx="1000" sy="1000" algn="tl">
                    <a:srgbClr val="C0C0C0"/>
                  </a:outerShdw>
                </a:effectLst>
              </a:rPr>
              <a:t>Conceitos de relação, </a:t>
            </a:r>
            <a:r>
              <a:rPr lang="pt-BR" altLang="en-US" dirty="0" err="1">
                <a:effectLst>
                  <a:outerShdw dist="38100" sx="1000" sy="1000" algn="tl">
                    <a:srgbClr val="C0C0C0"/>
                  </a:outerShdw>
                </a:effectLst>
              </a:rPr>
              <a:t>tuplas</a:t>
            </a:r>
            <a:r>
              <a:rPr lang="pt-BR" altLang="en-US" dirty="0">
                <a:effectLst>
                  <a:outerShdw dist="38100" sx="1000" sy="1000" algn="tl">
                    <a:srgbClr val="C0C0C0"/>
                  </a:outerShdw>
                </a:effectLst>
              </a:rPr>
              <a:t> e atributos (cont.) </a:t>
            </a:r>
          </a:p>
        </p:txBody>
      </p:sp>
      <p:sp>
        <p:nvSpPr>
          <p:cNvPr id="2" name="Content Placeholder 1">
            <a:extLst>
              <a:ext uri="{FF2B5EF4-FFF2-40B4-BE49-F238E27FC236}">
                <a16:creationId xmlns:a16="http://schemas.microsoft.com/office/drawing/2014/main" id="{92C8B964-B09B-D845-BB0A-53083CF87D64}"/>
              </a:ext>
            </a:extLst>
          </p:cNvPr>
          <p:cNvSpPr>
            <a:spLocks noGrp="1"/>
          </p:cNvSpPr>
          <p:nvPr>
            <p:ph sz="half" idx="1"/>
          </p:nvPr>
        </p:nvSpPr>
        <p:spPr>
          <a:xfrm>
            <a:off x="246004" y="1333501"/>
            <a:ext cx="5005916" cy="5311752"/>
          </a:xfrm>
        </p:spPr>
        <p:txBody>
          <a:bodyPr/>
          <a:lstStyle/>
          <a:p>
            <a:pPr>
              <a:buFont typeface="Wingdings" pitchFamily="2" charset="2"/>
              <a:buChar char="§"/>
            </a:pPr>
            <a:r>
              <a:rPr lang="pt-BR" sz="2000" dirty="0"/>
              <a:t>Cada relação (tabela) possui um nome único no banco de dados.</a:t>
            </a:r>
          </a:p>
          <a:p>
            <a:pPr>
              <a:buFont typeface="Wingdings" pitchFamily="2" charset="2"/>
              <a:buChar char="§"/>
            </a:pPr>
            <a:endParaRPr lang="pt-BR" sz="2000" dirty="0"/>
          </a:p>
          <a:p>
            <a:pPr>
              <a:buFont typeface="Wingdings" pitchFamily="2" charset="2"/>
              <a:buChar char="§"/>
            </a:pPr>
            <a:r>
              <a:rPr lang="pt-BR" sz="2000" dirty="0"/>
              <a:t>Cada </a:t>
            </a:r>
            <a:r>
              <a:rPr lang="pt-BR" sz="2000" dirty="0" err="1"/>
              <a:t>tupla</a:t>
            </a:r>
            <a:r>
              <a:rPr lang="pt-BR" sz="2000" dirty="0"/>
              <a:t> (linha da tabela) relaciona atributos que representa uma entidade ou relacionamento do minimundo sendo modelado.</a:t>
            </a:r>
          </a:p>
          <a:p>
            <a:pPr marL="0" indent="0">
              <a:buNone/>
            </a:pPr>
            <a:endParaRPr lang="pt-BR" sz="2000" dirty="0"/>
          </a:p>
          <a:p>
            <a:pPr>
              <a:buFont typeface="Wingdings" pitchFamily="2" charset="2"/>
              <a:buChar char="§"/>
            </a:pPr>
            <a:r>
              <a:rPr lang="pt-BR" sz="2000" dirty="0"/>
              <a:t>Cada coluna especifica um atributo cujo domínio é composto por valores atômicos (indivisíveis). </a:t>
            </a:r>
          </a:p>
          <a:p>
            <a:pPr marL="0" indent="0">
              <a:buNone/>
            </a:pPr>
            <a:endParaRPr lang="pt-BR" sz="2000" dirty="0"/>
          </a:p>
          <a:p>
            <a:pPr>
              <a:buFont typeface="Wingdings" pitchFamily="2" charset="2"/>
              <a:buChar char="§"/>
            </a:pPr>
            <a:r>
              <a:rPr lang="pt-BR" sz="2000" dirty="0"/>
              <a:t>Ao lado, a relação </a:t>
            </a:r>
            <a:r>
              <a:rPr lang="pt-BR" sz="2000" i="1" dirty="0"/>
              <a:t>professor</a:t>
            </a:r>
            <a:r>
              <a:rPr lang="pt-BR" sz="2000" dirty="0"/>
              <a:t>, exemplificando o conceito no contexto de uma universidade.</a:t>
            </a:r>
          </a:p>
        </p:txBody>
      </p:sp>
      <p:sp>
        <p:nvSpPr>
          <p:cNvPr id="5123" name="Text Box 4"/>
          <p:cNvSpPr txBox="1">
            <a:spLocks noChangeArrowheads="1"/>
          </p:cNvSpPr>
          <p:nvPr/>
        </p:nvSpPr>
        <p:spPr bwMode="auto">
          <a:xfrm>
            <a:off x="10618409" y="1333500"/>
            <a:ext cx="145424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a:solidFill>
                  <a:schemeClr val="tx1"/>
                </a:solidFill>
                <a:latin typeface="Helvetica" panose="020B0604020202020204" pitchFamily="34" charset="0"/>
                <a:ea typeface="MS PGothic" panose="020B0600070205080204" pitchFamily="34" charset="-128"/>
              </a:defRPr>
            </a:lvl1pPr>
            <a:lvl2pPr marL="742950" indent="-285750" eaLnBrk="0" hangingPunct="0">
              <a:defRPr sz="1600">
                <a:solidFill>
                  <a:schemeClr val="tx1"/>
                </a:solidFill>
                <a:latin typeface="Helvetica" panose="020B0604020202020204" pitchFamily="34" charset="0"/>
                <a:ea typeface="MS PGothic" panose="020B0600070205080204" pitchFamily="34" charset="-128"/>
              </a:defRPr>
            </a:lvl2pPr>
            <a:lvl3pPr marL="1143000" indent="-228600" eaLnBrk="0" hangingPunct="0">
              <a:defRPr sz="1600">
                <a:solidFill>
                  <a:schemeClr val="tx1"/>
                </a:solidFill>
                <a:latin typeface="Helvetica" panose="020B0604020202020204" pitchFamily="34" charset="0"/>
                <a:ea typeface="MS PGothic" panose="020B0600070205080204" pitchFamily="34" charset="-128"/>
              </a:defRPr>
            </a:lvl3pPr>
            <a:lvl4pPr marL="1600200" indent="-228600" eaLnBrk="0" hangingPunct="0">
              <a:defRPr sz="1600">
                <a:solidFill>
                  <a:schemeClr val="tx1"/>
                </a:solidFill>
                <a:latin typeface="Helvetica" panose="020B0604020202020204" pitchFamily="34" charset="0"/>
                <a:ea typeface="MS PGothic" panose="020B0600070205080204" pitchFamily="34" charset="-128"/>
              </a:defRPr>
            </a:lvl4pPr>
            <a:lvl5pPr marL="2057400" indent="-228600" eaLnBrk="0" hangingPunct="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r>
              <a:rPr lang="pt-BR" altLang="en-US" sz="1800" dirty="0"/>
              <a:t>atributos</a:t>
            </a:r>
          </a:p>
          <a:p>
            <a:pPr algn="ctr"/>
            <a:r>
              <a:rPr lang="pt-BR" altLang="en-US" sz="1800" dirty="0"/>
              <a:t>(ou colunas)</a:t>
            </a:r>
            <a:endParaRPr lang="pt-BR" altLang="en-US" dirty="0"/>
          </a:p>
        </p:txBody>
      </p:sp>
      <p:sp>
        <p:nvSpPr>
          <p:cNvPr id="5124" name="Line 5"/>
          <p:cNvSpPr>
            <a:spLocks noChangeShapeType="1"/>
          </p:cNvSpPr>
          <p:nvPr/>
        </p:nvSpPr>
        <p:spPr bwMode="auto">
          <a:xfrm flipH="1">
            <a:off x="6914868" y="1565275"/>
            <a:ext cx="3927475" cy="35083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IN"/>
          </a:p>
        </p:txBody>
      </p:sp>
      <p:sp>
        <p:nvSpPr>
          <p:cNvPr id="5125" name="Line 6"/>
          <p:cNvSpPr>
            <a:spLocks noChangeShapeType="1"/>
          </p:cNvSpPr>
          <p:nvPr/>
        </p:nvSpPr>
        <p:spPr bwMode="auto">
          <a:xfrm flipH="1">
            <a:off x="8284882" y="1546225"/>
            <a:ext cx="2557461" cy="3698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IN"/>
          </a:p>
        </p:txBody>
      </p:sp>
      <p:sp>
        <p:nvSpPr>
          <p:cNvPr id="5126" name="Line 7"/>
          <p:cNvSpPr>
            <a:spLocks noChangeShapeType="1"/>
          </p:cNvSpPr>
          <p:nvPr/>
        </p:nvSpPr>
        <p:spPr bwMode="auto">
          <a:xfrm flipH="1">
            <a:off x="9496143" y="1565276"/>
            <a:ext cx="1320800" cy="36036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IN"/>
          </a:p>
        </p:txBody>
      </p:sp>
      <p:sp>
        <p:nvSpPr>
          <p:cNvPr id="5127" name="Text Box 8"/>
          <p:cNvSpPr txBox="1">
            <a:spLocks noChangeArrowheads="1"/>
          </p:cNvSpPr>
          <p:nvPr/>
        </p:nvSpPr>
        <p:spPr bwMode="auto">
          <a:xfrm>
            <a:off x="10576526" y="2522538"/>
            <a:ext cx="126188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a:solidFill>
                  <a:schemeClr val="tx1"/>
                </a:solidFill>
                <a:latin typeface="Helvetica" panose="020B0604020202020204" pitchFamily="34" charset="0"/>
                <a:ea typeface="MS PGothic" panose="020B0600070205080204" pitchFamily="34" charset="-128"/>
              </a:defRPr>
            </a:lvl1pPr>
            <a:lvl2pPr marL="742950" indent="-285750" eaLnBrk="0" hangingPunct="0">
              <a:defRPr sz="1600">
                <a:solidFill>
                  <a:schemeClr val="tx1"/>
                </a:solidFill>
                <a:latin typeface="Helvetica" panose="020B0604020202020204" pitchFamily="34" charset="0"/>
                <a:ea typeface="MS PGothic" panose="020B0600070205080204" pitchFamily="34" charset="-128"/>
              </a:defRPr>
            </a:lvl2pPr>
            <a:lvl3pPr marL="1143000" indent="-228600" eaLnBrk="0" hangingPunct="0">
              <a:defRPr sz="1600">
                <a:solidFill>
                  <a:schemeClr val="tx1"/>
                </a:solidFill>
                <a:latin typeface="Helvetica" panose="020B0604020202020204" pitchFamily="34" charset="0"/>
                <a:ea typeface="MS PGothic" panose="020B0600070205080204" pitchFamily="34" charset="-128"/>
              </a:defRPr>
            </a:lvl3pPr>
            <a:lvl4pPr marL="1600200" indent="-228600" eaLnBrk="0" hangingPunct="0">
              <a:defRPr sz="1600">
                <a:solidFill>
                  <a:schemeClr val="tx1"/>
                </a:solidFill>
                <a:latin typeface="Helvetica" panose="020B0604020202020204" pitchFamily="34" charset="0"/>
                <a:ea typeface="MS PGothic" panose="020B0600070205080204" pitchFamily="34" charset="-128"/>
              </a:defRPr>
            </a:lvl4pPr>
            <a:lvl5pPr marL="2057400" indent="-228600" eaLnBrk="0" hangingPunct="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r>
              <a:rPr lang="pt-BR" altLang="en-US" sz="1800" i="1" dirty="0" err="1"/>
              <a:t>tuplas</a:t>
            </a:r>
            <a:endParaRPr lang="pt-BR" altLang="en-US" sz="1800" i="1" dirty="0"/>
          </a:p>
          <a:p>
            <a:pPr algn="ctr"/>
            <a:r>
              <a:rPr lang="pt-BR" altLang="en-US" sz="1800" dirty="0"/>
              <a:t>(ou linhas)</a:t>
            </a:r>
            <a:endParaRPr lang="pt-BR" altLang="en-US" dirty="0"/>
          </a:p>
        </p:txBody>
      </p:sp>
      <p:sp>
        <p:nvSpPr>
          <p:cNvPr id="5128" name="Line 9"/>
          <p:cNvSpPr>
            <a:spLocks noChangeShapeType="1"/>
          </p:cNvSpPr>
          <p:nvPr/>
        </p:nvSpPr>
        <p:spPr bwMode="auto">
          <a:xfrm flipH="1" flipV="1">
            <a:off x="10418482" y="2487613"/>
            <a:ext cx="369887" cy="22066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IN"/>
          </a:p>
        </p:txBody>
      </p:sp>
      <p:sp>
        <p:nvSpPr>
          <p:cNvPr id="5129" name="Line 10"/>
          <p:cNvSpPr>
            <a:spLocks noChangeShapeType="1"/>
          </p:cNvSpPr>
          <p:nvPr/>
        </p:nvSpPr>
        <p:spPr bwMode="auto">
          <a:xfrm flipH="1">
            <a:off x="10405782" y="2706688"/>
            <a:ext cx="369887" cy="111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IN"/>
          </a:p>
        </p:txBody>
      </p:sp>
      <p:sp>
        <p:nvSpPr>
          <p:cNvPr id="5130" name="Line 11"/>
          <p:cNvSpPr>
            <a:spLocks noChangeShapeType="1"/>
          </p:cNvSpPr>
          <p:nvPr/>
        </p:nvSpPr>
        <p:spPr bwMode="auto">
          <a:xfrm flipH="1">
            <a:off x="10394669" y="2717800"/>
            <a:ext cx="392113" cy="31273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IN"/>
          </a:p>
        </p:txBody>
      </p:sp>
      <p:sp>
        <p:nvSpPr>
          <p:cNvPr id="5131" name="Line 12"/>
          <p:cNvSpPr>
            <a:spLocks noChangeShapeType="1"/>
          </p:cNvSpPr>
          <p:nvPr/>
        </p:nvSpPr>
        <p:spPr bwMode="auto">
          <a:xfrm flipH="1">
            <a:off x="10405781" y="2727326"/>
            <a:ext cx="381000" cy="5556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IN"/>
          </a:p>
        </p:txBody>
      </p:sp>
      <p:sp>
        <p:nvSpPr>
          <p:cNvPr id="5" name="TextBox 4">
            <a:extLst>
              <a:ext uri="{FF2B5EF4-FFF2-40B4-BE49-F238E27FC236}">
                <a16:creationId xmlns:a16="http://schemas.microsoft.com/office/drawing/2014/main" id="{A415A920-8281-1349-BFED-9F733F885024}"/>
              </a:ext>
            </a:extLst>
          </p:cNvPr>
          <p:cNvSpPr txBox="1"/>
          <p:nvPr/>
        </p:nvSpPr>
        <p:spPr>
          <a:xfrm>
            <a:off x="5422171" y="1546225"/>
            <a:ext cx="2082019" cy="400110"/>
          </a:xfrm>
          <a:prstGeom prst="rect">
            <a:avLst/>
          </a:prstGeom>
          <a:noFill/>
        </p:spPr>
        <p:txBody>
          <a:bodyPr wrap="square" rtlCol="0">
            <a:spAutoFit/>
          </a:bodyPr>
          <a:lstStyle/>
          <a:p>
            <a:r>
              <a:rPr lang="en-US" sz="2000" i="1" dirty="0">
                <a:effectLst>
                  <a:outerShdw dist="38100" sx="1000" sy="1000" algn="tl">
                    <a:srgbClr val="C0C0C0"/>
                  </a:outerShdw>
                </a:effectLst>
              </a:rPr>
              <a:t>professor</a:t>
            </a:r>
            <a:endParaRPr lang="pt-BR" sz="2000" i="1" dirty="0"/>
          </a:p>
        </p:txBody>
      </p:sp>
      <p:grpSp>
        <p:nvGrpSpPr>
          <p:cNvPr id="7" name="Group 6">
            <a:extLst>
              <a:ext uri="{FF2B5EF4-FFF2-40B4-BE49-F238E27FC236}">
                <a16:creationId xmlns:a16="http://schemas.microsoft.com/office/drawing/2014/main" id="{1C217509-0A26-D549-A362-C8981BB1BB34}"/>
              </a:ext>
            </a:extLst>
          </p:cNvPr>
          <p:cNvGrpSpPr/>
          <p:nvPr/>
        </p:nvGrpSpPr>
        <p:grpSpPr>
          <a:xfrm>
            <a:off x="5356737" y="1756896"/>
            <a:ext cx="5154612" cy="4428000"/>
            <a:chOff x="5356737" y="1756896"/>
            <a:chExt cx="5154612" cy="4428000"/>
          </a:xfrm>
        </p:grpSpPr>
        <p:pic>
          <p:nvPicPr>
            <p:cNvPr id="3" name="Graphic 2">
              <a:extLst>
                <a:ext uri="{FF2B5EF4-FFF2-40B4-BE49-F238E27FC236}">
                  <a16:creationId xmlns:a16="http://schemas.microsoft.com/office/drawing/2014/main" id="{30151978-E921-4884-8DCD-8A5563064E4B}"/>
                </a:ext>
              </a:extLst>
            </p:cNvPr>
            <p:cNvPicPr>
              <a:picLocks noChangeAspect="1"/>
            </p:cNvPicPr>
            <p:nvPr/>
          </p:nvPicPr>
          <p:blipFill rotWithShape="1">
            <a:blip r:embed="rId3">
              <a:extLst>
                <a:ext uri="{96DAC541-7B7A-43D3-8B79-37D633B846F1}">
                  <asvg:svgBlip xmlns:asvg="http://schemas.microsoft.com/office/drawing/2016/SVG/main" r:embed="rId4"/>
                </a:ext>
              </a:extLst>
            </a:blip>
            <a:srcRect b="13197"/>
            <a:stretch/>
          </p:blipFill>
          <p:spPr>
            <a:xfrm>
              <a:off x="5356737" y="1756896"/>
              <a:ext cx="5154612" cy="4428000"/>
            </a:xfrm>
            <a:prstGeom prst="rect">
              <a:avLst/>
            </a:prstGeom>
          </p:spPr>
        </p:pic>
        <p:sp>
          <p:nvSpPr>
            <p:cNvPr id="6" name="TextBox 5">
              <a:extLst>
                <a:ext uri="{FF2B5EF4-FFF2-40B4-BE49-F238E27FC236}">
                  <a16:creationId xmlns:a16="http://schemas.microsoft.com/office/drawing/2014/main" id="{24CD1ED9-D874-AE44-9892-D8140EEB8362}"/>
                </a:ext>
              </a:extLst>
            </p:cNvPr>
            <p:cNvSpPr txBox="1"/>
            <p:nvPr/>
          </p:nvSpPr>
          <p:spPr>
            <a:xfrm>
              <a:off x="5711781" y="1945421"/>
              <a:ext cx="494270" cy="338554"/>
            </a:xfrm>
            <a:prstGeom prst="rect">
              <a:avLst/>
            </a:prstGeom>
            <a:solidFill>
              <a:srgbClr val="CCEEFB"/>
            </a:solidFill>
          </p:spPr>
          <p:txBody>
            <a:bodyPr wrap="square" rtlCol="0">
              <a:spAutoFit/>
            </a:bodyPr>
            <a:lstStyle/>
            <a:p>
              <a:r>
                <a:rPr lang="pt-BR" i="1" dirty="0"/>
                <a:t>ID</a:t>
              </a:r>
            </a:p>
          </p:txBody>
        </p:sp>
        <p:sp>
          <p:nvSpPr>
            <p:cNvPr id="17" name="TextBox 16">
              <a:extLst>
                <a:ext uri="{FF2B5EF4-FFF2-40B4-BE49-F238E27FC236}">
                  <a16:creationId xmlns:a16="http://schemas.microsoft.com/office/drawing/2014/main" id="{790A2D12-74A1-A043-B826-C54A81230663}"/>
                </a:ext>
              </a:extLst>
            </p:cNvPr>
            <p:cNvSpPr txBox="1"/>
            <p:nvPr/>
          </p:nvSpPr>
          <p:spPr>
            <a:xfrm>
              <a:off x="6501419" y="1945421"/>
              <a:ext cx="826898" cy="338554"/>
            </a:xfrm>
            <a:prstGeom prst="rect">
              <a:avLst/>
            </a:prstGeom>
            <a:solidFill>
              <a:srgbClr val="CCEEFB"/>
            </a:solidFill>
          </p:spPr>
          <p:txBody>
            <a:bodyPr wrap="square" rtlCol="0">
              <a:spAutoFit/>
            </a:bodyPr>
            <a:lstStyle/>
            <a:p>
              <a:r>
                <a:rPr lang="pt-BR" i="1" dirty="0"/>
                <a:t>nome</a:t>
              </a:r>
            </a:p>
          </p:txBody>
        </p:sp>
        <p:sp>
          <p:nvSpPr>
            <p:cNvPr id="18" name="TextBox 17">
              <a:extLst>
                <a:ext uri="{FF2B5EF4-FFF2-40B4-BE49-F238E27FC236}">
                  <a16:creationId xmlns:a16="http://schemas.microsoft.com/office/drawing/2014/main" id="{72748BA9-E73F-9345-9EC9-93E745D32EAC}"/>
                </a:ext>
              </a:extLst>
            </p:cNvPr>
            <p:cNvSpPr txBox="1"/>
            <p:nvPr/>
          </p:nvSpPr>
          <p:spPr>
            <a:xfrm>
              <a:off x="7919752" y="1968931"/>
              <a:ext cx="1239652" cy="338554"/>
            </a:xfrm>
            <a:prstGeom prst="rect">
              <a:avLst/>
            </a:prstGeom>
            <a:solidFill>
              <a:srgbClr val="CCEEFB"/>
            </a:solidFill>
          </p:spPr>
          <p:txBody>
            <a:bodyPr wrap="square" rtlCol="0">
              <a:spAutoFit/>
            </a:bodyPr>
            <a:lstStyle/>
            <a:p>
              <a:r>
                <a:rPr lang="pt-BR" i="1"/>
                <a:t>nome_dept</a:t>
              </a:r>
            </a:p>
          </p:txBody>
        </p:sp>
        <p:sp>
          <p:nvSpPr>
            <p:cNvPr id="19" name="TextBox 18">
              <a:extLst>
                <a:ext uri="{FF2B5EF4-FFF2-40B4-BE49-F238E27FC236}">
                  <a16:creationId xmlns:a16="http://schemas.microsoft.com/office/drawing/2014/main" id="{CFB8AF7B-0C3F-5E4C-BABF-EFA31CE60BFF}"/>
                </a:ext>
              </a:extLst>
            </p:cNvPr>
            <p:cNvSpPr txBox="1"/>
            <p:nvPr/>
          </p:nvSpPr>
          <p:spPr>
            <a:xfrm>
              <a:off x="9485784" y="1945421"/>
              <a:ext cx="795886" cy="338554"/>
            </a:xfrm>
            <a:prstGeom prst="rect">
              <a:avLst/>
            </a:prstGeom>
            <a:solidFill>
              <a:srgbClr val="CCEEFB"/>
            </a:solidFill>
          </p:spPr>
          <p:txBody>
            <a:bodyPr wrap="square" rtlCol="0">
              <a:spAutoFit/>
            </a:bodyPr>
            <a:lstStyle/>
            <a:p>
              <a:r>
                <a:rPr lang="pt-BR" i="1" dirty="0"/>
                <a:t>salário</a:t>
              </a:r>
            </a:p>
          </p:txBody>
        </p:sp>
      </p:grpSp>
      <p:sp>
        <p:nvSpPr>
          <p:cNvPr id="21" name="Text Box 4">
            <a:extLst>
              <a:ext uri="{FF2B5EF4-FFF2-40B4-BE49-F238E27FC236}">
                <a16:creationId xmlns:a16="http://schemas.microsoft.com/office/drawing/2014/main" id="{7286DF5E-F4A9-7B4D-B997-45415DF3F8D6}"/>
              </a:ext>
            </a:extLst>
          </p:cNvPr>
          <p:cNvSpPr txBox="1">
            <a:spLocks noChangeArrowheads="1"/>
          </p:cNvSpPr>
          <p:nvPr/>
        </p:nvSpPr>
        <p:spPr bwMode="auto">
          <a:xfrm>
            <a:off x="5963325" y="831410"/>
            <a:ext cx="190308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a:solidFill>
                  <a:schemeClr val="tx1"/>
                </a:solidFill>
                <a:latin typeface="Helvetica" panose="020B0604020202020204" pitchFamily="34" charset="0"/>
                <a:ea typeface="MS PGothic" panose="020B0600070205080204" pitchFamily="34" charset="-128"/>
              </a:defRPr>
            </a:lvl1pPr>
            <a:lvl2pPr marL="742950" indent="-285750" eaLnBrk="0" hangingPunct="0">
              <a:defRPr sz="1600">
                <a:solidFill>
                  <a:schemeClr val="tx1"/>
                </a:solidFill>
                <a:latin typeface="Helvetica" panose="020B0604020202020204" pitchFamily="34" charset="0"/>
                <a:ea typeface="MS PGothic" panose="020B0600070205080204" pitchFamily="34" charset="-128"/>
              </a:defRPr>
            </a:lvl2pPr>
            <a:lvl3pPr marL="1143000" indent="-228600" eaLnBrk="0" hangingPunct="0">
              <a:defRPr sz="1600">
                <a:solidFill>
                  <a:schemeClr val="tx1"/>
                </a:solidFill>
                <a:latin typeface="Helvetica" panose="020B0604020202020204" pitchFamily="34" charset="0"/>
                <a:ea typeface="MS PGothic" panose="020B0600070205080204" pitchFamily="34" charset="-128"/>
              </a:defRPr>
            </a:lvl3pPr>
            <a:lvl4pPr marL="1600200" indent="-228600" eaLnBrk="0" hangingPunct="0">
              <a:defRPr sz="1600">
                <a:solidFill>
                  <a:schemeClr val="tx1"/>
                </a:solidFill>
                <a:latin typeface="Helvetica" panose="020B0604020202020204" pitchFamily="34" charset="0"/>
                <a:ea typeface="MS PGothic" panose="020B0600070205080204" pitchFamily="34" charset="-128"/>
              </a:defRPr>
            </a:lvl4pPr>
            <a:lvl5pPr marL="2057400" indent="-228600" eaLnBrk="0" hangingPunct="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r>
              <a:rPr lang="pt-BR" altLang="en-US" sz="1800" dirty="0"/>
              <a:t>nome da relação</a:t>
            </a:r>
          </a:p>
        </p:txBody>
      </p:sp>
      <p:cxnSp>
        <p:nvCxnSpPr>
          <p:cNvPr id="9" name="Straight Arrow Connector 8">
            <a:extLst>
              <a:ext uri="{FF2B5EF4-FFF2-40B4-BE49-F238E27FC236}">
                <a16:creationId xmlns:a16="http://schemas.microsoft.com/office/drawing/2014/main" id="{4432F04B-DA03-B644-BCEE-2CC430CD6F0A}"/>
              </a:ext>
            </a:extLst>
          </p:cNvPr>
          <p:cNvCxnSpPr>
            <a:cxnSpLocks/>
            <a:stCxn id="21" idx="2"/>
          </p:cNvCxnSpPr>
          <p:nvPr/>
        </p:nvCxnSpPr>
        <p:spPr bwMode="auto">
          <a:xfrm flipH="1">
            <a:off x="6032612" y="1200742"/>
            <a:ext cx="882256" cy="424507"/>
          </a:xfrm>
          <a:prstGeom prst="straightConnector1">
            <a:avLst/>
          </a:prstGeom>
          <a:ln w="12700">
            <a:headEnd type="none" w="med" len="med"/>
            <a:tailEnd type="triangle"/>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Rectangle 2"/>
          <p:cNvSpPr>
            <a:spLocks noGrp="1" noChangeArrowheads="1"/>
          </p:cNvSpPr>
          <p:nvPr>
            <p:ph type="title"/>
          </p:nvPr>
        </p:nvSpPr>
        <p:spPr>
          <a:xfrm>
            <a:off x="704335" y="117475"/>
            <a:ext cx="11089732" cy="609600"/>
          </a:xfrm>
        </p:spPr>
        <p:txBody>
          <a:bodyPr/>
          <a:lstStyle/>
          <a:p>
            <a:r>
              <a:rPr lang="pt-BR" altLang="en-US" dirty="0">
                <a:effectLst>
                  <a:outerShdw sx="1000" sy="1000" algn="tl">
                    <a:srgbClr val="C0C0C0"/>
                  </a:outerShdw>
                </a:effectLst>
              </a:rPr>
              <a:t>Conceitos de relação, </a:t>
            </a:r>
            <a:r>
              <a:rPr lang="pt-BR" altLang="en-US" dirty="0" err="1">
                <a:effectLst>
                  <a:outerShdw sx="1000" sy="1000" algn="tl">
                    <a:srgbClr val="C0C0C0"/>
                  </a:outerShdw>
                </a:effectLst>
              </a:rPr>
              <a:t>tuplas</a:t>
            </a:r>
            <a:r>
              <a:rPr lang="pt-BR" altLang="en-US" dirty="0">
                <a:effectLst>
                  <a:outerShdw sx="1000" sy="1000" algn="tl">
                    <a:srgbClr val="C0C0C0"/>
                  </a:outerShdw>
                </a:effectLst>
              </a:rPr>
              <a:t> e atributos (cont.)</a:t>
            </a:r>
          </a:p>
        </p:txBody>
      </p:sp>
      <p:sp>
        <p:nvSpPr>
          <p:cNvPr id="6146" name="Rectangle 3"/>
          <p:cNvSpPr>
            <a:spLocks noGrp="1" noChangeArrowheads="1"/>
          </p:cNvSpPr>
          <p:nvPr>
            <p:ph type="body" idx="1"/>
          </p:nvPr>
        </p:nvSpPr>
        <p:spPr>
          <a:xfrm>
            <a:off x="704334" y="1219199"/>
            <a:ext cx="10886303" cy="5008605"/>
          </a:xfrm>
        </p:spPr>
        <p:txBody>
          <a:bodyPr/>
          <a:lstStyle/>
          <a:p>
            <a:r>
              <a:rPr lang="pt-BR" altLang="en-US" sz="2000" dirty="0"/>
              <a:t>O conjunto de valores permitidos para cada atributo é chamado de </a:t>
            </a:r>
            <a:r>
              <a:rPr lang="pt-BR" altLang="en-US" sz="2000" u="sng" dirty="0"/>
              <a:t>domínio do atributo</a:t>
            </a:r>
            <a:r>
              <a:rPr lang="pt-BR" altLang="en-US" sz="2000" dirty="0"/>
              <a:t>. Por exemplo, o atributo idade pode ser definido como inteiro entre 0 e 150, enquanto o atributo</a:t>
            </a:r>
            <a:r>
              <a:rPr lang="pt-BR" altLang="en-BR" sz="2000" dirty="0"/>
              <a:t> telefone podem ter formato (</a:t>
            </a:r>
            <a:r>
              <a:rPr lang="pt-BR" altLang="en-BR" sz="2000" dirty="0" err="1"/>
              <a:t>dd</a:t>
            </a:r>
            <a:r>
              <a:rPr lang="pt-BR" altLang="en-BR" sz="2000" dirty="0"/>
              <a:t>)</a:t>
            </a:r>
            <a:r>
              <a:rPr lang="pt-BR" altLang="en-BR" sz="2000" dirty="0" err="1"/>
              <a:t>dddd-dddd</a:t>
            </a:r>
            <a:r>
              <a:rPr lang="pt-BR" altLang="en-BR" sz="2000" dirty="0"/>
              <a:t> onde cada </a:t>
            </a:r>
            <a:r>
              <a:rPr lang="pt-BR" altLang="en-BR" sz="2000" dirty="0" err="1"/>
              <a:t>d</a:t>
            </a:r>
            <a:r>
              <a:rPr lang="pt-BR" altLang="en-BR" sz="2000" dirty="0"/>
              <a:t> é um dígito decimal. </a:t>
            </a:r>
            <a:r>
              <a:rPr lang="pt-BR" altLang="en-US" sz="2000" dirty="0"/>
              <a:t>O domínio de um atributo é composto por valores atômicos, isto é, indivisíveis.</a:t>
            </a:r>
          </a:p>
          <a:p>
            <a:endParaRPr lang="pt-BR" altLang="en-US" sz="2000" dirty="0"/>
          </a:p>
          <a:p>
            <a:pPr marL="0" indent="0">
              <a:buNone/>
            </a:pPr>
            <a:endParaRPr lang="pt-BR" altLang="en-US" sz="2000" dirty="0"/>
          </a:p>
          <a:p>
            <a:r>
              <a:rPr lang="pt-BR" altLang="en-US" sz="2000" dirty="0">
                <a:solidFill>
                  <a:schemeClr val="tx2"/>
                </a:solidFill>
              </a:rPr>
              <a:t> </a:t>
            </a:r>
            <a:r>
              <a:rPr lang="pt-BR" altLang="en-US" sz="2000" dirty="0">
                <a:solidFill>
                  <a:srgbClr val="000000"/>
                </a:solidFill>
              </a:rPr>
              <a:t>O valor especial </a:t>
            </a:r>
            <a:r>
              <a:rPr lang="pt-BR" altLang="en-US" sz="2000" dirty="0" err="1">
                <a:solidFill>
                  <a:srgbClr val="000000"/>
                </a:solidFill>
              </a:rPr>
              <a:t>null</a:t>
            </a:r>
            <a:r>
              <a:rPr lang="pt-BR" altLang="en-US" sz="2000" dirty="0"/>
              <a:t>  é membro de todo domínio e indica que o atributo não é conhecido ou não é aplicável a entidade em questão.</a:t>
            </a:r>
          </a:p>
          <a:p>
            <a:pPr marL="0" indent="0">
              <a:buNone/>
            </a:pPr>
            <a:endParaRPr lang="pt-BR" altLang="en-US" sz="2000" dirty="0"/>
          </a:p>
          <a:p>
            <a:pPr marL="0" indent="0">
              <a:buNone/>
            </a:pPr>
            <a:endParaRPr lang="pt-BR" altLang="en-US" sz="2000" dirty="0"/>
          </a:p>
          <a:p>
            <a:r>
              <a:rPr lang="pt-BR" altLang="en-US" sz="2000" dirty="0"/>
              <a:t>O valor </a:t>
            </a:r>
            <a:r>
              <a:rPr lang="pt-BR" altLang="en-US" sz="2000" dirty="0" err="1"/>
              <a:t>null</a:t>
            </a:r>
            <a:r>
              <a:rPr lang="pt-BR" altLang="en-US" sz="2000" dirty="0"/>
              <a:t> deve ser evitado, pois causa complicações na definição de muitas operações com o banco de dados.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Rectangle 2"/>
          <p:cNvSpPr>
            <a:spLocks noGrp="1" noChangeArrowheads="1"/>
          </p:cNvSpPr>
          <p:nvPr>
            <p:ph type="title"/>
          </p:nvPr>
        </p:nvSpPr>
        <p:spPr>
          <a:xfrm>
            <a:off x="345989" y="117475"/>
            <a:ext cx="11640064" cy="609600"/>
          </a:xfrm>
        </p:spPr>
        <p:txBody>
          <a:bodyPr/>
          <a:lstStyle/>
          <a:p>
            <a:r>
              <a:rPr lang="pt-BR" altLang="en-US" dirty="0">
                <a:effectLst>
                  <a:outerShdw sx="1000" sy="1000" algn="tl">
                    <a:srgbClr val="C0C0C0"/>
                  </a:outerShdw>
                </a:effectLst>
              </a:rPr>
              <a:t>Conceitos de relação, </a:t>
            </a:r>
            <a:r>
              <a:rPr lang="pt-BR" altLang="en-US" dirty="0" err="1">
                <a:effectLst>
                  <a:outerShdw sx="1000" sy="1000" algn="tl">
                    <a:srgbClr val="C0C0C0"/>
                  </a:outerShdw>
                </a:effectLst>
              </a:rPr>
              <a:t>tuplas</a:t>
            </a:r>
            <a:r>
              <a:rPr lang="pt-BR" altLang="en-US" dirty="0">
                <a:effectLst>
                  <a:outerShdw sx="1000" sy="1000" algn="tl">
                    <a:srgbClr val="C0C0C0"/>
                  </a:outerShdw>
                </a:effectLst>
              </a:rPr>
              <a:t> e atributos (cont.)</a:t>
            </a:r>
            <a:endParaRPr lang="en-US" altLang="en-US" dirty="0">
              <a:effectLst>
                <a:outerShdw blurRad="38100" dist="38100" dir="2700000" algn="tl">
                  <a:srgbClr val="C0C0C0"/>
                </a:outerShdw>
              </a:effectLst>
            </a:endParaRPr>
          </a:p>
        </p:txBody>
      </p:sp>
      <p:sp>
        <p:nvSpPr>
          <p:cNvPr id="6146" name="Rectangle 3"/>
          <p:cNvSpPr>
            <a:spLocks noGrp="1" noChangeArrowheads="1"/>
          </p:cNvSpPr>
          <p:nvPr>
            <p:ph type="body" idx="1"/>
          </p:nvPr>
        </p:nvSpPr>
        <p:spPr>
          <a:xfrm>
            <a:off x="345989" y="1043822"/>
            <a:ext cx="11430000" cy="890081"/>
          </a:xfrm>
        </p:spPr>
        <p:txBody>
          <a:bodyPr/>
          <a:lstStyle/>
          <a:p>
            <a:r>
              <a:rPr lang="pt-BR" altLang="en-US" sz="2000" dirty="0"/>
              <a:t>No modelo relacional, a ordem das </a:t>
            </a:r>
            <a:r>
              <a:rPr lang="pt-BR" altLang="en-US" sz="2000" i="1" dirty="0" err="1"/>
              <a:t>tuplas</a:t>
            </a:r>
            <a:r>
              <a:rPr lang="pt-BR" altLang="en-US" sz="2000" dirty="0"/>
              <a:t> de uma relação é irrelevante. Por exemplo, as relações </a:t>
            </a:r>
            <a:r>
              <a:rPr lang="pt-BR" altLang="en-US" sz="2000" i="1" dirty="0"/>
              <a:t>professor</a:t>
            </a:r>
            <a:r>
              <a:rPr lang="pt-BR" altLang="en-US" sz="2000" dirty="0"/>
              <a:t> abaixo são consideradas iguais, pois possuem o mesmo conjunto de </a:t>
            </a:r>
            <a:r>
              <a:rPr lang="pt-BR" altLang="en-US" sz="2000" dirty="0" err="1"/>
              <a:t>tuplas</a:t>
            </a:r>
            <a:r>
              <a:rPr lang="pt-BR" altLang="en-US" sz="2000" dirty="0"/>
              <a:t>.</a:t>
            </a:r>
          </a:p>
          <a:p>
            <a:endParaRPr lang="pt-BR" altLang="en-US" sz="2000" dirty="0"/>
          </a:p>
          <a:p>
            <a:endParaRPr lang="pt-BR" altLang="en-US" sz="2000" dirty="0"/>
          </a:p>
        </p:txBody>
      </p:sp>
      <p:pic>
        <p:nvPicPr>
          <p:cNvPr id="6" name="Graphic 5">
            <a:extLst>
              <a:ext uri="{FF2B5EF4-FFF2-40B4-BE49-F238E27FC236}">
                <a16:creationId xmlns:a16="http://schemas.microsoft.com/office/drawing/2014/main" id="{422967B4-430E-442F-B611-B9DC46ED7A2B}"/>
              </a:ext>
            </a:extLst>
          </p:cNvPr>
          <p:cNvPicPr>
            <a:picLocks noChangeAspect="1"/>
          </p:cNvPicPr>
          <p:nvPr/>
        </p:nvPicPr>
        <p:blipFill rotWithShape="1">
          <a:blip r:embed="rId3">
            <a:extLst>
              <a:ext uri="{96DAC541-7B7A-43D3-8B79-37D633B846F1}">
                <asvg:svgBlip xmlns:asvg="http://schemas.microsoft.com/office/drawing/2016/SVG/main" r:embed="rId4"/>
              </a:ext>
            </a:extLst>
          </a:blip>
          <a:srcRect t="-1" b="12197"/>
          <a:stretch/>
        </p:blipFill>
        <p:spPr>
          <a:xfrm>
            <a:off x="303958" y="2267712"/>
            <a:ext cx="5614928" cy="4433906"/>
          </a:xfrm>
          <a:prstGeom prst="rect">
            <a:avLst/>
          </a:prstGeom>
        </p:spPr>
      </p:pic>
      <p:grpSp>
        <p:nvGrpSpPr>
          <p:cNvPr id="5" name="Group 4">
            <a:extLst>
              <a:ext uri="{FF2B5EF4-FFF2-40B4-BE49-F238E27FC236}">
                <a16:creationId xmlns:a16="http://schemas.microsoft.com/office/drawing/2014/main" id="{8DAB04C1-A9DC-D84B-BC76-BD06B248AF06}"/>
              </a:ext>
            </a:extLst>
          </p:cNvPr>
          <p:cNvGrpSpPr/>
          <p:nvPr/>
        </p:nvGrpSpPr>
        <p:grpSpPr>
          <a:xfrm>
            <a:off x="6328071" y="2267712"/>
            <a:ext cx="5361413" cy="4315650"/>
            <a:chOff x="5356737" y="1756896"/>
            <a:chExt cx="5154612" cy="4428000"/>
          </a:xfrm>
        </p:grpSpPr>
        <p:pic>
          <p:nvPicPr>
            <p:cNvPr id="7" name="Graphic 6">
              <a:extLst>
                <a:ext uri="{FF2B5EF4-FFF2-40B4-BE49-F238E27FC236}">
                  <a16:creationId xmlns:a16="http://schemas.microsoft.com/office/drawing/2014/main" id="{33EC4D98-1D36-F94B-A5F5-BB03F6EFEADD}"/>
                </a:ext>
              </a:extLst>
            </p:cNvPr>
            <p:cNvPicPr>
              <a:picLocks noChangeAspect="1"/>
            </p:cNvPicPr>
            <p:nvPr/>
          </p:nvPicPr>
          <p:blipFill rotWithShape="1">
            <a:blip r:embed="rId5">
              <a:extLst>
                <a:ext uri="{96DAC541-7B7A-43D3-8B79-37D633B846F1}">
                  <asvg:svgBlip xmlns:asvg="http://schemas.microsoft.com/office/drawing/2016/SVG/main" r:embed="rId6"/>
                </a:ext>
              </a:extLst>
            </a:blip>
            <a:srcRect b="13197"/>
            <a:stretch/>
          </p:blipFill>
          <p:spPr>
            <a:xfrm>
              <a:off x="5356737" y="1756896"/>
              <a:ext cx="5154612" cy="4428000"/>
            </a:xfrm>
            <a:prstGeom prst="rect">
              <a:avLst/>
            </a:prstGeom>
          </p:spPr>
        </p:pic>
        <p:sp>
          <p:nvSpPr>
            <p:cNvPr id="8" name="TextBox 7">
              <a:extLst>
                <a:ext uri="{FF2B5EF4-FFF2-40B4-BE49-F238E27FC236}">
                  <a16:creationId xmlns:a16="http://schemas.microsoft.com/office/drawing/2014/main" id="{F7119EA0-0185-794A-9547-A4BE35487BE0}"/>
                </a:ext>
              </a:extLst>
            </p:cNvPr>
            <p:cNvSpPr txBox="1"/>
            <p:nvPr/>
          </p:nvSpPr>
          <p:spPr>
            <a:xfrm>
              <a:off x="5711781" y="1945421"/>
              <a:ext cx="494270" cy="338554"/>
            </a:xfrm>
            <a:prstGeom prst="rect">
              <a:avLst/>
            </a:prstGeom>
            <a:solidFill>
              <a:srgbClr val="CCEEFB"/>
            </a:solidFill>
          </p:spPr>
          <p:txBody>
            <a:bodyPr wrap="square" rtlCol="0">
              <a:spAutoFit/>
            </a:bodyPr>
            <a:lstStyle/>
            <a:p>
              <a:r>
                <a:rPr lang="pt-BR" i="1" dirty="0"/>
                <a:t>ID</a:t>
              </a:r>
            </a:p>
          </p:txBody>
        </p:sp>
        <p:sp>
          <p:nvSpPr>
            <p:cNvPr id="9" name="TextBox 8">
              <a:extLst>
                <a:ext uri="{FF2B5EF4-FFF2-40B4-BE49-F238E27FC236}">
                  <a16:creationId xmlns:a16="http://schemas.microsoft.com/office/drawing/2014/main" id="{CBBED946-9530-F747-9B1F-01F7322D19A3}"/>
                </a:ext>
              </a:extLst>
            </p:cNvPr>
            <p:cNvSpPr txBox="1"/>
            <p:nvPr/>
          </p:nvSpPr>
          <p:spPr>
            <a:xfrm>
              <a:off x="6501419" y="1945421"/>
              <a:ext cx="826898" cy="338554"/>
            </a:xfrm>
            <a:prstGeom prst="rect">
              <a:avLst/>
            </a:prstGeom>
            <a:solidFill>
              <a:srgbClr val="CCEEFB"/>
            </a:solidFill>
          </p:spPr>
          <p:txBody>
            <a:bodyPr wrap="square" rtlCol="0">
              <a:spAutoFit/>
            </a:bodyPr>
            <a:lstStyle/>
            <a:p>
              <a:r>
                <a:rPr lang="pt-BR" i="1" dirty="0"/>
                <a:t>nome</a:t>
              </a:r>
            </a:p>
          </p:txBody>
        </p:sp>
        <p:sp>
          <p:nvSpPr>
            <p:cNvPr id="10" name="TextBox 9">
              <a:extLst>
                <a:ext uri="{FF2B5EF4-FFF2-40B4-BE49-F238E27FC236}">
                  <a16:creationId xmlns:a16="http://schemas.microsoft.com/office/drawing/2014/main" id="{3213848B-3138-AE43-ACAF-96A28CA81591}"/>
                </a:ext>
              </a:extLst>
            </p:cNvPr>
            <p:cNvSpPr txBox="1"/>
            <p:nvPr/>
          </p:nvSpPr>
          <p:spPr>
            <a:xfrm>
              <a:off x="7919752" y="1968931"/>
              <a:ext cx="1239652" cy="338554"/>
            </a:xfrm>
            <a:prstGeom prst="rect">
              <a:avLst/>
            </a:prstGeom>
            <a:solidFill>
              <a:srgbClr val="CCEEFB"/>
            </a:solidFill>
          </p:spPr>
          <p:txBody>
            <a:bodyPr wrap="square" rtlCol="0">
              <a:spAutoFit/>
            </a:bodyPr>
            <a:lstStyle/>
            <a:p>
              <a:r>
                <a:rPr lang="pt-BR" i="1" dirty="0" err="1"/>
                <a:t>nome_dept</a:t>
              </a:r>
              <a:endParaRPr lang="pt-BR" i="1" dirty="0"/>
            </a:p>
          </p:txBody>
        </p:sp>
        <p:sp>
          <p:nvSpPr>
            <p:cNvPr id="11" name="TextBox 10">
              <a:extLst>
                <a:ext uri="{FF2B5EF4-FFF2-40B4-BE49-F238E27FC236}">
                  <a16:creationId xmlns:a16="http://schemas.microsoft.com/office/drawing/2014/main" id="{09BEC38F-A08B-7146-84FF-2242E34AAF47}"/>
                </a:ext>
              </a:extLst>
            </p:cNvPr>
            <p:cNvSpPr txBox="1"/>
            <p:nvPr/>
          </p:nvSpPr>
          <p:spPr>
            <a:xfrm>
              <a:off x="9485784" y="1945421"/>
              <a:ext cx="795886" cy="338554"/>
            </a:xfrm>
            <a:prstGeom prst="rect">
              <a:avLst/>
            </a:prstGeom>
            <a:solidFill>
              <a:srgbClr val="CCEEFB"/>
            </a:solidFill>
          </p:spPr>
          <p:txBody>
            <a:bodyPr wrap="square" rtlCol="0">
              <a:spAutoFit/>
            </a:bodyPr>
            <a:lstStyle/>
            <a:p>
              <a:r>
                <a:rPr lang="pt-BR" i="1" dirty="0"/>
                <a:t>salário</a:t>
              </a:r>
            </a:p>
          </p:txBody>
        </p:sp>
      </p:grpSp>
      <p:sp>
        <p:nvSpPr>
          <p:cNvPr id="12" name="TextBox 11">
            <a:extLst>
              <a:ext uri="{FF2B5EF4-FFF2-40B4-BE49-F238E27FC236}">
                <a16:creationId xmlns:a16="http://schemas.microsoft.com/office/drawing/2014/main" id="{D1EE83AB-F4B8-D241-AE01-A02621D160F8}"/>
              </a:ext>
            </a:extLst>
          </p:cNvPr>
          <p:cNvSpPr txBox="1"/>
          <p:nvPr/>
        </p:nvSpPr>
        <p:spPr>
          <a:xfrm>
            <a:off x="969411" y="2449082"/>
            <a:ext cx="481729" cy="329964"/>
          </a:xfrm>
          <a:prstGeom prst="rect">
            <a:avLst/>
          </a:prstGeom>
          <a:solidFill>
            <a:srgbClr val="CCEEFB"/>
          </a:solidFill>
        </p:spPr>
        <p:txBody>
          <a:bodyPr wrap="square" rtlCol="0">
            <a:spAutoFit/>
          </a:bodyPr>
          <a:lstStyle/>
          <a:p>
            <a:r>
              <a:rPr lang="pt-BR" i="1" dirty="0"/>
              <a:t>ID</a:t>
            </a:r>
          </a:p>
        </p:txBody>
      </p:sp>
      <p:sp>
        <p:nvSpPr>
          <p:cNvPr id="13" name="TextBox 12">
            <a:extLst>
              <a:ext uri="{FF2B5EF4-FFF2-40B4-BE49-F238E27FC236}">
                <a16:creationId xmlns:a16="http://schemas.microsoft.com/office/drawing/2014/main" id="{E85499B9-D6C1-C740-B556-88D5466F3C97}"/>
              </a:ext>
            </a:extLst>
          </p:cNvPr>
          <p:cNvSpPr txBox="1"/>
          <p:nvPr/>
        </p:nvSpPr>
        <p:spPr>
          <a:xfrm>
            <a:off x="1797176" y="2429873"/>
            <a:ext cx="805917" cy="329964"/>
          </a:xfrm>
          <a:prstGeom prst="rect">
            <a:avLst/>
          </a:prstGeom>
          <a:solidFill>
            <a:srgbClr val="CCEEFB"/>
          </a:solidFill>
        </p:spPr>
        <p:txBody>
          <a:bodyPr wrap="square" rtlCol="0">
            <a:spAutoFit/>
          </a:bodyPr>
          <a:lstStyle/>
          <a:p>
            <a:r>
              <a:rPr lang="pt-BR" i="1" dirty="0"/>
              <a:t>nome</a:t>
            </a:r>
          </a:p>
        </p:txBody>
      </p:sp>
      <p:sp>
        <p:nvSpPr>
          <p:cNvPr id="14" name="TextBox 13">
            <a:extLst>
              <a:ext uri="{FF2B5EF4-FFF2-40B4-BE49-F238E27FC236}">
                <a16:creationId xmlns:a16="http://schemas.microsoft.com/office/drawing/2014/main" id="{E70801A7-C450-5A4E-8F88-431DE858BD45}"/>
              </a:ext>
            </a:extLst>
          </p:cNvPr>
          <p:cNvSpPr txBox="1"/>
          <p:nvPr/>
        </p:nvSpPr>
        <p:spPr>
          <a:xfrm>
            <a:off x="3226327" y="2447675"/>
            <a:ext cx="1208199" cy="329964"/>
          </a:xfrm>
          <a:prstGeom prst="rect">
            <a:avLst/>
          </a:prstGeom>
          <a:solidFill>
            <a:srgbClr val="CCEEFB"/>
          </a:solidFill>
        </p:spPr>
        <p:txBody>
          <a:bodyPr wrap="square" rtlCol="0">
            <a:spAutoFit/>
          </a:bodyPr>
          <a:lstStyle/>
          <a:p>
            <a:r>
              <a:rPr lang="pt-BR" i="1" dirty="0" err="1"/>
              <a:t>nome_dept</a:t>
            </a:r>
            <a:endParaRPr lang="pt-BR" i="1" dirty="0"/>
          </a:p>
        </p:txBody>
      </p:sp>
      <p:sp>
        <p:nvSpPr>
          <p:cNvPr id="15" name="TextBox 14">
            <a:extLst>
              <a:ext uri="{FF2B5EF4-FFF2-40B4-BE49-F238E27FC236}">
                <a16:creationId xmlns:a16="http://schemas.microsoft.com/office/drawing/2014/main" id="{B4B11E38-6872-F048-81D9-A3869B1B38CA}"/>
              </a:ext>
            </a:extLst>
          </p:cNvPr>
          <p:cNvSpPr txBox="1"/>
          <p:nvPr/>
        </p:nvSpPr>
        <p:spPr>
          <a:xfrm>
            <a:off x="4669306" y="2429873"/>
            <a:ext cx="827817" cy="329964"/>
          </a:xfrm>
          <a:prstGeom prst="rect">
            <a:avLst/>
          </a:prstGeom>
          <a:solidFill>
            <a:srgbClr val="CCEEFB"/>
          </a:solidFill>
        </p:spPr>
        <p:txBody>
          <a:bodyPr wrap="square" rtlCol="0">
            <a:spAutoFit/>
          </a:bodyPr>
          <a:lstStyle/>
          <a:p>
            <a:r>
              <a:rPr lang="pt-BR" i="1" dirty="0"/>
              <a:t>salário</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3762" name="Rectangle 2"/>
          <p:cNvSpPr>
            <a:spLocks noGrp="1" noChangeArrowheads="1"/>
          </p:cNvSpPr>
          <p:nvPr>
            <p:ph type="title"/>
          </p:nvPr>
        </p:nvSpPr>
        <p:spPr>
          <a:xfrm>
            <a:off x="938953" y="220345"/>
            <a:ext cx="10314093" cy="609600"/>
          </a:xfrm>
        </p:spPr>
        <p:txBody>
          <a:bodyPr vert="horz" wrap="square" lIns="90488" tIns="44450" rIns="90488" bIns="44450" numCol="1" anchor="ctr" anchorCtr="0" compatLnSpc="1">
            <a:prstTxWarp prst="textNoShape">
              <a:avLst/>
            </a:prstTxWarp>
          </a:bodyPr>
          <a:lstStyle/>
          <a:p>
            <a:pPr algn="l"/>
            <a:r>
              <a:rPr lang="pt-BR" altLang="en-US" sz="3600" dirty="0"/>
              <a:t>Tópicos gerais</a:t>
            </a:r>
          </a:p>
        </p:txBody>
      </p:sp>
      <p:sp>
        <p:nvSpPr>
          <p:cNvPr id="5122" name="Rectangle 3"/>
          <p:cNvSpPr>
            <a:spLocks noGrp="1" noChangeArrowheads="1"/>
          </p:cNvSpPr>
          <p:nvPr>
            <p:ph type="body" idx="1"/>
          </p:nvPr>
        </p:nvSpPr>
        <p:spPr>
          <a:xfrm>
            <a:off x="514350" y="1104899"/>
            <a:ext cx="10824209" cy="5433061"/>
          </a:xfrm>
        </p:spPr>
        <p:txBody>
          <a:bodyPr vert="horz" wrap="square" lIns="90488" tIns="44450" rIns="90488" bIns="44450" numCol="1" anchor="t" anchorCtr="0" compatLnSpc="1">
            <a:prstTxWarp prst="textNoShape">
              <a:avLst/>
            </a:prstTxWarp>
          </a:bodyPr>
          <a:lstStyle/>
          <a:p>
            <a:pPr marL="457200" indent="-457200">
              <a:buFont typeface="+mj-lt"/>
              <a:buAutoNum type="arabicPeriod"/>
            </a:pPr>
            <a:r>
              <a:rPr lang="pt-BR" altLang="en-US" sz="2400" dirty="0">
                <a:solidFill>
                  <a:schemeClr val="accent1">
                    <a:lumMod val="50000"/>
                  </a:schemeClr>
                </a:solidFill>
              </a:rPr>
              <a:t>Origem e os conceitos de relação, </a:t>
            </a:r>
            <a:r>
              <a:rPr lang="pt-BR" altLang="en-US" sz="2400" dirty="0" err="1">
                <a:solidFill>
                  <a:schemeClr val="accent1">
                    <a:lumMod val="50000"/>
                  </a:schemeClr>
                </a:solidFill>
              </a:rPr>
              <a:t>tuplas</a:t>
            </a:r>
            <a:r>
              <a:rPr lang="pt-BR" altLang="en-US" sz="2400" dirty="0">
                <a:solidFill>
                  <a:schemeClr val="accent1">
                    <a:lumMod val="50000"/>
                  </a:schemeClr>
                </a:solidFill>
              </a:rPr>
              <a:t> e atributos.</a:t>
            </a:r>
            <a:endParaRPr lang="pt-BR" altLang="en-US" sz="2400" dirty="0"/>
          </a:p>
          <a:p>
            <a:pPr marL="457200" indent="-457200">
              <a:buFont typeface="+mj-lt"/>
              <a:buAutoNum type="arabicPeriod"/>
            </a:pPr>
            <a:r>
              <a:rPr lang="pt-BR" altLang="en-US" sz="2400" dirty="0">
                <a:solidFill>
                  <a:schemeClr val="tx2"/>
                </a:solidFill>
              </a:rPr>
              <a:t>Esquema do Banco de Dados.</a:t>
            </a:r>
            <a:endParaRPr lang="pt-BR" altLang="en-US" sz="2400" dirty="0">
              <a:solidFill>
                <a:schemeClr val="accent1">
                  <a:lumMod val="50000"/>
                </a:schemeClr>
              </a:solidFill>
            </a:endParaRPr>
          </a:p>
          <a:p>
            <a:pPr marL="457200" indent="-457200">
              <a:buFont typeface="+mj-lt"/>
              <a:buAutoNum type="arabicPeriod"/>
            </a:pPr>
            <a:r>
              <a:rPr lang="pt-BR" altLang="en-US" sz="2400" dirty="0">
                <a:solidFill>
                  <a:schemeClr val="accent1">
                    <a:lumMod val="50000"/>
                  </a:schemeClr>
                </a:solidFill>
              </a:rPr>
              <a:t>Restrições de integridade: chaves e integridade referencial.</a:t>
            </a:r>
          </a:p>
          <a:p>
            <a:pPr marL="457200" indent="-457200">
              <a:buFont typeface="+mj-lt"/>
              <a:buAutoNum type="arabicPeriod"/>
            </a:pPr>
            <a:r>
              <a:rPr lang="pt-BR" altLang="en-US" sz="2400" dirty="0">
                <a:solidFill>
                  <a:schemeClr val="accent1">
                    <a:lumMod val="50000"/>
                  </a:schemeClr>
                </a:solidFill>
              </a:rPr>
              <a:t>Diagramas de Esquema de Banco de Dados.</a:t>
            </a:r>
          </a:p>
          <a:p>
            <a:pPr marL="457200" indent="-457200">
              <a:buFont typeface="+mj-lt"/>
              <a:buAutoNum type="arabicPeriod"/>
            </a:pPr>
            <a:r>
              <a:rPr lang="pt-BR" altLang="en-US" sz="2400" dirty="0">
                <a:solidFill>
                  <a:schemeClr val="accent1">
                    <a:lumMod val="50000"/>
                  </a:schemeClr>
                </a:solidFill>
              </a:rPr>
              <a:t>Design de Banco de Dados relacional usando diagrama Entidade-Relacionamento.</a:t>
            </a:r>
          </a:p>
          <a:p>
            <a:pPr marL="457200" indent="-457200">
              <a:buFont typeface="+mj-lt"/>
              <a:buAutoNum type="arabicPeriod"/>
            </a:pPr>
            <a:endParaRPr lang="pt-BR" altLang="en-US" sz="2400" dirty="0">
              <a:solidFill>
                <a:schemeClr val="accent1">
                  <a:lumMod val="50000"/>
                </a:schemeClr>
              </a:solidFill>
            </a:endParaRPr>
          </a:p>
        </p:txBody>
      </p:sp>
    </p:spTree>
    <p:extLst>
      <p:ext uri="{BB962C8B-B14F-4D97-AF65-F5344CB8AC3E}">
        <p14:creationId xmlns:p14="http://schemas.microsoft.com/office/powerpoint/2010/main" val="966180775"/>
      </p:ext>
    </p:extLst>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3762" name="Rectangle 2"/>
          <p:cNvSpPr>
            <a:spLocks noGrp="1" noChangeArrowheads="1"/>
          </p:cNvSpPr>
          <p:nvPr>
            <p:ph type="title"/>
          </p:nvPr>
        </p:nvSpPr>
        <p:spPr>
          <a:xfrm>
            <a:off x="513568" y="315187"/>
            <a:ext cx="11280499" cy="609600"/>
          </a:xfrm>
        </p:spPr>
        <p:txBody>
          <a:bodyPr vert="horz" wrap="square" lIns="90488" tIns="44450" rIns="90488" bIns="44450" numCol="1" anchor="ctr" anchorCtr="0" compatLnSpc="1">
            <a:prstTxWarp prst="textNoShape">
              <a:avLst/>
            </a:prstTxWarp>
          </a:bodyPr>
          <a:lstStyle/>
          <a:p>
            <a:r>
              <a:rPr lang="pt-BR" dirty="0"/>
              <a:t>Instância e esquema de relação </a:t>
            </a:r>
            <a:endParaRPr lang="pt-BR" altLang="en-US" dirty="0"/>
          </a:p>
        </p:txBody>
      </p:sp>
      <p:sp>
        <p:nvSpPr>
          <p:cNvPr id="5122" name="Rectangle 3"/>
          <p:cNvSpPr>
            <a:spLocks noGrp="1" noChangeArrowheads="1"/>
          </p:cNvSpPr>
          <p:nvPr>
            <p:ph type="body" idx="1"/>
          </p:nvPr>
        </p:nvSpPr>
        <p:spPr>
          <a:xfrm>
            <a:off x="304800" y="1246550"/>
            <a:ext cx="6412002" cy="5296263"/>
          </a:xfrm>
        </p:spPr>
        <p:txBody>
          <a:bodyPr vert="horz" wrap="square" lIns="90488" tIns="44450" rIns="90488" bIns="44450" numCol="1" anchor="t" anchorCtr="0" compatLnSpc="1">
            <a:prstTxWarp prst="textNoShape">
              <a:avLst/>
            </a:prstTxWarp>
          </a:bodyPr>
          <a:lstStyle/>
          <a:p>
            <a:r>
              <a:rPr lang="pt-BR" altLang="en-US" sz="2000" dirty="0">
                <a:ea typeface="ＭＳ Ｐゴシック" panose="020B0600070205080204" pitchFamily="34" charset="-128"/>
              </a:rPr>
              <a:t>O esquema da relação consiste em sua descrição lógica, isto é, a sequência de atributos e seus respectivos domínios: </a:t>
            </a:r>
            <a:r>
              <a:rPr lang="pt-BR" altLang="en-US" sz="2000" i="1" dirty="0" err="1">
                <a:ea typeface="ＭＳ Ｐゴシック" panose="020B0600070205080204" pitchFamily="34" charset="-128"/>
              </a:rPr>
              <a:t>R</a:t>
            </a:r>
            <a:r>
              <a:rPr lang="pt-BR" altLang="en-US" sz="2000" dirty="0">
                <a:ea typeface="ＭＳ Ｐゴシック" panose="020B0600070205080204" pitchFamily="34" charset="-128"/>
              </a:rPr>
              <a:t> = (</a:t>
            </a:r>
            <a:r>
              <a:rPr lang="pt-BR" altLang="en-US" sz="2000" i="1" dirty="0">
                <a:ea typeface="ＭＳ Ｐゴシック" panose="020B0600070205080204" pitchFamily="34" charset="-128"/>
              </a:rPr>
              <a:t>A</a:t>
            </a:r>
            <a:r>
              <a:rPr lang="pt-BR" altLang="en-US" sz="2000" baseline="-25000" dirty="0">
                <a:ea typeface="ＭＳ Ｐゴシック" panose="020B0600070205080204" pitchFamily="34" charset="-128"/>
              </a:rPr>
              <a:t>1</a:t>
            </a:r>
            <a:r>
              <a:rPr lang="pt-BR" altLang="en-US" sz="2000" dirty="0">
                <a:ea typeface="ＭＳ Ｐゴシック" panose="020B0600070205080204" pitchFamily="34" charset="-128"/>
              </a:rPr>
              <a:t>, </a:t>
            </a:r>
            <a:r>
              <a:rPr lang="pt-BR" altLang="en-US" sz="2000" i="1" dirty="0">
                <a:ea typeface="ＭＳ Ｐゴシック" panose="020B0600070205080204" pitchFamily="34" charset="-128"/>
              </a:rPr>
              <a:t>A</a:t>
            </a:r>
            <a:r>
              <a:rPr lang="pt-BR" altLang="en-US" sz="2000" baseline="-25000" dirty="0">
                <a:ea typeface="ＭＳ Ｐゴシック" panose="020B0600070205080204" pitchFamily="34" charset="-128"/>
              </a:rPr>
              <a:t>2</a:t>
            </a:r>
            <a:r>
              <a:rPr lang="pt-BR" altLang="en-US" sz="2000" dirty="0">
                <a:ea typeface="ＭＳ Ｐゴシック" panose="020B0600070205080204" pitchFamily="34" charset="-128"/>
              </a:rPr>
              <a:t>, …, </a:t>
            </a:r>
            <a:r>
              <a:rPr lang="pt-BR" altLang="en-US" sz="2000" i="1" dirty="0" err="1">
                <a:ea typeface="ＭＳ Ｐゴシック" panose="020B0600070205080204" pitchFamily="34" charset="-128"/>
              </a:rPr>
              <a:t>A</a:t>
            </a:r>
            <a:r>
              <a:rPr lang="pt-BR" altLang="en-US" sz="2000" i="1" baseline="-25000" dirty="0" err="1">
                <a:ea typeface="ＭＳ Ｐゴシック" panose="020B0600070205080204" pitchFamily="34" charset="-128"/>
              </a:rPr>
              <a:t>n</a:t>
            </a:r>
            <a:r>
              <a:rPr lang="pt-BR" altLang="en-US" sz="2000" dirty="0">
                <a:ea typeface="ＭＳ Ｐゴシック" panose="020B0600070205080204" pitchFamily="34" charset="-128"/>
              </a:rPr>
              <a:t> ) .</a:t>
            </a:r>
            <a:r>
              <a:rPr lang="pt-BR" altLang="en-US" sz="2000" i="1" dirty="0">
                <a:ea typeface="ＭＳ Ｐゴシック" panose="020B0600070205080204" pitchFamily="34" charset="-128"/>
              </a:rPr>
              <a:t> </a:t>
            </a:r>
            <a:r>
              <a:rPr lang="pt-BR" altLang="en-US" sz="2000" dirty="0">
                <a:ea typeface="ＭＳ Ｐゴシック" panose="020B0600070205080204" pitchFamily="34" charset="-128"/>
              </a:rPr>
              <a:t>Por exemplo, a relação professor tem o seguinte esquema: </a:t>
            </a:r>
            <a:r>
              <a:rPr lang="pt-BR" altLang="en-US" sz="2000" i="1" dirty="0">
                <a:ea typeface="ＭＳ Ｐゴシック" panose="020B0600070205080204" pitchFamily="34" charset="-128"/>
              </a:rPr>
              <a:t> </a:t>
            </a:r>
          </a:p>
          <a:p>
            <a:pPr marL="0" indent="0" algn="ctr">
              <a:buNone/>
            </a:pPr>
            <a:r>
              <a:rPr lang="pt-BR" altLang="en-US" sz="2000" i="1" dirty="0">
                <a:ea typeface="ＭＳ Ｐゴシック" panose="020B0600070205080204" pitchFamily="34" charset="-128"/>
              </a:rPr>
              <a:t>professor </a:t>
            </a:r>
            <a:r>
              <a:rPr lang="pt-BR" altLang="en-US" sz="2000" dirty="0">
                <a:ea typeface="ＭＳ Ｐゴシック" panose="020B0600070205080204" pitchFamily="34" charset="-128"/>
              </a:rPr>
              <a:t> = (</a:t>
            </a:r>
            <a:r>
              <a:rPr lang="pt-BR" altLang="en-US" sz="2000" i="1" u="sng" dirty="0">
                <a:ea typeface="ＭＳ Ｐゴシック" panose="020B0600070205080204" pitchFamily="34" charset="-128"/>
              </a:rPr>
              <a:t>ID</a:t>
            </a:r>
            <a:r>
              <a:rPr lang="pt-BR" altLang="en-US" sz="2000" i="1" dirty="0">
                <a:ea typeface="ＭＳ Ｐゴシック" panose="020B0600070205080204" pitchFamily="34" charset="-128"/>
              </a:rPr>
              <a:t>,  nome, </a:t>
            </a:r>
            <a:r>
              <a:rPr lang="pt-BR" altLang="en-US" sz="2000" i="1" dirty="0" err="1">
                <a:ea typeface="ＭＳ Ｐゴシック" panose="020B0600070205080204" pitchFamily="34" charset="-128"/>
              </a:rPr>
              <a:t>nome_dept</a:t>
            </a:r>
            <a:r>
              <a:rPr lang="pt-BR" altLang="en-US" sz="2000" i="1" dirty="0">
                <a:ea typeface="ＭＳ Ｐゴシック" panose="020B0600070205080204" pitchFamily="34" charset="-128"/>
              </a:rPr>
              <a:t>, salário)</a:t>
            </a:r>
          </a:p>
          <a:p>
            <a:pPr marL="0" indent="0">
              <a:buNone/>
            </a:pPr>
            <a:endParaRPr lang="pt-BR" altLang="en-US" sz="2000" dirty="0"/>
          </a:p>
          <a:p>
            <a:pPr>
              <a:lnSpc>
                <a:spcPct val="120000"/>
              </a:lnSpc>
            </a:pPr>
            <a:r>
              <a:rPr lang="pt-BR" altLang="en-US" sz="2000" dirty="0"/>
              <a:t>Uma instância de uma relação </a:t>
            </a:r>
            <a:r>
              <a:rPr lang="pt-BR" altLang="en-US" sz="2000" i="1" dirty="0" err="1"/>
              <a:t>R</a:t>
            </a:r>
            <a:r>
              <a:rPr lang="pt-BR" altLang="en-US" sz="2000" i="1" dirty="0"/>
              <a:t> </a:t>
            </a:r>
            <a:r>
              <a:rPr lang="pt-BR" altLang="en-US" sz="2000" dirty="0"/>
              <a:t>consiste no conjunto de </a:t>
            </a:r>
            <a:r>
              <a:rPr lang="pt-BR" altLang="en-US" sz="2000" dirty="0" err="1"/>
              <a:t>tuplas</a:t>
            </a:r>
            <a:r>
              <a:rPr lang="pt-BR" altLang="en-US" sz="2000" dirty="0"/>
              <a:t> </a:t>
            </a:r>
            <a:r>
              <a:rPr lang="pt-BR" altLang="en-US" sz="2000" i="1" dirty="0" err="1"/>
              <a:t>r</a:t>
            </a:r>
            <a:r>
              <a:rPr lang="pt-BR" altLang="en-US" sz="2000" i="1" dirty="0"/>
              <a:t> </a:t>
            </a:r>
            <a:r>
              <a:rPr lang="pt-BR" altLang="en-US" sz="2000" dirty="0"/>
              <a:t>(</a:t>
            </a:r>
            <a:r>
              <a:rPr lang="pt-BR" altLang="en-US" sz="2000" i="1" dirty="0" err="1"/>
              <a:t>R</a:t>
            </a:r>
            <a:r>
              <a:rPr lang="pt-BR" altLang="en-US" sz="2000" dirty="0"/>
              <a:t>) correntemente armazenadas na tabela.  Uma </a:t>
            </a:r>
            <a:r>
              <a:rPr lang="pt-BR" altLang="en-US" sz="2000" dirty="0" err="1"/>
              <a:t>tupla</a:t>
            </a:r>
            <a:r>
              <a:rPr lang="pt-BR" altLang="en-US" sz="2000" dirty="0"/>
              <a:t> específica de </a:t>
            </a:r>
            <a:r>
              <a:rPr lang="pt-BR" altLang="en-US" sz="2000" i="1" dirty="0" err="1"/>
              <a:t>r</a:t>
            </a:r>
            <a:r>
              <a:rPr lang="pt-BR" altLang="en-US" sz="2000" i="1" dirty="0"/>
              <a:t>(</a:t>
            </a:r>
            <a:r>
              <a:rPr lang="pt-BR" altLang="en-US" sz="2000" i="1" dirty="0" err="1"/>
              <a:t>R</a:t>
            </a:r>
            <a:r>
              <a:rPr lang="pt-BR" altLang="en-US" sz="2000" i="1" dirty="0"/>
              <a:t>)</a:t>
            </a:r>
            <a:r>
              <a:rPr lang="pt-BR" altLang="en-US" sz="2000" dirty="0"/>
              <a:t> pode ser referida por </a:t>
            </a:r>
            <a:r>
              <a:rPr lang="pt-BR" altLang="en-US" sz="2000" i="1" dirty="0" err="1"/>
              <a:t>t</a:t>
            </a:r>
            <a:r>
              <a:rPr lang="pt-BR" altLang="en-US" sz="2000" i="1" baseline="-25000" dirty="0" err="1"/>
              <a:t>n</a:t>
            </a:r>
            <a:r>
              <a:rPr lang="pt-BR" altLang="en-US" sz="2000" dirty="0"/>
              <a:t>. Por exemplo, na tabela professor, a </a:t>
            </a:r>
            <a:r>
              <a:rPr lang="pt-BR" altLang="en-US" sz="2000" dirty="0" err="1"/>
              <a:t>tupla</a:t>
            </a:r>
            <a:r>
              <a:rPr lang="pt-BR" altLang="en-US" sz="2000" dirty="0"/>
              <a:t> </a:t>
            </a:r>
            <a:r>
              <a:rPr lang="pt-BR" altLang="en-US" sz="2000" i="1" dirty="0"/>
              <a:t>t</a:t>
            </a:r>
            <a:r>
              <a:rPr lang="pt-BR" altLang="en-US" sz="2000" i="1" baseline="-25000" dirty="0"/>
              <a:t>8</a:t>
            </a:r>
            <a:r>
              <a:rPr lang="pt-BR" altLang="en-US" sz="2000" dirty="0"/>
              <a:t> corresponde ao professor </a:t>
            </a:r>
            <a:r>
              <a:rPr lang="pt-BR" altLang="en-US" sz="2000" dirty="0" err="1"/>
              <a:t>Califiere</a:t>
            </a:r>
            <a:r>
              <a:rPr lang="pt-BR" altLang="en-US" sz="2000" dirty="0"/>
              <a:t>.</a:t>
            </a:r>
          </a:p>
          <a:p>
            <a:pPr>
              <a:lnSpc>
                <a:spcPct val="120000"/>
              </a:lnSpc>
            </a:pPr>
            <a:endParaRPr lang="pt-BR" altLang="en-US" sz="2000" dirty="0"/>
          </a:p>
        </p:txBody>
      </p:sp>
      <p:grpSp>
        <p:nvGrpSpPr>
          <p:cNvPr id="11" name="Group 10">
            <a:extLst>
              <a:ext uri="{FF2B5EF4-FFF2-40B4-BE49-F238E27FC236}">
                <a16:creationId xmlns:a16="http://schemas.microsoft.com/office/drawing/2014/main" id="{79B3A26B-B798-CE4B-B8B8-29CA6CE99526}"/>
              </a:ext>
            </a:extLst>
          </p:cNvPr>
          <p:cNvGrpSpPr/>
          <p:nvPr/>
        </p:nvGrpSpPr>
        <p:grpSpPr>
          <a:xfrm>
            <a:off x="6824332" y="1451170"/>
            <a:ext cx="5154612" cy="4428000"/>
            <a:chOff x="5356737" y="1756896"/>
            <a:chExt cx="5154612" cy="4428000"/>
          </a:xfrm>
        </p:grpSpPr>
        <p:pic>
          <p:nvPicPr>
            <p:cNvPr id="12" name="Graphic 11">
              <a:extLst>
                <a:ext uri="{FF2B5EF4-FFF2-40B4-BE49-F238E27FC236}">
                  <a16:creationId xmlns:a16="http://schemas.microsoft.com/office/drawing/2014/main" id="{C44D5B91-3BC6-7445-86DA-07F0EC1AF9E6}"/>
                </a:ext>
              </a:extLst>
            </p:cNvPr>
            <p:cNvPicPr>
              <a:picLocks noChangeAspect="1"/>
            </p:cNvPicPr>
            <p:nvPr/>
          </p:nvPicPr>
          <p:blipFill rotWithShape="1">
            <a:blip r:embed="rId3">
              <a:extLst>
                <a:ext uri="{96DAC541-7B7A-43D3-8B79-37D633B846F1}">
                  <asvg:svgBlip xmlns:asvg="http://schemas.microsoft.com/office/drawing/2016/SVG/main" r:embed="rId4"/>
                </a:ext>
              </a:extLst>
            </a:blip>
            <a:srcRect b="13197"/>
            <a:stretch/>
          </p:blipFill>
          <p:spPr>
            <a:xfrm>
              <a:off x="5356737" y="1756896"/>
              <a:ext cx="5154612" cy="4428000"/>
            </a:xfrm>
            <a:prstGeom prst="rect">
              <a:avLst/>
            </a:prstGeom>
          </p:spPr>
        </p:pic>
        <p:sp>
          <p:nvSpPr>
            <p:cNvPr id="13" name="TextBox 12">
              <a:extLst>
                <a:ext uri="{FF2B5EF4-FFF2-40B4-BE49-F238E27FC236}">
                  <a16:creationId xmlns:a16="http://schemas.microsoft.com/office/drawing/2014/main" id="{9DA1A908-98D5-C34A-A2C3-3B7C50E6449A}"/>
                </a:ext>
              </a:extLst>
            </p:cNvPr>
            <p:cNvSpPr txBox="1"/>
            <p:nvPr/>
          </p:nvSpPr>
          <p:spPr>
            <a:xfrm>
              <a:off x="5711781" y="1945421"/>
              <a:ext cx="494270" cy="338554"/>
            </a:xfrm>
            <a:prstGeom prst="rect">
              <a:avLst/>
            </a:prstGeom>
            <a:solidFill>
              <a:srgbClr val="CCEEFB"/>
            </a:solidFill>
          </p:spPr>
          <p:txBody>
            <a:bodyPr wrap="square" rtlCol="0">
              <a:spAutoFit/>
            </a:bodyPr>
            <a:lstStyle/>
            <a:p>
              <a:r>
                <a:rPr lang="pt-BR" i="1" dirty="0"/>
                <a:t>ID</a:t>
              </a:r>
            </a:p>
          </p:txBody>
        </p:sp>
        <p:sp>
          <p:nvSpPr>
            <p:cNvPr id="14" name="TextBox 13">
              <a:extLst>
                <a:ext uri="{FF2B5EF4-FFF2-40B4-BE49-F238E27FC236}">
                  <a16:creationId xmlns:a16="http://schemas.microsoft.com/office/drawing/2014/main" id="{BA2D95D2-A674-0F49-909C-4A95E7D55712}"/>
                </a:ext>
              </a:extLst>
            </p:cNvPr>
            <p:cNvSpPr txBox="1"/>
            <p:nvPr/>
          </p:nvSpPr>
          <p:spPr>
            <a:xfrm>
              <a:off x="6501419" y="1945421"/>
              <a:ext cx="826898" cy="338554"/>
            </a:xfrm>
            <a:prstGeom prst="rect">
              <a:avLst/>
            </a:prstGeom>
            <a:solidFill>
              <a:srgbClr val="CCEEFB"/>
            </a:solidFill>
          </p:spPr>
          <p:txBody>
            <a:bodyPr wrap="square" rtlCol="0">
              <a:spAutoFit/>
            </a:bodyPr>
            <a:lstStyle/>
            <a:p>
              <a:r>
                <a:rPr lang="pt-BR" i="1" dirty="0"/>
                <a:t>nome</a:t>
              </a:r>
            </a:p>
          </p:txBody>
        </p:sp>
        <p:sp>
          <p:nvSpPr>
            <p:cNvPr id="15" name="TextBox 14">
              <a:extLst>
                <a:ext uri="{FF2B5EF4-FFF2-40B4-BE49-F238E27FC236}">
                  <a16:creationId xmlns:a16="http://schemas.microsoft.com/office/drawing/2014/main" id="{252A547A-37D0-5D4B-966B-9E7C8FDECA4E}"/>
                </a:ext>
              </a:extLst>
            </p:cNvPr>
            <p:cNvSpPr txBox="1"/>
            <p:nvPr/>
          </p:nvSpPr>
          <p:spPr>
            <a:xfrm>
              <a:off x="7919752" y="1968931"/>
              <a:ext cx="1239652" cy="338554"/>
            </a:xfrm>
            <a:prstGeom prst="rect">
              <a:avLst/>
            </a:prstGeom>
            <a:solidFill>
              <a:srgbClr val="CCEEFB"/>
            </a:solidFill>
          </p:spPr>
          <p:txBody>
            <a:bodyPr wrap="square" rtlCol="0">
              <a:spAutoFit/>
            </a:bodyPr>
            <a:lstStyle/>
            <a:p>
              <a:r>
                <a:rPr lang="pt-BR" i="1"/>
                <a:t>nome_dept</a:t>
              </a:r>
            </a:p>
          </p:txBody>
        </p:sp>
        <p:sp>
          <p:nvSpPr>
            <p:cNvPr id="16" name="TextBox 15">
              <a:extLst>
                <a:ext uri="{FF2B5EF4-FFF2-40B4-BE49-F238E27FC236}">
                  <a16:creationId xmlns:a16="http://schemas.microsoft.com/office/drawing/2014/main" id="{702BE6AD-E2B9-464B-8C9C-74AD4435E287}"/>
                </a:ext>
              </a:extLst>
            </p:cNvPr>
            <p:cNvSpPr txBox="1"/>
            <p:nvPr/>
          </p:nvSpPr>
          <p:spPr>
            <a:xfrm>
              <a:off x="9485784" y="1945421"/>
              <a:ext cx="795886" cy="338554"/>
            </a:xfrm>
            <a:prstGeom prst="rect">
              <a:avLst/>
            </a:prstGeom>
            <a:solidFill>
              <a:srgbClr val="CCEEFB"/>
            </a:solidFill>
          </p:spPr>
          <p:txBody>
            <a:bodyPr wrap="square" rtlCol="0">
              <a:spAutoFit/>
            </a:bodyPr>
            <a:lstStyle/>
            <a:p>
              <a:r>
                <a:rPr lang="pt-BR" i="1" dirty="0"/>
                <a:t>salário</a:t>
              </a:r>
            </a:p>
          </p:txBody>
        </p:sp>
      </p:grpSp>
      <p:sp>
        <p:nvSpPr>
          <p:cNvPr id="17" name="TextBox 16">
            <a:extLst>
              <a:ext uri="{FF2B5EF4-FFF2-40B4-BE49-F238E27FC236}">
                <a16:creationId xmlns:a16="http://schemas.microsoft.com/office/drawing/2014/main" id="{8A322036-696B-6B45-BBCD-835E9B440FC1}"/>
              </a:ext>
            </a:extLst>
          </p:cNvPr>
          <p:cNvSpPr txBox="1"/>
          <p:nvPr/>
        </p:nvSpPr>
        <p:spPr>
          <a:xfrm>
            <a:off x="6928004" y="1145323"/>
            <a:ext cx="2082019" cy="400110"/>
          </a:xfrm>
          <a:prstGeom prst="rect">
            <a:avLst/>
          </a:prstGeom>
          <a:noFill/>
        </p:spPr>
        <p:txBody>
          <a:bodyPr wrap="square" rtlCol="0">
            <a:spAutoFit/>
          </a:bodyPr>
          <a:lstStyle/>
          <a:p>
            <a:r>
              <a:rPr lang="en-US" sz="2000" i="1" dirty="0">
                <a:effectLst>
                  <a:outerShdw dist="38100" sx="1000" sy="1000" algn="tl">
                    <a:srgbClr val="C0C0C0"/>
                  </a:outerShdw>
                </a:effectLst>
              </a:rPr>
              <a:t>professor</a:t>
            </a:r>
            <a:endParaRPr lang="pt-BR" sz="2000" i="1" dirty="0"/>
          </a:p>
        </p:txBody>
      </p:sp>
      <p:sp>
        <p:nvSpPr>
          <p:cNvPr id="18" name="Rectangle 17">
            <a:extLst>
              <a:ext uri="{FF2B5EF4-FFF2-40B4-BE49-F238E27FC236}">
                <a16:creationId xmlns:a16="http://schemas.microsoft.com/office/drawing/2014/main" id="{3969A024-E4F2-AB40-8EEF-0C0ECBD50916}"/>
              </a:ext>
            </a:extLst>
          </p:cNvPr>
          <p:cNvSpPr/>
          <p:nvPr/>
        </p:nvSpPr>
        <p:spPr bwMode="auto">
          <a:xfrm>
            <a:off x="6946481" y="4300294"/>
            <a:ext cx="4930346" cy="308919"/>
          </a:xfrm>
          <a:prstGeom prst="rect">
            <a:avLst/>
          </a:prstGeom>
          <a:noFill/>
          <a:ln w="9525" cap="flat" cmpd="sng" algn="ctr">
            <a:solidFill>
              <a:srgbClr val="FF00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pt-BR" sz="1600" b="0" i="0" u="none" strike="noStrike" cap="none" normalizeH="0" baseline="0">
              <a:ln>
                <a:noFill/>
              </a:ln>
              <a:solidFill>
                <a:schemeClr val="tx1"/>
              </a:solidFill>
              <a:effectLst/>
              <a:latin typeface="Helvetica" charset="0"/>
            </a:endParaRPr>
          </a:p>
        </p:txBody>
      </p:sp>
    </p:spTree>
    <p:extLst>
      <p:ext uri="{BB962C8B-B14F-4D97-AF65-F5344CB8AC3E}">
        <p14:creationId xmlns:p14="http://schemas.microsoft.com/office/powerpoint/2010/main" val="273649219"/>
      </p:ext>
    </p:extLst>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Rectangle 2"/>
          <p:cNvSpPr>
            <a:spLocks noGrp="1" noChangeArrowheads="1"/>
          </p:cNvSpPr>
          <p:nvPr>
            <p:ph type="title"/>
          </p:nvPr>
        </p:nvSpPr>
        <p:spPr>
          <a:xfrm>
            <a:off x="506627" y="117475"/>
            <a:ext cx="11287440" cy="609600"/>
          </a:xfrm>
        </p:spPr>
        <p:txBody>
          <a:bodyPr/>
          <a:lstStyle/>
          <a:p>
            <a:r>
              <a:rPr lang="pt-BR" altLang="en-US" dirty="0">
                <a:effectLst>
                  <a:outerShdw sx="1000" sy="1000" algn="tl">
                    <a:srgbClr val="C0C0C0"/>
                  </a:outerShdw>
                </a:effectLst>
              </a:rPr>
              <a:t>Instância e esquema do Banco de Dados</a:t>
            </a:r>
          </a:p>
        </p:txBody>
      </p:sp>
      <p:sp>
        <p:nvSpPr>
          <p:cNvPr id="9218" name="Rectangle 3"/>
          <p:cNvSpPr>
            <a:spLocks noGrp="1" noChangeArrowheads="1"/>
          </p:cNvSpPr>
          <p:nvPr>
            <p:ph type="body" idx="1"/>
          </p:nvPr>
        </p:nvSpPr>
        <p:spPr>
          <a:xfrm>
            <a:off x="506627" y="1102298"/>
            <a:ext cx="11096368" cy="5001940"/>
          </a:xfrm>
        </p:spPr>
        <p:txBody>
          <a:bodyPr/>
          <a:lstStyle/>
          <a:p>
            <a:r>
              <a:rPr lang="pt-BR" altLang="en-US" sz="2000" dirty="0">
                <a:sym typeface="Symbol" panose="05050102010706020507" pitchFamily="18" charset="2"/>
              </a:rPr>
              <a:t>O esquema do banco de dados consiste no design lógico do banco de dados, ao passo que uma instância do banco de dados consiste no conteúdo do banco de dados em um determinado instante no tempo.</a:t>
            </a:r>
          </a:p>
          <a:p>
            <a:endParaRPr lang="pt-BR" altLang="en-US" sz="2000" dirty="0">
              <a:sym typeface="Symbol" panose="05050102010706020507" pitchFamily="18" charset="2"/>
            </a:endParaRPr>
          </a:p>
          <a:p>
            <a:endParaRPr lang="pt-BR" altLang="en-US" sz="2000" dirty="0">
              <a:sym typeface="Symbol" panose="05050102010706020507" pitchFamily="18" charset="2"/>
            </a:endParaRPr>
          </a:p>
          <a:p>
            <a:r>
              <a:rPr lang="pt-BR" altLang="en-US" sz="2000" dirty="0">
                <a:sym typeface="Symbol" panose="05050102010706020507" pitchFamily="18" charset="2"/>
              </a:rPr>
              <a:t>Mais precisamente, um Banco de Dados relacional consiste em um conjunto de tabelas (relações) relacionadas. O </a:t>
            </a:r>
            <a:r>
              <a:rPr lang="pt-BR" altLang="en-US" sz="2000" u="sng" dirty="0">
                <a:sym typeface="Symbol" panose="05050102010706020507" pitchFamily="18" charset="2"/>
              </a:rPr>
              <a:t>esquema</a:t>
            </a:r>
            <a:r>
              <a:rPr lang="pt-BR" altLang="en-US" sz="2000" dirty="0">
                <a:sym typeface="Symbol" panose="05050102010706020507" pitchFamily="18" charset="2"/>
              </a:rPr>
              <a:t> do Banco de Dados define sua estrutura lógica, o que inclui o esquema das relações e demais restrições do modelo (veremos em breve).Uma instância do Banco de Dados corresponde aos dados armazenados em todas as tabelas em um dado instante no tempo. </a:t>
            </a:r>
          </a:p>
          <a:p>
            <a:endParaRPr lang="pt-BR" altLang="en-US" sz="2000" dirty="0">
              <a:sym typeface="Symbol" panose="05050102010706020507" pitchFamily="18" charset="2"/>
            </a:endParaRPr>
          </a:p>
          <a:p>
            <a:endParaRPr lang="pt-BR" altLang="en-US" sz="2000" dirty="0">
              <a:sym typeface="Symbol" panose="05050102010706020507" pitchFamily="18" charset="2"/>
            </a:endParaRPr>
          </a:p>
          <a:p>
            <a:r>
              <a:rPr lang="pt-BR" altLang="en-US" sz="2000" dirty="0">
                <a:sym typeface="Symbol" panose="05050102010706020507" pitchFamily="18" charset="2"/>
              </a:rPr>
              <a:t>O esquema do BD muda pouco, ao passo que a instância muda sempre que ocorre alguma inserção, atualização ou deleção de dados.</a:t>
            </a:r>
          </a:p>
          <a:p>
            <a:endParaRPr lang="pt-BR" altLang="en-US" sz="2000" dirty="0">
              <a:sym typeface="Symbol" panose="05050102010706020507" pitchFamily="18" charset="2"/>
            </a:endParaRPr>
          </a:p>
          <a:p>
            <a:endParaRPr lang="pt-BR" altLang="en-US" sz="2000" dirty="0">
              <a:sym typeface="Symbol" panose="05050102010706020507" pitchFamily="18" charset="2"/>
            </a:endParaRPr>
          </a:p>
          <a:p>
            <a:pPr marL="0" indent="0">
              <a:buNone/>
            </a:pPr>
            <a:endParaRPr lang="pt-BR" altLang="en-US" sz="2000" dirty="0">
              <a:sym typeface="Symbol" panose="05050102010706020507" pitchFamily="18" charset="2"/>
            </a:endParaRPr>
          </a:p>
        </p:txBody>
      </p:sp>
    </p:spTree>
    <p:extLst>
      <p:ext uri="{BB962C8B-B14F-4D97-AF65-F5344CB8AC3E}">
        <p14:creationId xmlns:p14="http://schemas.microsoft.com/office/powerpoint/2010/main" val="17308159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3762" name="Rectangle 2"/>
          <p:cNvSpPr>
            <a:spLocks noGrp="1" noChangeArrowheads="1"/>
          </p:cNvSpPr>
          <p:nvPr>
            <p:ph type="title"/>
          </p:nvPr>
        </p:nvSpPr>
        <p:spPr>
          <a:xfrm>
            <a:off x="938953" y="220345"/>
            <a:ext cx="10314093" cy="609600"/>
          </a:xfrm>
        </p:spPr>
        <p:txBody>
          <a:bodyPr vert="horz" wrap="square" lIns="90488" tIns="44450" rIns="90488" bIns="44450" numCol="1" anchor="ctr" anchorCtr="0" compatLnSpc="1">
            <a:prstTxWarp prst="textNoShape">
              <a:avLst/>
            </a:prstTxWarp>
          </a:bodyPr>
          <a:lstStyle/>
          <a:p>
            <a:pPr algn="l"/>
            <a:r>
              <a:rPr lang="pt-BR" altLang="en-US" sz="3600" dirty="0"/>
              <a:t>Tópicos gerais</a:t>
            </a:r>
          </a:p>
        </p:txBody>
      </p:sp>
      <p:sp>
        <p:nvSpPr>
          <p:cNvPr id="5122" name="Rectangle 3"/>
          <p:cNvSpPr>
            <a:spLocks noGrp="1" noChangeArrowheads="1"/>
          </p:cNvSpPr>
          <p:nvPr>
            <p:ph type="body" idx="1"/>
          </p:nvPr>
        </p:nvSpPr>
        <p:spPr>
          <a:xfrm>
            <a:off x="514350" y="1104899"/>
            <a:ext cx="10824209" cy="5433061"/>
          </a:xfrm>
        </p:spPr>
        <p:txBody>
          <a:bodyPr vert="horz" wrap="square" lIns="90488" tIns="44450" rIns="90488" bIns="44450" numCol="1" anchor="t" anchorCtr="0" compatLnSpc="1">
            <a:prstTxWarp prst="textNoShape">
              <a:avLst/>
            </a:prstTxWarp>
          </a:bodyPr>
          <a:lstStyle/>
          <a:p>
            <a:pPr marL="457200" indent="-457200">
              <a:buFont typeface="+mj-lt"/>
              <a:buAutoNum type="arabicPeriod"/>
            </a:pPr>
            <a:r>
              <a:rPr lang="pt-BR" altLang="en-US" sz="2400" dirty="0">
                <a:solidFill>
                  <a:schemeClr val="accent1">
                    <a:lumMod val="50000"/>
                  </a:schemeClr>
                </a:solidFill>
              </a:rPr>
              <a:t>Origem e os conceitos de relação, </a:t>
            </a:r>
            <a:r>
              <a:rPr lang="pt-BR" altLang="en-US" sz="2400" dirty="0" err="1">
                <a:solidFill>
                  <a:schemeClr val="accent1">
                    <a:lumMod val="50000"/>
                  </a:schemeClr>
                </a:solidFill>
              </a:rPr>
              <a:t>tuplas</a:t>
            </a:r>
            <a:r>
              <a:rPr lang="pt-BR" altLang="en-US" sz="2400" dirty="0">
                <a:solidFill>
                  <a:schemeClr val="accent1">
                    <a:lumMod val="50000"/>
                  </a:schemeClr>
                </a:solidFill>
              </a:rPr>
              <a:t> e atributos.</a:t>
            </a:r>
            <a:endParaRPr lang="pt-BR" altLang="en-US" sz="2400" dirty="0"/>
          </a:p>
          <a:p>
            <a:pPr marL="457200" indent="-457200">
              <a:buFont typeface="+mj-lt"/>
              <a:buAutoNum type="arabicPeriod"/>
            </a:pPr>
            <a:r>
              <a:rPr lang="pt-BR" altLang="en-US" sz="2400" dirty="0">
                <a:solidFill>
                  <a:schemeClr val="accent1">
                    <a:lumMod val="50000"/>
                  </a:schemeClr>
                </a:solidFill>
              </a:rPr>
              <a:t>Esquema do Banco de Dados.</a:t>
            </a:r>
          </a:p>
          <a:p>
            <a:pPr marL="457200" indent="-457200">
              <a:buFont typeface="+mj-lt"/>
              <a:buAutoNum type="arabicPeriod"/>
            </a:pPr>
            <a:r>
              <a:rPr lang="pt-BR" altLang="en-US" sz="2400" dirty="0">
                <a:solidFill>
                  <a:schemeClr val="tx2"/>
                </a:solidFill>
              </a:rPr>
              <a:t>Restrições do modelo relacional: chaves e integridade referencial.</a:t>
            </a:r>
            <a:endParaRPr lang="pt-BR" altLang="en-US" sz="2400" dirty="0">
              <a:solidFill>
                <a:schemeClr val="accent1">
                  <a:lumMod val="50000"/>
                </a:schemeClr>
              </a:solidFill>
            </a:endParaRPr>
          </a:p>
          <a:p>
            <a:pPr marL="457200" indent="-457200">
              <a:buFont typeface="+mj-lt"/>
              <a:buAutoNum type="arabicPeriod"/>
            </a:pPr>
            <a:r>
              <a:rPr lang="pt-BR" altLang="en-US" sz="2400" dirty="0">
                <a:solidFill>
                  <a:schemeClr val="accent1">
                    <a:lumMod val="50000"/>
                  </a:schemeClr>
                </a:solidFill>
              </a:rPr>
              <a:t>Diagramas de Esquema de Banco de Dados.</a:t>
            </a:r>
          </a:p>
          <a:p>
            <a:pPr marL="457200" indent="-457200">
              <a:buFont typeface="+mj-lt"/>
              <a:buAutoNum type="arabicPeriod"/>
            </a:pPr>
            <a:r>
              <a:rPr lang="pt-BR" altLang="en-US" sz="2400" dirty="0">
                <a:solidFill>
                  <a:schemeClr val="accent1">
                    <a:lumMod val="50000"/>
                  </a:schemeClr>
                </a:solidFill>
              </a:rPr>
              <a:t>Design de Banco de Dados relacional usando diagrama Entidade-Relacionamento.</a:t>
            </a:r>
          </a:p>
          <a:p>
            <a:pPr marL="0" indent="0">
              <a:buNone/>
            </a:pPr>
            <a:endParaRPr lang="pt-BR" altLang="en-US" sz="2400" dirty="0">
              <a:solidFill>
                <a:schemeClr val="accent1">
                  <a:lumMod val="50000"/>
                </a:schemeClr>
              </a:solidFill>
            </a:endParaRPr>
          </a:p>
        </p:txBody>
      </p:sp>
    </p:spTree>
    <p:extLst>
      <p:ext uri="{BB962C8B-B14F-4D97-AF65-F5344CB8AC3E}">
        <p14:creationId xmlns:p14="http://schemas.microsoft.com/office/powerpoint/2010/main" val="3095509752"/>
      </p:ext>
    </p:extLst>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1">
            <a:extLst>
              <a:ext uri="{FF2B5EF4-FFF2-40B4-BE49-F238E27FC236}">
                <a16:creationId xmlns:a16="http://schemas.microsoft.com/office/drawing/2014/main" id="{13100117-70B4-2F40-B6AA-59AFB28DA337}"/>
              </a:ext>
            </a:extLst>
          </p:cNvPr>
          <p:cNvSpPr>
            <a:spLocks noGrp="1" noChangeArrowheads="1"/>
          </p:cNvSpPr>
          <p:nvPr>
            <p:ph type="title"/>
          </p:nvPr>
        </p:nvSpPr>
        <p:spPr>
          <a:xfrm>
            <a:off x="210065" y="20638"/>
            <a:ext cx="11763632" cy="745481"/>
          </a:xfrm>
        </p:spPr>
        <p:txBody>
          <a:bodyPr vert="horz" wrap="square" lIns="90000" tIns="46800" rIns="90000" bIns="46800" numCol="1" anchor="b" anchorCtr="0" compatLnSpc="1">
            <a:prstTxWarp prst="textNoShape">
              <a:avLst/>
            </a:prstTxWarp>
          </a:bodyPr>
          <a:lstStyle/>
          <a:p>
            <a:pPr eaLnBrk="1" hangingPunct="1">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pt-BR" altLang="en-BR" dirty="0"/>
              <a:t>Tipos principais de restrições do modelo relacional </a:t>
            </a:r>
          </a:p>
        </p:txBody>
      </p:sp>
      <p:sp>
        <p:nvSpPr>
          <p:cNvPr id="24578" name="Rectangle 2">
            <a:extLst>
              <a:ext uri="{FF2B5EF4-FFF2-40B4-BE49-F238E27FC236}">
                <a16:creationId xmlns:a16="http://schemas.microsoft.com/office/drawing/2014/main" id="{713CE1CB-E7B4-5148-8BE3-C09BD5B01747}"/>
              </a:ext>
            </a:extLst>
          </p:cNvPr>
          <p:cNvSpPr>
            <a:spLocks noGrp="1" noChangeArrowheads="1"/>
          </p:cNvSpPr>
          <p:nvPr>
            <p:ph type="body" idx="1"/>
          </p:nvPr>
        </p:nvSpPr>
        <p:spPr>
          <a:xfrm>
            <a:off x="210066" y="1114096"/>
            <a:ext cx="11578280" cy="5554991"/>
          </a:xfrm>
        </p:spPr>
        <p:txBody>
          <a:bodyPr vert="horz" wrap="square" lIns="90000" tIns="46800" rIns="91440" bIns="46800" numCol="1" anchor="t" anchorCtr="0" compatLnSpc="1">
            <a:prstTxWarp prst="textNoShape">
              <a:avLst/>
            </a:prstTxWarp>
          </a:bodyPr>
          <a:lstStyle/>
          <a:p>
            <a:pPr eaLnBrk="1" hangingPunct="1">
              <a:spcBef>
                <a:spcPts val="600"/>
              </a:spcBef>
              <a:tabLst>
                <a:tab pos="336550" algn="l"/>
                <a:tab pos="449263" algn="l"/>
                <a:tab pos="906463" algn="l"/>
                <a:tab pos="1363663" algn="l"/>
                <a:tab pos="1820863" algn="l"/>
                <a:tab pos="2278063" algn="l"/>
                <a:tab pos="2735263" algn="l"/>
                <a:tab pos="3192463" algn="l"/>
                <a:tab pos="3649663" algn="l"/>
                <a:tab pos="4106863" algn="l"/>
                <a:tab pos="4564063" algn="l"/>
                <a:tab pos="5021263" algn="l"/>
                <a:tab pos="5478463" algn="l"/>
                <a:tab pos="5935663" algn="l"/>
                <a:tab pos="6392863" algn="l"/>
                <a:tab pos="6850063" algn="l"/>
                <a:tab pos="7307263" algn="l"/>
                <a:tab pos="7764463" algn="l"/>
                <a:tab pos="8221663" algn="l"/>
                <a:tab pos="8678863" algn="l"/>
                <a:tab pos="9136063" algn="l"/>
              </a:tabLst>
            </a:pPr>
            <a:r>
              <a:rPr lang="pt-BR" altLang="en-BR" sz="2000" dirty="0"/>
              <a:t>Existem basicamente três tipos principais de restrições no Modelo Relacional:</a:t>
            </a:r>
          </a:p>
          <a:p>
            <a:pPr marL="736600" lvl="1" indent="-336550" eaLnBrk="1" hangingPunct="1">
              <a:spcBef>
                <a:spcPts val="600"/>
              </a:spcBef>
              <a:tabLst>
                <a:tab pos="336550" algn="l"/>
                <a:tab pos="449263" algn="l"/>
                <a:tab pos="906463" algn="l"/>
                <a:tab pos="1363663" algn="l"/>
                <a:tab pos="1820863" algn="l"/>
                <a:tab pos="2278063" algn="l"/>
                <a:tab pos="2735263" algn="l"/>
                <a:tab pos="3192463" algn="l"/>
                <a:tab pos="3649663" algn="l"/>
                <a:tab pos="4106863" algn="l"/>
                <a:tab pos="4564063" algn="l"/>
                <a:tab pos="5021263" algn="l"/>
                <a:tab pos="5478463" algn="l"/>
                <a:tab pos="5935663" algn="l"/>
                <a:tab pos="6392863" algn="l"/>
                <a:tab pos="6850063" algn="l"/>
                <a:tab pos="7307263" algn="l"/>
                <a:tab pos="7764463" algn="l"/>
                <a:tab pos="8221663" algn="l"/>
                <a:tab pos="8678863" algn="l"/>
                <a:tab pos="9136063" algn="l"/>
              </a:tabLst>
            </a:pPr>
            <a:r>
              <a:rPr lang="pt-BR" altLang="en-BR" sz="2000" dirty="0"/>
              <a:t>Restrição de </a:t>
            </a:r>
            <a:r>
              <a:rPr lang="pt-BR" altLang="en-BR" sz="2000" b="1" dirty="0"/>
              <a:t>domínio</a:t>
            </a:r>
          </a:p>
          <a:p>
            <a:pPr marL="736600" lvl="1" indent="-336550" eaLnBrk="1" hangingPunct="1">
              <a:spcBef>
                <a:spcPts val="600"/>
              </a:spcBef>
              <a:tabLst>
                <a:tab pos="336550" algn="l"/>
                <a:tab pos="449263" algn="l"/>
                <a:tab pos="906463" algn="l"/>
                <a:tab pos="1363663" algn="l"/>
                <a:tab pos="1820863" algn="l"/>
                <a:tab pos="2278063" algn="l"/>
                <a:tab pos="2735263" algn="l"/>
                <a:tab pos="3192463" algn="l"/>
                <a:tab pos="3649663" algn="l"/>
                <a:tab pos="4106863" algn="l"/>
                <a:tab pos="4564063" algn="l"/>
                <a:tab pos="5021263" algn="l"/>
                <a:tab pos="5478463" algn="l"/>
                <a:tab pos="5935663" algn="l"/>
                <a:tab pos="6392863" algn="l"/>
                <a:tab pos="6850063" algn="l"/>
                <a:tab pos="7307263" algn="l"/>
                <a:tab pos="7764463" algn="l"/>
                <a:tab pos="8221663" algn="l"/>
                <a:tab pos="8678863" algn="l"/>
                <a:tab pos="9136063" algn="l"/>
              </a:tabLst>
            </a:pPr>
            <a:r>
              <a:rPr lang="pt-BR" altLang="en-BR" sz="2000" dirty="0"/>
              <a:t>Restrição  de </a:t>
            </a:r>
            <a:r>
              <a:rPr lang="pt-BR" altLang="en-BR" sz="2000" b="1" dirty="0"/>
              <a:t>Chave primária</a:t>
            </a:r>
            <a:r>
              <a:rPr lang="pt-BR" altLang="en-BR" sz="2000" dirty="0"/>
              <a:t> </a:t>
            </a:r>
          </a:p>
          <a:p>
            <a:pPr marL="736600" lvl="1" indent="-336550" eaLnBrk="1" hangingPunct="1">
              <a:spcBef>
                <a:spcPts val="600"/>
              </a:spcBef>
              <a:tabLst>
                <a:tab pos="336550" algn="l"/>
                <a:tab pos="449263" algn="l"/>
                <a:tab pos="906463" algn="l"/>
                <a:tab pos="1363663" algn="l"/>
                <a:tab pos="1820863" algn="l"/>
                <a:tab pos="2278063" algn="l"/>
                <a:tab pos="2735263" algn="l"/>
                <a:tab pos="3192463" algn="l"/>
                <a:tab pos="3649663" algn="l"/>
                <a:tab pos="4106863" algn="l"/>
                <a:tab pos="4564063" algn="l"/>
                <a:tab pos="5021263" algn="l"/>
                <a:tab pos="5478463" algn="l"/>
                <a:tab pos="5935663" algn="l"/>
                <a:tab pos="6392863" algn="l"/>
                <a:tab pos="6850063" algn="l"/>
                <a:tab pos="7307263" algn="l"/>
                <a:tab pos="7764463" algn="l"/>
                <a:tab pos="8221663" algn="l"/>
                <a:tab pos="8678863" algn="l"/>
                <a:tab pos="9136063" algn="l"/>
              </a:tabLst>
            </a:pPr>
            <a:r>
              <a:rPr lang="pt-BR" altLang="en-BR" sz="2000" dirty="0"/>
              <a:t>Restrição de </a:t>
            </a:r>
            <a:r>
              <a:rPr lang="pt-BR" altLang="en-BR" sz="2000" b="1" dirty="0"/>
              <a:t>Integridade Referencial</a:t>
            </a:r>
          </a:p>
          <a:p>
            <a:pPr marL="736600" lvl="1" indent="-336550" eaLnBrk="1" hangingPunct="1">
              <a:spcBef>
                <a:spcPts val="600"/>
              </a:spcBef>
              <a:tabLst>
                <a:tab pos="336550" algn="l"/>
                <a:tab pos="449263" algn="l"/>
                <a:tab pos="906463" algn="l"/>
                <a:tab pos="1363663" algn="l"/>
                <a:tab pos="1820863" algn="l"/>
                <a:tab pos="2278063" algn="l"/>
                <a:tab pos="2735263" algn="l"/>
                <a:tab pos="3192463" algn="l"/>
                <a:tab pos="3649663" algn="l"/>
                <a:tab pos="4106863" algn="l"/>
                <a:tab pos="4564063" algn="l"/>
                <a:tab pos="5021263" algn="l"/>
                <a:tab pos="5478463" algn="l"/>
                <a:tab pos="5935663" algn="l"/>
                <a:tab pos="6392863" algn="l"/>
                <a:tab pos="6850063" algn="l"/>
                <a:tab pos="7307263" algn="l"/>
                <a:tab pos="7764463" algn="l"/>
                <a:tab pos="8221663" algn="l"/>
                <a:tab pos="8678863" algn="l"/>
                <a:tab pos="9136063" algn="l"/>
              </a:tabLst>
            </a:pPr>
            <a:endParaRPr lang="pt-BR" altLang="en-BR" sz="2000" b="1" dirty="0"/>
          </a:p>
          <a:p>
            <a:pPr marL="336550" indent="-336550" eaLnBrk="1" hangingPunct="1">
              <a:spcBef>
                <a:spcPts val="600"/>
              </a:spcBef>
              <a:tabLst>
                <a:tab pos="336550" algn="l"/>
                <a:tab pos="449263" algn="l"/>
                <a:tab pos="906463" algn="l"/>
                <a:tab pos="1363663" algn="l"/>
                <a:tab pos="1820863" algn="l"/>
                <a:tab pos="2278063" algn="l"/>
                <a:tab pos="2735263" algn="l"/>
                <a:tab pos="3192463" algn="l"/>
                <a:tab pos="3649663" algn="l"/>
                <a:tab pos="4106863" algn="l"/>
                <a:tab pos="4564063" algn="l"/>
                <a:tab pos="5021263" algn="l"/>
                <a:tab pos="5478463" algn="l"/>
                <a:tab pos="5935663" algn="l"/>
                <a:tab pos="6392863" algn="l"/>
                <a:tab pos="6850063" algn="l"/>
                <a:tab pos="7307263" algn="l"/>
                <a:tab pos="7764463" algn="l"/>
                <a:tab pos="8221663" algn="l"/>
                <a:tab pos="8678863" algn="l"/>
                <a:tab pos="9136063" algn="l"/>
              </a:tabLst>
            </a:pPr>
            <a:r>
              <a:rPr lang="pt-BR" altLang="en-BR" sz="2000" dirty="0"/>
              <a:t>Essas restrições são condições que devem ser mantidas em todos todas as instância válidas do Banco de Dados, e são derivadas da semântica do minimundo sendo modelado.</a:t>
            </a:r>
          </a:p>
          <a:p>
            <a:pPr marL="400050" lvl="1" indent="0" eaLnBrk="1" hangingPunct="1">
              <a:spcBef>
                <a:spcPts val="600"/>
              </a:spcBef>
              <a:buNone/>
              <a:tabLst>
                <a:tab pos="336550" algn="l"/>
                <a:tab pos="449263" algn="l"/>
                <a:tab pos="906463" algn="l"/>
                <a:tab pos="1363663" algn="l"/>
                <a:tab pos="1820863" algn="l"/>
                <a:tab pos="2278063" algn="l"/>
                <a:tab pos="2735263" algn="l"/>
                <a:tab pos="3192463" algn="l"/>
                <a:tab pos="3649663" algn="l"/>
                <a:tab pos="4106863" algn="l"/>
                <a:tab pos="4564063" algn="l"/>
                <a:tab pos="5021263" algn="l"/>
                <a:tab pos="5478463" algn="l"/>
                <a:tab pos="5935663" algn="l"/>
                <a:tab pos="6392863" algn="l"/>
                <a:tab pos="6850063" algn="l"/>
                <a:tab pos="7307263" algn="l"/>
                <a:tab pos="7764463" algn="l"/>
                <a:tab pos="8221663" algn="l"/>
                <a:tab pos="8678863" algn="l"/>
                <a:tab pos="9136063" algn="l"/>
              </a:tabLst>
            </a:pPr>
            <a:endParaRPr lang="pt-BR" altLang="en-BR" sz="2000" dirty="0"/>
          </a:p>
          <a:p>
            <a:pPr marL="400050" lvl="1" indent="0" eaLnBrk="1" hangingPunct="1">
              <a:spcBef>
                <a:spcPts val="600"/>
              </a:spcBef>
              <a:buNone/>
              <a:tabLst>
                <a:tab pos="336550" algn="l"/>
                <a:tab pos="449263" algn="l"/>
                <a:tab pos="906463" algn="l"/>
                <a:tab pos="1363663" algn="l"/>
                <a:tab pos="1820863" algn="l"/>
                <a:tab pos="2278063" algn="l"/>
                <a:tab pos="2735263" algn="l"/>
                <a:tab pos="3192463" algn="l"/>
                <a:tab pos="3649663" algn="l"/>
                <a:tab pos="4106863" algn="l"/>
                <a:tab pos="4564063" algn="l"/>
                <a:tab pos="5021263" algn="l"/>
                <a:tab pos="5478463" algn="l"/>
                <a:tab pos="5935663" algn="l"/>
                <a:tab pos="6392863" algn="l"/>
                <a:tab pos="6850063" algn="l"/>
                <a:tab pos="7307263" algn="l"/>
                <a:tab pos="7764463" algn="l"/>
                <a:tab pos="8221663" algn="l"/>
                <a:tab pos="8678863" algn="l"/>
                <a:tab pos="9136063" algn="l"/>
              </a:tabLst>
            </a:pPr>
            <a:endParaRPr lang="pt-BR" altLang="en-BR" sz="2000" dirty="0"/>
          </a:p>
          <a:p>
            <a:pPr marL="336550" indent="-336550" eaLnBrk="1" hangingPunct="1">
              <a:spcBef>
                <a:spcPts val="600"/>
              </a:spcBef>
              <a:tabLst>
                <a:tab pos="336550" algn="l"/>
                <a:tab pos="449263" algn="l"/>
                <a:tab pos="906463" algn="l"/>
                <a:tab pos="1363663" algn="l"/>
                <a:tab pos="1820863" algn="l"/>
                <a:tab pos="2278063" algn="l"/>
                <a:tab pos="2735263" algn="l"/>
                <a:tab pos="3192463" algn="l"/>
                <a:tab pos="3649663" algn="l"/>
                <a:tab pos="4106863" algn="l"/>
                <a:tab pos="4564063" algn="l"/>
                <a:tab pos="5021263" algn="l"/>
                <a:tab pos="5478463" algn="l"/>
                <a:tab pos="5935663" algn="l"/>
                <a:tab pos="6392863" algn="l"/>
                <a:tab pos="6850063" algn="l"/>
                <a:tab pos="7307263" algn="l"/>
                <a:tab pos="7764463" algn="l"/>
                <a:tab pos="8221663" algn="l"/>
                <a:tab pos="8678863" algn="l"/>
                <a:tab pos="9136063" algn="l"/>
              </a:tabLst>
            </a:pPr>
            <a:r>
              <a:rPr lang="pt-BR" altLang="en-BR" sz="2000" dirty="0"/>
              <a:t>A seguir detalharemos essas restrições...</a:t>
            </a:r>
          </a:p>
        </p:txBody>
      </p:sp>
    </p:spTree>
    <p:extLst>
      <p:ext uri="{BB962C8B-B14F-4D97-AF65-F5344CB8AC3E}">
        <p14:creationId xmlns:p14="http://schemas.microsoft.com/office/powerpoint/2010/main" val="2690771831"/>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DF174-B0D4-C745-A2B4-66D3EE5AF650}"/>
              </a:ext>
            </a:extLst>
          </p:cNvPr>
          <p:cNvSpPr>
            <a:spLocks noGrp="1"/>
          </p:cNvSpPr>
          <p:nvPr>
            <p:ph type="title"/>
          </p:nvPr>
        </p:nvSpPr>
        <p:spPr/>
        <p:txBody>
          <a:bodyPr/>
          <a:lstStyle/>
          <a:p>
            <a:r>
              <a:rPr lang="pt-BR" dirty="0"/>
              <a:t>Restrição de domínio</a:t>
            </a:r>
          </a:p>
        </p:txBody>
      </p:sp>
      <p:sp>
        <p:nvSpPr>
          <p:cNvPr id="3" name="Content Placeholder 2">
            <a:extLst>
              <a:ext uri="{FF2B5EF4-FFF2-40B4-BE49-F238E27FC236}">
                <a16:creationId xmlns:a16="http://schemas.microsoft.com/office/drawing/2014/main" id="{06E85B8E-51D1-D043-8D16-4A148800D926}"/>
              </a:ext>
            </a:extLst>
          </p:cNvPr>
          <p:cNvSpPr>
            <a:spLocks noGrp="1"/>
          </p:cNvSpPr>
          <p:nvPr>
            <p:ph idx="1"/>
          </p:nvPr>
        </p:nvSpPr>
        <p:spPr>
          <a:xfrm>
            <a:off x="1024469" y="1093789"/>
            <a:ext cx="5312100" cy="4903787"/>
          </a:xfrm>
        </p:spPr>
        <p:txBody>
          <a:bodyPr/>
          <a:lstStyle/>
          <a:p>
            <a:r>
              <a:rPr lang="pt-BR" altLang="en-BR" sz="1800" dirty="0"/>
              <a:t>Impõe que</a:t>
            </a:r>
            <a:r>
              <a:rPr lang="pt-BR" altLang="en-BR" sz="1800" b="1" dirty="0"/>
              <a:t> c</a:t>
            </a:r>
            <a:r>
              <a:rPr lang="pt-BR" altLang="en-BR" sz="1800" dirty="0"/>
              <a:t>ada  valor de atributo deve pertencer a um </a:t>
            </a:r>
            <a:r>
              <a:rPr lang="pt-BR" altLang="en-BR" sz="1800" i="1" dirty="0"/>
              <a:t>domínio</a:t>
            </a:r>
            <a:r>
              <a:rPr lang="pt-BR" altLang="en-BR" sz="1800" dirty="0"/>
              <a:t> (ou pode ser </a:t>
            </a:r>
            <a:r>
              <a:rPr lang="pt-BR" altLang="en-BR" sz="1800" b="1" dirty="0" err="1"/>
              <a:t>null</a:t>
            </a:r>
            <a:r>
              <a:rPr lang="pt-BR" altLang="en-BR" sz="1800" dirty="0"/>
              <a:t>, se permitido).</a:t>
            </a:r>
          </a:p>
          <a:p>
            <a:endParaRPr lang="pt-BR" altLang="en-BR" sz="1800" dirty="0"/>
          </a:p>
          <a:p>
            <a:endParaRPr lang="pt-BR" altLang="en-BR" sz="1800" dirty="0"/>
          </a:p>
          <a:p>
            <a:r>
              <a:rPr lang="pt-BR" altLang="en-BR" sz="1800" dirty="0"/>
              <a:t>Por exemplo, para a tabela professor, o domínio do atributo </a:t>
            </a:r>
            <a:r>
              <a:rPr lang="pt-BR" altLang="en-BR" sz="1800" i="1" dirty="0"/>
              <a:t>ID </a:t>
            </a:r>
            <a:r>
              <a:rPr lang="pt-BR" altLang="en-BR" sz="1800" dirty="0"/>
              <a:t>poderia ser os inteiros positivos, o domínio dos atributos </a:t>
            </a:r>
            <a:r>
              <a:rPr lang="pt-BR" altLang="en-BR" sz="1800" i="1" dirty="0"/>
              <a:t>nome</a:t>
            </a:r>
            <a:r>
              <a:rPr lang="pt-BR" altLang="en-BR" sz="1800" dirty="0"/>
              <a:t> e </a:t>
            </a:r>
            <a:r>
              <a:rPr lang="pt-BR" altLang="en-BR" sz="1800" i="1" dirty="0" err="1"/>
              <a:t>nome_dept</a:t>
            </a:r>
            <a:r>
              <a:rPr lang="pt-BR" altLang="en-BR" sz="1800" dirty="0"/>
              <a:t> poderia ser o das </a:t>
            </a:r>
            <a:r>
              <a:rPr lang="pt-BR" altLang="en-BR" sz="1800" dirty="0" err="1"/>
              <a:t>string</a:t>
            </a:r>
            <a:r>
              <a:rPr lang="pt-BR" altLang="en-BR" sz="1800" dirty="0"/>
              <a:t> de até 50 caracteres e o domínio do atributo </a:t>
            </a:r>
            <a:r>
              <a:rPr lang="pt-BR" altLang="en-BR" sz="1800" i="1" dirty="0"/>
              <a:t>salário </a:t>
            </a:r>
            <a:r>
              <a:rPr lang="pt-BR" altLang="en-BR" sz="1800" dirty="0"/>
              <a:t>poderia ser os números inteiros entre 30000 e 200000.</a:t>
            </a:r>
          </a:p>
          <a:p>
            <a:endParaRPr lang="pt-BR" altLang="en-BR" sz="1800" dirty="0"/>
          </a:p>
          <a:p>
            <a:endParaRPr lang="pt-BR" altLang="en-BR" sz="1800" dirty="0"/>
          </a:p>
          <a:p>
            <a:r>
              <a:rPr lang="pt-BR" altLang="en-BR" sz="1800" dirty="0"/>
              <a:t>Observe que o domínio é extraído de restrições do mundo real.</a:t>
            </a:r>
          </a:p>
          <a:p>
            <a:endParaRPr lang="pt-BR" altLang="en-BR" sz="1800" dirty="0"/>
          </a:p>
          <a:p>
            <a:endParaRPr lang="pt-BR" altLang="en-BR" sz="1800" dirty="0"/>
          </a:p>
          <a:p>
            <a:endParaRPr lang="pt-BR" altLang="en-BR" sz="1800" dirty="0"/>
          </a:p>
          <a:p>
            <a:endParaRPr lang="pt-BR" altLang="en-BR" sz="1800" dirty="0"/>
          </a:p>
          <a:p>
            <a:endParaRPr lang="pt-BR" dirty="0"/>
          </a:p>
        </p:txBody>
      </p:sp>
      <p:grpSp>
        <p:nvGrpSpPr>
          <p:cNvPr id="4" name="Group 3">
            <a:extLst>
              <a:ext uri="{FF2B5EF4-FFF2-40B4-BE49-F238E27FC236}">
                <a16:creationId xmlns:a16="http://schemas.microsoft.com/office/drawing/2014/main" id="{B1DF2039-6189-C44F-A3F4-F3EF97B1A23D}"/>
              </a:ext>
            </a:extLst>
          </p:cNvPr>
          <p:cNvGrpSpPr/>
          <p:nvPr/>
        </p:nvGrpSpPr>
        <p:grpSpPr>
          <a:xfrm>
            <a:off x="6824332" y="1451170"/>
            <a:ext cx="5154612" cy="4428000"/>
            <a:chOff x="5356737" y="1756896"/>
            <a:chExt cx="5154612" cy="4428000"/>
          </a:xfrm>
        </p:grpSpPr>
        <p:pic>
          <p:nvPicPr>
            <p:cNvPr id="5" name="Graphic 4">
              <a:extLst>
                <a:ext uri="{FF2B5EF4-FFF2-40B4-BE49-F238E27FC236}">
                  <a16:creationId xmlns:a16="http://schemas.microsoft.com/office/drawing/2014/main" id="{2134CE07-6DC1-354B-B185-ECA89F4C5A03}"/>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b="13197"/>
            <a:stretch/>
          </p:blipFill>
          <p:spPr>
            <a:xfrm>
              <a:off x="5356737" y="1756896"/>
              <a:ext cx="5154612" cy="4428000"/>
            </a:xfrm>
            <a:prstGeom prst="rect">
              <a:avLst/>
            </a:prstGeom>
          </p:spPr>
        </p:pic>
        <p:sp>
          <p:nvSpPr>
            <p:cNvPr id="6" name="TextBox 5">
              <a:extLst>
                <a:ext uri="{FF2B5EF4-FFF2-40B4-BE49-F238E27FC236}">
                  <a16:creationId xmlns:a16="http://schemas.microsoft.com/office/drawing/2014/main" id="{82026A6A-EB2F-1F48-B03D-86D1F13D6B0E}"/>
                </a:ext>
              </a:extLst>
            </p:cNvPr>
            <p:cNvSpPr txBox="1"/>
            <p:nvPr/>
          </p:nvSpPr>
          <p:spPr>
            <a:xfrm>
              <a:off x="5711781" y="1945421"/>
              <a:ext cx="494270" cy="338554"/>
            </a:xfrm>
            <a:prstGeom prst="rect">
              <a:avLst/>
            </a:prstGeom>
            <a:solidFill>
              <a:srgbClr val="CCEEFB"/>
            </a:solidFill>
          </p:spPr>
          <p:txBody>
            <a:bodyPr wrap="square" rtlCol="0">
              <a:spAutoFit/>
            </a:bodyPr>
            <a:lstStyle/>
            <a:p>
              <a:r>
                <a:rPr lang="pt-BR" i="1" dirty="0"/>
                <a:t>ID</a:t>
              </a:r>
            </a:p>
          </p:txBody>
        </p:sp>
        <p:sp>
          <p:nvSpPr>
            <p:cNvPr id="7" name="TextBox 6">
              <a:extLst>
                <a:ext uri="{FF2B5EF4-FFF2-40B4-BE49-F238E27FC236}">
                  <a16:creationId xmlns:a16="http://schemas.microsoft.com/office/drawing/2014/main" id="{38088857-4EEB-5244-A697-D4BDFCBB93D4}"/>
                </a:ext>
              </a:extLst>
            </p:cNvPr>
            <p:cNvSpPr txBox="1"/>
            <p:nvPr/>
          </p:nvSpPr>
          <p:spPr>
            <a:xfrm>
              <a:off x="6501419" y="1945421"/>
              <a:ext cx="826898" cy="338554"/>
            </a:xfrm>
            <a:prstGeom prst="rect">
              <a:avLst/>
            </a:prstGeom>
            <a:solidFill>
              <a:srgbClr val="CCEEFB"/>
            </a:solidFill>
          </p:spPr>
          <p:txBody>
            <a:bodyPr wrap="square" rtlCol="0">
              <a:spAutoFit/>
            </a:bodyPr>
            <a:lstStyle/>
            <a:p>
              <a:r>
                <a:rPr lang="pt-BR" i="1" dirty="0"/>
                <a:t>nome</a:t>
              </a:r>
            </a:p>
          </p:txBody>
        </p:sp>
        <p:sp>
          <p:nvSpPr>
            <p:cNvPr id="8" name="TextBox 7">
              <a:extLst>
                <a:ext uri="{FF2B5EF4-FFF2-40B4-BE49-F238E27FC236}">
                  <a16:creationId xmlns:a16="http://schemas.microsoft.com/office/drawing/2014/main" id="{FC1DD1D6-F01C-7B44-9744-0D09A199B076}"/>
                </a:ext>
              </a:extLst>
            </p:cNvPr>
            <p:cNvSpPr txBox="1"/>
            <p:nvPr/>
          </p:nvSpPr>
          <p:spPr>
            <a:xfrm>
              <a:off x="7919752" y="1968931"/>
              <a:ext cx="1239652" cy="338554"/>
            </a:xfrm>
            <a:prstGeom prst="rect">
              <a:avLst/>
            </a:prstGeom>
            <a:solidFill>
              <a:srgbClr val="CCEEFB"/>
            </a:solidFill>
          </p:spPr>
          <p:txBody>
            <a:bodyPr wrap="square" rtlCol="0">
              <a:spAutoFit/>
            </a:bodyPr>
            <a:lstStyle/>
            <a:p>
              <a:r>
                <a:rPr lang="pt-BR" i="1"/>
                <a:t>nome_dept</a:t>
              </a:r>
            </a:p>
          </p:txBody>
        </p:sp>
        <p:sp>
          <p:nvSpPr>
            <p:cNvPr id="9" name="TextBox 8">
              <a:extLst>
                <a:ext uri="{FF2B5EF4-FFF2-40B4-BE49-F238E27FC236}">
                  <a16:creationId xmlns:a16="http://schemas.microsoft.com/office/drawing/2014/main" id="{61DE65A0-726C-DF45-A731-01B516804A6B}"/>
                </a:ext>
              </a:extLst>
            </p:cNvPr>
            <p:cNvSpPr txBox="1"/>
            <p:nvPr/>
          </p:nvSpPr>
          <p:spPr>
            <a:xfrm>
              <a:off x="9485784" y="1945421"/>
              <a:ext cx="795886" cy="338554"/>
            </a:xfrm>
            <a:prstGeom prst="rect">
              <a:avLst/>
            </a:prstGeom>
            <a:solidFill>
              <a:srgbClr val="CCEEFB"/>
            </a:solidFill>
          </p:spPr>
          <p:txBody>
            <a:bodyPr wrap="square" rtlCol="0">
              <a:spAutoFit/>
            </a:bodyPr>
            <a:lstStyle/>
            <a:p>
              <a:r>
                <a:rPr lang="pt-BR" i="1" dirty="0"/>
                <a:t>salário</a:t>
              </a:r>
            </a:p>
          </p:txBody>
        </p:sp>
      </p:grpSp>
      <p:sp>
        <p:nvSpPr>
          <p:cNvPr id="10" name="TextBox 9">
            <a:extLst>
              <a:ext uri="{FF2B5EF4-FFF2-40B4-BE49-F238E27FC236}">
                <a16:creationId xmlns:a16="http://schemas.microsoft.com/office/drawing/2014/main" id="{6793325A-BCA5-7842-94C7-DF1359D18755}"/>
              </a:ext>
            </a:extLst>
          </p:cNvPr>
          <p:cNvSpPr txBox="1"/>
          <p:nvPr/>
        </p:nvSpPr>
        <p:spPr>
          <a:xfrm>
            <a:off x="6928004" y="1145323"/>
            <a:ext cx="2082019" cy="400110"/>
          </a:xfrm>
          <a:prstGeom prst="rect">
            <a:avLst/>
          </a:prstGeom>
          <a:noFill/>
        </p:spPr>
        <p:txBody>
          <a:bodyPr wrap="square" rtlCol="0">
            <a:spAutoFit/>
          </a:bodyPr>
          <a:lstStyle/>
          <a:p>
            <a:r>
              <a:rPr lang="en-US" sz="2000" i="1" dirty="0">
                <a:effectLst>
                  <a:outerShdw dist="38100" sx="1000" sy="1000" algn="tl">
                    <a:srgbClr val="C0C0C0"/>
                  </a:outerShdw>
                </a:effectLst>
              </a:rPr>
              <a:t>professor</a:t>
            </a:r>
            <a:endParaRPr lang="pt-BR" sz="2000" i="1" dirty="0"/>
          </a:p>
        </p:txBody>
      </p:sp>
    </p:spTree>
    <p:extLst>
      <p:ext uri="{BB962C8B-B14F-4D97-AF65-F5344CB8AC3E}">
        <p14:creationId xmlns:p14="http://schemas.microsoft.com/office/powerpoint/2010/main" val="8816319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Rectangle 2"/>
          <p:cNvSpPr>
            <a:spLocks noGrp="1" noChangeArrowheads="1"/>
          </p:cNvSpPr>
          <p:nvPr>
            <p:ph type="title"/>
          </p:nvPr>
        </p:nvSpPr>
        <p:spPr>
          <a:xfrm>
            <a:off x="420130" y="117475"/>
            <a:ext cx="11373937" cy="609600"/>
          </a:xfrm>
        </p:spPr>
        <p:txBody>
          <a:bodyPr/>
          <a:lstStyle/>
          <a:p>
            <a:r>
              <a:rPr lang="pt-BR" altLang="en-US" dirty="0">
                <a:effectLst>
                  <a:outerShdw sx="1000" sy="1000" algn="tl">
                    <a:srgbClr val="C0C0C0"/>
                  </a:outerShdw>
                </a:effectLst>
              </a:rPr>
              <a:t>Restrição de </a:t>
            </a:r>
            <a:r>
              <a:rPr lang="pt-BR" altLang="en-US" u="sng" dirty="0">
                <a:effectLst>
                  <a:outerShdw sx="1000" sy="1000" algn="tl">
                    <a:srgbClr val="C0C0C0"/>
                  </a:outerShdw>
                </a:effectLst>
              </a:rPr>
              <a:t>chave</a:t>
            </a:r>
          </a:p>
        </p:txBody>
      </p:sp>
      <p:sp>
        <p:nvSpPr>
          <p:cNvPr id="9218" name="Rectangle 3"/>
          <p:cNvSpPr>
            <a:spLocks noGrp="1" noChangeArrowheads="1"/>
          </p:cNvSpPr>
          <p:nvPr>
            <p:ph type="body" idx="1"/>
          </p:nvPr>
        </p:nvSpPr>
        <p:spPr>
          <a:xfrm>
            <a:off x="242610" y="963827"/>
            <a:ext cx="6109303" cy="5776698"/>
          </a:xfrm>
        </p:spPr>
        <p:txBody>
          <a:bodyPr/>
          <a:lstStyle/>
          <a:p>
            <a:r>
              <a:rPr lang="pt-BR" altLang="en-US" sz="2000" dirty="0"/>
              <a:t>Dado </a:t>
            </a:r>
            <a:r>
              <a:rPr lang="pt-BR" altLang="en-US" sz="2000" i="1" dirty="0" err="1">
                <a:ea typeface="ＭＳ Ｐゴシック" panose="020B0600070205080204" pitchFamily="34" charset="-128"/>
              </a:rPr>
              <a:t>R</a:t>
            </a:r>
            <a:r>
              <a:rPr lang="pt-BR" altLang="en-US" sz="2000" dirty="0">
                <a:ea typeface="ＭＳ Ｐゴシック" panose="020B0600070205080204" pitchFamily="34" charset="-128"/>
              </a:rPr>
              <a:t> = (</a:t>
            </a:r>
            <a:r>
              <a:rPr lang="pt-BR" altLang="en-US" sz="2000" i="1" dirty="0">
                <a:ea typeface="ＭＳ Ｐゴシック" panose="020B0600070205080204" pitchFamily="34" charset="-128"/>
              </a:rPr>
              <a:t>A</a:t>
            </a:r>
            <a:r>
              <a:rPr lang="pt-BR" altLang="en-US" sz="2000" baseline="-25000" dirty="0">
                <a:ea typeface="ＭＳ Ｐゴシック" panose="020B0600070205080204" pitchFamily="34" charset="-128"/>
              </a:rPr>
              <a:t>1</a:t>
            </a:r>
            <a:r>
              <a:rPr lang="pt-BR" altLang="en-US" sz="2000" dirty="0">
                <a:ea typeface="ＭＳ Ｐゴシック" panose="020B0600070205080204" pitchFamily="34" charset="-128"/>
              </a:rPr>
              <a:t>, </a:t>
            </a:r>
            <a:r>
              <a:rPr lang="pt-BR" altLang="en-US" sz="2000" i="1" dirty="0">
                <a:ea typeface="ＭＳ Ｐゴシック" panose="020B0600070205080204" pitchFamily="34" charset="-128"/>
              </a:rPr>
              <a:t>A</a:t>
            </a:r>
            <a:r>
              <a:rPr lang="pt-BR" altLang="en-US" sz="2000" baseline="-25000" dirty="0">
                <a:ea typeface="ＭＳ Ｐゴシック" panose="020B0600070205080204" pitchFamily="34" charset="-128"/>
              </a:rPr>
              <a:t>2</a:t>
            </a:r>
            <a:r>
              <a:rPr lang="pt-BR" altLang="en-US" sz="2000" dirty="0">
                <a:ea typeface="ＭＳ Ｐゴシック" panose="020B0600070205080204" pitchFamily="34" charset="-128"/>
              </a:rPr>
              <a:t>, …, </a:t>
            </a:r>
            <a:r>
              <a:rPr lang="pt-BR" altLang="en-US" sz="2000" i="1" dirty="0" err="1">
                <a:ea typeface="ＭＳ Ｐゴシック" panose="020B0600070205080204" pitchFamily="34" charset="-128"/>
              </a:rPr>
              <a:t>A</a:t>
            </a:r>
            <a:r>
              <a:rPr lang="pt-BR" altLang="en-US" sz="2000" i="1" baseline="-25000" dirty="0" err="1">
                <a:ea typeface="ＭＳ Ｐゴシック" panose="020B0600070205080204" pitchFamily="34" charset="-128"/>
              </a:rPr>
              <a:t>n</a:t>
            </a:r>
            <a:r>
              <a:rPr lang="pt-BR" altLang="en-US" sz="2000" dirty="0">
                <a:ea typeface="ＭＳ Ｐゴシック" panose="020B0600070205080204" pitchFamily="34" charset="-128"/>
              </a:rPr>
              <a:t> )</a:t>
            </a:r>
            <a:r>
              <a:rPr lang="pt-BR" altLang="en-US" sz="2000" dirty="0"/>
              <a:t> e </a:t>
            </a:r>
            <a:r>
              <a:rPr lang="pt-BR" altLang="en-US" sz="2000" i="1" dirty="0" err="1"/>
              <a:t>K</a:t>
            </a:r>
            <a:r>
              <a:rPr lang="pt-BR" altLang="en-US" sz="2000" dirty="0"/>
              <a:t> </a:t>
            </a:r>
            <a:r>
              <a:rPr lang="pt-BR" altLang="en-US" sz="2000" dirty="0">
                <a:sym typeface="Symbol" panose="05050102010706020507" pitchFamily="18" charset="2"/>
              </a:rPr>
              <a:t> </a:t>
            </a:r>
            <a:r>
              <a:rPr lang="pt-BR" altLang="en-US" sz="2000" i="1" dirty="0" err="1">
                <a:sym typeface="Symbol" panose="05050102010706020507" pitchFamily="18" charset="2"/>
              </a:rPr>
              <a:t>R</a:t>
            </a:r>
            <a:r>
              <a:rPr lang="pt-BR" altLang="en-US" sz="2000" i="1" dirty="0">
                <a:sym typeface="Symbol" panose="05050102010706020507" pitchFamily="18" charset="2"/>
              </a:rPr>
              <a:t>, </a:t>
            </a:r>
            <a:r>
              <a:rPr lang="pt-BR" altLang="en-US" sz="2000" dirty="0">
                <a:sym typeface="Symbol" panose="05050102010706020507" pitchFamily="18" charset="2"/>
              </a:rPr>
              <a:t>dizemos que </a:t>
            </a:r>
            <a:r>
              <a:rPr lang="pt-BR" altLang="en-US" sz="2000" i="1" dirty="0" err="1">
                <a:sym typeface="Symbol" panose="05050102010706020507" pitchFamily="18" charset="2"/>
              </a:rPr>
              <a:t>K</a:t>
            </a:r>
            <a:r>
              <a:rPr lang="pt-BR" altLang="en-US" sz="2000" i="1" dirty="0">
                <a:sym typeface="Symbol" panose="05050102010706020507" pitchFamily="18" charset="2"/>
              </a:rPr>
              <a:t> </a:t>
            </a:r>
            <a:r>
              <a:rPr lang="pt-BR" altLang="en-US" sz="2000" dirty="0">
                <a:sym typeface="Symbol" panose="05050102010706020507" pitchFamily="18" charset="2"/>
              </a:rPr>
              <a:t>é uma </a:t>
            </a:r>
            <a:r>
              <a:rPr lang="pt-BR" altLang="en-US" sz="2000" u="sng" dirty="0" err="1">
                <a:sym typeface="Symbol" panose="05050102010706020507" pitchFamily="18" charset="2"/>
              </a:rPr>
              <a:t>superchave</a:t>
            </a:r>
            <a:r>
              <a:rPr lang="pt-BR" altLang="en-US" sz="2000" b="1" dirty="0">
                <a:solidFill>
                  <a:schemeClr val="tx2"/>
                </a:solidFill>
                <a:sym typeface="Symbol" panose="05050102010706020507" pitchFamily="18" charset="2"/>
              </a:rPr>
              <a:t> </a:t>
            </a:r>
            <a:r>
              <a:rPr lang="pt-BR" altLang="en-US" sz="2000" dirty="0">
                <a:sym typeface="Symbol" panose="05050102010706020507" pitchFamily="18" charset="2"/>
              </a:rPr>
              <a:t>de </a:t>
            </a:r>
            <a:r>
              <a:rPr lang="pt-BR" altLang="en-US" sz="2000" i="1" dirty="0" err="1">
                <a:sym typeface="Symbol" panose="05050102010706020507" pitchFamily="18" charset="2"/>
              </a:rPr>
              <a:t>R</a:t>
            </a:r>
            <a:r>
              <a:rPr lang="pt-BR" altLang="en-US" sz="2000" dirty="0">
                <a:sym typeface="Symbol" panose="05050102010706020507" pitchFamily="18" charset="2"/>
              </a:rPr>
              <a:t> se cada combinação de valores </a:t>
            </a:r>
            <a:r>
              <a:rPr lang="pt-BR" altLang="en-US" sz="2000" i="1" dirty="0" err="1">
                <a:sym typeface="Symbol" panose="05050102010706020507" pitchFamily="18" charset="2"/>
              </a:rPr>
              <a:t>K</a:t>
            </a:r>
            <a:r>
              <a:rPr lang="pt-BR" altLang="en-US" sz="2000" dirty="0">
                <a:sym typeface="Symbol" panose="05050102010706020507" pitchFamily="18" charset="2"/>
              </a:rPr>
              <a:t> identifica uma única </a:t>
            </a:r>
            <a:r>
              <a:rPr lang="pt-BR" altLang="en-US" sz="2000" i="1" dirty="0" err="1">
                <a:sym typeface="Symbol" panose="05050102010706020507" pitchFamily="18" charset="2"/>
              </a:rPr>
              <a:t>tupla</a:t>
            </a:r>
            <a:r>
              <a:rPr lang="pt-BR" altLang="en-US" sz="2000" dirty="0">
                <a:sym typeface="Symbol" panose="05050102010706020507" pitchFamily="18" charset="2"/>
              </a:rPr>
              <a:t> em qualquer instância </a:t>
            </a:r>
            <a:r>
              <a:rPr lang="pt-BR" altLang="en-US" sz="2000" i="1" dirty="0" err="1">
                <a:sym typeface="Symbol" panose="05050102010706020507" pitchFamily="18" charset="2"/>
              </a:rPr>
              <a:t>r</a:t>
            </a:r>
            <a:r>
              <a:rPr lang="pt-BR" altLang="en-US" sz="2000" i="1" dirty="0">
                <a:sym typeface="Symbol" panose="05050102010706020507" pitchFamily="18" charset="2"/>
              </a:rPr>
              <a:t>(</a:t>
            </a:r>
            <a:r>
              <a:rPr lang="pt-BR" altLang="en-US" sz="2000" i="1" dirty="0" err="1">
                <a:sym typeface="Symbol" panose="05050102010706020507" pitchFamily="18" charset="2"/>
              </a:rPr>
              <a:t>R</a:t>
            </a:r>
            <a:r>
              <a:rPr lang="pt-BR" altLang="en-US" sz="2000" i="1" dirty="0">
                <a:sym typeface="Symbol" panose="05050102010706020507" pitchFamily="18" charset="2"/>
              </a:rPr>
              <a:t>)</a:t>
            </a:r>
            <a:r>
              <a:rPr lang="pt-BR" altLang="en-US" sz="2000" dirty="0">
                <a:sym typeface="Symbol" panose="05050102010706020507" pitchFamily="18" charset="2"/>
              </a:rPr>
              <a:t>.</a:t>
            </a:r>
          </a:p>
          <a:p>
            <a:pPr marL="0" indent="0">
              <a:buNone/>
            </a:pPr>
            <a:endParaRPr lang="pt-BR" sz="2000" dirty="0"/>
          </a:p>
          <a:p>
            <a:r>
              <a:rPr lang="pt-BR" sz="2000" dirty="0"/>
              <a:t>Em outras palavras, se </a:t>
            </a:r>
            <a:r>
              <a:rPr lang="pt-BR" sz="2000" i="1" dirty="0" err="1"/>
              <a:t>K</a:t>
            </a:r>
            <a:r>
              <a:rPr lang="pt-BR" sz="2000" i="1" dirty="0"/>
              <a:t> </a:t>
            </a:r>
            <a:r>
              <a:rPr lang="pt-BR" sz="2000" dirty="0"/>
              <a:t>é uma </a:t>
            </a:r>
            <a:r>
              <a:rPr lang="pt-BR" sz="2000" dirty="0" err="1"/>
              <a:t>superchave</a:t>
            </a:r>
            <a:r>
              <a:rPr lang="pt-BR" sz="2000" dirty="0"/>
              <a:t>, </a:t>
            </a:r>
            <a:r>
              <a:rPr lang="pt-BR" sz="2000" u="sng" dirty="0"/>
              <a:t>nunca</a:t>
            </a:r>
            <a:r>
              <a:rPr lang="pt-BR" sz="2000" dirty="0"/>
              <a:t> haverá um estado consistente do Bando de Dados com duas ou mais </a:t>
            </a:r>
            <a:r>
              <a:rPr lang="pt-BR" sz="2000" i="1" dirty="0" err="1"/>
              <a:t>tuplas</a:t>
            </a:r>
            <a:r>
              <a:rPr lang="pt-BR" sz="2000" dirty="0"/>
              <a:t> tendo exatamente o mesmo valor para todos os atributos de </a:t>
            </a:r>
            <a:r>
              <a:rPr lang="pt-BR" sz="2000" i="1" dirty="0" err="1"/>
              <a:t>K</a:t>
            </a:r>
            <a:r>
              <a:rPr lang="pt-BR" sz="2000" dirty="0"/>
              <a:t>.</a:t>
            </a:r>
          </a:p>
          <a:p>
            <a:pPr lvl="1"/>
            <a:r>
              <a:rPr lang="pt-PT" sz="2000" dirty="0"/>
              <a:t>Como veremos futuramente, </a:t>
            </a:r>
            <a:r>
              <a:rPr lang="pt-PT" sz="2000" dirty="0" err="1"/>
              <a:t>SGBDs</a:t>
            </a:r>
            <a:r>
              <a:rPr lang="pt-PT" sz="2000" dirty="0"/>
              <a:t> comerciais relaxam esse requisito e, em vez disso, permitem </a:t>
            </a:r>
            <a:r>
              <a:rPr lang="pt-PT" sz="2000" i="1" dirty="0" err="1"/>
              <a:t>tuplas</a:t>
            </a:r>
            <a:r>
              <a:rPr lang="pt-PT" sz="2000" dirty="0"/>
              <a:t> duplicadas.</a:t>
            </a:r>
          </a:p>
          <a:p>
            <a:pPr marL="457200" lvl="1" indent="0">
              <a:buNone/>
            </a:pPr>
            <a:endParaRPr lang="pt-BR" altLang="en-US" sz="2000" dirty="0"/>
          </a:p>
          <a:p>
            <a:pPr>
              <a:lnSpc>
                <a:spcPct val="130000"/>
              </a:lnSpc>
            </a:pPr>
            <a:r>
              <a:rPr lang="pt-BR" altLang="en-US" sz="2000" dirty="0">
                <a:sym typeface="Symbol" panose="05050102010706020507" pitchFamily="18" charset="2"/>
              </a:rPr>
              <a:t>Por exemplo,  {</a:t>
            </a:r>
            <a:r>
              <a:rPr lang="pt-BR" altLang="en-US" sz="2000" i="1" dirty="0">
                <a:sym typeface="Symbol" panose="05050102010706020507" pitchFamily="18" charset="2"/>
              </a:rPr>
              <a:t>ID</a:t>
            </a:r>
            <a:r>
              <a:rPr lang="pt-BR" altLang="en-US" sz="2000" dirty="0">
                <a:sym typeface="Symbol" panose="05050102010706020507" pitchFamily="18" charset="2"/>
              </a:rPr>
              <a:t>} e {</a:t>
            </a:r>
            <a:r>
              <a:rPr lang="pt-BR" altLang="en-US" sz="2000" i="1" dirty="0">
                <a:sym typeface="Symbol" panose="05050102010706020507" pitchFamily="18" charset="2"/>
              </a:rPr>
              <a:t>ID</a:t>
            </a:r>
            <a:r>
              <a:rPr lang="pt-BR" altLang="en-US" sz="2000" dirty="0">
                <a:sym typeface="Symbol" panose="05050102010706020507" pitchFamily="18" charset="2"/>
              </a:rPr>
              <a:t>, </a:t>
            </a:r>
            <a:r>
              <a:rPr lang="pt-BR" altLang="en-US" sz="2000" i="1" dirty="0">
                <a:sym typeface="Symbol" panose="05050102010706020507" pitchFamily="18" charset="2"/>
              </a:rPr>
              <a:t>nome</a:t>
            </a:r>
            <a:r>
              <a:rPr lang="pt-BR" altLang="en-US" sz="2000" dirty="0">
                <a:sym typeface="Symbol" panose="05050102010706020507" pitchFamily="18" charset="2"/>
              </a:rPr>
              <a:t>} são ambos </a:t>
            </a:r>
            <a:r>
              <a:rPr lang="pt-BR" altLang="en-US" sz="2000" dirty="0" err="1">
                <a:sym typeface="Symbol" panose="05050102010706020507" pitchFamily="18" charset="2"/>
              </a:rPr>
              <a:t>superchaves</a:t>
            </a:r>
            <a:r>
              <a:rPr lang="pt-BR" altLang="en-US" sz="2000" dirty="0">
                <a:sym typeface="Symbol" panose="05050102010706020507" pitchFamily="18" charset="2"/>
              </a:rPr>
              <a:t> da relação </a:t>
            </a:r>
            <a:r>
              <a:rPr lang="pt-BR" altLang="en-US" sz="2000" i="1" dirty="0">
                <a:sym typeface="Symbol" panose="05050102010706020507" pitchFamily="18" charset="2"/>
              </a:rPr>
              <a:t>professor.</a:t>
            </a:r>
            <a:endParaRPr lang="pt-BR" altLang="en-US" sz="2000" dirty="0">
              <a:sym typeface="Symbol" panose="05050102010706020507" pitchFamily="18" charset="2"/>
            </a:endParaRPr>
          </a:p>
        </p:txBody>
      </p:sp>
      <p:grpSp>
        <p:nvGrpSpPr>
          <p:cNvPr id="4" name="Group 3">
            <a:extLst>
              <a:ext uri="{FF2B5EF4-FFF2-40B4-BE49-F238E27FC236}">
                <a16:creationId xmlns:a16="http://schemas.microsoft.com/office/drawing/2014/main" id="{B5CADD54-2F2C-ED4C-88DB-F868FD0B0536}"/>
              </a:ext>
            </a:extLst>
          </p:cNvPr>
          <p:cNvGrpSpPr/>
          <p:nvPr/>
        </p:nvGrpSpPr>
        <p:grpSpPr>
          <a:xfrm>
            <a:off x="6814962" y="1449783"/>
            <a:ext cx="5154612" cy="4428000"/>
            <a:chOff x="5356737" y="1756896"/>
            <a:chExt cx="5154612" cy="4428000"/>
          </a:xfrm>
        </p:grpSpPr>
        <p:pic>
          <p:nvPicPr>
            <p:cNvPr id="5" name="Graphic 4">
              <a:extLst>
                <a:ext uri="{FF2B5EF4-FFF2-40B4-BE49-F238E27FC236}">
                  <a16:creationId xmlns:a16="http://schemas.microsoft.com/office/drawing/2014/main" id="{163B84DF-67AC-5E43-AD1F-7EFC6763849D}"/>
                </a:ext>
              </a:extLst>
            </p:cNvPr>
            <p:cNvPicPr>
              <a:picLocks noChangeAspect="1"/>
            </p:cNvPicPr>
            <p:nvPr/>
          </p:nvPicPr>
          <p:blipFill rotWithShape="1">
            <a:blip r:embed="rId3">
              <a:extLst>
                <a:ext uri="{96DAC541-7B7A-43D3-8B79-37D633B846F1}">
                  <asvg:svgBlip xmlns:asvg="http://schemas.microsoft.com/office/drawing/2016/SVG/main" r:embed="rId4"/>
                </a:ext>
              </a:extLst>
            </a:blip>
            <a:srcRect b="13197"/>
            <a:stretch/>
          </p:blipFill>
          <p:spPr>
            <a:xfrm>
              <a:off x="5356737" y="1756896"/>
              <a:ext cx="5154612" cy="4428000"/>
            </a:xfrm>
            <a:prstGeom prst="rect">
              <a:avLst/>
            </a:prstGeom>
          </p:spPr>
        </p:pic>
        <p:sp>
          <p:nvSpPr>
            <p:cNvPr id="6" name="TextBox 5">
              <a:extLst>
                <a:ext uri="{FF2B5EF4-FFF2-40B4-BE49-F238E27FC236}">
                  <a16:creationId xmlns:a16="http://schemas.microsoft.com/office/drawing/2014/main" id="{DF1CA326-1223-7442-A160-B536E769913E}"/>
                </a:ext>
              </a:extLst>
            </p:cNvPr>
            <p:cNvSpPr txBox="1"/>
            <p:nvPr/>
          </p:nvSpPr>
          <p:spPr>
            <a:xfrm>
              <a:off x="5711781" y="1945421"/>
              <a:ext cx="494270" cy="338554"/>
            </a:xfrm>
            <a:prstGeom prst="rect">
              <a:avLst/>
            </a:prstGeom>
            <a:solidFill>
              <a:srgbClr val="CCEEFB"/>
            </a:solidFill>
          </p:spPr>
          <p:txBody>
            <a:bodyPr wrap="square" rtlCol="0">
              <a:spAutoFit/>
            </a:bodyPr>
            <a:lstStyle/>
            <a:p>
              <a:r>
                <a:rPr lang="pt-BR" i="1" dirty="0"/>
                <a:t>ID</a:t>
              </a:r>
            </a:p>
          </p:txBody>
        </p:sp>
        <p:sp>
          <p:nvSpPr>
            <p:cNvPr id="7" name="TextBox 6">
              <a:extLst>
                <a:ext uri="{FF2B5EF4-FFF2-40B4-BE49-F238E27FC236}">
                  <a16:creationId xmlns:a16="http://schemas.microsoft.com/office/drawing/2014/main" id="{4E7FBD19-201B-9D48-8D21-34225B4A0FF3}"/>
                </a:ext>
              </a:extLst>
            </p:cNvPr>
            <p:cNvSpPr txBox="1"/>
            <p:nvPr/>
          </p:nvSpPr>
          <p:spPr>
            <a:xfrm>
              <a:off x="6501419" y="1945421"/>
              <a:ext cx="826898" cy="338554"/>
            </a:xfrm>
            <a:prstGeom prst="rect">
              <a:avLst/>
            </a:prstGeom>
            <a:solidFill>
              <a:srgbClr val="CCEEFB"/>
            </a:solidFill>
          </p:spPr>
          <p:txBody>
            <a:bodyPr wrap="square" rtlCol="0">
              <a:spAutoFit/>
            </a:bodyPr>
            <a:lstStyle/>
            <a:p>
              <a:r>
                <a:rPr lang="pt-BR" i="1" dirty="0"/>
                <a:t>nome</a:t>
              </a:r>
            </a:p>
          </p:txBody>
        </p:sp>
        <p:sp>
          <p:nvSpPr>
            <p:cNvPr id="8" name="TextBox 7">
              <a:extLst>
                <a:ext uri="{FF2B5EF4-FFF2-40B4-BE49-F238E27FC236}">
                  <a16:creationId xmlns:a16="http://schemas.microsoft.com/office/drawing/2014/main" id="{A29D34C1-D148-564C-8930-923F0F93C741}"/>
                </a:ext>
              </a:extLst>
            </p:cNvPr>
            <p:cNvSpPr txBox="1"/>
            <p:nvPr/>
          </p:nvSpPr>
          <p:spPr>
            <a:xfrm>
              <a:off x="7919752" y="1968931"/>
              <a:ext cx="1239652" cy="338554"/>
            </a:xfrm>
            <a:prstGeom prst="rect">
              <a:avLst/>
            </a:prstGeom>
            <a:solidFill>
              <a:srgbClr val="CCEEFB"/>
            </a:solidFill>
          </p:spPr>
          <p:txBody>
            <a:bodyPr wrap="square" rtlCol="0">
              <a:spAutoFit/>
            </a:bodyPr>
            <a:lstStyle/>
            <a:p>
              <a:r>
                <a:rPr lang="pt-BR" i="1"/>
                <a:t>nome_dept</a:t>
              </a:r>
            </a:p>
          </p:txBody>
        </p:sp>
        <p:sp>
          <p:nvSpPr>
            <p:cNvPr id="9" name="TextBox 8">
              <a:extLst>
                <a:ext uri="{FF2B5EF4-FFF2-40B4-BE49-F238E27FC236}">
                  <a16:creationId xmlns:a16="http://schemas.microsoft.com/office/drawing/2014/main" id="{8F2A8AF5-69EC-EC41-B01C-CB7006DDAF9C}"/>
                </a:ext>
              </a:extLst>
            </p:cNvPr>
            <p:cNvSpPr txBox="1"/>
            <p:nvPr/>
          </p:nvSpPr>
          <p:spPr>
            <a:xfrm>
              <a:off x="9485784" y="1945421"/>
              <a:ext cx="795886" cy="338554"/>
            </a:xfrm>
            <a:prstGeom prst="rect">
              <a:avLst/>
            </a:prstGeom>
            <a:solidFill>
              <a:srgbClr val="CCEEFB"/>
            </a:solidFill>
          </p:spPr>
          <p:txBody>
            <a:bodyPr wrap="square" rtlCol="0">
              <a:spAutoFit/>
            </a:bodyPr>
            <a:lstStyle/>
            <a:p>
              <a:r>
                <a:rPr lang="pt-BR" i="1" dirty="0"/>
                <a:t>salário</a:t>
              </a:r>
            </a:p>
          </p:txBody>
        </p:sp>
      </p:grpSp>
      <p:sp>
        <p:nvSpPr>
          <p:cNvPr id="11" name="TextBox 10">
            <a:extLst>
              <a:ext uri="{FF2B5EF4-FFF2-40B4-BE49-F238E27FC236}">
                <a16:creationId xmlns:a16="http://schemas.microsoft.com/office/drawing/2014/main" id="{EA9C25ED-0A40-0945-8B53-2D1F36187F67}"/>
              </a:ext>
            </a:extLst>
          </p:cNvPr>
          <p:cNvSpPr txBox="1"/>
          <p:nvPr/>
        </p:nvSpPr>
        <p:spPr>
          <a:xfrm>
            <a:off x="6943348" y="1238198"/>
            <a:ext cx="2082019" cy="400110"/>
          </a:xfrm>
          <a:prstGeom prst="rect">
            <a:avLst/>
          </a:prstGeom>
          <a:noFill/>
        </p:spPr>
        <p:txBody>
          <a:bodyPr wrap="square" rtlCol="0">
            <a:spAutoFit/>
          </a:bodyPr>
          <a:lstStyle/>
          <a:p>
            <a:r>
              <a:rPr lang="en-US" sz="2000" i="1" dirty="0">
                <a:effectLst>
                  <a:outerShdw dist="38100" sx="1000" sy="1000" algn="tl">
                    <a:srgbClr val="C0C0C0"/>
                  </a:outerShdw>
                </a:effectLst>
              </a:rPr>
              <a:t>professor</a:t>
            </a:r>
            <a:endParaRPr lang="pt-BR" sz="2000" i="1" dirty="0"/>
          </a:p>
        </p:txBody>
      </p:sp>
    </p:spTree>
    <p:extLst>
      <p:ext uri="{BB962C8B-B14F-4D97-AF65-F5344CB8AC3E}">
        <p14:creationId xmlns:p14="http://schemas.microsoft.com/office/powerpoint/2010/main" val="32253613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Rectangle 2"/>
          <p:cNvSpPr>
            <a:spLocks noGrp="1" noChangeArrowheads="1"/>
          </p:cNvSpPr>
          <p:nvPr>
            <p:ph type="title"/>
          </p:nvPr>
        </p:nvSpPr>
        <p:spPr>
          <a:xfrm>
            <a:off x="420130" y="117475"/>
            <a:ext cx="11373937" cy="609600"/>
          </a:xfrm>
        </p:spPr>
        <p:txBody>
          <a:bodyPr/>
          <a:lstStyle/>
          <a:p>
            <a:r>
              <a:rPr lang="pt-BR" altLang="en-US" dirty="0">
                <a:effectLst>
                  <a:outerShdw sx="1000" sy="1000" algn="tl">
                    <a:srgbClr val="C0C0C0"/>
                  </a:outerShdw>
                </a:effectLst>
              </a:rPr>
              <a:t>Restrição de </a:t>
            </a:r>
            <a:r>
              <a:rPr lang="pt-BR" altLang="en-US" u="sng" dirty="0">
                <a:effectLst>
                  <a:outerShdw sx="1000" sy="1000" algn="tl">
                    <a:srgbClr val="C0C0C0"/>
                  </a:outerShdw>
                </a:effectLst>
              </a:rPr>
              <a:t>chave</a:t>
            </a:r>
            <a:r>
              <a:rPr lang="pt-BR" altLang="en-US" dirty="0">
                <a:effectLst>
                  <a:outerShdw sx="1000" sy="1000" algn="tl">
                    <a:srgbClr val="C0C0C0"/>
                  </a:outerShdw>
                </a:effectLst>
              </a:rPr>
              <a:t> (cont.)</a:t>
            </a:r>
          </a:p>
        </p:txBody>
      </p:sp>
      <p:sp>
        <p:nvSpPr>
          <p:cNvPr id="9218" name="Rectangle 3"/>
          <p:cNvSpPr>
            <a:spLocks noGrp="1" noChangeArrowheads="1"/>
          </p:cNvSpPr>
          <p:nvPr>
            <p:ph type="body" idx="1"/>
          </p:nvPr>
        </p:nvSpPr>
        <p:spPr>
          <a:xfrm>
            <a:off x="271850" y="753760"/>
            <a:ext cx="11522218" cy="5684108"/>
          </a:xfrm>
        </p:spPr>
        <p:txBody>
          <a:bodyPr/>
          <a:lstStyle/>
          <a:p>
            <a:pPr>
              <a:lnSpc>
                <a:spcPct val="120000"/>
              </a:lnSpc>
            </a:pPr>
            <a:r>
              <a:rPr lang="pt-BR" altLang="en-US" sz="2000" dirty="0">
                <a:sym typeface="Symbol" panose="05050102010706020507" pitchFamily="18" charset="2"/>
              </a:rPr>
              <a:t>Uma </a:t>
            </a:r>
            <a:r>
              <a:rPr lang="pt-BR" altLang="en-US" sz="2000" dirty="0" err="1">
                <a:sym typeface="Symbol" panose="05050102010706020507" pitchFamily="18" charset="2"/>
              </a:rPr>
              <a:t>superchave</a:t>
            </a:r>
            <a:r>
              <a:rPr lang="pt-BR" altLang="en-US" sz="2000" dirty="0">
                <a:sym typeface="Symbol" panose="05050102010706020507" pitchFamily="18" charset="2"/>
              </a:rPr>
              <a:t> </a:t>
            </a:r>
            <a:r>
              <a:rPr lang="pt-BR" altLang="en-US" sz="2000" i="1" dirty="0" err="1">
                <a:sym typeface="Symbol" panose="05050102010706020507" pitchFamily="18" charset="2"/>
              </a:rPr>
              <a:t>K</a:t>
            </a:r>
            <a:r>
              <a:rPr lang="pt-BR" altLang="en-US" sz="2000" dirty="0">
                <a:sym typeface="Symbol" panose="05050102010706020507" pitchFamily="18" charset="2"/>
              </a:rPr>
              <a:t> é uma </a:t>
            </a:r>
            <a:r>
              <a:rPr lang="pt-BR" altLang="en-US" sz="2000" u="sng" dirty="0">
                <a:sym typeface="Symbol" panose="05050102010706020507" pitchFamily="18" charset="2"/>
              </a:rPr>
              <a:t>chave candidata</a:t>
            </a:r>
            <a:r>
              <a:rPr lang="pt-BR" altLang="en-US" sz="2000" dirty="0">
                <a:sym typeface="Symbol" panose="05050102010706020507" pitchFamily="18" charset="2"/>
              </a:rPr>
              <a:t> se o conjunto </a:t>
            </a:r>
            <a:r>
              <a:rPr lang="pt-BR" altLang="en-US" sz="2000" i="1" dirty="0" err="1">
                <a:sym typeface="Symbol" panose="05050102010706020507" pitchFamily="18" charset="2"/>
              </a:rPr>
              <a:t>K</a:t>
            </a:r>
            <a:r>
              <a:rPr lang="pt-BR" altLang="en-US" sz="2000" dirty="0">
                <a:sym typeface="Symbol" panose="05050102010706020507" pitchFamily="18" charset="2"/>
              </a:rPr>
              <a:t> é mínimo, isto é, se a remoção de qualquer atributo de </a:t>
            </a:r>
            <a:r>
              <a:rPr lang="pt-BR" altLang="en-US" sz="2000" i="1" dirty="0" err="1">
                <a:sym typeface="Symbol" panose="05050102010706020507" pitchFamily="18" charset="2"/>
              </a:rPr>
              <a:t>k</a:t>
            </a:r>
            <a:r>
              <a:rPr lang="pt-BR" altLang="en-US" sz="2000" dirty="0">
                <a:sym typeface="Symbol" panose="05050102010706020507" pitchFamily="18" charset="2"/>
              </a:rPr>
              <a:t> implicar na perda da propriedade  de identificação unívoca de </a:t>
            </a:r>
            <a:r>
              <a:rPr lang="pt-BR" altLang="en-US" sz="2000" i="1" dirty="0" err="1">
                <a:sym typeface="Symbol" panose="05050102010706020507" pitchFamily="18" charset="2"/>
              </a:rPr>
              <a:t>tuplas</a:t>
            </a:r>
            <a:r>
              <a:rPr lang="pt-BR" altLang="en-US" sz="2000" dirty="0">
                <a:sym typeface="Symbol" panose="05050102010706020507" pitchFamily="18" charset="2"/>
              </a:rPr>
              <a:t>.</a:t>
            </a:r>
          </a:p>
          <a:p>
            <a:pPr lvl="1">
              <a:lnSpc>
                <a:spcPct val="120000"/>
              </a:lnSpc>
            </a:pPr>
            <a:r>
              <a:rPr lang="pt-BR" altLang="en-US" sz="2000" dirty="0">
                <a:sym typeface="Symbol" panose="05050102010706020507" pitchFamily="18" charset="2"/>
              </a:rPr>
              <a:t>Exemplo:  {</a:t>
            </a:r>
            <a:r>
              <a:rPr lang="pt-BR" altLang="en-US" sz="2000" i="1" dirty="0">
                <a:sym typeface="Symbol" panose="05050102010706020507" pitchFamily="18" charset="2"/>
              </a:rPr>
              <a:t>ID</a:t>
            </a:r>
            <a:r>
              <a:rPr lang="pt-BR" altLang="en-US" sz="2000" dirty="0">
                <a:sym typeface="Symbol" panose="05050102010706020507" pitchFamily="18" charset="2"/>
              </a:rPr>
              <a:t>} é uma chave candidata para a relação </a:t>
            </a:r>
            <a:r>
              <a:rPr lang="pt-BR" altLang="en-US" sz="2000" i="1" dirty="0">
                <a:sym typeface="Symbol" panose="05050102010706020507" pitchFamily="18" charset="2"/>
              </a:rPr>
              <a:t>professor</a:t>
            </a:r>
            <a:r>
              <a:rPr lang="pt-BR" altLang="en-US" sz="2000" dirty="0">
                <a:sym typeface="Symbol" panose="05050102010706020507" pitchFamily="18" charset="2"/>
              </a:rPr>
              <a:t>, pois a chave não pode ser vazia</a:t>
            </a:r>
            <a:r>
              <a:rPr lang="pt-BR" altLang="en-US" sz="2000" i="1" dirty="0">
                <a:sym typeface="Symbol" panose="05050102010706020507" pitchFamily="18" charset="2"/>
              </a:rPr>
              <a:t>.</a:t>
            </a:r>
            <a:endParaRPr lang="pt-BR" altLang="en-US" sz="2000" dirty="0">
              <a:sym typeface="Symbol" panose="05050102010706020507" pitchFamily="18" charset="2"/>
            </a:endParaRPr>
          </a:p>
          <a:p>
            <a:pPr>
              <a:lnSpc>
                <a:spcPct val="120000"/>
              </a:lnSpc>
            </a:pPr>
            <a:endParaRPr lang="pt-BR" altLang="en-US" sz="2000" dirty="0">
              <a:sym typeface="Symbol" panose="05050102010706020507" pitchFamily="18" charset="2"/>
            </a:endParaRPr>
          </a:p>
          <a:p>
            <a:pPr>
              <a:lnSpc>
                <a:spcPct val="120000"/>
              </a:lnSpc>
            </a:pPr>
            <a:r>
              <a:rPr lang="pt-BR" altLang="en-US" sz="2000" dirty="0">
                <a:sym typeface="Symbol" panose="05050102010706020507" pitchFamily="18" charset="2"/>
              </a:rPr>
              <a:t>É possível que haja mais de uma combinação de atributos que sirva como chave candidata. Neste caso, uma delas deve ser selecionada para ser a </a:t>
            </a:r>
            <a:r>
              <a:rPr lang="pt-BR" altLang="en-US" sz="2000" u="sng" dirty="0">
                <a:sym typeface="Symbol" panose="05050102010706020507" pitchFamily="18" charset="2"/>
              </a:rPr>
              <a:t>chave primária</a:t>
            </a:r>
            <a:r>
              <a:rPr lang="pt-BR" altLang="en-US" sz="2000" dirty="0">
                <a:solidFill>
                  <a:srgbClr val="002060"/>
                </a:solidFill>
                <a:sym typeface="Symbol" panose="05050102010706020507" pitchFamily="18" charset="2"/>
              </a:rPr>
              <a:t> </a:t>
            </a:r>
            <a:r>
              <a:rPr lang="pt-BR" altLang="en-US" sz="2000" dirty="0">
                <a:sym typeface="Symbol" panose="05050102010706020507" pitchFamily="18" charset="2"/>
              </a:rPr>
              <a:t>da relação.</a:t>
            </a:r>
          </a:p>
          <a:p>
            <a:pPr lvl="1">
              <a:lnSpc>
                <a:spcPct val="120000"/>
              </a:lnSpc>
            </a:pPr>
            <a:r>
              <a:rPr lang="pt-BR" altLang="en-US" sz="2000" dirty="0">
                <a:sym typeface="Symbol" panose="05050102010706020507" pitchFamily="18" charset="2"/>
              </a:rPr>
              <a:t>Normalmente escolhemos a menor (em bytes).</a:t>
            </a:r>
          </a:p>
          <a:p>
            <a:pPr>
              <a:lnSpc>
                <a:spcPct val="120000"/>
              </a:lnSpc>
            </a:pPr>
            <a:endParaRPr lang="pt-BR" altLang="en-US" sz="2000" dirty="0">
              <a:sym typeface="Symbol" panose="05050102010706020507" pitchFamily="18" charset="2"/>
            </a:endParaRPr>
          </a:p>
          <a:p>
            <a:pPr>
              <a:lnSpc>
                <a:spcPct val="120000"/>
              </a:lnSpc>
            </a:pPr>
            <a:r>
              <a:rPr lang="pt-BR" altLang="en-US" sz="2000" dirty="0">
                <a:sym typeface="Symbol" panose="05050102010706020507" pitchFamily="18" charset="2"/>
              </a:rPr>
              <a:t>Na especificação do esquema de uma relação, os atributos da chave primária normalmente aparecem primeiro e devem ser </a:t>
            </a:r>
            <a:r>
              <a:rPr lang="pt-BR" altLang="en-US" sz="2000" u="sng" dirty="0">
                <a:sym typeface="Symbol" panose="05050102010706020507" pitchFamily="18" charset="2"/>
              </a:rPr>
              <a:t>sublinhados</a:t>
            </a:r>
            <a:r>
              <a:rPr lang="pt-BR" altLang="en-US" sz="2000" dirty="0">
                <a:sym typeface="Symbol" panose="05050102010706020507" pitchFamily="18" charset="2"/>
              </a:rPr>
              <a:t>.</a:t>
            </a:r>
          </a:p>
          <a:p>
            <a:pPr lvl="1">
              <a:lnSpc>
                <a:spcPct val="120000"/>
              </a:lnSpc>
            </a:pPr>
            <a:r>
              <a:rPr lang="pt-BR" altLang="en-US" sz="2000" dirty="0">
                <a:sym typeface="Symbol" panose="05050102010706020507" pitchFamily="18" charset="2"/>
              </a:rPr>
              <a:t>Exemplo: </a:t>
            </a:r>
            <a:r>
              <a:rPr lang="pt-BR" altLang="en-US" sz="2000" i="1" dirty="0">
                <a:ea typeface="ＭＳ Ｐゴシック" panose="020B0600070205080204" pitchFamily="34" charset="-128"/>
              </a:rPr>
              <a:t>professor </a:t>
            </a:r>
            <a:r>
              <a:rPr lang="pt-BR" altLang="en-US" sz="2000" dirty="0">
                <a:ea typeface="ＭＳ Ｐゴシック" panose="020B0600070205080204" pitchFamily="34" charset="-128"/>
              </a:rPr>
              <a:t> = (</a:t>
            </a:r>
            <a:r>
              <a:rPr lang="pt-BR" altLang="en-US" sz="2000" i="1" u="sng" dirty="0">
                <a:ea typeface="ＭＳ Ｐゴシック" panose="020B0600070205080204" pitchFamily="34" charset="-128"/>
              </a:rPr>
              <a:t>ID</a:t>
            </a:r>
            <a:r>
              <a:rPr lang="pt-BR" altLang="en-US" sz="2000" i="1" dirty="0">
                <a:ea typeface="ＭＳ Ｐゴシック" panose="020B0600070205080204" pitchFamily="34" charset="-128"/>
              </a:rPr>
              <a:t>,  nome, </a:t>
            </a:r>
            <a:r>
              <a:rPr lang="pt-BR" altLang="en-US" sz="2000" i="1" dirty="0" err="1">
                <a:ea typeface="ＭＳ Ｐゴシック" panose="020B0600070205080204" pitchFamily="34" charset="-128"/>
              </a:rPr>
              <a:t>nome_dept</a:t>
            </a:r>
            <a:r>
              <a:rPr lang="pt-BR" altLang="en-US" sz="2000" i="1" dirty="0">
                <a:ea typeface="ＭＳ Ｐゴシック" panose="020B0600070205080204" pitchFamily="34" charset="-128"/>
              </a:rPr>
              <a:t>, salário)</a:t>
            </a:r>
            <a:endParaRPr lang="pt-BR" altLang="en-US" sz="2000" dirty="0">
              <a:ea typeface="ＭＳ Ｐゴシック" panose="020B0600070205080204" pitchFamily="34" charset="-128"/>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1">
            <a:extLst>
              <a:ext uri="{FF2B5EF4-FFF2-40B4-BE49-F238E27FC236}">
                <a16:creationId xmlns:a16="http://schemas.microsoft.com/office/drawing/2014/main" id="{CFECD694-FB78-F146-9617-4832B38261D5}"/>
              </a:ext>
            </a:extLst>
          </p:cNvPr>
          <p:cNvSpPr>
            <a:spLocks noGrp="1" noChangeArrowheads="1"/>
          </p:cNvSpPr>
          <p:nvPr>
            <p:ph type="title"/>
          </p:nvPr>
        </p:nvSpPr>
        <p:spPr>
          <a:xfrm>
            <a:off x="247135" y="303214"/>
            <a:ext cx="11788346" cy="537045"/>
          </a:xfrm>
        </p:spPr>
        <p:txBody>
          <a:bodyPr vert="horz" wrap="square" lIns="90000" tIns="46800" rIns="90000" bIns="46800" numCol="1" anchor="b" anchorCtr="0" compatLnSpc="1">
            <a:prstTxWarp prst="textNoShape">
              <a:avLst/>
            </a:prstTxWarp>
          </a:bodyPr>
          <a:lstStyle/>
          <a:p>
            <a:pPr eaLnBrk="1" hangingPunct="1">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pt-BR" altLang="en-BR" dirty="0"/>
              <a:t>Restrição de </a:t>
            </a:r>
            <a:r>
              <a:rPr lang="pt-BR" altLang="en-BR" u="sng" dirty="0"/>
              <a:t>integridade referencial</a:t>
            </a:r>
          </a:p>
        </p:txBody>
      </p:sp>
      <p:sp>
        <p:nvSpPr>
          <p:cNvPr id="35842" name="Rectangle 2">
            <a:extLst>
              <a:ext uri="{FF2B5EF4-FFF2-40B4-BE49-F238E27FC236}">
                <a16:creationId xmlns:a16="http://schemas.microsoft.com/office/drawing/2014/main" id="{8A18C586-0767-274C-A87D-A3CA9055CA68}"/>
              </a:ext>
            </a:extLst>
          </p:cNvPr>
          <p:cNvSpPr>
            <a:spLocks noGrp="1" noChangeArrowheads="1"/>
          </p:cNvSpPr>
          <p:nvPr>
            <p:ph type="body" idx="1"/>
          </p:nvPr>
        </p:nvSpPr>
        <p:spPr>
          <a:xfrm>
            <a:off x="494270" y="1087395"/>
            <a:ext cx="11442357" cy="5084805"/>
          </a:xfrm>
        </p:spPr>
        <p:txBody>
          <a:bodyPr vert="horz" wrap="square" lIns="90000" tIns="46800" rIns="91440" bIns="46800" numCol="1" anchor="t" anchorCtr="0" compatLnSpc="1">
            <a:prstTxWarp prst="textNoShape">
              <a:avLst/>
            </a:prstTxWarp>
          </a:bodyPr>
          <a:lstStyle/>
          <a:p>
            <a:pPr eaLnBrk="1" hangingPunct="1">
              <a:spcBef>
                <a:spcPts val="700"/>
              </a:spcBef>
              <a:tabLst>
                <a:tab pos="336550" algn="l"/>
                <a:tab pos="449263" algn="l"/>
                <a:tab pos="906463" algn="l"/>
                <a:tab pos="1363663" algn="l"/>
                <a:tab pos="1820863" algn="l"/>
                <a:tab pos="2278063" algn="l"/>
                <a:tab pos="2735263" algn="l"/>
                <a:tab pos="3192463" algn="l"/>
                <a:tab pos="3649663" algn="l"/>
                <a:tab pos="4106863" algn="l"/>
                <a:tab pos="4564063" algn="l"/>
                <a:tab pos="5021263" algn="l"/>
                <a:tab pos="5478463" algn="l"/>
                <a:tab pos="5935663" algn="l"/>
                <a:tab pos="6392863" algn="l"/>
                <a:tab pos="6850063" algn="l"/>
                <a:tab pos="7307263" algn="l"/>
                <a:tab pos="7764463" algn="l"/>
                <a:tab pos="8221663" algn="l"/>
                <a:tab pos="8678863" algn="l"/>
                <a:tab pos="9136063" algn="l"/>
              </a:tabLst>
            </a:pPr>
            <a:r>
              <a:rPr lang="pt-BR" altLang="en-BR" sz="2000" dirty="0"/>
              <a:t>Diferentemente da restrição de chave, que envolve uma única relação, a restrição de integridade referencial, envolve duas relações. </a:t>
            </a:r>
          </a:p>
          <a:p>
            <a:pPr marL="0" indent="0" eaLnBrk="1" hangingPunct="1">
              <a:spcBef>
                <a:spcPts val="700"/>
              </a:spcBef>
              <a:buNone/>
              <a:tabLst>
                <a:tab pos="336550" algn="l"/>
                <a:tab pos="449263" algn="l"/>
                <a:tab pos="906463" algn="l"/>
                <a:tab pos="1363663" algn="l"/>
                <a:tab pos="1820863" algn="l"/>
                <a:tab pos="2278063" algn="l"/>
                <a:tab pos="2735263" algn="l"/>
                <a:tab pos="3192463" algn="l"/>
                <a:tab pos="3649663" algn="l"/>
                <a:tab pos="4106863" algn="l"/>
                <a:tab pos="4564063" algn="l"/>
                <a:tab pos="5021263" algn="l"/>
                <a:tab pos="5478463" algn="l"/>
                <a:tab pos="5935663" algn="l"/>
                <a:tab pos="6392863" algn="l"/>
                <a:tab pos="6850063" algn="l"/>
                <a:tab pos="7307263" algn="l"/>
                <a:tab pos="7764463" algn="l"/>
                <a:tab pos="8221663" algn="l"/>
                <a:tab pos="8678863" algn="l"/>
                <a:tab pos="9136063" algn="l"/>
              </a:tabLst>
            </a:pPr>
            <a:endParaRPr lang="pt-BR" altLang="en-BR" sz="2000" dirty="0"/>
          </a:p>
          <a:p>
            <a:pPr eaLnBrk="1" hangingPunct="1">
              <a:spcBef>
                <a:spcPts val="700"/>
              </a:spcBef>
              <a:tabLst>
                <a:tab pos="336550" algn="l"/>
                <a:tab pos="449263" algn="l"/>
                <a:tab pos="906463" algn="l"/>
                <a:tab pos="1363663" algn="l"/>
                <a:tab pos="1820863" algn="l"/>
                <a:tab pos="2278063" algn="l"/>
                <a:tab pos="2735263" algn="l"/>
                <a:tab pos="3192463" algn="l"/>
                <a:tab pos="3649663" algn="l"/>
                <a:tab pos="4106863" algn="l"/>
                <a:tab pos="4564063" algn="l"/>
                <a:tab pos="5021263" algn="l"/>
                <a:tab pos="5478463" algn="l"/>
                <a:tab pos="5935663" algn="l"/>
                <a:tab pos="6392863" algn="l"/>
                <a:tab pos="6850063" algn="l"/>
                <a:tab pos="7307263" algn="l"/>
                <a:tab pos="7764463" algn="l"/>
                <a:tab pos="8221663" algn="l"/>
                <a:tab pos="8678863" algn="l"/>
                <a:tab pos="9136063" algn="l"/>
              </a:tabLst>
            </a:pPr>
            <a:r>
              <a:rPr lang="pt-PT" sz="2000" dirty="0"/>
              <a:t>A mais importante das restrições de integridade referencial é </a:t>
            </a:r>
            <a:r>
              <a:rPr lang="pt-BR" sz="2000" dirty="0"/>
              <a:t>a </a:t>
            </a:r>
            <a:r>
              <a:rPr lang="pt-BR" altLang="en-BR" sz="2000" dirty="0"/>
              <a:t>chamada </a:t>
            </a:r>
            <a:r>
              <a:rPr lang="pt-BR" altLang="en-BR" sz="2000" u="sng" dirty="0"/>
              <a:t>restrição de chave estrangeira</a:t>
            </a:r>
            <a:r>
              <a:rPr lang="pt-BR" altLang="en-BR" sz="2000" dirty="0"/>
              <a:t>. Um subconjunto </a:t>
            </a:r>
            <a:r>
              <a:rPr lang="pt-PT" altLang="en-BR" sz="2000" dirty="0"/>
              <a:t>de</a:t>
            </a:r>
            <a:r>
              <a:rPr lang="pt-PT" sz="2000" dirty="0"/>
              <a:t> atributos </a:t>
            </a:r>
            <a:r>
              <a:rPr lang="pt-PT" sz="2000" i="1" dirty="0"/>
              <a:t>A</a:t>
            </a:r>
            <a:r>
              <a:rPr lang="pt-PT" sz="2000" dirty="0"/>
              <a:t> da relação </a:t>
            </a:r>
            <a:r>
              <a:rPr lang="pt-PT" sz="2000" i="1" dirty="0"/>
              <a:t>R</a:t>
            </a:r>
            <a:r>
              <a:rPr lang="pt-PT" sz="2000" i="1" baseline="-25000" dirty="0"/>
              <a:t>1</a:t>
            </a:r>
            <a:r>
              <a:rPr lang="pt-PT" sz="2000" dirty="0"/>
              <a:t> formam uma chave estrangeira para a relação </a:t>
            </a:r>
            <a:r>
              <a:rPr lang="pt-PT" sz="2000" i="1" dirty="0"/>
              <a:t>R</a:t>
            </a:r>
            <a:r>
              <a:rPr lang="pt-PT" sz="2000" i="1" baseline="-25000" dirty="0"/>
              <a:t>2</a:t>
            </a:r>
            <a:r>
              <a:rPr lang="pt-PT" sz="2000" dirty="0"/>
              <a:t>, se em qualquer estado consistente do banco de dados, o valor de </a:t>
            </a:r>
            <a:r>
              <a:rPr lang="pt-PT" sz="2000" i="1" dirty="0"/>
              <a:t>A</a:t>
            </a:r>
            <a:r>
              <a:rPr lang="pt-PT" sz="2000" dirty="0"/>
              <a:t> em cada </a:t>
            </a:r>
            <a:r>
              <a:rPr lang="pt-PT" sz="2000" i="1" dirty="0" err="1"/>
              <a:t>tupla</a:t>
            </a:r>
            <a:r>
              <a:rPr lang="pt-PT" sz="2000" dirty="0"/>
              <a:t> de </a:t>
            </a:r>
            <a:r>
              <a:rPr lang="pt-PT" sz="2000" i="1" dirty="0"/>
              <a:t>r</a:t>
            </a:r>
            <a:r>
              <a:rPr lang="pt-PT" sz="2000" dirty="0"/>
              <a:t>(</a:t>
            </a:r>
            <a:r>
              <a:rPr lang="pt-PT" sz="2000" i="1" dirty="0"/>
              <a:t>R</a:t>
            </a:r>
            <a:r>
              <a:rPr lang="pt-PT" sz="2000" i="1" baseline="-25000" dirty="0"/>
              <a:t>1</a:t>
            </a:r>
            <a:r>
              <a:rPr lang="pt-PT" sz="2000" i="1" dirty="0"/>
              <a:t>)</a:t>
            </a:r>
            <a:r>
              <a:rPr lang="pt-PT" sz="2000" dirty="0"/>
              <a:t> for igual ao valor da chave primária </a:t>
            </a:r>
            <a:r>
              <a:rPr lang="pt-PT" sz="2000" i="1" dirty="0"/>
              <a:t>B</a:t>
            </a:r>
            <a:r>
              <a:rPr lang="pt-PT" sz="2000" dirty="0"/>
              <a:t> de alguma </a:t>
            </a:r>
            <a:r>
              <a:rPr lang="pt-PT" sz="2000" i="1" dirty="0" err="1"/>
              <a:t>tupla</a:t>
            </a:r>
            <a:r>
              <a:rPr lang="pt-PT" sz="2000" dirty="0"/>
              <a:t> de </a:t>
            </a:r>
            <a:r>
              <a:rPr lang="pt-PT" sz="2000" i="1" dirty="0"/>
              <a:t>r(R</a:t>
            </a:r>
            <a:r>
              <a:rPr lang="pt-PT" sz="2000" i="1" baseline="-25000" dirty="0"/>
              <a:t>2</a:t>
            </a:r>
            <a:r>
              <a:rPr lang="pt-PT" sz="2000" dirty="0"/>
              <a:t>). O conjunto de atributos </a:t>
            </a:r>
            <a:r>
              <a:rPr lang="pt-PT" sz="2000" i="1" dirty="0"/>
              <a:t>A</a:t>
            </a:r>
            <a:r>
              <a:rPr lang="pt-PT" sz="2000" dirty="0"/>
              <a:t> é chamado de chave estrangeira de </a:t>
            </a:r>
            <a:r>
              <a:rPr lang="pt-PT" sz="2000" i="1" dirty="0"/>
              <a:t>R</a:t>
            </a:r>
            <a:r>
              <a:rPr lang="pt-PT" sz="2000" i="1" baseline="-25000" dirty="0"/>
              <a:t>1</a:t>
            </a:r>
            <a:r>
              <a:rPr lang="pt-PT" sz="2000" dirty="0"/>
              <a:t> referenciando </a:t>
            </a:r>
            <a:r>
              <a:rPr lang="pt-PT" sz="2000" i="1" dirty="0"/>
              <a:t>R</a:t>
            </a:r>
            <a:r>
              <a:rPr lang="pt-PT" sz="2000" i="1" baseline="-25000" dirty="0"/>
              <a:t>2</a:t>
            </a:r>
            <a:r>
              <a:rPr lang="pt-PT" sz="2000" dirty="0"/>
              <a:t>. A relação </a:t>
            </a:r>
            <a:r>
              <a:rPr lang="pt-PT" sz="2000" i="1" dirty="0"/>
              <a:t>R</a:t>
            </a:r>
            <a:r>
              <a:rPr lang="pt-PT" sz="2000" i="1" baseline="-25000" dirty="0"/>
              <a:t>1</a:t>
            </a:r>
            <a:r>
              <a:rPr lang="pt-PT" sz="2000" dirty="0"/>
              <a:t> também é chamada de relação referenciadora e </a:t>
            </a:r>
            <a:r>
              <a:rPr lang="pt-PT" sz="2000" i="1" dirty="0"/>
              <a:t>R</a:t>
            </a:r>
            <a:r>
              <a:rPr lang="pt-PT" sz="2000" i="1" baseline="-25000" dirty="0"/>
              <a:t>2</a:t>
            </a:r>
            <a:r>
              <a:rPr lang="pt-PT" sz="2000" dirty="0"/>
              <a:t> é chamada de relação referenciada.</a:t>
            </a:r>
          </a:p>
          <a:p>
            <a:pPr eaLnBrk="1" hangingPunct="1">
              <a:spcBef>
                <a:spcPts val="700"/>
              </a:spcBef>
              <a:tabLst>
                <a:tab pos="336550" algn="l"/>
                <a:tab pos="449263" algn="l"/>
                <a:tab pos="906463" algn="l"/>
                <a:tab pos="1363663" algn="l"/>
                <a:tab pos="1820863" algn="l"/>
                <a:tab pos="2278063" algn="l"/>
                <a:tab pos="2735263" algn="l"/>
                <a:tab pos="3192463" algn="l"/>
                <a:tab pos="3649663" algn="l"/>
                <a:tab pos="4106863" algn="l"/>
                <a:tab pos="4564063" algn="l"/>
                <a:tab pos="5021263" algn="l"/>
                <a:tab pos="5478463" algn="l"/>
                <a:tab pos="5935663" algn="l"/>
                <a:tab pos="6392863" algn="l"/>
                <a:tab pos="6850063" algn="l"/>
                <a:tab pos="7307263" algn="l"/>
                <a:tab pos="7764463" algn="l"/>
                <a:tab pos="8221663" algn="l"/>
                <a:tab pos="8678863" algn="l"/>
                <a:tab pos="9136063" algn="l"/>
              </a:tabLst>
            </a:pPr>
            <a:endParaRPr lang="pt-PT" altLang="en-BR" sz="2000" dirty="0"/>
          </a:p>
          <a:p>
            <a:pPr eaLnBrk="1" hangingPunct="1">
              <a:spcBef>
                <a:spcPts val="700"/>
              </a:spcBef>
              <a:tabLst>
                <a:tab pos="336550" algn="l"/>
                <a:tab pos="449263" algn="l"/>
                <a:tab pos="906463" algn="l"/>
                <a:tab pos="1363663" algn="l"/>
                <a:tab pos="1820863" algn="l"/>
                <a:tab pos="2278063" algn="l"/>
                <a:tab pos="2735263" algn="l"/>
                <a:tab pos="3192463" algn="l"/>
                <a:tab pos="3649663" algn="l"/>
                <a:tab pos="4106863" algn="l"/>
                <a:tab pos="4564063" algn="l"/>
                <a:tab pos="5021263" algn="l"/>
                <a:tab pos="5478463" algn="l"/>
                <a:tab pos="5935663" algn="l"/>
                <a:tab pos="6392863" algn="l"/>
                <a:tab pos="6850063" algn="l"/>
                <a:tab pos="7307263" algn="l"/>
                <a:tab pos="7764463" algn="l"/>
                <a:tab pos="8221663" algn="l"/>
                <a:tab pos="8678863" algn="l"/>
                <a:tab pos="9136063" algn="l"/>
              </a:tabLst>
            </a:pPr>
            <a:r>
              <a:rPr lang="pt-BR" altLang="en-BR" sz="2000" dirty="0"/>
              <a:t>Observe que em uma restrição de chave estrangeira, o(</a:t>
            </a:r>
            <a:r>
              <a:rPr lang="pt-BR" altLang="en-BR" sz="2000" dirty="0" err="1"/>
              <a:t>s</a:t>
            </a:r>
            <a:r>
              <a:rPr lang="pt-BR" altLang="en-BR" sz="2000" dirty="0"/>
              <a:t>) atributo(</a:t>
            </a:r>
            <a:r>
              <a:rPr lang="pt-BR" altLang="en-BR" sz="2000" dirty="0" err="1"/>
              <a:t>s</a:t>
            </a:r>
            <a:r>
              <a:rPr lang="pt-BR" altLang="en-BR" sz="2000" dirty="0"/>
              <a:t>) referenciado(</a:t>
            </a:r>
            <a:r>
              <a:rPr lang="pt-BR" altLang="en-BR" sz="2000" dirty="0" err="1"/>
              <a:t>s</a:t>
            </a:r>
            <a:r>
              <a:rPr lang="pt-BR" altLang="en-BR" sz="2000" dirty="0"/>
              <a:t>) deve(m) ser a chave primária da relação referenciada. No caso mais geral, uma restrição de integridade referencial relaxa o requisito de que os atributos referenciados formem a chave primária da relação referenciada. Os sistemas de banco de dados atuais normalmente suportam restrições de chave estrangeira, mas não suportam restrições de integridade referencial onde o atributo referenciado não é um chave primária.</a:t>
            </a:r>
          </a:p>
          <a:p>
            <a:pPr eaLnBrk="1" hangingPunct="1">
              <a:spcBef>
                <a:spcPts val="700"/>
              </a:spcBef>
              <a:tabLst>
                <a:tab pos="336550" algn="l"/>
                <a:tab pos="449263" algn="l"/>
                <a:tab pos="906463" algn="l"/>
                <a:tab pos="1363663" algn="l"/>
                <a:tab pos="1820863" algn="l"/>
                <a:tab pos="2278063" algn="l"/>
                <a:tab pos="2735263" algn="l"/>
                <a:tab pos="3192463" algn="l"/>
                <a:tab pos="3649663" algn="l"/>
                <a:tab pos="4106863" algn="l"/>
                <a:tab pos="4564063" algn="l"/>
                <a:tab pos="5021263" algn="l"/>
                <a:tab pos="5478463" algn="l"/>
                <a:tab pos="5935663" algn="l"/>
                <a:tab pos="6392863" algn="l"/>
                <a:tab pos="6850063" algn="l"/>
                <a:tab pos="7307263" algn="l"/>
                <a:tab pos="7764463" algn="l"/>
                <a:tab pos="8221663" algn="l"/>
                <a:tab pos="8678863" algn="l"/>
                <a:tab pos="9136063" algn="l"/>
              </a:tabLst>
            </a:pPr>
            <a:endParaRPr lang="pt-BR" altLang="en-BR" sz="2000" dirty="0"/>
          </a:p>
          <a:p>
            <a:pPr eaLnBrk="1" hangingPunct="1">
              <a:spcBef>
                <a:spcPts val="700"/>
              </a:spcBef>
              <a:tabLst>
                <a:tab pos="336550" algn="l"/>
                <a:tab pos="449263" algn="l"/>
                <a:tab pos="906463" algn="l"/>
                <a:tab pos="1363663" algn="l"/>
                <a:tab pos="1820863" algn="l"/>
                <a:tab pos="2278063" algn="l"/>
                <a:tab pos="2735263" algn="l"/>
                <a:tab pos="3192463" algn="l"/>
                <a:tab pos="3649663" algn="l"/>
                <a:tab pos="4106863" algn="l"/>
                <a:tab pos="4564063" algn="l"/>
                <a:tab pos="5021263" algn="l"/>
                <a:tab pos="5478463" algn="l"/>
                <a:tab pos="5935663" algn="l"/>
                <a:tab pos="6392863" algn="l"/>
                <a:tab pos="6850063" algn="l"/>
                <a:tab pos="7307263" algn="l"/>
                <a:tab pos="7764463" algn="l"/>
                <a:tab pos="8221663" algn="l"/>
                <a:tab pos="8678863" algn="l"/>
                <a:tab pos="9136063" algn="l"/>
              </a:tabLst>
            </a:pPr>
            <a:endParaRPr lang="pt-BR" altLang="en-BR" sz="2000" dirty="0"/>
          </a:p>
        </p:txBody>
      </p:sp>
    </p:spTree>
    <p:extLst>
      <p:ext uri="{BB962C8B-B14F-4D97-AF65-F5344CB8AC3E}">
        <p14:creationId xmlns:p14="http://schemas.microsoft.com/office/powerpoint/2010/main" val="3288357983"/>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Rectangle 2"/>
          <p:cNvSpPr>
            <a:spLocks noGrp="1" noChangeArrowheads="1"/>
          </p:cNvSpPr>
          <p:nvPr>
            <p:ph type="title"/>
          </p:nvPr>
        </p:nvSpPr>
        <p:spPr>
          <a:xfrm>
            <a:off x="420130" y="117475"/>
            <a:ext cx="11373937" cy="609600"/>
          </a:xfrm>
        </p:spPr>
        <p:txBody>
          <a:bodyPr/>
          <a:lstStyle/>
          <a:p>
            <a:r>
              <a:rPr lang="pt-BR" altLang="en-BR" sz="3200" dirty="0"/>
              <a:t>Restrição de </a:t>
            </a:r>
            <a:r>
              <a:rPr lang="pt-BR" altLang="en-BR" sz="3200" u="sng" dirty="0"/>
              <a:t>integridade referencial</a:t>
            </a:r>
            <a:r>
              <a:rPr lang="pt-BR" altLang="en-BR" sz="3200" dirty="0"/>
              <a:t> (Cont.)</a:t>
            </a:r>
            <a:endParaRPr lang="pt-BR" altLang="en-US" sz="3200" dirty="0">
              <a:effectLst>
                <a:outerShdw sx="1000" sy="1000" algn="tl">
                  <a:srgbClr val="C0C0C0"/>
                </a:outerShdw>
              </a:effectLst>
            </a:endParaRPr>
          </a:p>
        </p:txBody>
      </p:sp>
      <p:sp>
        <p:nvSpPr>
          <p:cNvPr id="5" name="TextBox 4">
            <a:extLst>
              <a:ext uri="{FF2B5EF4-FFF2-40B4-BE49-F238E27FC236}">
                <a16:creationId xmlns:a16="http://schemas.microsoft.com/office/drawing/2014/main" id="{A6BC3EE0-D10F-7540-B5B6-EBF15BD30FF0}"/>
              </a:ext>
            </a:extLst>
          </p:cNvPr>
          <p:cNvSpPr txBox="1"/>
          <p:nvPr/>
        </p:nvSpPr>
        <p:spPr>
          <a:xfrm>
            <a:off x="726593" y="1262014"/>
            <a:ext cx="2082019" cy="400110"/>
          </a:xfrm>
          <a:prstGeom prst="rect">
            <a:avLst/>
          </a:prstGeom>
          <a:noFill/>
        </p:spPr>
        <p:txBody>
          <a:bodyPr wrap="square" rtlCol="0">
            <a:spAutoFit/>
          </a:bodyPr>
          <a:lstStyle/>
          <a:p>
            <a:r>
              <a:rPr lang="en-US" sz="2000" i="1" dirty="0">
                <a:effectLst>
                  <a:outerShdw dist="38100" sx="1000" sy="1000" algn="tl">
                    <a:srgbClr val="C0C0C0"/>
                  </a:outerShdw>
                </a:effectLst>
              </a:rPr>
              <a:t>professor</a:t>
            </a:r>
            <a:endParaRPr lang="pt-BR" sz="2000" i="1" dirty="0"/>
          </a:p>
        </p:txBody>
      </p:sp>
      <p:grpSp>
        <p:nvGrpSpPr>
          <p:cNvPr id="6" name="Group 5">
            <a:extLst>
              <a:ext uri="{FF2B5EF4-FFF2-40B4-BE49-F238E27FC236}">
                <a16:creationId xmlns:a16="http://schemas.microsoft.com/office/drawing/2014/main" id="{8416D234-BBE0-E843-92B7-EBA9D73FE093}"/>
              </a:ext>
            </a:extLst>
          </p:cNvPr>
          <p:cNvGrpSpPr/>
          <p:nvPr/>
        </p:nvGrpSpPr>
        <p:grpSpPr>
          <a:xfrm>
            <a:off x="661159" y="1472685"/>
            <a:ext cx="5154612" cy="4428000"/>
            <a:chOff x="5356737" y="1756896"/>
            <a:chExt cx="5154612" cy="4428000"/>
          </a:xfrm>
        </p:grpSpPr>
        <p:pic>
          <p:nvPicPr>
            <p:cNvPr id="7" name="Graphic 6">
              <a:extLst>
                <a:ext uri="{FF2B5EF4-FFF2-40B4-BE49-F238E27FC236}">
                  <a16:creationId xmlns:a16="http://schemas.microsoft.com/office/drawing/2014/main" id="{BCB4A2C2-82C8-9543-B24B-261A37647A8A}"/>
                </a:ext>
              </a:extLst>
            </p:cNvPr>
            <p:cNvPicPr>
              <a:picLocks noChangeAspect="1"/>
            </p:cNvPicPr>
            <p:nvPr/>
          </p:nvPicPr>
          <p:blipFill rotWithShape="1">
            <a:blip r:embed="rId3">
              <a:extLst>
                <a:ext uri="{96DAC541-7B7A-43D3-8B79-37D633B846F1}">
                  <asvg:svgBlip xmlns:asvg="http://schemas.microsoft.com/office/drawing/2016/SVG/main" r:embed="rId4"/>
                </a:ext>
              </a:extLst>
            </a:blip>
            <a:srcRect b="13197"/>
            <a:stretch/>
          </p:blipFill>
          <p:spPr>
            <a:xfrm>
              <a:off x="5356737" y="1756896"/>
              <a:ext cx="5154612" cy="4428000"/>
            </a:xfrm>
            <a:prstGeom prst="rect">
              <a:avLst/>
            </a:prstGeom>
          </p:spPr>
        </p:pic>
        <p:sp>
          <p:nvSpPr>
            <p:cNvPr id="8" name="TextBox 7">
              <a:extLst>
                <a:ext uri="{FF2B5EF4-FFF2-40B4-BE49-F238E27FC236}">
                  <a16:creationId xmlns:a16="http://schemas.microsoft.com/office/drawing/2014/main" id="{ABA7DECB-A64A-BF4C-9964-45219AA38BE9}"/>
                </a:ext>
              </a:extLst>
            </p:cNvPr>
            <p:cNvSpPr txBox="1"/>
            <p:nvPr/>
          </p:nvSpPr>
          <p:spPr>
            <a:xfrm>
              <a:off x="5711781" y="1945421"/>
              <a:ext cx="494270" cy="338554"/>
            </a:xfrm>
            <a:prstGeom prst="rect">
              <a:avLst/>
            </a:prstGeom>
            <a:solidFill>
              <a:srgbClr val="CCEEFB"/>
            </a:solidFill>
          </p:spPr>
          <p:txBody>
            <a:bodyPr wrap="square" rtlCol="0">
              <a:spAutoFit/>
            </a:bodyPr>
            <a:lstStyle/>
            <a:p>
              <a:r>
                <a:rPr lang="pt-BR" i="1" u="sng" dirty="0"/>
                <a:t>ID</a:t>
              </a:r>
            </a:p>
          </p:txBody>
        </p:sp>
        <p:sp>
          <p:nvSpPr>
            <p:cNvPr id="9" name="TextBox 8">
              <a:extLst>
                <a:ext uri="{FF2B5EF4-FFF2-40B4-BE49-F238E27FC236}">
                  <a16:creationId xmlns:a16="http://schemas.microsoft.com/office/drawing/2014/main" id="{AC7FACFF-4E91-C949-ABE8-65EA7EB408AC}"/>
                </a:ext>
              </a:extLst>
            </p:cNvPr>
            <p:cNvSpPr txBox="1"/>
            <p:nvPr/>
          </p:nvSpPr>
          <p:spPr>
            <a:xfrm>
              <a:off x="6501419" y="1945421"/>
              <a:ext cx="826898" cy="338554"/>
            </a:xfrm>
            <a:prstGeom prst="rect">
              <a:avLst/>
            </a:prstGeom>
            <a:solidFill>
              <a:srgbClr val="CCEEFB"/>
            </a:solidFill>
          </p:spPr>
          <p:txBody>
            <a:bodyPr wrap="square" rtlCol="0">
              <a:spAutoFit/>
            </a:bodyPr>
            <a:lstStyle/>
            <a:p>
              <a:r>
                <a:rPr lang="pt-BR" i="1" dirty="0"/>
                <a:t>nome</a:t>
              </a:r>
            </a:p>
          </p:txBody>
        </p:sp>
        <p:sp>
          <p:nvSpPr>
            <p:cNvPr id="10" name="TextBox 9">
              <a:extLst>
                <a:ext uri="{FF2B5EF4-FFF2-40B4-BE49-F238E27FC236}">
                  <a16:creationId xmlns:a16="http://schemas.microsoft.com/office/drawing/2014/main" id="{745F3324-B7C3-224B-8AF4-508334DA1516}"/>
                </a:ext>
              </a:extLst>
            </p:cNvPr>
            <p:cNvSpPr txBox="1"/>
            <p:nvPr/>
          </p:nvSpPr>
          <p:spPr>
            <a:xfrm>
              <a:off x="7919752" y="1968931"/>
              <a:ext cx="1239652" cy="338554"/>
            </a:xfrm>
            <a:prstGeom prst="rect">
              <a:avLst/>
            </a:prstGeom>
            <a:solidFill>
              <a:srgbClr val="CCEEFB"/>
            </a:solidFill>
          </p:spPr>
          <p:txBody>
            <a:bodyPr wrap="square" rtlCol="0">
              <a:spAutoFit/>
            </a:bodyPr>
            <a:lstStyle/>
            <a:p>
              <a:r>
                <a:rPr lang="pt-BR" i="1" dirty="0" err="1"/>
                <a:t>nome_dept</a:t>
              </a:r>
              <a:endParaRPr lang="pt-BR" i="1" dirty="0"/>
            </a:p>
          </p:txBody>
        </p:sp>
        <p:sp>
          <p:nvSpPr>
            <p:cNvPr id="11" name="TextBox 10">
              <a:extLst>
                <a:ext uri="{FF2B5EF4-FFF2-40B4-BE49-F238E27FC236}">
                  <a16:creationId xmlns:a16="http://schemas.microsoft.com/office/drawing/2014/main" id="{9377B1B0-247C-EF47-AFF6-D0B8DC52263B}"/>
                </a:ext>
              </a:extLst>
            </p:cNvPr>
            <p:cNvSpPr txBox="1"/>
            <p:nvPr/>
          </p:nvSpPr>
          <p:spPr>
            <a:xfrm>
              <a:off x="9485784" y="1945421"/>
              <a:ext cx="795886" cy="338554"/>
            </a:xfrm>
            <a:prstGeom prst="rect">
              <a:avLst/>
            </a:prstGeom>
            <a:solidFill>
              <a:srgbClr val="CCEEFB"/>
            </a:solidFill>
          </p:spPr>
          <p:txBody>
            <a:bodyPr wrap="square" rtlCol="0">
              <a:spAutoFit/>
            </a:bodyPr>
            <a:lstStyle/>
            <a:p>
              <a:r>
                <a:rPr lang="pt-BR" i="1" dirty="0"/>
                <a:t>salário</a:t>
              </a:r>
            </a:p>
          </p:txBody>
        </p:sp>
      </p:grpSp>
      <p:grpSp>
        <p:nvGrpSpPr>
          <p:cNvPr id="12" name="Group 11">
            <a:extLst>
              <a:ext uri="{FF2B5EF4-FFF2-40B4-BE49-F238E27FC236}">
                <a16:creationId xmlns:a16="http://schemas.microsoft.com/office/drawing/2014/main" id="{E526A629-A554-804C-84E0-989128DA112B}"/>
              </a:ext>
            </a:extLst>
          </p:cNvPr>
          <p:cNvGrpSpPr/>
          <p:nvPr/>
        </p:nvGrpSpPr>
        <p:grpSpPr>
          <a:xfrm>
            <a:off x="6945698" y="2119012"/>
            <a:ext cx="4330700" cy="3213100"/>
            <a:chOff x="6945698" y="2168440"/>
            <a:chExt cx="4330700" cy="3213100"/>
          </a:xfrm>
        </p:grpSpPr>
        <p:pic>
          <p:nvPicPr>
            <p:cNvPr id="4" name="Picture 3">
              <a:extLst>
                <a:ext uri="{FF2B5EF4-FFF2-40B4-BE49-F238E27FC236}">
                  <a16:creationId xmlns:a16="http://schemas.microsoft.com/office/drawing/2014/main" id="{25A0F4AB-CCAE-C545-B92D-DB2C5F638F84}"/>
                </a:ext>
              </a:extLst>
            </p:cNvPr>
            <p:cNvPicPr>
              <a:picLocks noChangeAspect="1"/>
            </p:cNvPicPr>
            <p:nvPr/>
          </p:nvPicPr>
          <p:blipFill>
            <a:blip r:embed="rId5"/>
            <a:stretch>
              <a:fillRect/>
            </a:stretch>
          </p:blipFill>
          <p:spPr>
            <a:xfrm>
              <a:off x="6945698" y="2168440"/>
              <a:ext cx="4330700" cy="3213100"/>
            </a:xfrm>
            <a:prstGeom prst="rect">
              <a:avLst/>
            </a:prstGeom>
          </p:spPr>
        </p:pic>
        <p:sp>
          <p:nvSpPr>
            <p:cNvPr id="14" name="TextBox 13">
              <a:extLst>
                <a:ext uri="{FF2B5EF4-FFF2-40B4-BE49-F238E27FC236}">
                  <a16:creationId xmlns:a16="http://schemas.microsoft.com/office/drawing/2014/main" id="{FF83712E-970C-2E4E-9C55-AB5063ACF889}"/>
                </a:ext>
              </a:extLst>
            </p:cNvPr>
            <p:cNvSpPr txBox="1"/>
            <p:nvPr/>
          </p:nvSpPr>
          <p:spPr>
            <a:xfrm>
              <a:off x="7256596" y="2405531"/>
              <a:ext cx="1239652" cy="338554"/>
            </a:xfrm>
            <a:prstGeom prst="rect">
              <a:avLst/>
            </a:prstGeom>
            <a:solidFill>
              <a:srgbClr val="CCEEFB"/>
            </a:solidFill>
          </p:spPr>
          <p:txBody>
            <a:bodyPr wrap="square" rtlCol="0">
              <a:spAutoFit/>
            </a:bodyPr>
            <a:lstStyle/>
            <a:p>
              <a:r>
                <a:rPr lang="pt-BR" i="1" u="sng" dirty="0" err="1"/>
                <a:t>nome_dept</a:t>
              </a:r>
              <a:endParaRPr lang="pt-BR" i="1" u="sng" dirty="0"/>
            </a:p>
          </p:txBody>
        </p:sp>
        <p:sp>
          <p:nvSpPr>
            <p:cNvPr id="15" name="TextBox 14">
              <a:extLst>
                <a:ext uri="{FF2B5EF4-FFF2-40B4-BE49-F238E27FC236}">
                  <a16:creationId xmlns:a16="http://schemas.microsoft.com/office/drawing/2014/main" id="{A8A9CDBD-5CCD-414F-B4B8-D6993E657986}"/>
                </a:ext>
              </a:extLst>
            </p:cNvPr>
            <p:cNvSpPr txBox="1"/>
            <p:nvPr/>
          </p:nvSpPr>
          <p:spPr>
            <a:xfrm>
              <a:off x="8704324" y="2405531"/>
              <a:ext cx="1094583" cy="338554"/>
            </a:xfrm>
            <a:prstGeom prst="rect">
              <a:avLst/>
            </a:prstGeom>
            <a:solidFill>
              <a:srgbClr val="CCEEFB"/>
            </a:solidFill>
          </p:spPr>
          <p:txBody>
            <a:bodyPr wrap="square" rtlCol="0">
              <a:spAutoFit/>
            </a:bodyPr>
            <a:lstStyle/>
            <a:p>
              <a:pPr algn="ctr"/>
              <a:r>
                <a:rPr lang="pt-BR" i="1" dirty="0"/>
                <a:t>prédio</a:t>
              </a:r>
            </a:p>
          </p:txBody>
        </p:sp>
        <p:sp>
          <p:nvSpPr>
            <p:cNvPr id="16" name="TextBox 15">
              <a:extLst>
                <a:ext uri="{FF2B5EF4-FFF2-40B4-BE49-F238E27FC236}">
                  <a16:creationId xmlns:a16="http://schemas.microsoft.com/office/drawing/2014/main" id="{C3E868DE-15BD-6945-9E82-1676BA82A008}"/>
                </a:ext>
              </a:extLst>
            </p:cNvPr>
            <p:cNvSpPr txBox="1"/>
            <p:nvPr/>
          </p:nvSpPr>
          <p:spPr>
            <a:xfrm>
              <a:off x="9990361" y="2405531"/>
              <a:ext cx="1094583" cy="338554"/>
            </a:xfrm>
            <a:prstGeom prst="rect">
              <a:avLst/>
            </a:prstGeom>
            <a:solidFill>
              <a:srgbClr val="CCEEFB"/>
            </a:solidFill>
          </p:spPr>
          <p:txBody>
            <a:bodyPr wrap="square" rtlCol="0">
              <a:spAutoFit/>
            </a:bodyPr>
            <a:lstStyle/>
            <a:p>
              <a:pPr algn="ctr"/>
              <a:r>
                <a:rPr lang="pt-BR" i="1" dirty="0"/>
                <a:t>despesa</a:t>
              </a:r>
            </a:p>
          </p:txBody>
        </p:sp>
      </p:grpSp>
      <p:cxnSp>
        <p:nvCxnSpPr>
          <p:cNvPr id="21" name="Straight Connector 20">
            <a:extLst>
              <a:ext uri="{FF2B5EF4-FFF2-40B4-BE49-F238E27FC236}">
                <a16:creationId xmlns:a16="http://schemas.microsoft.com/office/drawing/2014/main" id="{29534F15-5DFC-7F4C-99A9-911C47B50C49}"/>
              </a:ext>
            </a:extLst>
          </p:cNvPr>
          <p:cNvCxnSpPr>
            <a:cxnSpLocks/>
          </p:cNvCxnSpPr>
          <p:nvPr/>
        </p:nvCxnSpPr>
        <p:spPr bwMode="auto">
          <a:xfrm flipV="1">
            <a:off x="3844000" y="1249657"/>
            <a:ext cx="0" cy="399196"/>
          </a:xfrm>
          <a:prstGeom prst="line">
            <a:avLst/>
          </a:prstGeom>
          <a:ln w="15875">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6726E8BF-FBE3-3E4D-9597-FE49263499EA}"/>
              </a:ext>
            </a:extLst>
          </p:cNvPr>
          <p:cNvCxnSpPr/>
          <p:nvPr/>
        </p:nvCxnSpPr>
        <p:spPr bwMode="auto">
          <a:xfrm>
            <a:off x="3844000" y="1262014"/>
            <a:ext cx="4032422"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5" name="Straight Arrow Connector 24">
            <a:extLst>
              <a:ext uri="{FF2B5EF4-FFF2-40B4-BE49-F238E27FC236}">
                <a16:creationId xmlns:a16="http://schemas.microsoft.com/office/drawing/2014/main" id="{A3A1E402-7B38-5342-B5C2-FA8D9EA4EA86}"/>
              </a:ext>
            </a:extLst>
          </p:cNvPr>
          <p:cNvCxnSpPr/>
          <p:nvPr/>
        </p:nvCxnSpPr>
        <p:spPr bwMode="auto">
          <a:xfrm>
            <a:off x="7876422" y="1262014"/>
            <a:ext cx="0" cy="104870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26" name="TextBox 25">
            <a:extLst>
              <a:ext uri="{FF2B5EF4-FFF2-40B4-BE49-F238E27FC236}">
                <a16:creationId xmlns:a16="http://schemas.microsoft.com/office/drawing/2014/main" id="{6E856F20-3446-5B4F-B46C-52E34413C8CB}"/>
              </a:ext>
            </a:extLst>
          </p:cNvPr>
          <p:cNvSpPr txBox="1"/>
          <p:nvPr/>
        </p:nvSpPr>
        <p:spPr>
          <a:xfrm>
            <a:off x="1263338" y="6111355"/>
            <a:ext cx="2752608" cy="338554"/>
          </a:xfrm>
          <a:prstGeom prst="rect">
            <a:avLst/>
          </a:prstGeom>
          <a:noFill/>
        </p:spPr>
        <p:txBody>
          <a:bodyPr wrap="square" rtlCol="0">
            <a:spAutoFit/>
          </a:bodyPr>
          <a:lstStyle/>
          <a:p>
            <a:pPr algn="ctr"/>
            <a:r>
              <a:rPr lang="pt-BR" dirty="0"/>
              <a:t>Relação </a:t>
            </a:r>
            <a:r>
              <a:rPr lang="pt-BR" dirty="0" err="1"/>
              <a:t>referenciadora</a:t>
            </a:r>
            <a:r>
              <a:rPr lang="pt-BR" dirty="0"/>
              <a:t> </a:t>
            </a:r>
            <a:r>
              <a:rPr lang="pt-BR" i="1" dirty="0"/>
              <a:t>R</a:t>
            </a:r>
            <a:r>
              <a:rPr lang="pt-BR" i="1" baseline="-25000" dirty="0"/>
              <a:t>1</a:t>
            </a:r>
            <a:r>
              <a:rPr lang="pt-BR" dirty="0"/>
              <a:t> </a:t>
            </a:r>
          </a:p>
        </p:txBody>
      </p:sp>
      <p:sp>
        <p:nvSpPr>
          <p:cNvPr id="29" name="TextBox 28">
            <a:extLst>
              <a:ext uri="{FF2B5EF4-FFF2-40B4-BE49-F238E27FC236}">
                <a16:creationId xmlns:a16="http://schemas.microsoft.com/office/drawing/2014/main" id="{E42E868D-AFE5-3E45-B185-66D5B9C76A4E}"/>
              </a:ext>
            </a:extLst>
          </p:cNvPr>
          <p:cNvSpPr txBox="1"/>
          <p:nvPr/>
        </p:nvSpPr>
        <p:spPr>
          <a:xfrm>
            <a:off x="8577503" y="1910604"/>
            <a:ext cx="2082019" cy="400110"/>
          </a:xfrm>
          <a:prstGeom prst="rect">
            <a:avLst/>
          </a:prstGeom>
          <a:noFill/>
        </p:spPr>
        <p:txBody>
          <a:bodyPr wrap="square" rtlCol="0">
            <a:spAutoFit/>
          </a:bodyPr>
          <a:lstStyle/>
          <a:p>
            <a:r>
              <a:rPr lang="pt-BR" sz="2000" i="1">
                <a:effectLst>
                  <a:outerShdw dist="38100" sx="1000" sy="1000" algn="tl">
                    <a:srgbClr val="C0C0C0"/>
                  </a:outerShdw>
                </a:effectLst>
              </a:rPr>
              <a:t>departamento</a:t>
            </a:r>
            <a:endParaRPr lang="pt-BR" sz="2000" i="1"/>
          </a:p>
        </p:txBody>
      </p:sp>
      <p:sp>
        <p:nvSpPr>
          <p:cNvPr id="30" name="TextBox 29">
            <a:extLst>
              <a:ext uri="{FF2B5EF4-FFF2-40B4-BE49-F238E27FC236}">
                <a16:creationId xmlns:a16="http://schemas.microsoft.com/office/drawing/2014/main" id="{08708997-4EFA-EF40-B77C-86A8D1F9DD3F}"/>
              </a:ext>
            </a:extLst>
          </p:cNvPr>
          <p:cNvSpPr txBox="1"/>
          <p:nvPr/>
        </p:nvSpPr>
        <p:spPr>
          <a:xfrm>
            <a:off x="7906914" y="5330991"/>
            <a:ext cx="2752608" cy="338554"/>
          </a:xfrm>
          <a:prstGeom prst="rect">
            <a:avLst/>
          </a:prstGeom>
          <a:noFill/>
        </p:spPr>
        <p:txBody>
          <a:bodyPr wrap="square" rtlCol="0">
            <a:spAutoFit/>
          </a:bodyPr>
          <a:lstStyle/>
          <a:p>
            <a:pPr algn="ctr"/>
            <a:r>
              <a:rPr lang="pt-BR" dirty="0"/>
              <a:t>Relação referenciada </a:t>
            </a:r>
            <a:r>
              <a:rPr lang="pt-BR" i="1" dirty="0"/>
              <a:t>R</a:t>
            </a:r>
            <a:r>
              <a:rPr lang="pt-BR" i="1" baseline="-25000" dirty="0"/>
              <a:t>2</a:t>
            </a:r>
            <a:r>
              <a:rPr lang="pt-BR" dirty="0"/>
              <a:t> </a:t>
            </a:r>
          </a:p>
        </p:txBody>
      </p:sp>
    </p:spTree>
    <p:extLst>
      <p:ext uri="{BB962C8B-B14F-4D97-AF65-F5344CB8AC3E}">
        <p14:creationId xmlns:p14="http://schemas.microsoft.com/office/powerpoint/2010/main" val="8271604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3762" name="Rectangle 2"/>
          <p:cNvSpPr>
            <a:spLocks noGrp="1" noChangeArrowheads="1"/>
          </p:cNvSpPr>
          <p:nvPr>
            <p:ph type="title"/>
          </p:nvPr>
        </p:nvSpPr>
        <p:spPr>
          <a:xfrm>
            <a:off x="938953" y="220345"/>
            <a:ext cx="10314093" cy="609600"/>
          </a:xfrm>
        </p:spPr>
        <p:txBody>
          <a:bodyPr vert="horz" wrap="square" lIns="90488" tIns="44450" rIns="90488" bIns="44450" numCol="1" anchor="ctr" anchorCtr="0" compatLnSpc="1">
            <a:prstTxWarp prst="textNoShape">
              <a:avLst/>
            </a:prstTxWarp>
          </a:bodyPr>
          <a:lstStyle/>
          <a:p>
            <a:pPr algn="l"/>
            <a:r>
              <a:rPr lang="pt-BR" altLang="en-US" sz="3600" dirty="0"/>
              <a:t>Tópicos gerais</a:t>
            </a:r>
          </a:p>
        </p:txBody>
      </p:sp>
      <p:sp>
        <p:nvSpPr>
          <p:cNvPr id="5122" name="Rectangle 3"/>
          <p:cNvSpPr>
            <a:spLocks noGrp="1" noChangeArrowheads="1"/>
          </p:cNvSpPr>
          <p:nvPr>
            <p:ph type="body" idx="1"/>
          </p:nvPr>
        </p:nvSpPr>
        <p:spPr>
          <a:xfrm>
            <a:off x="514350" y="1104899"/>
            <a:ext cx="10824209" cy="5433061"/>
          </a:xfrm>
        </p:spPr>
        <p:txBody>
          <a:bodyPr vert="horz" wrap="square" lIns="90488" tIns="44450" rIns="90488" bIns="44450" numCol="1" anchor="t" anchorCtr="0" compatLnSpc="1">
            <a:prstTxWarp prst="textNoShape">
              <a:avLst/>
            </a:prstTxWarp>
          </a:bodyPr>
          <a:lstStyle/>
          <a:p>
            <a:pPr marL="457200" indent="-457200">
              <a:buFont typeface="+mj-lt"/>
              <a:buAutoNum type="arabicPeriod"/>
            </a:pPr>
            <a:r>
              <a:rPr lang="pt-BR" altLang="en-US" sz="2400" dirty="0">
                <a:solidFill>
                  <a:schemeClr val="accent1">
                    <a:lumMod val="50000"/>
                  </a:schemeClr>
                </a:solidFill>
              </a:rPr>
              <a:t>Origem e os conceitos de relação, </a:t>
            </a:r>
            <a:r>
              <a:rPr lang="pt-BR" altLang="en-US" sz="2400" dirty="0" err="1">
                <a:solidFill>
                  <a:schemeClr val="accent1">
                    <a:lumMod val="50000"/>
                  </a:schemeClr>
                </a:solidFill>
              </a:rPr>
              <a:t>tuplas</a:t>
            </a:r>
            <a:r>
              <a:rPr lang="pt-BR" altLang="en-US" sz="2400" dirty="0">
                <a:solidFill>
                  <a:schemeClr val="accent1">
                    <a:lumMod val="50000"/>
                  </a:schemeClr>
                </a:solidFill>
              </a:rPr>
              <a:t> e atributos.</a:t>
            </a:r>
            <a:endParaRPr lang="pt-BR" altLang="en-US" sz="2400" dirty="0"/>
          </a:p>
          <a:p>
            <a:pPr marL="457200" indent="-457200">
              <a:buFont typeface="+mj-lt"/>
              <a:buAutoNum type="arabicPeriod"/>
            </a:pPr>
            <a:r>
              <a:rPr lang="pt-BR" altLang="en-US" sz="2400" dirty="0">
                <a:solidFill>
                  <a:schemeClr val="accent1">
                    <a:lumMod val="50000"/>
                  </a:schemeClr>
                </a:solidFill>
              </a:rPr>
              <a:t>Esquema do Banco de Dados.</a:t>
            </a:r>
          </a:p>
          <a:p>
            <a:pPr marL="457200" indent="-457200">
              <a:buFont typeface="+mj-lt"/>
              <a:buAutoNum type="arabicPeriod"/>
            </a:pPr>
            <a:r>
              <a:rPr lang="pt-BR" altLang="en-US" sz="2400" dirty="0">
                <a:solidFill>
                  <a:schemeClr val="accent1">
                    <a:lumMod val="50000"/>
                  </a:schemeClr>
                </a:solidFill>
              </a:rPr>
              <a:t>Restrições do modelo relacional: chaves e integridade referencial.</a:t>
            </a:r>
          </a:p>
          <a:p>
            <a:pPr marL="457200" indent="-457200">
              <a:buFont typeface="+mj-lt"/>
              <a:buAutoNum type="arabicPeriod"/>
            </a:pPr>
            <a:r>
              <a:rPr lang="pt-BR" altLang="en-US" sz="2400" dirty="0">
                <a:solidFill>
                  <a:schemeClr val="tx2"/>
                </a:solidFill>
              </a:rPr>
              <a:t>Diagramas de Esquema de Banco de Dados Relacional.</a:t>
            </a:r>
          </a:p>
          <a:p>
            <a:pPr marL="457200" indent="-457200">
              <a:buFont typeface="+mj-lt"/>
              <a:buAutoNum type="arabicPeriod"/>
            </a:pPr>
            <a:r>
              <a:rPr lang="pt-BR" altLang="en-US" sz="2400" dirty="0">
                <a:solidFill>
                  <a:schemeClr val="accent1">
                    <a:lumMod val="50000"/>
                  </a:schemeClr>
                </a:solidFill>
              </a:rPr>
              <a:t>Design de Banco de Dados relacional usando diagramas Entidade-Relacionamento.</a:t>
            </a:r>
            <a:endParaRPr lang="pt-BR" altLang="en-US" sz="2400" dirty="0">
              <a:solidFill>
                <a:schemeClr val="tx2"/>
              </a:solidFill>
            </a:endParaRPr>
          </a:p>
          <a:p>
            <a:pPr marL="0" indent="0">
              <a:buNone/>
            </a:pPr>
            <a:endParaRPr lang="pt-BR" altLang="en-US" sz="2400" dirty="0"/>
          </a:p>
        </p:txBody>
      </p:sp>
    </p:spTree>
    <p:extLst>
      <p:ext uri="{BB962C8B-B14F-4D97-AF65-F5344CB8AC3E}">
        <p14:creationId xmlns:p14="http://schemas.microsoft.com/office/powerpoint/2010/main" val="1254178722"/>
      </p:ext>
    </p:extLst>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24164-8DD8-2B47-91AA-762F1CDE6A3B}"/>
              </a:ext>
            </a:extLst>
          </p:cNvPr>
          <p:cNvSpPr>
            <a:spLocks noGrp="1"/>
          </p:cNvSpPr>
          <p:nvPr>
            <p:ph type="title"/>
          </p:nvPr>
        </p:nvSpPr>
        <p:spPr>
          <a:xfrm>
            <a:off x="628650" y="117475"/>
            <a:ext cx="11165417" cy="609600"/>
          </a:xfrm>
        </p:spPr>
        <p:txBody>
          <a:bodyPr/>
          <a:lstStyle/>
          <a:p>
            <a:r>
              <a:rPr lang="pt-BR" dirty="0"/>
              <a:t>Diagramas de esquema de Banco de Dados</a:t>
            </a:r>
          </a:p>
        </p:txBody>
      </p:sp>
      <p:sp>
        <p:nvSpPr>
          <p:cNvPr id="3" name="Content Placeholder 2">
            <a:extLst>
              <a:ext uri="{FF2B5EF4-FFF2-40B4-BE49-F238E27FC236}">
                <a16:creationId xmlns:a16="http://schemas.microsoft.com/office/drawing/2014/main" id="{48FE1C88-83B4-E141-BF77-49C5E1CBC7C1}"/>
              </a:ext>
            </a:extLst>
          </p:cNvPr>
          <p:cNvSpPr>
            <a:spLocks noGrp="1"/>
          </p:cNvSpPr>
          <p:nvPr>
            <p:ph idx="1"/>
          </p:nvPr>
        </p:nvSpPr>
        <p:spPr>
          <a:xfrm>
            <a:off x="422910" y="868680"/>
            <a:ext cx="11371157" cy="5612129"/>
          </a:xfrm>
        </p:spPr>
        <p:txBody>
          <a:bodyPr/>
          <a:lstStyle/>
          <a:p>
            <a:r>
              <a:rPr lang="pt-BR" sz="2000" dirty="0"/>
              <a:t>O esquema de um banco de dados relacional pode ser representado graficamente por meio de um </a:t>
            </a:r>
            <a:r>
              <a:rPr lang="pt-BR" sz="2000" u="sng" dirty="0"/>
              <a:t>diagramas de esquema relacional</a:t>
            </a:r>
            <a:r>
              <a:rPr lang="pt-BR" sz="2000" dirty="0"/>
              <a:t>. Nesta representação:</a:t>
            </a:r>
          </a:p>
          <a:p>
            <a:pPr marL="0" indent="0">
              <a:buNone/>
            </a:pPr>
            <a:endParaRPr lang="pt-BR" sz="2000" dirty="0"/>
          </a:p>
          <a:p>
            <a:pPr marL="914400" lvl="1" indent="-457200">
              <a:buFont typeface="+mj-lt"/>
              <a:buAutoNum type="arabicPeriod"/>
            </a:pPr>
            <a:r>
              <a:rPr lang="pt-BR" sz="2000" dirty="0"/>
              <a:t>Cada relação (tabela) aparece como uma caixa, sendo que o nome da relação fica no topo e os atributos são listados dentro da caixa.</a:t>
            </a:r>
          </a:p>
          <a:p>
            <a:pPr marL="914400" lvl="1" indent="-457200">
              <a:buFont typeface="+mj-lt"/>
              <a:buAutoNum type="arabicPeriod"/>
            </a:pPr>
            <a:endParaRPr lang="pt-BR" sz="2000" dirty="0"/>
          </a:p>
          <a:p>
            <a:pPr marL="914400" lvl="1" indent="-457200">
              <a:buFont typeface="+mj-lt"/>
              <a:buAutoNum type="arabicPeriod"/>
            </a:pPr>
            <a:r>
              <a:rPr lang="pt-BR" sz="2000" dirty="0"/>
              <a:t>Os atributos que formam a chave primária devem ser sublinhados e normalmente aparecem primeiro. </a:t>
            </a:r>
          </a:p>
          <a:p>
            <a:pPr marL="914400" lvl="1" indent="-457200">
              <a:buFont typeface="+mj-lt"/>
              <a:buAutoNum type="arabicPeriod"/>
            </a:pPr>
            <a:endParaRPr lang="pt-BR" sz="2000" dirty="0"/>
          </a:p>
          <a:p>
            <a:pPr marL="914400" lvl="1" indent="-457200">
              <a:buFont typeface="+mj-lt"/>
              <a:buAutoNum type="arabicPeriod"/>
            </a:pPr>
            <a:r>
              <a:rPr lang="pt-BR" sz="2000" dirty="0"/>
              <a:t>As chaves estrangeiras aparecem como setas partindo da relação de </a:t>
            </a:r>
            <a:r>
              <a:rPr lang="pt-BR" sz="2000" dirty="0" err="1"/>
              <a:t>referenciadora</a:t>
            </a:r>
            <a:r>
              <a:rPr lang="pt-BR" sz="2000" dirty="0"/>
              <a:t> para os atributos da chave primária da relação referenciada. </a:t>
            </a:r>
          </a:p>
          <a:p>
            <a:pPr marL="1257300" lvl="2" indent="-457200"/>
            <a:r>
              <a:rPr lang="pt-BR" sz="2000" dirty="0"/>
              <a:t>Se desejado, usamos uma flecha de duas pontas para indicar uma restrição de integridade referencial que não seja uma restrição de chave estrangeira.</a:t>
            </a:r>
          </a:p>
        </p:txBody>
      </p:sp>
    </p:spTree>
    <p:extLst>
      <p:ext uri="{BB962C8B-B14F-4D97-AF65-F5344CB8AC3E}">
        <p14:creationId xmlns:p14="http://schemas.microsoft.com/office/powerpoint/2010/main" val="37836942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0" name="Rectangle 2"/>
          <p:cNvSpPr>
            <a:spLocks noGrp="1" noChangeArrowheads="1"/>
          </p:cNvSpPr>
          <p:nvPr>
            <p:ph type="title"/>
          </p:nvPr>
        </p:nvSpPr>
        <p:spPr>
          <a:xfrm>
            <a:off x="663613" y="639329"/>
            <a:ext cx="11144558" cy="609600"/>
          </a:xfrm>
        </p:spPr>
        <p:txBody>
          <a:bodyPr/>
          <a:lstStyle/>
          <a:p>
            <a:r>
              <a:rPr lang="pt-BR" altLang="en-US" dirty="0">
                <a:effectLst>
                  <a:outerShdw dist="38100" sx="1000" sy="1000" algn="tl">
                    <a:srgbClr val="C0C0C0"/>
                  </a:outerShdw>
                </a:effectLst>
              </a:rPr>
              <a:t>Exemplo de notação</a:t>
            </a:r>
          </a:p>
        </p:txBody>
      </p:sp>
      <p:sp>
        <p:nvSpPr>
          <p:cNvPr id="258705" name="Freeform 258704">
            <a:extLst>
              <a:ext uri="{FF2B5EF4-FFF2-40B4-BE49-F238E27FC236}">
                <a16:creationId xmlns:a16="http://schemas.microsoft.com/office/drawing/2014/main" id="{2ADAEEB9-D968-0C46-9F79-85F1C9B67506}"/>
              </a:ext>
            </a:extLst>
          </p:cNvPr>
          <p:cNvSpPr/>
          <p:nvPr/>
        </p:nvSpPr>
        <p:spPr>
          <a:xfrm flipV="1">
            <a:off x="4929748" y="4339679"/>
            <a:ext cx="539731" cy="24118"/>
          </a:xfrm>
          <a:custGeom>
            <a:avLst/>
            <a:gdLst>
              <a:gd name="connsiteX0" fmla="*/ 539975 w 539731"/>
              <a:gd name="connsiteY0" fmla="*/ 157 h 24118"/>
              <a:gd name="connsiteX1" fmla="*/ 243 w 539731"/>
              <a:gd name="connsiteY1" fmla="*/ 157 h 24118"/>
            </a:gdLst>
            <a:ahLst/>
            <a:cxnLst>
              <a:cxn ang="0">
                <a:pos x="connsiteX0" y="connsiteY0"/>
              </a:cxn>
              <a:cxn ang="0">
                <a:pos x="connsiteX1" y="connsiteY1"/>
              </a:cxn>
            </a:cxnLst>
            <a:rect l="l" t="t" r="r" b="b"/>
            <a:pathLst>
              <a:path w="539731" h="24118">
                <a:moveTo>
                  <a:pt x="539975" y="157"/>
                </a:moveTo>
                <a:lnTo>
                  <a:pt x="243" y="157"/>
                </a:lnTo>
              </a:path>
            </a:pathLst>
          </a:custGeom>
          <a:noFill/>
          <a:ln w="12055" cap="rnd">
            <a:solidFill>
              <a:srgbClr val="231F20"/>
            </a:solidFill>
            <a:prstDash val="solid"/>
            <a:round/>
          </a:ln>
        </p:spPr>
        <p:txBody>
          <a:bodyPr rtlCol="0" anchor="ctr"/>
          <a:lstStyle/>
          <a:p>
            <a:endParaRPr lang="pt-BR"/>
          </a:p>
        </p:txBody>
      </p:sp>
      <p:sp>
        <p:nvSpPr>
          <p:cNvPr id="258706" name="Freeform 258705">
            <a:extLst>
              <a:ext uri="{FF2B5EF4-FFF2-40B4-BE49-F238E27FC236}">
                <a16:creationId xmlns:a16="http://schemas.microsoft.com/office/drawing/2014/main" id="{C2E0E4FB-E1DE-8548-BD89-1A565936315D}"/>
              </a:ext>
            </a:extLst>
          </p:cNvPr>
          <p:cNvSpPr/>
          <p:nvPr/>
        </p:nvSpPr>
        <p:spPr>
          <a:xfrm flipV="1">
            <a:off x="4916179" y="2584993"/>
            <a:ext cx="45719" cy="1772434"/>
          </a:xfrm>
          <a:custGeom>
            <a:avLst/>
            <a:gdLst>
              <a:gd name="connsiteX0" fmla="*/ 221 w 24130"/>
              <a:gd name="connsiteY0" fmla="*/ 1835053 h 1834896"/>
              <a:gd name="connsiteX1" fmla="*/ 221 w 24130"/>
              <a:gd name="connsiteY1" fmla="*/ 157 h 1834896"/>
            </a:gdLst>
            <a:ahLst/>
            <a:cxnLst>
              <a:cxn ang="0">
                <a:pos x="connsiteX0" y="connsiteY0"/>
              </a:cxn>
              <a:cxn ang="0">
                <a:pos x="connsiteX1" y="connsiteY1"/>
              </a:cxn>
            </a:cxnLst>
            <a:rect l="l" t="t" r="r" b="b"/>
            <a:pathLst>
              <a:path w="24130" h="1834896">
                <a:moveTo>
                  <a:pt x="221" y="1835053"/>
                </a:moveTo>
                <a:lnTo>
                  <a:pt x="221" y="157"/>
                </a:lnTo>
              </a:path>
            </a:pathLst>
          </a:custGeom>
          <a:noFill/>
          <a:ln w="12055" cap="rnd">
            <a:solidFill>
              <a:srgbClr val="231F20"/>
            </a:solidFill>
            <a:prstDash val="solid"/>
            <a:round/>
          </a:ln>
        </p:spPr>
        <p:txBody>
          <a:bodyPr rtlCol="0" anchor="ctr"/>
          <a:lstStyle/>
          <a:p>
            <a:endParaRPr lang="pt-BR"/>
          </a:p>
        </p:txBody>
      </p:sp>
      <p:sp>
        <p:nvSpPr>
          <p:cNvPr id="258707" name="Freeform 258706">
            <a:extLst>
              <a:ext uri="{FF2B5EF4-FFF2-40B4-BE49-F238E27FC236}">
                <a16:creationId xmlns:a16="http://schemas.microsoft.com/office/drawing/2014/main" id="{31EDC2BD-A835-6147-BC89-02A6772CE6E8}"/>
              </a:ext>
            </a:extLst>
          </p:cNvPr>
          <p:cNvSpPr/>
          <p:nvPr/>
        </p:nvSpPr>
        <p:spPr>
          <a:xfrm>
            <a:off x="4925122" y="2546459"/>
            <a:ext cx="313045" cy="77066"/>
          </a:xfrm>
          <a:custGeom>
            <a:avLst/>
            <a:gdLst>
              <a:gd name="connsiteX0" fmla="*/ 4633 w 313045"/>
              <a:gd name="connsiteY0" fmla="*/ 33163 h 77066"/>
              <a:gd name="connsiteX1" fmla="*/ 249051 w 313045"/>
              <a:gd name="connsiteY1" fmla="*/ 33163 h 77066"/>
              <a:gd name="connsiteX2" fmla="*/ 252140 w 313045"/>
              <a:gd name="connsiteY2" fmla="*/ 34670 h 77066"/>
              <a:gd name="connsiteX3" fmla="*/ 253757 w 313045"/>
              <a:gd name="connsiteY3" fmla="*/ 38534 h 77066"/>
              <a:gd name="connsiteX4" fmla="*/ 252140 w 313045"/>
              <a:gd name="connsiteY4" fmla="*/ 41643 h 77066"/>
              <a:gd name="connsiteX5" fmla="*/ 249051 w 313045"/>
              <a:gd name="connsiteY5" fmla="*/ 43151 h 77066"/>
              <a:gd name="connsiteX6" fmla="*/ 4633 w 313045"/>
              <a:gd name="connsiteY6" fmla="*/ 43151 h 77066"/>
              <a:gd name="connsiteX7" fmla="*/ 1617 w 313045"/>
              <a:gd name="connsiteY7" fmla="*/ 41643 h 77066"/>
              <a:gd name="connsiteX8" fmla="*/ 0 w 313045"/>
              <a:gd name="connsiteY8" fmla="*/ 38534 h 77066"/>
              <a:gd name="connsiteX9" fmla="*/ 1617 w 313045"/>
              <a:gd name="connsiteY9" fmla="*/ 34670 h 77066"/>
              <a:gd name="connsiteX10" fmla="*/ 235949 w 313045"/>
              <a:gd name="connsiteY10" fmla="*/ 0 h 77066"/>
              <a:gd name="connsiteX11" fmla="*/ 313045 w 313045"/>
              <a:gd name="connsiteY11" fmla="*/ 38534 h 77066"/>
              <a:gd name="connsiteX12" fmla="*/ 235949 w 313045"/>
              <a:gd name="connsiteY12" fmla="*/ 77066 h 77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3045" h="77066">
                <a:moveTo>
                  <a:pt x="4633" y="33163"/>
                </a:moveTo>
                <a:lnTo>
                  <a:pt x="249051" y="33163"/>
                </a:lnTo>
                <a:lnTo>
                  <a:pt x="252140" y="34670"/>
                </a:lnTo>
                <a:lnTo>
                  <a:pt x="253757" y="38534"/>
                </a:lnTo>
                <a:lnTo>
                  <a:pt x="252140" y="41643"/>
                </a:lnTo>
                <a:lnTo>
                  <a:pt x="249051" y="43151"/>
                </a:lnTo>
                <a:lnTo>
                  <a:pt x="4633" y="43151"/>
                </a:lnTo>
                <a:lnTo>
                  <a:pt x="1617" y="41643"/>
                </a:lnTo>
                <a:lnTo>
                  <a:pt x="0" y="38534"/>
                </a:lnTo>
                <a:lnTo>
                  <a:pt x="1617" y="34670"/>
                </a:lnTo>
                <a:close/>
                <a:moveTo>
                  <a:pt x="235949" y="0"/>
                </a:moveTo>
                <a:lnTo>
                  <a:pt x="313045" y="38534"/>
                </a:lnTo>
                <a:lnTo>
                  <a:pt x="235949" y="77066"/>
                </a:lnTo>
              </a:path>
            </a:pathLst>
          </a:custGeom>
          <a:solidFill>
            <a:srgbClr val="231F20"/>
          </a:solidFill>
          <a:ln w="24109" cap="flat">
            <a:noFill/>
            <a:prstDash val="solid"/>
            <a:miter/>
          </a:ln>
        </p:spPr>
        <p:txBody>
          <a:bodyPr rtlCol="0" anchor="ctr"/>
          <a:lstStyle/>
          <a:p>
            <a:endParaRPr lang="pt-BR"/>
          </a:p>
        </p:txBody>
      </p:sp>
      <p:sp>
        <p:nvSpPr>
          <p:cNvPr id="258862" name="Freeform 258861">
            <a:extLst>
              <a:ext uri="{FF2B5EF4-FFF2-40B4-BE49-F238E27FC236}">
                <a16:creationId xmlns:a16="http://schemas.microsoft.com/office/drawing/2014/main" id="{A6E55290-302A-9044-8815-1D83BEBDE5CA}"/>
              </a:ext>
            </a:extLst>
          </p:cNvPr>
          <p:cNvSpPr/>
          <p:nvPr/>
        </p:nvSpPr>
        <p:spPr>
          <a:xfrm rot="10800000" flipV="1">
            <a:off x="5238167" y="2465314"/>
            <a:ext cx="997725" cy="616422"/>
          </a:xfrm>
          <a:custGeom>
            <a:avLst/>
            <a:gdLst>
              <a:gd name="connsiteX0" fmla="*/ 0 w 848140"/>
              <a:gd name="connsiteY0" fmla="*/ -35 h 616422"/>
              <a:gd name="connsiteX1" fmla="*/ 848141 w 848140"/>
              <a:gd name="connsiteY1" fmla="*/ -35 h 616422"/>
              <a:gd name="connsiteX2" fmla="*/ 848141 w 848140"/>
              <a:gd name="connsiteY2" fmla="*/ 616388 h 616422"/>
              <a:gd name="connsiteX3" fmla="*/ 0 w 848140"/>
              <a:gd name="connsiteY3" fmla="*/ 616388 h 616422"/>
            </a:gdLst>
            <a:ahLst/>
            <a:cxnLst>
              <a:cxn ang="0">
                <a:pos x="connsiteX0" y="connsiteY0"/>
              </a:cxn>
              <a:cxn ang="0">
                <a:pos x="connsiteX1" y="connsiteY1"/>
              </a:cxn>
              <a:cxn ang="0">
                <a:pos x="connsiteX2" y="connsiteY2"/>
              </a:cxn>
              <a:cxn ang="0">
                <a:pos x="connsiteX3" y="connsiteY3"/>
              </a:cxn>
            </a:cxnLst>
            <a:rect l="l" t="t" r="r" b="b"/>
            <a:pathLst>
              <a:path w="848140" h="616422">
                <a:moveTo>
                  <a:pt x="0" y="-35"/>
                </a:moveTo>
                <a:lnTo>
                  <a:pt x="848141" y="-35"/>
                </a:lnTo>
                <a:lnTo>
                  <a:pt x="848141" y="616388"/>
                </a:lnTo>
                <a:lnTo>
                  <a:pt x="0" y="616388"/>
                </a:lnTo>
                <a:close/>
              </a:path>
            </a:pathLst>
          </a:custGeom>
          <a:noFill/>
          <a:ln w="12055" cap="rnd">
            <a:solidFill>
              <a:srgbClr val="231F20"/>
            </a:solidFill>
            <a:prstDash val="solid"/>
            <a:miter/>
          </a:ln>
        </p:spPr>
        <p:txBody>
          <a:bodyPr rtlCol="0" anchor="ctr"/>
          <a:lstStyle/>
          <a:p>
            <a:endParaRPr lang="pt-BR"/>
          </a:p>
        </p:txBody>
      </p:sp>
      <p:sp>
        <p:nvSpPr>
          <p:cNvPr id="258890" name="Freeform 258889">
            <a:extLst>
              <a:ext uri="{FF2B5EF4-FFF2-40B4-BE49-F238E27FC236}">
                <a16:creationId xmlns:a16="http://schemas.microsoft.com/office/drawing/2014/main" id="{CA971F71-26F3-A04A-AC4E-64C23E67CC55}"/>
              </a:ext>
            </a:extLst>
          </p:cNvPr>
          <p:cNvSpPr/>
          <p:nvPr/>
        </p:nvSpPr>
        <p:spPr>
          <a:xfrm rot="10800000" flipV="1">
            <a:off x="5238162" y="2233522"/>
            <a:ext cx="997731" cy="231200"/>
          </a:xfrm>
          <a:custGeom>
            <a:avLst/>
            <a:gdLst>
              <a:gd name="connsiteX0" fmla="*/ 0 w 848140"/>
              <a:gd name="connsiteY0" fmla="*/ -70 h 231200"/>
              <a:gd name="connsiteX1" fmla="*/ 848141 w 848140"/>
              <a:gd name="connsiteY1" fmla="*/ -70 h 231200"/>
              <a:gd name="connsiteX2" fmla="*/ 848141 w 848140"/>
              <a:gd name="connsiteY2" fmla="*/ 231130 h 231200"/>
              <a:gd name="connsiteX3" fmla="*/ 0 w 848140"/>
              <a:gd name="connsiteY3" fmla="*/ 231130 h 231200"/>
            </a:gdLst>
            <a:ahLst/>
            <a:cxnLst>
              <a:cxn ang="0">
                <a:pos x="connsiteX0" y="connsiteY0"/>
              </a:cxn>
              <a:cxn ang="0">
                <a:pos x="connsiteX1" y="connsiteY1"/>
              </a:cxn>
              <a:cxn ang="0">
                <a:pos x="connsiteX2" y="connsiteY2"/>
              </a:cxn>
              <a:cxn ang="0">
                <a:pos x="connsiteX3" y="connsiteY3"/>
              </a:cxn>
            </a:cxnLst>
            <a:rect l="l" t="t" r="r" b="b"/>
            <a:pathLst>
              <a:path w="848140" h="231200">
                <a:moveTo>
                  <a:pt x="0" y="-70"/>
                </a:moveTo>
                <a:lnTo>
                  <a:pt x="848141" y="-70"/>
                </a:lnTo>
                <a:lnTo>
                  <a:pt x="848141" y="231130"/>
                </a:lnTo>
                <a:lnTo>
                  <a:pt x="0" y="231130"/>
                </a:lnTo>
                <a:close/>
              </a:path>
            </a:pathLst>
          </a:custGeom>
          <a:solidFill>
            <a:srgbClr val="CCEEFB"/>
          </a:solidFill>
          <a:ln w="12055" cap="rnd">
            <a:solidFill>
              <a:srgbClr val="231F20"/>
            </a:solidFill>
            <a:prstDash val="solid"/>
            <a:miter/>
          </a:ln>
        </p:spPr>
        <p:txBody>
          <a:bodyPr rtlCol="0" anchor="ctr"/>
          <a:lstStyle/>
          <a:p>
            <a:pPr algn="ctr"/>
            <a:r>
              <a:rPr lang="pt-BR" sz="1100" dirty="0">
                <a:latin typeface="Calibri Light" panose="020F0302020204030204" pitchFamily="34" charset="0"/>
                <a:cs typeface="Calibri Light" panose="020F0302020204030204" pitchFamily="34" charset="0"/>
              </a:rPr>
              <a:t>departamento</a:t>
            </a:r>
          </a:p>
        </p:txBody>
      </p:sp>
      <p:sp>
        <p:nvSpPr>
          <p:cNvPr id="258902" name="Freeform 258901">
            <a:extLst>
              <a:ext uri="{FF2B5EF4-FFF2-40B4-BE49-F238E27FC236}">
                <a16:creationId xmlns:a16="http://schemas.microsoft.com/office/drawing/2014/main" id="{CBAE2D96-4010-5247-8B8B-4418EF852CE7}"/>
              </a:ext>
            </a:extLst>
          </p:cNvPr>
          <p:cNvSpPr/>
          <p:nvPr/>
        </p:nvSpPr>
        <p:spPr>
          <a:xfrm flipV="1">
            <a:off x="5469480" y="3957491"/>
            <a:ext cx="771047" cy="693596"/>
          </a:xfrm>
          <a:custGeom>
            <a:avLst/>
            <a:gdLst>
              <a:gd name="connsiteX0" fmla="*/ 771290 w 771047"/>
              <a:gd name="connsiteY0" fmla="*/ 693763 h 693596"/>
              <a:gd name="connsiteX1" fmla="*/ 243 w 771047"/>
              <a:gd name="connsiteY1" fmla="*/ 693763 h 693596"/>
              <a:gd name="connsiteX2" fmla="*/ 243 w 771047"/>
              <a:gd name="connsiteY2" fmla="*/ 166 h 693596"/>
              <a:gd name="connsiteX3" fmla="*/ 771290 w 771047"/>
              <a:gd name="connsiteY3" fmla="*/ 166 h 693596"/>
            </a:gdLst>
            <a:ahLst/>
            <a:cxnLst>
              <a:cxn ang="0">
                <a:pos x="connsiteX0" y="connsiteY0"/>
              </a:cxn>
              <a:cxn ang="0">
                <a:pos x="connsiteX1" y="connsiteY1"/>
              </a:cxn>
              <a:cxn ang="0">
                <a:pos x="connsiteX2" y="connsiteY2"/>
              </a:cxn>
              <a:cxn ang="0">
                <a:pos x="connsiteX3" y="connsiteY3"/>
              </a:cxn>
            </a:cxnLst>
            <a:rect l="l" t="t" r="r" b="b"/>
            <a:pathLst>
              <a:path w="771047" h="693596">
                <a:moveTo>
                  <a:pt x="771290" y="693763"/>
                </a:moveTo>
                <a:lnTo>
                  <a:pt x="243" y="693763"/>
                </a:lnTo>
                <a:lnTo>
                  <a:pt x="243" y="166"/>
                </a:lnTo>
                <a:lnTo>
                  <a:pt x="771290" y="166"/>
                </a:lnTo>
                <a:close/>
              </a:path>
            </a:pathLst>
          </a:custGeom>
          <a:noFill/>
          <a:ln w="12055" cap="rnd">
            <a:solidFill>
              <a:srgbClr val="231F20"/>
            </a:solidFill>
            <a:prstDash val="solid"/>
            <a:miter/>
          </a:ln>
        </p:spPr>
        <p:txBody>
          <a:bodyPr rtlCol="0" anchor="ctr"/>
          <a:lstStyle/>
          <a:p>
            <a:endParaRPr lang="pt-BR"/>
          </a:p>
        </p:txBody>
      </p:sp>
      <p:sp>
        <p:nvSpPr>
          <p:cNvPr id="258903" name="Freeform 258902">
            <a:extLst>
              <a:ext uri="{FF2B5EF4-FFF2-40B4-BE49-F238E27FC236}">
                <a16:creationId xmlns:a16="http://schemas.microsoft.com/office/drawing/2014/main" id="{5D91AE46-DDCA-6D48-81B0-4FBC4094B678}"/>
              </a:ext>
            </a:extLst>
          </p:cNvPr>
          <p:cNvSpPr/>
          <p:nvPr/>
        </p:nvSpPr>
        <p:spPr>
          <a:xfrm>
            <a:off x="5466368" y="3727570"/>
            <a:ext cx="771043" cy="231104"/>
          </a:xfrm>
          <a:custGeom>
            <a:avLst/>
            <a:gdLst>
              <a:gd name="connsiteX0" fmla="*/ 0 w 771043"/>
              <a:gd name="connsiteY0" fmla="*/ 231104 h 231104"/>
              <a:gd name="connsiteX1" fmla="*/ 771044 w 771043"/>
              <a:gd name="connsiteY1" fmla="*/ 231104 h 231104"/>
              <a:gd name="connsiteX2" fmla="*/ 771044 w 771043"/>
              <a:gd name="connsiteY2" fmla="*/ 0 h 231104"/>
              <a:gd name="connsiteX3" fmla="*/ 0 w 771043"/>
              <a:gd name="connsiteY3" fmla="*/ 0 h 231104"/>
            </a:gdLst>
            <a:ahLst/>
            <a:cxnLst>
              <a:cxn ang="0">
                <a:pos x="connsiteX0" y="connsiteY0"/>
              </a:cxn>
              <a:cxn ang="0">
                <a:pos x="connsiteX1" y="connsiteY1"/>
              </a:cxn>
              <a:cxn ang="0">
                <a:pos x="connsiteX2" y="connsiteY2"/>
              </a:cxn>
              <a:cxn ang="0">
                <a:pos x="connsiteX3" y="connsiteY3"/>
              </a:cxn>
            </a:cxnLst>
            <a:rect l="l" t="t" r="r" b="b"/>
            <a:pathLst>
              <a:path w="771043" h="231104">
                <a:moveTo>
                  <a:pt x="0" y="231104"/>
                </a:moveTo>
                <a:lnTo>
                  <a:pt x="771044" y="231104"/>
                </a:lnTo>
                <a:lnTo>
                  <a:pt x="771044" y="0"/>
                </a:lnTo>
                <a:lnTo>
                  <a:pt x="0" y="0"/>
                </a:lnTo>
                <a:close/>
              </a:path>
            </a:pathLst>
          </a:custGeom>
          <a:solidFill>
            <a:srgbClr val="CCEEFB"/>
          </a:solidFill>
          <a:ln w="24109" cap="flat">
            <a:noFill/>
            <a:prstDash val="solid"/>
            <a:miter/>
          </a:ln>
        </p:spPr>
        <p:txBody>
          <a:bodyPr rtlCol="0" anchor="ctr"/>
          <a:lstStyle/>
          <a:p>
            <a:endParaRPr lang="pt-BR"/>
          </a:p>
        </p:txBody>
      </p:sp>
      <p:sp>
        <p:nvSpPr>
          <p:cNvPr id="258904" name="Freeform 258903">
            <a:extLst>
              <a:ext uri="{FF2B5EF4-FFF2-40B4-BE49-F238E27FC236}">
                <a16:creationId xmlns:a16="http://schemas.microsoft.com/office/drawing/2014/main" id="{89BCFCC6-C9F7-B749-9097-7756C5F400A2}"/>
              </a:ext>
            </a:extLst>
          </p:cNvPr>
          <p:cNvSpPr/>
          <p:nvPr/>
        </p:nvSpPr>
        <p:spPr>
          <a:xfrm rot="10800000" flipV="1">
            <a:off x="5469480" y="3726386"/>
            <a:ext cx="771047" cy="231104"/>
          </a:xfrm>
          <a:custGeom>
            <a:avLst/>
            <a:gdLst>
              <a:gd name="connsiteX0" fmla="*/ 771290 w 771047"/>
              <a:gd name="connsiteY0" fmla="*/ 231243 h 231104"/>
              <a:gd name="connsiteX1" fmla="*/ 243 w 771047"/>
              <a:gd name="connsiteY1" fmla="*/ 231243 h 231104"/>
              <a:gd name="connsiteX2" fmla="*/ 243 w 771047"/>
              <a:gd name="connsiteY2" fmla="*/ 138 h 231104"/>
              <a:gd name="connsiteX3" fmla="*/ 771290 w 771047"/>
              <a:gd name="connsiteY3" fmla="*/ 138 h 231104"/>
            </a:gdLst>
            <a:ahLst/>
            <a:cxnLst>
              <a:cxn ang="0">
                <a:pos x="connsiteX0" y="connsiteY0"/>
              </a:cxn>
              <a:cxn ang="0">
                <a:pos x="connsiteX1" y="connsiteY1"/>
              </a:cxn>
              <a:cxn ang="0">
                <a:pos x="connsiteX2" y="connsiteY2"/>
              </a:cxn>
              <a:cxn ang="0">
                <a:pos x="connsiteX3" y="connsiteY3"/>
              </a:cxn>
            </a:cxnLst>
            <a:rect l="l" t="t" r="r" b="b"/>
            <a:pathLst>
              <a:path w="771047" h="231104">
                <a:moveTo>
                  <a:pt x="771290" y="231243"/>
                </a:moveTo>
                <a:lnTo>
                  <a:pt x="243" y="231243"/>
                </a:lnTo>
                <a:lnTo>
                  <a:pt x="243" y="138"/>
                </a:lnTo>
                <a:lnTo>
                  <a:pt x="771290" y="138"/>
                </a:lnTo>
                <a:close/>
              </a:path>
            </a:pathLst>
          </a:custGeom>
          <a:noFill/>
          <a:ln w="12055" cap="rnd">
            <a:solidFill>
              <a:srgbClr val="231F20"/>
            </a:solidFill>
            <a:prstDash val="solid"/>
            <a:miter/>
          </a:ln>
        </p:spPr>
        <p:txBody>
          <a:bodyPr rtlCol="0" anchor="ctr"/>
          <a:lstStyle/>
          <a:p>
            <a:pPr algn="ctr"/>
            <a:r>
              <a:rPr lang="pt-BR" sz="1100" dirty="0">
                <a:latin typeface="Calibri Light" panose="020F0302020204030204" pitchFamily="34" charset="0"/>
                <a:cs typeface="Calibri Light" panose="020F0302020204030204" pitchFamily="34" charset="0"/>
              </a:rPr>
              <a:t>professor</a:t>
            </a:r>
          </a:p>
        </p:txBody>
      </p:sp>
      <p:sp>
        <p:nvSpPr>
          <p:cNvPr id="259116" name="TextBox 259115">
            <a:extLst>
              <a:ext uri="{FF2B5EF4-FFF2-40B4-BE49-F238E27FC236}">
                <a16:creationId xmlns:a16="http://schemas.microsoft.com/office/drawing/2014/main" id="{D4DA437F-57E5-6F4C-B730-B9FD36C605B0}"/>
              </a:ext>
            </a:extLst>
          </p:cNvPr>
          <p:cNvSpPr txBox="1"/>
          <p:nvPr/>
        </p:nvSpPr>
        <p:spPr>
          <a:xfrm>
            <a:off x="5469480" y="3950056"/>
            <a:ext cx="766414" cy="646331"/>
          </a:xfrm>
          <a:prstGeom prst="rect">
            <a:avLst/>
          </a:prstGeom>
          <a:noFill/>
        </p:spPr>
        <p:txBody>
          <a:bodyPr wrap="square" rtlCol="0">
            <a:spAutoFit/>
          </a:bodyPr>
          <a:lstStyle/>
          <a:p>
            <a:r>
              <a:rPr lang="pt-BR" sz="900" u="sng" dirty="0">
                <a:latin typeface="Calibri Light" panose="020F0302020204030204" pitchFamily="34" charset="0"/>
                <a:cs typeface="Calibri Light" panose="020F0302020204030204" pitchFamily="34" charset="0"/>
              </a:rPr>
              <a:t>ID</a:t>
            </a:r>
          </a:p>
          <a:p>
            <a:r>
              <a:rPr lang="pt-BR" sz="900" dirty="0">
                <a:latin typeface="Calibri Light" panose="020F0302020204030204" pitchFamily="34" charset="0"/>
                <a:cs typeface="Calibri Light" panose="020F0302020204030204" pitchFamily="34" charset="0"/>
              </a:rPr>
              <a:t>nome</a:t>
            </a:r>
          </a:p>
          <a:p>
            <a:r>
              <a:rPr lang="pt-BR" sz="900" dirty="0" err="1">
                <a:latin typeface="Calibri Light" panose="020F0302020204030204" pitchFamily="34" charset="0"/>
                <a:cs typeface="Calibri Light" panose="020F0302020204030204" pitchFamily="34" charset="0"/>
              </a:rPr>
              <a:t>nome_dept</a:t>
            </a:r>
            <a:endParaRPr lang="pt-BR" sz="900" dirty="0">
              <a:latin typeface="Calibri Light" panose="020F0302020204030204" pitchFamily="34" charset="0"/>
              <a:cs typeface="Calibri Light" panose="020F0302020204030204" pitchFamily="34" charset="0"/>
            </a:endParaRPr>
          </a:p>
          <a:p>
            <a:r>
              <a:rPr lang="pt-BR" sz="900" dirty="0">
                <a:latin typeface="Calibri Light" panose="020F0302020204030204" pitchFamily="34" charset="0"/>
                <a:cs typeface="Calibri Light" panose="020F0302020204030204" pitchFamily="34" charset="0"/>
              </a:rPr>
              <a:t>salário</a:t>
            </a:r>
          </a:p>
        </p:txBody>
      </p:sp>
      <p:sp>
        <p:nvSpPr>
          <p:cNvPr id="259118" name="TextBox 259117">
            <a:extLst>
              <a:ext uri="{FF2B5EF4-FFF2-40B4-BE49-F238E27FC236}">
                <a16:creationId xmlns:a16="http://schemas.microsoft.com/office/drawing/2014/main" id="{256F4743-1634-1B4F-9322-786A6945FFA2}"/>
              </a:ext>
            </a:extLst>
          </p:cNvPr>
          <p:cNvSpPr txBox="1"/>
          <p:nvPr/>
        </p:nvSpPr>
        <p:spPr>
          <a:xfrm>
            <a:off x="5231279" y="2454767"/>
            <a:ext cx="1004613" cy="646331"/>
          </a:xfrm>
          <a:prstGeom prst="rect">
            <a:avLst/>
          </a:prstGeom>
          <a:noFill/>
        </p:spPr>
        <p:txBody>
          <a:bodyPr wrap="square" rtlCol="0">
            <a:spAutoFit/>
          </a:bodyPr>
          <a:lstStyle/>
          <a:p>
            <a:r>
              <a:rPr lang="pt-BR" sz="900" u="sng" dirty="0" err="1">
                <a:latin typeface="Calibri Light" panose="020F0302020204030204" pitchFamily="34" charset="0"/>
                <a:cs typeface="Calibri Light" panose="020F0302020204030204" pitchFamily="34" charset="0"/>
              </a:rPr>
              <a:t>nome_dept</a:t>
            </a:r>
            <a:endParaRPr lang="pt-BR" sz="900" dirty="0">
              <a:latin typeface="Calibri Light" panose="020F0302020204030204" pitchFamily="34" charset="0"/>
              <a:cs typeface="Calibri Light" panose="020F0302020204030204" pitchFamily="34" charset="0"/>
            </a:endParaRPr>
          </a:p>
          <a:p>
            <a:endParaRPr lang="pt-BR" sz="900" dirty="0">
              <a:latin typeface="Calibri Light" panose="020F0302020204030204" pitchFamily="34" charset="0"/>
              <a:cs typeface="Calibri Light" panose="020F0302020204030204" pitchFamily="34" charset="0"/>
            </a:endParaRPr>
          </a:p>
          <a:p>
            <a:r>
              <a:rPr lang="pt-BR" sz="900" dirty="0">
                <a:latin typeface="Calibri Light" panose="020F0302020204030204" pitchFamily="34" charset="0"/>
                <a:cs typeface="Calibri Light" panose="020F0302020204030204" pitchFamily="34" charset="0"/>
              </a:rPr>
              <a:t>prédio</a:t>
            </a:r>
          </a:p>
          <a:p>
            <a:r>
              <a:rPr lang="pt-BR" sz="900" dirty="0" err="1">
                <a:latin typeface="Calibri Light" panose="020F0302020204030204" pitchFamily="34" charset="0"/>
                <a:cs typeface="Calibri Light" panose="020F0302020204030204" pitchFamily="34" charset="0"/>
              </a:rPr>
              <a:t>orcamento</a:t>
            </a:r>
            <a:endParaRPr lang="pt-BR" sz="900" dirty="0">
              <a:latin typeface="Calibri Light" panose="020F0302020204030204" pitchFamily="34" charset="0"/>
              <a:cs typeface="Calibri Light" panose="020F0302020204030204" pitchFamily="34" charset="0"/>
            </a:endParaRPr>
          </a:p>
        </p:txBody>
      </p:sp>
      <p:sp>
        <p:nvSpPr>
          <p:cNvPr id="2" name="TextBox 1">
            <a:extLst>
              <a:ext uri="{FF2B5EF4-FFF2-40B4-BE49-F238E27FC236}">
                <a16:creationId xmlns:a16="http://schemas.microsoft.com/office/drawing/2014/main" id="{A635B139-CB03-CB4D-A86F-3C15D9D2D936}"/>
              </a:ext>
            </a:extLst>
          </p:cNvPr>
          <p:cNvSpPr txBox="1"/>
          <p:nvPr/>
        </p:nvSpPr>
        <p:spPr>
          <a:xfrm>
            <a:off x="7562168" y="4481810"/>
            <a:ext cx="1754372" cy="338554"/>
          </a:xfrm>
          <a:prstGeom prst="rect">
            <a:avLst/>
          </a:prstGeom>
          <a:noFill/>
        </p:spPr>
        <p:txBody>
          <a:bodyPr wrap="square" rtlCol="0">
            <a:spAutoFit/>
          </a:bodyPr>
          <a:lstStyle/>
          <a:p>
            <a:r>
              <a:rPr lang="pt-BR" dirty="0"/>
              <a:t>Tabela professor</a:t>
            </a:r>
          </a:p>
        </p:txBody>
      </p:sp>
      <p:cxnSp>
        <p:nvCxnSpPr>
          <p:cNvPr id="4" name="Straight Arrow Connector 3">
            <a:extLst>
              <a:ext uri="{FF2B5EF4-FFF2-40B4-BE49-F238E27FC236}">
                <a16:creationId xmlns:a16="http://schemas.microsoft.com/office/drawing/2014/main" id="{3DF90844-2FB3-DD4C-BEB2-65BD768D2AD2}"/>
              </a:ext>
            </a:extLst>
          </p:cNvPr>
          <p:cNvCxnSpPr>
            <a:cxnSpLocks/>
            <a:stCxn id="94" idx="1"/>
          </p:cNvCxnSpPr>
          <p:nvPr/>
        </p:nvCxnSpPr>
        <p:spPr bwMode="auto">
          <a:xfrm flipH="1">
            <a:off x="6355562" y="2411806"/>
            <a:ext cx="1326274" cy="4296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94" name="TextBox 93">
            <a:extLst>
              <a:ext uri="{FF2B5EF4-FFF2-40B4-BE49-F238E27FC236}">
                <a16:creationId xmlns:a16="http://schemas.microsoft.com/office/drawing/2014/main" id="{0295939A-0A62-C946-9AF8-AB39AF7A6396}"/>
              </a:ext>
            </a:extLst>
          </p:cNvPr>
          <p:cNvSpPr txBox="1"/>
          <p:nvPr/>
        </p:nvSpPr>
        <p:spPr>
          <a:xfrm>
            <a:off x="7681836" y="2119418"/>
            <a:ext cx="1603398" cy="584775"/>
          </a:xfrm>
          <a:prstGeom prst="rect">
            <a:avLst/>
          </a:prstGeom>
          <a:noFill/>
        </p:spPr>
        <p:txBody>
          <a:bodyPr wrap="square" rtlCol="0">
            <a:spAutoFit/>
          </a:bodyPr>
          <a:lstStyle/>
          <a:p>
            <a:r>
              <a:rPr lang="pt-BR" dirty="0"/>
              <a:t>Tabela departamento</a:t>
            </a:r>
          </a:p>
        </p:txBody>
      </p:sp>
      <p:cxnSp>
        <p:nvCxnSpPr>
          <p:cNvPr id="95" name="Straight Arrow Connector 94">
            <a:extLst>
              <a:ext uri="{FF2B5EF4-FFF2-40B4-BE49-F238E27FC236}">
                <a16:creationId xmlns:a16="http://schemas.microsoft.com/office/drawing/2014/main" id="{9776F224-F991-8147-88C1-3C04A89F4006}"/>
              </a:ext>
            </a:extLst>
          </p:cNvPr>
          <p:cNvCxnSpPr>
            <a:cxnSpLocks/>
          </p:cNvCxnSpPr>
          <p:nvPr/>
        </p:nvCxnSpPr>
        <p:spPr bwMode="auto">
          <a:xfrm flipH="1" flipV="1">
            <a:off x="6373826" y="3950056"/>
            <a:ext cx="1188342" cy="59320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99" name="TextBox 98">
            <a:extLst>
              <a:ext uri="{FF2B5EF4-FFF2-40B4-BE49-F238E27FC236}">
                <a16:creationId xmlns:a16="http://schemas.microsoft.com/office/drawing/2014/main" id="{ABBB65A1-39E1-7E49-BCA9-57768BD3ACCF}"/>
              </a:ext>
            </a:extLst>
          </p:cNvPr>
          <p:cNvSpPr txBox="1"/>
          <p:nvPr/>
        </p:nvSpPr>
        <p:spPr>
          <a:xfrm>
            <a:off x="1352842" y="3135420"/>
            <a:ext cx="1754372" cy="830997"/>
          </a:xfrm>
          <a:prstGeom prst="rect">
            <a:avLst/>
          </a:prstGeom>
          <a:noFill/>
        </p:spPr>
        <p:txBody>
          <a:bodyPr wrap="square" rtlCol="0">
            <a:spAutoFit/>
          </a:bodyPr>
          <a:lstStyle/>
          <a:p>
            <a:r>
              <a:rPr lang="pt-BR" dirty="0"/>
              <a:t>Indicação de chave estrangeira</a:t>
            </a:r>
          </a:p>
        </p:txBody>
      </p:sp>
      <p:cxnSp>
        <p:nvCxnSpPr>
          <p:cNvPr id="9" name="Straight Arrow Connector 8">
            <a:extLst>
              <a:ext uri="{FF2B5EF4-FFF2-40B4-BE49-F238E27FC236}">
                <a16:creationId xmlns:a16="http://schemas.microsoft.com/office/drawing/2014/main" id="{6D7FC7FC-6B91-AD42-B6E3-28446C057DFA}"/>
              </a:ext>
            </a:extLst>
          </p:cNvPr>
          <p:cNvCxnSpPr>
            <a:cxnSpLocks/>
          </p:cNvCxnSpPr>
          <p:nvPr/>
        </p:nvCxnSpPr>
        <p:spPr bwMode="auto">
          <a:xfrm flipV="1">
            <a:off x="2743200" y="3154785"/>
            <a:ext cx="2091158" cy="36459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Tree>
    <p:extLst>
      <p:ext uri="{BB962C8B-B14F-4D97-AF65-F5344CB8AC3E}">
        <p14:creationId xmlns:p14="http://schemas.microsoft.com/office/powerpoint/2010/main" val="20213797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3762" name="Rectangle 2"/>
          <p:cNvSpPr>
            <a:spLocks noGrp="1" noChangeArrowheads="1"/>
          </p:cNvSpPr>
          <p:nvPr>
            <p:ph type="title"/>
          </p:nvPr>
        </p:nvSpPr>
        <p:spPr>
          <a:xfrm>
            <a:off x="938953" y="220345"/>
            <a:ext cx="10314093" cy="609600"/>
          </a:xfrm>
        </p:spPr>
        <p:txBody>
          <a:bodyPr vert="horz" wrap="square" lIns="90488" tIns="44450" rIns="90488" bIns="44450" numCol="1" anchor="ctr" anchorCtr="0" compatLnSpc="1">
            <a:prstTxWarp prst="textNoShape">
              <a:avLst/>
            </a:prstTxWarp>
          </a:bodyPr>
          <a:lstStyle/>
          <a:p>
            <a:pPr algn="l"/>
            <a:r>
              <a:rPr lang="pt-BR" altLang="en-US" sz="3600" dirty="0"/>
              <a:t>Tópicos gerais</a:t>
            </a:r>
          </a:p>
        </p:txBody>
      </p:sp>
      <p:sp>
        <p:nvSpPr>
          <p:cNvPr id="5122" name="Rectangle 3"/>
          <p:cNvSpPr>
            <a:spLocks noGrp="1" noChangeArrowheads="1"/>
          </p:cNvSpPr>
          <p:nvPr>
            <p:ph type="body" idx="1"/>
          </p:nvPr>
        </p:nvSpPr>
        <p:spPr>
          <a:xfrm>
            <a:off x="514350" y="1104899"/>
            <a:ext cx="10824209" cy="5433061"/>
          </a:xfrm>
        </p:spPr>
        <p:txBody>
          <a:bodyPr vert="horz" wrap="square" lIns="90488" tIns="44450" rIns="90488" bIns="44450" numCol="1" anchor="t" anchorCtr="0" compatLnSpc="1">
            <a:prstTxWarp prst="textNoShape">
              <a:avLst/>
            </a:prstTxWarp>
          </a:bodyPr>
          <a:lstStyle/>
          <a:p>
            <a:pPr marL="457200" indent="-457200">
              <a:buFont typeface="+mj-lt"/>
              <a:buAutoNum type="arabicPeriod"/>
            </a:pPr>
            <a:r>
              <a:rPr lang="pt-BR" altLang="en-US" sz="2400" dirty="0">
                <a:solidFill>
                  <a:schemeClr val="accent1">
                    <a:lumMod val="50000"/>
                  </a:schemeClr>
                </a:solidFill>
              </a:rPr>
              <a:t>Origem e os conceitos de relação, </a:t>
            </a:r>
            <a:r>
              <a:rPr lang="pt-BR" altLang="en-US" sz="2400" dirty="0" err="1">
                <a:solidFill>
                  <a:schemeClr val="accent1">
                    <a:lumMod val="50000"/>
                  </a:schemeClr>
                </a:solidFill>
              </a:rPr>
              <a:t>tuplas</a:t>
            </a:r>
            <a:r>
              <a:rPr lang="pt-BR" altLang="en-US" sz="2400" dirty="0">
                <a:solidFill>
                  <a:schemeClr val="accent1">
                    <a:lumMod val="50000"/>
                  </a:schemeClr>
                </a:solidFill>
              </a:rPr>
              <a:t> e atributos.</a:t>
            </a:r>
            <a:endParaRPr lang="pt-BR" altLang="en-US" sz="2400" dirty="0"/>
          </a:p>
          <a:p>
            <a:pPr marL="457200" indent="-457200">
              <a:buFont typeface="+mj-lt"/>
              <a:buAutoNum type="arabicPeriod"/>
            </a:pPr>
            <a:r>
              <a:rPr lang="pt-BR" altLang="en-US" sz="2400" dirty="0">
                <a:solidFill>
                  <a:schemeClr val="accent1">
                    <a:lumMod val="50000"/>
                  </a:schemeClr>
                </a:solidFill>
              </a:rPr>
              <a:t>Esquema do Banco de Dados.</a:t>
            </a:r>
          </a:p>
          <a:p>
            <a:pPr marL="457200" indent="-457200">
              <a:buFont typeface="+mj-lt"/>
              <a:buAutoNum type="arabicPeriod"/>
            </a:pPr>
            <a:r>
              <a:rPr lang="pt-BR" altLang="en-US" sz="2400" dirty="0">
                <a:solidFill>
                  <a:schemeClr val="accent1">
                    <a:lumMod val="50000"/>
                  </a:schemeClr>
                </a:solidFill>
              </a:rPr>
              <a:t>Restrições do modelo relacional: chaves e integridade referencial.</a:t>
            </a:r>
          </a:p>
          <a:p>
            <a:pPr marL="457200" indent="-457200">
              <a:buFont typeface="+mj-lt"/>
              <a:buAutoNum type="arabicPeriod"/>
            </a:pPr>
            <a:r>
              <a:rPr lang="pt-BR" altLang="en-US" sz="2400" dirty="0">
                <a:solidFill>
                  <a:schemeClr val="accent1">
                    <a:lumMod val="50000"/>
                  </a:schemeClr>
                </a:solidFill>
              </a:rPr>
              <a:t>Diagramas de Esquema de Banco de Dados Relacional.</a:t>
            </a:r>
          </a:p>
          <a:p>
            <a:pPr marL="457200" indent="-457200">
              <a:buFont typeface="+mj-lt"/>
              <a:buAutoNum type="arabicPeriod"/>
            </a:pPr>
            <a:r>
              <a:rPr lang="pt-BR" altLang="en-US" sz="2400" dirty="0">
                <a:solidFill>
                  <a:schemeClr val="tx2"/>
                </a:solidFill>
              </a:rPr>
              <a:t>Design de Banco de Dados relacional usando diagramas Entidade-Relacionamento.</a:t>
            </a:r>
          </a:p>
          <a:p>
            <a:pPr marL="0" indent="0">
              <a:buNone/>
            </a:pPr>
            <a:endParaRPr lang="pt-BR" altLang="en-US" sz="2400" dirty="0"/>
          </a:p>
        </p:txBody>
      </p:sp>
    </p:spTree>
    <p:extLst>
      <p:ext uri="{BB962C8B-B14F-4D97-AF65-F5344CB8AC3E}">
        <p14:creationId xmlns:p14="http://schemas.microsoft.com/office/powerpoint/2010/main" val="878246387"/>
      </p:ext>
    </p:extLst>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3E1A39-1685-8548-A945-B27E80FD7FB8}"/>
              </a:ext>
            </a:extLst>
          </p:cNvPr>
          <p:cNvSpPr>
            <a:spLocks noGrp="1"/>
          </p:cNvSpPr>
          <p:nvPr>
            <p:ph type="title"/>
          </p:nvPr>
        </p:nvSpPr>
        <p:spPr>
          <a:xfrm>
            <a:off x="618907" y="250824"/>
            <a:ext cx="11175161" cy="609600"/>
          </a:xfrm>
        </p:spPr>
        <p:txBody>
          <a:bodyPr/>
          <a:lstStyle/>
          <a:p>
            <a:r>
              <a:rPr lang="pt-BR" dirty="0"/>
              <a:t>Reduzindo diagramas ER a esquemas Relacionais</a:t>
            </a:r>
          </a:p>
        </p:txBody>
      </p:sp>
      <p:sp>
        <p:nvSpPr>
          <p:cNvPr id="3" name="Content Placeholder 2">
            <a:extLst>
              <a:ext uri="{FF2B5EF4-FFF2-40B4-BE49-F238E27FC236}">
                <a16:creationId xmlns:a16="http://schemas.microsoft.com/office/drawing/2014/main" id="{BC9EEA4E-5404-6144-99C2-BA2D1AFDFC6D}"/>
              </a:ext>
            </a:extLst>
          </p:cNvPr>
          <p:cNvSpPr>
            <a:spLocks noGrp="1"/>
          </p:cNvSpPr>
          <p:nvPr>
            <p:ph idx="1"/>
          </p:nvPr>
        </p:nvSpPr>
        <p:spPr>
          <a:xfrm>
            <a:off x="531285" y="1093789"/>
            <a:ext cx="11175161" cy="4903787"/>
          </a:xfrm>
        </p:spPr>
        <p:txBody>
          <a:bodyPr/>
          <a:lstStyle/>
          <a:p>
            <a:r>
              <a:rPr lang="pt-BR" altLang="en-US" sz="1890" dirty="0"/>
              <a:t>Tanto o modelo E-R quanto o modelo  Relacional são representações lógicas das empresas do mundo real. Como os dois modelos empregam princípios de design semelhantes, podemos converter um projeto E-R em um projeto relacional. Para cada conjunto de entidades e para cada relacionamento definido no projeto do banco de dados, há um esquema de relação único ao qual atribuímos o nome do conjunto de entidades ou conjunto de relacionamentos correspondente.</a:t>
            </a:r>
          </a:p>
          <a:p>
            <a:endParaRPr lang="pt-BR" altLang="en-US" sz="1890" dirty="0"/>
          </a:p>
          <a:p>
            <a:r>
              <a:rPr lang="pt-BR" altLang="en-US" sz="1890" dirty="0"/>
              <a:t>Para realizar o mapeamento completo realizamos os seguintes passos:</a:t>
            </a:r>
          </a:p>
          <a:p>
            <a:pPr marL="693179" lvl="1" indent="-261067" eaLnBrk="1" hangingPunct="1">
              <a:lnSpc>
                <a:spcPct val="80000"/>
              </a:lnSpc>
              <a:spcBef>
                <a:spcPts val="496"/>
              </a:spcBef>
              <a:buFont typeface="Arial" panose="020B0604020202020204" pitchFamily="34" charset="0"/>
              <a:buChar char="–"/>
              <a:tabLst>
                <a:tab pos="315081" algn="l"/>
                <a:tab pos="421609" algn="l"/>
                <a:tab pos="853721" algn="l"/>
                <a:tab pos="1285832" algn="l"/>
                <a:tab pos="1717944" algn="l"/>
                <a:tab pos="2150055" algn="l"/>
                <a:tab pos="2582166" algn="l"/>
                <a:tab pos="3014278" algn="l"/>
                <a:tab pos="3446389" algn="l"/>
                <a:tab pos="3878500" algn="l"/>
                <a:tab pos="4310612" algn="l"/>
                <a:tab pos="4742723" algn="l"/>
                <a:tab pos="5174834" algn="l"/>
                <a:tab pos="5606946" algn="l"/>
                <a:tab pos="6039057" algn="l"/>
                <a:tab pos="6471168" algn="l"/>
                <a:tab pos="6903280" algn="l"/>
                <a:tab pos="7335391" algn="l"/>
                <a:tab pos="7767502" algn="l"/>
                <a:tab pos="8199613" algn="l"/>
                <a:tab pos="8631725" algn="l"/>
              </a:tabLst>
            </a:pPr>
            <a:r>
              <a:rPr lang="pt-BR" altLang="en-BR" sz="1890" dirty="0"/>
              <a:t>Passo 1: Mapeamento de Conjuntos de Entidades Fortes.</a:t>
            </a:r>
          </a:p>
          <a:p>
            <a:pPr marL="693179" lvl="1" indent="-261067" eaLnBrk="1" hangingPunct="1">
              <a:lnSpc>
                <a:spcPct val="80000"/>
              </a:lnSpc>
              <a:spcBef>
                <a:spcPts val="496"/>
              </a:spcBef>
              <a:buFont typeface="Arial" panose="020B0604020202020204" pitchFamily="34" charset="0"/>
              <a:buChar char="–"/>
              <a:tabLst>
                <a:tab pos="315081" algn="l"/>
                <a:tab pos="421609" algn="l"/>
                <a:tab pos="853721" algn="l"/>
                <a:tab pos="1285832" algn="l"/>
                <a:tab pos="1717944" algn="l"/>
                <a:tab pos="2150055" algn="l"/>
                <a:tab pos="2582166" algn="l"/>
                <a:tab pos="3014278" algn="l"/>
                <a:tab pos="3446389" algn="l"/>
                <a:tab pos="3878500" algn="l"/>
                <a:tab pos="4310612" algn="l"/>
                <a:tab pos="4742723" algn="l"/>
                <a:tab pos="5174834" algn="l"/>
                <a:tab pos="5606946" algn="l"/>
                <a:tab pos="6039057" algn="l"/>
                <a:tab pos="6471168" algn="l"/>
                <a:tab pos="6903280" algn="l"/>
                <a:tab pos="7335391" algn="l"/>
                <a:tab pos="7767502" algn="l"/>
                <a:tab pos="8199613" algn="l"/>
                <a:tab pos="8631725" algn="l"/>
              </a:tabLst>
            </a:pPr>
            <a:r>
              <a:rPr lang="pt-BR" altLang="en-BR" sz="1890" dirty="0"/>
              <a:t>Passo 2: Mapeamento de Conjuntos de Entidades Fracas.</a:t>
            </a:r>
          </a:p>
          <a:p>
            <a:pPr marL="693179" lvl="1" indent="-261067" eaLnBrk="1" hangingPunct="1">
              <a:lnSpc>
                <a:spcPct val="80000"/>
              </a:lnSpc>
              <a:spcBef>
                <a:spcPts val="496"/>
              </a:spcBef>
              <a:buFont typeface="Arial" panose="020B0604020202020204" pitchFamily="34" charset="0"/>
              <a:buChar char="–"/>
              <a:tabLst>
                <a:tab pos="315081" algn="l"/>
                <a:tab pos="421609" algn="l"/>
                <a:tab pos="853721" algn="l"/>
                <a:tab pos="1285832" algn="l"/>
                <a:tab pos="1717944" algn="l"/>
                <a:tab pos="2150055" algn="l"/>
                <a:tab pos="2582166" algn="l"/>
                <a:tab pos="3014278" algn="l"/>
                <a:tab pos="3446389" algn="l"/>
                <a:tab pos="3878500" algn="l"/>
                <a:tab pos="4310612" algn="l"/>
                <a:tab pos="4742723" algn="l"/>
                <a:tab pos="5174834" algn="l"/>
                <a:tab pos="5606946" algn="l"/>
                <a:tab pos="6039057" algn="l"/>
                <a:tab pos="6471168" algn="l"/>
                <a:tab pos="6903280" algn="l"/>
                <a:tab pos="7335391" algn="l"/>
                <a:tab pos="7767502" algn="l"/>
                <a:tab pos="8199613" algn="l"/>
                <a:tab pos="8631725" algn="l"/>
              </a:tabLst>
            </a:pPr>
            <a:r>
              <a:rPr lang="pt-BR" altLang="en-BR" sz="1890" dirty="0"/>
              <a:t>Passo 3: Mapeamento de atributos Multivalorados.</a:t>
            </a:r>
          </a:p>
          <a:p>
            <a:pPr marL="693179" lvl="1" indent="-261067" eaLnBrk="1" hangingPunct="1">
              <a:lnSpc>
                <a:spcPct val="80000"/>
              </a:lnSpc>
              <a:spcBef>
                <a:spcPts val="496"/>
              </a:spcBef>
              <a:buFont typeface="Arial" panose="020B0604020202020204" pitchFamily="34" charset="0"/>
              <a:buChar char="–"/>
              <a:tabLst>
                <a:tab pos="315081" algn="l"/>
                <a:tab pos="421609" algn="l"/>
                <a:tab pos="853721" algn="l"/>
                <a:tab pos="1285832" algn="l"/>
                <a:tab pos="1717944" algn="l"/>
                <a:tab pos="2150055" algn="l"/>
                <a:tab pos="2582166" algn="l"/>
                <a:tab pos="3014278" algn="l"/>
                <a:tab pos="3446389" algn="l"/>
                <a:tab pos="3878500" algn="l"/>
                <a:tab pos="4310612" algn="l"/>
                <a:tab pos="4742723" algn="l"/>
                <a:tab pos="5174834" algn="l"/>
                <a:tab pos="5606946" algn="l"/>
                <a:tab pos="6039057" algn="l"/>
                <a:tab pos="6471168" algn="l"/>
                <a:tab pos="6903280" algn="l"/>
                <a:tab pos="7335391" algn="l"/>
                <a:tab pos="7767502" algn="l"/>
                <a:tab pos="8199613" algn="l"/>
                <a:tab pos="8631725" algn="l"/>
              </a:tabLst>
            </a:pPr>
            <a:r>
              <a:rPr lang="pt-BR" altLang="en-BR" sz="1890" dirty="0"/>
              <a:t>Passo 4: Mapeamento de  Conjuntos de Relacionamentos Binários 1:1.</a:t>
            </a:r>
          </a:p>
          <a:p>
            <a:pPr marL="693179" lvl="1" indent="-261067" eaLnBrk="1" hangingPunct="1">
              <a:lnSpc>
                <a:spcPct val="80000"/>
              </a:lnSpc>
              <a:spcBef>
                <a:spcPts val="496"/>
              </a:spcBef>
              <a:buFont typeface="Arial" panose="020B0604020202020204" pitchFamily="34" charset="0"/>
              <a:buChar char="–"/>
              <a:tabLst>
                <a:tab pos="315081" algn="l"/>
                <a:tab pos="421609" algn="l"/>
                <a:tab pos="853721" algn="l"/>
                <a:tab pos="1285832" algn="l"/>
                <a:tab pos="1717944" algn="l"/>
                <a:tab pos="2150055" algn="l"/>
                <a:tab pos="2582166" algn="l"/>
                <a:tab pos="3014278" algn="l"/>
                <a:tab pos="3446389" algn="l"/>
                <a:tab pos="3878500" algn="l"/>
                <a:tab pos="4310612" algn="l"/>
                <a:tab pos="4742723" algn="l"/>
                <a:tab pos="5174834" algn="l"/>
                <a:tab pos="5606946" algn="l"/>
                <a:tab pos="6039057" algn="l"/>
                <a:tab pos="6471168" algn="l"/>
                <a:tab pos="6903280" algn="l"/>
                <a:tab pos="7335391" algn="l"/>
                <a:tab pos="7767502" algn="l"/>
                <a:tab pos="8199613" algn="l"/>
                <a:tab pos="8631725" algn="l"/>
              </a:tabLst>
            </a:pPr>
            <a:r>
              <a:rPr lang="pt-BR" altLang="en-BR" sz="1890" dirty="0"/>
              <a:t>Passo 5: Mapeamento de  Conjuntos de Relacionamentos Binários 1:N ou N:1.</a:t>
            </a:r>
          </a:p>
          <a:p>
            <a:pPr marL="693179" lvl="1" indent="-261067" eaLnBrk="1" hangingPunct="1">
              <a:lnSpc>
                <a:spcPct val="80000"/>
              </a:lnSpc>
              <a:spcBef>
                <a:spcPts val="496"/>
              </a:spcBef>
              <a:buFont typeface="Arial" panose="020B0604020202020204" pitchFamily="34" charset="0"/>
              <a:buChar char="–"/>
              <a:tabLst>
                <a:tab pos="315081" algn="l"/>
                <a:tab pos="421609" algn="l"/>
                <a:tab pos="853721" algn="l"/>
                <a:tab pos="1285832" algn="l"/>
                <a:tab pos="1717944" algn="l"/>
                <a:tab pos="2150055" algn="l"/>
                <a:tab pos="2582166" algn="l"/>
                <a:tab pos="3014278" algn="l"/>
                <a:tab pos="3446389" algn="l"/>
                <a:tab pos="3878500" algn="l"/>
                <a:tab pos="4310612" algn="l"/>
                <a:tab pos="4742723" algn="l"/>
                <a:tab pos="5174834" algn="l"/>
                <a:tab pos="5606946" algn="l"/>
                <a:tab pos="6039057" algn="l"/>
                <a:tab pos="6471168" algn="l"/>
                <a:tab pos="6903280" algn="l"/>
                <a:tab pos="7335391" algn="l"/>
                <a:tab pos="7767502" algn="l"/>
                <a:tab pos="8199613" algn="l"/>
                <a:tab pos="8631725" algn="l"/>
              </a:tabLst>
            </a:pPr>
            <a:r>
              <a:rPr lang="pt-BR" altLang="en-BR" sz="1890" dirty="0"/>
              <a:t>Passo 6: Mapeamento de  Conjuntos de Relacionamentos Binários  M:N.</a:t>
            </a:r>
          </a:p>
          <a:p>
            <a:pPr marL="693179" lvl="1" indent="-261067" eaLnBrk="1" hangingPunct="1">
              <a:lnSpc>
                <a:spcPct val="80000"/>
              </a:lnSpc>
              <a:spcBef>
                <a:spcPts val="496"/>
              </a:spcBef>
              <a:buFont typeface="Arial" panose="020B0604020202020204" pitchFamily="34" charset="0"/>
              <a:buChar char="–"/>
              <a:tabLst>
                <a:tab pos="315081" algn="l"/>
                <a:tab pos="421609" algn="l"/>
                <a:tab pos="853721" algn="l"/>
                <a:tab pos="1285832" algn="l"/>
                <a:tab pos="1717944" algn="l"/>
                <a:tab pos="2150055" algn="l"/>
                <a:tab pos="2582166" algn="l"/>
                <a:tab pos="3014278" algn="l"/>
                <a:tab pos="3446389" algn="l"/>
                <a:tab pos="3878500" algn="l"/>
                <a:tab pos="4310612" algn="l"/>
                <a:tab pos="4742723" algn="l"/>
                <a:tab pos="5174834" algn="l"/>
                <a:tab pos="5606946" algn="l"/>
                <a:tab pos="6039057" algn="l"/>
                <a:tab pos="6471168" algn="l"/>
                <a:tab pos="6903280" algn="l"/>
                <a:tab pos="7335391" algn="l"/>
                <a:tab pos="7767502" algn="l"/>
                <a:tab pos="8199613" algn="l"/>
                <a:tab pos="8631725" algn="l"/>
              </a:tabLst>
            </a:pPr>
            <a:r>
              <a:rPr lang="pt-BR" altLang="en-BR" sz="1890" dirty="0"/>
              <a:t>Passo 7: Mapeamento de Conjunto de Relacionamentos </a:t>
            </a:r>
            <a:r>
              <a:rPr lang="pt-BR" altLang="en-BR" sz="1890" dirty="0" err="1"/>
              <a:t>n-ários</a:t>
            </a:r>
            <a:r>
              <a:rPr lang="pt-BR" altLang="en-BR" sz="1890" dirty="0"/>
              <a:t>.</a:t>
            </a:r>
          </a:p>
          <a:p>
            <a:pPr marL="693179" lvl="1" indent="-261067" eaLnBrk="1" hangingPunct="1">
              <a:lnSpc>
                <a:spcPct val="80000"/>
              </a:lnSpc>
              <a:spcBef>
                <a:spcPts val="496"/>
              </a:spcBef>
              <a:buFont typeface="Arial" panose="020B0604020202020204" pitchFamily="34" charset="0"/>
              <a:buChar char="–"/>
              <a:tabLst>
                <a:tab pos="315081" algn="l"/>
                <a:tab pos="421609" algn="l"/>
                <a:tab pos="853721" algn="l"/>
                <a:tab pos="1285832" algn="l"/>
                <a:tab pos="1717944" algn="l"/>
                <a:tab pos="2150055" algn="l"/>
                <a:tab pos="2582166" algn="l"/>
                <a:tab pos="3014278" algn="l"/>
                <a:tab pos="3446389" algn="l"/>
                <a:tab pos="3878500" algn="l"/>
                <a:tab pos="4310612" algn="l"/>
                <a:tab pos="4742723" algn="l"/>
                <a:tab pos="5174834" algn="l"/>
                <a:tab pos="5606946" algn="l"/>
                <a:tab pos="6039057" algn="l"/>
                <a:tab pos="6471168" algn="l"/>
                <a:tab pos="6903280" algn="l"/>
                <a:tab pos="7335391" algn="l"/>
                <a:tab pos="7767502" algn="l"/>
                <a:tab pos="8199613" algn="l"/>
                <a:tab pos="8631725" algn="l"/>
              </a:tabLst>
            </a:pPr>
            <a:r>
              <a:rPr lang="pt-BR" altLang="en-BR" sz="1890" dirty="0"/>
              <a:t>Passo 8: Mapeamento de especializações.</a:t>
            </a:r>
          </a:p>
          <a:p>
            <a:pPr marL="693179" lvl="1" indent="-261067" eaLnBrk="1" hangingPunct="1">
              <a:lnSpc>
                <a:spcPct val="80000"/>
              </a:lnSpc>
              <a:spcBef>
                <a:spcPts val="496"/>
              </a:spcBef>
              <a:buFont typeface="Arial" panose="020B0604020202020204" pitchFamily="34" charset="0"/>
              <a:buChar char="–"/>
              <a:tabLst>
                <a:tab pos="315081" algn="l"/>
                <a:tab pos="421609" algn="l"/>
                <a:tab pos="853721" algn="l"/>
                <a:tab pos="1285832" algn="l"/>
                <a:tab pos="1717944" algn="l"/>
                <a:tab pos="2150055" algn="l"/>
                <a:tab pos="2582166" algn="l"/>
                <a:tab pos="3014278" algn="l"/>
                <a:tab pos="3446389" algn="l"/>
                <a:tab pos="3878500" algn="l"/>
                <a:tab pos="4310612" algn="l"/>
                <a:tab pos="4742723" algn="l"/>
                <a:tab pos="5174834" algn="l"/>
                <a:tab pos="5606946" algn="l"/>
                <a:tab pos="6039057" algn="l"/>
                <a:tab pos="6471168" algn="l"/>
                <a:tab pos="6903280" algn="l"/>
                <a:tab pos="7335391" algn="l"/>
                <a:tab pos="7767502" algn="l"/>
                <a:tab pos="8199613" algn="l"/>
                <a:tab pos="8631725" algn="l"/>
              </a:tabLst>
            </a:pPr>
            <a:r>
              <a:rPr lang="pt-BR" altLang="en-BR" sz="1890" dirty="0"/>
              <a:t>Passo 9: Mapeamento de agregações.</a:t>
            </a:r>
          </a:p>
          <a:p>
            <a:pPr marL="0" indent="0">
              <a:buNone/>
            </a:pPr>
            <a:endParaRPr lang="pt-BR" dirty="0"/>
          </a:p>
        </p:txBody>
      </p:sp>
    </p:spTree>
    <p:extLst>
      <p:ext uri="{BB962C8B-B14F-4D97-AF65-F5344CB8AC3E}">
        <p14:creationId xmlns:p14="http://schemas.microsoft.com/office/powerpoint/2010/main" val="20529457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62604BBA-5A1B-425B-BBBF-E447F1A4D69A}"/>
              </a:ext>
            </a:extLst>
          </p:cNvPr>
          <p:cNvCxnSpPr/>
          <p:nvPr/>
        </p:nvCxnSpPr>
        <p:spPr bwMode="auto">
          <a:xfrm>
            <a:off x="1775339" y="188505"/>
            <a:ext cx="864132" cy="0"/>
          </a:xfrm>
          <a:prstGeom prst="line">
            <a:avLst/>
          </a:prstGeom>
          <a:solidFill>
            <a:schemeClr val="accent1"/>
          </a:solidFill>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cxnSp>
      <p:sp>
        <p:nvSpPr>
          <p:cNvPr id="660482" name="Rectangle 2"/>
          <p:cNvSpPr>
            <a:spLocks noGrp="1" noChangeArrowheads="1"/>
          </p:cNvSpPr>
          <p:nvPr>
            <p:ph type="title"/>
          </p:nvPr>
        </p:nvSpPr>
        <p:spPr>
          <a:xfrm>
            <a:off x="660735" y="299522"/>
            <a:ext cx="10820090" cy="576088"/>
          </a:xfrm>
        </p:spPr>
        <p:txBody>
          <a:bodyPr/>
          <a:lstStyle/>
          <a:p>
            <a:pPr>
              <a:defRPr/>
            </a:pPr>
            <a:r>
              <a:rPr lang="pt-BR" altLang="en-US" sz="3200" dirty="0">
                <a:effectLst>
                  <a:outerShdw sx="1000" sy="1000" algn="tl">
                    <a:srgbClr val="C0C0C0"/>
                  </a:outerShdw>
                </a:effectLst>
              </a:rPr>
              <a:t>Passo 1: mapeamento de Conjuntos de Entidades fortes</a:t>
            </a:r>
          </a:p>
        </p:txBody>
      </p:sp>
      <p:sp>
        <p:nvSpPr>
          <p:cNvPr id="51203" name="Rectangle 3"/>
          <p:cNvSpPr>
            <a:spLocks noGrp="1" noChangeArrowheads="1"/>
          </p:cNvSpPr>
          <p:nvPr>
            <p:ph type="body" idx="1"/>
          </p:nvPr>
        </p:nvSpPr>
        <p:spPr>
          <a:xfrm>
            <a:off x="660736" y="1267171"/>
            <a:ext cx="10695200" cy="4406694"/>
          </a:xfrm>
        </p:spPr>
        <p:txBody>
          <a:bodyPr/>
          <a:lstStyle/>
          <a:p>
            <a:pPr eaLnBrk="1" hangingPunct="1">
              <a:lnSpc>
                <a:spcPct val="80000"/>
              </a:lnSpc>
              <a:spcBef>
                <a:spcPts val="567"/>
              </a:spcBef>
              <a:tabLst>
                <a:tab pos="313581" algn="l"/>
                <a:tab pos="420108" algn="l"/>
                <a:tab pos="852219" algn="l"/>
                <a:tab pos="1284331" algn="l"/>
                <a:tab pos="1716442" algn="l"/>
                <a:tab pos="2148554" algn="l"/>
                <a:tab pos="2580665" algn="l"/>
                <a:tab pos="3012776" algn="l"/>
                <a:tab pos="3444888" algn="l"/>
                <a:tab pos="3876999" algn="l"/>
                <a:tab pos="4309111" algn="l"/>
                <a:tab pos="4741222" algn="l"/>
                <a:tab pos="5173332" algn="l"/>
                <a:tab pos="5605445" algn="l"/>
                <a:tab pos="6037556" algn="l"/>
                <a:tab pos="6469666" algn="l"/>
                <a:tab pos="6901779" algn="l"/>
                <a:tab pos="7333890" algn="l"/>
                <a:tab pos="7766000" algn="l"/>
                <a:tab pos="8198113" algn="l"/>
                <a:tab pos="8630224" algn="l"/>
              </a:tabLst>
            </a:pPr>
            <a:endParaRPr lang="pt-BR" altLang="en-BR" sz="1890" dirty="0"/>
          </a:p>
          <a:p>
            <a:pPr eaLnBrk="1" hangingPunct="1">
              <a:lnSpc>
                <a:spcPct val="80000"/>
              </a:lnSpc>
              <a:spcBef>
                <a:spcPts val="567"/>
              </a:spcBef>
              <a:tabLst>
                <a:tab pos="313581" algn="l"/>
                <a:tab pos="420108" algn="l"/>
                <a:tab pos="852219" algn="l"/>
                <a:tab pos="1284331" algn="l"/>
                <a:tab pos="1716442" algn="l"/>
                <a:tab pos="2148554" algn="l"/>
                <a:tab pos="2580665" algn="l"/>
                <a:tab pos="3012776" algn="l"/>
                <a:tab pos="3444888" algn="l"/>
                <a:tab pos="3876999" algn="l"/>
                <a:tab pos="4309111" algn="l"/>
                <a:tab pos="4741222" algn="l"/>
                <a:tab pos="5173332" algn="l"/>
                <a:tab pos="5605445" algn="l"/>
                <a:tab pos="6037556" algn="l"/>
                <a:tab pos="6469666" algn="l"/>
                <a:tab pos="6901779" algn="l"/>
                <a:tab pos="7333890" algn="l"/>
                <a:tab pos="7766000" algn="l"/>
                <a:tab pos="8198113" algn="l"/>
                <a:tab pos="8630224" algn="l"/>
              </a:tabLst>
            </a:pPr>
            <a:r>
              <a:rPr lang="pt-BR" altLang="en-BR" sz="1890" dirty="0"/>
              <a:t>Para cada Conjunto de Entidades Forte </a:t>
            </a:r>
            <a:r>
              <a:rPr lang="pt-BR" altLang="en-BR" sz="1890" i="1" dirty="0"/>
              <a:t>E</a:t>
            </a:r>
            <a:r>
              <a:rPr lang="pt-BR" altLang="en-BR" sz="1890" dirty="0"/>
              <a:t>, crie uma tabela</a:t>
            </a:r>
            <a:r>
              <a:rPr lang="pt-BR" altLang="en-BR" sz="1890" i="1" dirty="0"/>
              <a:t> </a:t>
            </a:r>
            <a:r>
              <a:rPr lang="pt-BR" altLang="en-BR" sz="1890" i="1" dirty="0" err="1"/>
              <a:t>R</a:t>
            </a:r>
            <a:r>
              <a:rPr lang="pt-BR" altLang="en-BR" sz="1890" i="1" dirty="0"/>
              <a:t> </a:t>
            </a:r>
            <a:r>
              <a:rPr lang="pt-BR" altLang="en-BR" sz="1890" dirty="0"/>
              <a:t>que inclua todos os atributos simples ou componentes simples de atributos compostos de E.</a:t>
            </a:r>
          </a:p>
          <a:p>
            <a:pPr eaLnBrk="1" hangingPunct="1">
              <a:lnSpc>
                <a:spcPct val="80000"/>
              </a:lnSpc>
              <a:spcBef>
                <a:spcPts val="567"/>
              </a:spcBef>
              <a:tabLst>
                <a:tab pos="313581" algn="l"/>
                <a:tab pos="420108" algn="l"/>
                <a:tab pos="852219" algn="l"/>
                <a:tab pos="1284331" algn="l"/>
                <a:tab pos="1716442" algn="l"/>
                <a:tab pos="2148554" algn="l"/>
                <a:tab pos="2580665" algn="l"/>
                <a:tab pos="3012776" algn="l"/>
                <a:tab pos="3444888" algn="l"/>
                <a:tab pos="3876999" algn="l"/>
                <a:tab pos="4309111" algn="l"/>
                <a:tab pos="4741222" algn="l"/>
                <a:tab pos="5173332" algn="l"/>
                <a:tab pos="5605445" algn="l"/>
                <a:tab pos="6037556" algn="l"/>
                <a:tab pos="6469666" algn="l"/>
                <a:tab pos="6901779" algn="l"/>
                <a:tab pos="7333890" algn="l"/>
                <a:tab pos="7766000" algn="l"/>
                <a:tab pos="8198113" algn="l"/>
                <a:tab pos="8630224" algn="l"/>
              </a:tabLst>
            </a:pPr>
            <a:endParaRPr lang="pt-BR" altLang="en-BR" sz="1890" dirty="0"/>
          </a:p>
          <a:p>
            <a:pPr eaLnBrk="1" hangingPunct="1">
              <a:lnSpc>
                <a:spcPct val="80000"/>
              </a:lnSpc>
              <a:spcBef>
                <a:spcPts val="567"/>
              </a:spcBef>
              <a:tabLst>
                <a:tab pos="313581" algn="l"/>
                <a:tab pos="420108" algn="l"/>
                <a:tab pos="852219" algn="l"/>
                <a:tab pos="1284331" algn="l"/>
                <a:tab pos="1716442" algn="l"/>
                <a:tab pos="2148554" algn="l"/>
                <a:tab pos="2580665" algn="l"/>
                <a:tab pos="3012776" algn="l"/>
                <a:tab pos="3444888" algn="l"/>
                <a:tab pos="3876999" algn="l"/>
                <a:tab pos="4309111" algn="l"/>
                <a:tab pos="4741222" algn="l"/>
                <a:tab pos="5173332" algn="l"/>
                <a:tab pos="5605445" algn="l"/>
                <a:tab pos="6037556" algn="l"/>
                <a:tab pos="6469666" algn="l"/>
                <a:tab pos="6901779" algn="l"/>
                <a:tab pos="7333890" algn="l"/>
                <a:tab pos="7766000" algn="l"/>
                <a:tab pos="8198113" algn="l"/>
                <a:tab pos="8630224" algn="l"/>
              </a:tabLst>
            </a:pPr>
            <a:endParaRPr lang="pt-BR" altLang="en-BR" sz="1890" dirty="0"/>
          </a:p>
          <a:p>
            <a:pPr eaLnBrk="1" hangingPunct="1">
              <a:lnSpc>
                <a:spcPct val="80000"/>
              </a:lnSpc>
              <a:spcBef>
                <a:spcPts val="567"/>
              </a:spcBef>
              <a:tabLst>
                <a:tab pos="313581" algn="l"/>
                <a:tab pos="420108" algn="l"/>
                <a:tab pos="852219" algn="l"/>
                <a:tab pos="1284331" algn="l"/>
                <a:tab pos="1716442" algn="l"/>
                <a:tab pos="2148554" algn="l"/>
                <a:tab pos="2580665" algn="l"/>
                <a:tab pos="3012776" algn="l"/>
                <a:tab pos="3444888" algn="l"/>
                <a:tab pos="3876999" algn="l"/>
                <a:tab pos="4309111" algn="l"/>
                <a:tab pos="4741222" algn="l"/>
                <a:tab pos="5173332" algn="l"/>
                <a:tab pos="5605445" algn="l"/>
                <a:tab pos="6037556" algn="l"/>
                <a:tab pos="6469666" algn="l"/>
                <a:tab pos="6901779" algn="l"/>
                <a:tab pos="7333890" algn="l"/>
                <a:tab pos="7766000" algn="l"/>
                <a:tab pos="8198113" algn="l"/>
                <a:tab pos="8630224" algn="l"/>
              </a:tabLst>
            </a:pPr>
            <a:r>
              <a:rPr lang="pt-BR" altLang="en-BR" sz="1890" dirty="0"/>
              <a:t>A chave primária da tabela </a:t>
            </a:r>
            <a:r>
              <a:rPr lang="pt-BR" altLang="en-BR" sz="1890" i="1" dirty="0" err="1"/>
              <a:t>R</a:t>
            </a:r>
            <a:r>
              <a:rPr lang="pt-BR" altLang="en-BR" sz="1890" dirty="0"/>
              <a:t> é a mesma chave primária do conjunto de entidades </a:t>
            </a:r>
            <a:r>
              <a:rPr lang="pt-BR" altLang="en-BR" sz="1890" i="1" dirty="0"/>
              <a:t>E</a:t>
            </a:r>
            <a:r>
              <a:rPr lang="pt-BR" altLang="en-BR" sz="1890" dirty="0"/>
              <a:t>. Se a chave primária de </a:t>
            </a:r>
            <a:r>
              <a:rPr lang="pt-BR" altLang="en-BR" sz="1890" i="1" dirty="0"/>
              <a:t>E</a:t>
            </a:r>
            <a:r>
              <a:rPr lang="pt-BR" altLang="en-BR" sz="1890" dirty="0"/>
              <a:t> for </a:t>
            </a:r>
            <a:r>
              <a:rPr lang="pt-BR" altLang="en-BR" sz="1890" i="1" dirty="0"/>
              <a:t>composta</a:t>
            </a:r>
            <a:r>
              <a:rPr lang="pt-BR" altLang="en-BR" sz="1890" dirty="0"/>
              <a:t>, os atributos simples que a compõe formarão juntos a chave primária da tabela </a:t>
            </a:r>
            <a:r>
              <a:rPr lang="pt-BR" altLang="en-BR" sz="1890" i="1" dirty="0"/>
              <a:t>R</a:t>
            </a:r>
            <a:r>
              <a:rPr lang="pt-BR" altLang="en-BR" sz="1890" dirty="0"/>
              <a:t>.</a:t>
            </a:r>
          </a:p>
          <a:p>
            <a:pPr eaLnBrk="1" hangingPunct="1">
              <a:lnSpc>
                <a:spcPct val="80000"/>
              </a:lnSpc>
              <a:spcBef>
                <a:spcPts val="567"/>
              </a:spcBef>
              <a:tabLst>
                <a:tab pos="313581" algn="l"/>
                <a:tab pos="420108" algn="l"/>
                <a:tab pos="852219" algn="l"/>
                <a:tab pos="1284331" algn="l"/>
                <a:tab pos="1716442" algn="l"/>
                <a:tab pos="2148554" algn="l"/>
                <a:tab pos="2580665" algn="l"/>
                <a:tab pos="3012776" algn="l"/>
                <a:tab pos="3444888" algn="l"/>
                <a:tab pos="3876999" algn="l"/>
                <a:tab pos="4309111" algn="l"/>
                <a:tab pos="4741222" algn="l"/>
                <a:tab pos="5173332" algn="l"/>
                <a:tab pos="5605445" algn="l"/>
                <a:tab pos="6037556" algn="l"/>
                <a:tab pos="6469666" algn="l"/>
                <a:tab pos="6901779" algn="l"/>
                <a:tab pos="7333890" algn="l"/>
                <a:tab pos="7766000" algn="l"/>
                <a:tab pos="8198113" algn="l"/>
                <a:tab pos="8630224" algn="l"/>
              </a:tabLst>
            </a:pPr>
            <a:endParaRPr lang="pt-BR" altLang="en-BR" sz="1890" dirty="0"/>
          </a:p>
          <a:p>
            <a:pPr eaLnBrk="1" hangingPunct="1">
              <a:lnSpc>
                <a:spcPct val="80000"/>
              </a:lnSpc>
              <a:spcBef>
                <a:spcPts val="567"/>
              </a:spcBef>
              <a:tabLst>
                <a:tab pos="313581" algn="l"/>
                <a:tab pos="420108" algn="l"/>
                <a:tab pos="852219" algn="l"/>
                <a:tab pos="1284331" algn="l"/>
                <a:tab pos="1716442" algn="l"/>
                <a:tab pos="2148554" algn="l"/>
                <a:tab pos="2580665" algn="l"/>
                <a:tab pos="3012776" algn="l"/>
                <a:tab pos="3444888" algn="l"/>
                <a:tab pos="3876999" algn="l"/>
                <a:tab pos="4309111" algn="l"/>
                <a:tab pos="4741222" algn="l"/>
                <a:tab pos="5173332" algn="l"/>
                <a:tab pos="5605445" algn="l"/>
                <a:tab pos="6037556" algn="l"/>
                <a:tab pos="6469666" algn="l"/>
                <a:tab pos="6901779" algn="l"/>
                <a:tab pos="7333890" algn="l"/>
                <a:tab pos="7766000" algn="l"/>
                <a:tab pos="8198113" algn="l"/>
                <a:tab pos="8630224" algn="l"/>
              </a:tabLst>
            </a:pPr>
            <a:endParaRPr lang="pt-BR" altLang="en-BR" sz="1890" dirty="0"/>
          </a:p>
          <a:p>
            <a:pPr eaLnBrk="1" hangingPunct="1">
              <a:lnSpc>
                <a:spcPct val="80000"/>
              </a:lnSpc>
              <a:spcBef>
                <a:spcPts val="567"/>
              </a:spcBef>
              <a:tabLst>
                <a:tab pos="313581" algn="l"/>
                <a:tab pos="420108" algn="l"/>
                <a:tab pos="852219" algn="l"/>
                <a:tab pos="1284331" algn="l"/>
                <a:tab pos="1716442" algn="l"/>
                <a:tab pos="2148554" algn="l"/>
                <a:tab pos="2580665" algn="l"/>
                <a:tab pos="3012776" algn="l"/>
                <a:tab pos="3444888" algn="l"/>
                <a:tab pos="3876999" algn="l"/>
                <a:tab pos="4309111" algn="l"/>
                <a:tab pos="4741222" algn="l"/>
                <a:tab pos="5173332" algn="l"/>
                <a:tab pos="5605445" algn="l"/>
                <a:tab pos="6037556" algn="l"/>
                <a:tab pos="6469666" algn="l"/>
                <a:tab pos="6901779" algn="l"/>
                <a:tab pos="7333890" algn="l"/>
                <a:tab pos="7766000" algn="l"/>
                <a:tab pos="8198113" algn="l"/>
                <a:tab pos="8630224" algn="l"/>
              </a:tabLst>
            </a:pPr>
            <a:r>
              <a:rPr lang="pt-BR" altLang="en-BR" sz="1890" dirty="0"/>
              <a:t>A seguir veremos um exemplo.</a:t>
            </a:r>
          </a:p>
        </p:txBody>
      </p:sp>
    </p:spTree>
    <p:extLst>
      <p:ext uri="{BB962C8B-B14F-4D97-AF65-F5344CB8AC3E}">
        <p14:creationId xmlns:p14="http://schemas.microsoft.com/office/powerpoint/2010/main" val="18094246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5B752CFA-C0EB-4F40-9218-876595694A01}"/>
              </a:ext>
            </a:extLst>
          </p:cNvPr>
          <p:cNvCxnSpPr/>
          <p:nvPr/>
        </p:nvCxnSpPr>
        <p:spPr bwMode="auto">
          <a:xfrm>
            <a:off x="1775339" y="188505"/>
            <a:ext cx="864132" cy="0"/>
          </a:xfrm>
          <a:prstGeom prst="line">
            <a:avLst/>
          </a:prstGeom>
          <a:solidFill>
            <a:schemeClr val="accent1"/>
          </a:solidFill>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cxnSp>
      <p:sp>
        <p:nvSpPr>
          <p:cNvPr id="668674" name="Rectangle 2"/>
          <p:cNvSpPr>
            <a:spLocks noGrp="1" noChangeArrowheads="1"/>
          </p:cNvSpPr>
          <p:nvPr>
            <p:ph type="title" idx="4294967295"/>
          </p:nvPr>
        </p:nvSpPr>
        <p:spPr>
          <a:xfrm>
            <a:off x="792233" y="170943"/>
            <a:ext cx="11176498" cy="576089"/>
          </a:xfrm>
        </p:spPr>
        <p:txBody>
          <a:bodyPr/>
          <a:lstStyle/>
          <a:p>
            <a:pPr>
              <a:defRPr/>
            </a:pPr>
            <a:r>
              <a:rPr lang="pt-BR" altLang="en-US" sz="3200" dirty="0">
                <a:effectLst>
                  <a:outerShdw sx="1000" sy="1000" algn="tl">
                    <a:srgbClr val="C0C0C0"/>
                  </a:outerShdw>
                </a:effectLst>
              </a:rPr>
              <a:t>Passo 1: mapeamento de Conjuntos de Entidades fortes (cont.)</a:t>
            </a:r>
            <a:endParaRPr lang="en-US" altLang="en-US" sz="3200" dirty="0">
              <a:effectLst>
                <a:outerShdw blurRad="38100" dist="38100" dir="2700000" algn="tl">
                  <a:srgbClr val="C0C0C0"/>
                </a:outerShdw>
              </a:effectLst>
            </a:endParaRPr>
          </a:p>
        </p:txBody>
      </p:sp>
      <p:sp>
        <p:nvSpPr>
          <p:cNvPr id="52227" name="Rectangle 3"/>
          <p:cNvSpPr>
            <a:spLocks noGrp="1" noChangeArrowheads="1"/>
          </p:cNvSpPr>
          <p:nvPr>
            <p:ph type="body" idx="4294967295"/>
          </p:nvPr>
        </p:nvSpPr>
        <p:spPr>
          <a:xfrm>
            <a:off x="3608029" y="1013018"/>
            <a:ext cx="8173106" cy="5427776"/>
          </a:xfrm>
        </p:spPr>
        <p:txBody>
          <a:bodyPr/>
          <a:lstStyle/>
          <a:p>
            <a:pPr>
              <a:buFont typeface="Wingdings" pitchFamily="2" charset="2"/>
              <a:buChar char="§"/>
            </a:pPr>
            <a:r>
              <a:rPr lang="pt-BR" altLang="en-US" sz="1890" dirty="0"/>
              <a:t>Nesse exemplo, o conjunto de entidades </a:t>
            </a:r>
            <a:r>
              <a:rPr lang="pt-BR" altLang="en-US" sz="1890" i="1" dirty="0"/>
              <a:t>professor</a:t>
            </a:r>
            <a:r>
              <a:rPr lang="pt-BR" altLang="en-US" sz="1890" dirty="0"/>
              <a:t> possui dois atributos compostos: </a:t>
            </a:r>
            <a:r>
              <a:rPr lang="pt-BR" altLang="en-US" sz="1890" i="1" dirty="0"/>
              <a:t>nome</a:t>
            </a:r>
            <a:r>
              <a:rPr lang="pt-BR" altLang="en-US" sz="1890" dirty="0"/>
              <a:t> e </a:t>
            </a:r>
            <a:r>
              <a:rPr lang="pt-BR" altLang="en-US" sz="1890" i="1" dirty="0"/>
              <a:t>endereço</a:t>
            </a:r>
            <a:r>
              <a:rPr lang="pt-BR" altLang="en-US" sz="1890" dirty="0"/>
              <a:t>. No mapeamento, os componentes desses atributos se tornarão atributos simples da tabela </a:t>
            </a:r>
            <a:r>
              <a:rPr lang="pt-BR" altLang="en-US" sz="1890" i="1" dirty="0"/>
              <a:t>professor</a:t>
            </a:r>
            <a:r>
              <a:rPr lang="pt-BR" altLang="en-US" sz="1890" dirty="0">
                <a:ea typeface="ＭＳ Ｐゴシック" panose="020B0600070205080204" pitchFamily="34" charset="-128"/>
              </a:rPr>
              <a:t>.</a:t>
            </a:r>
          </a:p>
          <a:p>
            <a:pPr lvl="1">
              <a:buFont typeface="Wingdings" pitchFamily="2" charset="2"/>
              <a:buChar char="§"/>
            </a:pPr>
            <a:r>
              <a:rPr lang="pt-BR" altLang="en-US" sz="1890" dirty="0">
                <a:ea typeface="ＭＳ Ｐゴシック" panose="020B0600070205080204" pitchFamily="34" charset="-128"/>
              </a:rPr>
              <a:t>O atributo </a:t>
            </a:r>
            <a:r>
              <a:rPr lang="pt-BR" altLang="en-US" sz="1890" i="1" dirty="0">
                <a:ea typeface="ＭＳ Ｐゴシック" panose="020B0600070205080204" pitchFamily="34" charset="-128"/>
              </a:rPr>
              <a:t>nome</a:t>
            </a:r>
            <a:r>
              <a:rPr lang="pt-BR" altLang="en-US" sz="1890" dirty="0">
                <a:ea typeface="ＭＳ Ｐゴシック" panose="020B0600070205080204" pitchFamily="34" charset="-128"/>
              </a:rPr>
              <a:t> será decomposto em suas partes: </a:t>
            </a:r>
            <a:r>
              <a:rPr lang="pt-BR" altLang="en-US" sz="1890" i="1" dirty="0" err="1">
                <a:ea typeface="ＭＳ Ｐゴシック" panose="020B0600070205080204" pitchFamily="34" charset="-128"/>
              </a:rPr>
              <a:t>primeiro_nome</a:t>
            </a:r>
            <a:r>
              <a:rPr lang="pt-BR" altLang="en-US" sz="1890" i="1" dirty="0">
                <a:ea typeface="ＭＳ Ｐゴシック" panose="020B0600070205080204" pitchFamily="34" charset="-128"/>
              </a:rPr>
              <a:t>,</a:t>
            </a:r>
            <a:r>
              <a:rPr lang="pt-BR" altLang="en-US" sz="1890" dirty="0">
                <a:ea typeface="ＭＳ Ｐゴシック" panose="020B0600070205080204" pitchFamily="34" charset="-128"/>
              </a:rPr>
              <a:t> </a:t>
            </a:r>
            <a:r>
              <a:rPr lang="pt-BR" altLang="en-US" sz="1890" i="1" dirty="0" err="1">
                <a:ea typeface="ＭＳ Ｐゴシック" panose="020B0600070205080204" pitchFamily="34" charset="-128"/>
              </a:rPr>
              <a:t>inicial_meio</a:t>
            </a:r>
            <a:r>
              <a:rPr lang="pt-BR" altLang="en-US" sz="1890" i="1" dirty="0">
                <a:ea typeface="ＭＳ Ｐゴシック" panose="020B0600070205080204" pitchFamily="34" charset="-128"/>
              </a:rPr>
              <a:t> </a:t>
            </a:r>
            <a:r>
              <a:rPr lang="pt-BR" altLang="en-US" sz="1890" dirty="0">
                <a:ea typeface="ＭＳ Ｐゴシック" panose="020B0600070205080204" pitchFamily="34" charset="-128"/>
              </a:rPr>
              <a:t>e </a:t>
            </a:r>
            <a:r>
              <a:rPr lang="pt-BR" altLang="en-US" sz="1890" i="1" dirty="0" err="1">
                <a:ea typeface="ＭＳ Ｐゴシック" panose="020B0600070205080204" pitchFamily="34" charset="-128"/>
              </a:rPr>
              <a:t>último_nome</a:t>
            </a:r>
            <a:r>
              <a:rPr lang="pt-BR" altLang="en-US" sz="1890" i="1" dirty="0">
                <a:ea typeface="ＭＳ Ｐゴシック" panose="020B0600070205080204" pitchFamily="34" charset="-128"/>
              </a:rPr>
              <a:t>. </a:t>
            </a:r>
            <a:r>
              <a:rPr lang="pt-BR" altLang="en-US" sz="1890" dirty="0">
                <a:ea typeface="ＭＳ Ｐゴシック" panose="020B0600070205080204" pitchFamily="34" charset="-128"/>
              </a:rPr>
              <a:t>O prefixo pode ser omitido se não houver ambiguidade.</a:t>
            </a:r>
          </a:p>
          <a:p>
            <a:pPr lvl="1">
              <a:buFont typeface="Wingdings" pitchFamily="2" charset="2"/>
              <a:buChar char="§"/>
            </a:pPr>
            <a:r>
              <a:rPr lang="pt-BR" altLang="en-US" sz="1890" dirty="0">
                <a:ea typeface="ＭＳ Ｐゴシック" panose="020B0600070205080204" pitchFamily="34" charset="-128"/>
              </a:rPr>
              <a:t>O mesmo acontece com o atributo composto </a:t>
            </a:r>
            <a:r>
              <a:rPr lang="pt-BR" altLang="en-US" sz="1890" i="1" dirty="0">
                <a:ea typeface="ＭＳ Ｐゴシック" panose="020B0600070205080204" pitchFamily="34" charset="-128"/>
              </a:rPr>
              <a:t>endereço.</a:t>
            </a:r>
          </a:p>
          <a:p>
            <a:endParaRPr lang="pt-BR" altLang="en-US" sz="1890" i="1" dirty="0">
              <a:ea typeface="ＭＳ Ｐゴシック" panose="020B0600070205080204" pitchFamily="34" charset="-128"/>
            </a:endParaRPr>
          </a:p>
          <a:p>
            <a:pPr>
              <a:buFont typeface="Wingdings" pitchFamily="2" charset="2"/>
              <a:buChar char="§"/>
            </a:pPr>
            <a:r>
              <a:rPr lang="pt-BR" altLang="en-US" sz="1890" dirty="0">
                <a:ea typeface="ＭＳ Ｐゴシック" panose="020B0600070205080204" pitchFamily="34" charset="-128"/>
              </a:rPr>
              <a:t>O atributo </a:t>
            </a:r>
            <a:r>
              <a:rPr lang="pt-BR" altLang="en-US" sz="1890" i="1" dirty="0" err="1">
                <a:ea typeface="ＭＳ Ｐゴシック" panose="020B0600070205080204" pitchFamily="34" charset="-128"/>
              </a:rPr>
              <a:t>numero_telefone</a:t>
            </a:r>
            <a:r>
              <a:rPr lang="pt-BR" altLang="en-US" sz="1890" dirty="0">
                <a:ea typeface="ＭＳ Ｐゴシック" panose="020B0600070205080204" pitchFamily="34" charset="-128"/>
              </a:rPr>
              <a:t> é multivalorado e deve ser ignorado neste passo.</a:t>
            </a:r>
          </a:p>
          <a:p>
            <a:endParaRPr lang="pt-BR" altLang="en-US" sz="1890" dirty="0">
              <a:ea typeface="ＭＳ Ｐゴシック" panose="020B0600070205080204" pitchFamily="34" charset="-128"/>
            </a:endParaRPr>
          </a:p>
          <a:p>
            <a:pPr>
              <a:buFont typeface="Wingdings" panose="05000000000000000000" pitchFamily="2" charset="2"/>
              <a:buChar char="§"/>
            </a:pPr>
            <a:r>
              <a:rPr lang="pt-BR" altLang="en-US" sz="1890" dirty="0">
                <a:ea typeface="ＭＳ Ｐゴシック" panose="020B0600070205080204" pitchFamily="34" charset="-128"/>
              </a:rPr>
              <a:t>O atributo </a:t>
            </a:r>
            <a:r>
              <a:rPr lang="pt-BR" altLang="en-US" sz="1890" i="1" dirty="0">
                <a:ea typeface="ＭＳ Ｐゴシック" panose="020B0600070205080204" pitchFamily="34" charset="-128"/>
              </a:rPr>
              <a:t>idade </a:t>
            </a:r>
            <a:r>
              <a:rPr lang="pt-BR" altLang="en-US" sz="1890" dirty="0">
                <a:ea typeface="ＭＳ Ｐゴシック" panose="020B0600070205080204" pitchFamily="34" charset="-128"/>
              </a:rPr>
              <a:t>é derivado e, por isso, não persiste na base.</a:t>
            </a:r>
            <a:endParaRPr lang="pt-BR" altLang="en-US" sz="1890" i="1" dirty="0">
              <a:ea typeface="ＭＳ Ｐゴシック" panose="020B0600070205080204" pitchFamily="34" charset="-128"/>
            </a:endParaRPr>
          </a:p>
          <a:p>
            <a:pPr>
              <a:buFont typeface="Wingdings" panose="05000000000000000000" pitchFamily="2" charset="2"/>
              <a:buChar char="§"/>
            </a:pPr>
            <a:endParaRPr lang="pt-BR" altLang="en-US" sz="1890" dirty="0"/>
          </a:p>
          <a:p>
            <a:pPr>
              <a:buFont typeface="Wingdings" panose="05000000000000000000" pitchFamily="2" charset="2"/>
              <a:buChar char="§"/>
            </a:pPr>
            <a:r>
              <a:rPr lang="pt-BR" altLang="en-US" sz="1890" dirty="0"/>
              <a:t>Após o mapeamento, a tabela </a:t>
            </a:r>
            <a:r>
              <a:rPr lang="pt-BR" altLang="en-US" sz="1890" i="1" dirty="0"/>
              <a:t>professor</a:t>
            </a:r>
            <a:r>
              <a:rPr lang="pt-BR" altLang="en-US" sz="1890" dirty="0"/>
              <a:t> ficaria como segue: </a:t>
            </a:r>
            <a:r>
              <a:rPr lang="pt-BR" altLang="en-US" sz="1890" i="1" dirty="0">
                <a:ea typeface="ＭＳ Ｐゴシック" panose="020B0600070205080204" pitchFamily="34" charset="-128"/>
              </a:rPr>
              <a:t>professor = (</a:t>
            </a:r>
            <a:r>
              <a:rPr lang="pt-BR" altLang="en-US" sz="1890" i="1" u="sng" dirty="0">
                <a:ea typeface="ＭＳ Ｐゴシック" panose="020B0600070205080204" pitchFamily="34" charset="-128"/>
              </a:rPr>
              <a:t>ID</a:t>
            </a:r>
            <a:r>
              <a:rPr lang="pt-BR" altLang="en-US" sz="1890" i="1" dirty="0">
                <a:ea typeface="ＭＳ Ｐゴシック" panose="020B0600070205080204" pitchFamily="34" charset="-128"/>
              </a:rPr>
              <a:t>, </a:t>
            </a:r>
            <a:r>
              <a:rPr lang="pt-BR" altLang="en-US" sz="1890" i="1" dirty="0" err="1">
                <a:ea typeface="ＭＳ Ｐゴシック" panose="020B0600070205080204" pitchFamily="34" charset="-128"/>
              </a:rPr>
              <a:t>primeiro_nome</a:t>
            </a:r>
            <a:r>
              <a:rPr lang="pt-BR" altLang="en-US" sz="1890" i="1" dirty="0">
                <a:ea typeface="ＭＳ Ｐゴシック" panose="020B0600070205080204" pitchFamily="34" charset="-128"/>
              </a:rPr>
              <a:t>, </a:t>
            </a:r>
            <a:r>
              <a:rPr lang="pt-BR" altLang="en-US" sz="1890" i="1" dirty="0" err="1">
                <a:ea typeface="ＭＳ Ｐゴシック" panose="020B0600070205080204" pitchFamily="34" charset="-128"/>
              </a:rPr>
              <a:t>inicial_meio</a:t>
            </a:r>
            <a:r>
              <a:rPr lang="pt-BR" altLang="en-US" sz="1890" i="1" dirty="0">
                <a:ea typeface="ＭＳ Ｐゴシック" panose="020B0600070205080204" pitchFamily="34" charset="-128"/>
              </a:rPr>
              <a:t>,  </a:t>
            </a:r>
            <a:r>
              <a:rPr lang="pt-BR" altLang="en-US" sz="1890" i="1" dirty="0" err="1">
                <a:ea typeface="ＭＳ Ｐゴシック" panose="020B0600070205080204" pitchFamily="34" charset="-128"/>
              </a:rPr>
              <a:t>último_nome</a:t>
            </a:r>
            <a:r>
              <a:rPr lang="pt-BR" altLang="en-US" sz="1890" i="1" dirty="0">
                <a:ea typeface="ＭＳ Ｐゴシック" panose="020B0600070205080204" pitchFamily="34" charset="-128"/>
              </a:rPr>
              <a:t>, </a:t>
            </a:r>
            <a:r>
              <a:rPr lang="pt-BR" altLang="en-US" sz="1890" i="1" dirty="0" err="1">
                <a:ea typeface="ＭＳ Ｐゴシック" panose="020B0600070205080204" pitchFamily="34" charset="-128"/>
              </a:rPr>
              <a:t>nome_rua</a:t>
            </a:r>
            <a:r>
              <a:rPr lang="pt-BR" altLang="en-US" sz="1890" i="1" dirty="0">
                <a:ea typeface="ＭＳ Ｐゴシック" panose="020B0600070205080204" pitchFamily="34" charset="-128"/>
              </a:rPr>
              <a:t>, número,  </a:t>
            </a:r>
            <a:r>
              <a:rPr lang="pt-BR" altLang="en-US" sz="1890" i="1" dirty="0" err="1">
                <a:ea typeface="ＭＳ Ｐゴシック" panose="020B0600070205080204" pitchFamily="34" charset="-128"/>
              </a:rPr>
              <a:t>número_apt</a:t>
            </a:r>
            <a:r>
              <a:rPr lang="pt-BR" altLang="en-US" sz="1890" i="1" dirty="0">
                <a:ea typeface="ＭＳ Ｐゴシック" panose="020B0600070205080204" pitchFamily="34" charset="-128"/>
              </a:rPr>
              <a:t>, cidade, estado, </a:t>
            </a:r>
            <a:r>
              <a:rPr lang="pt-BR" altLang="en-US" sz="1890" i="1" dirty="0" err="1">
                <a:ea typeface="ＭＳ Ｐゴシック" panose="020B0600070205080204" pitchFamily="34" charset="-128"/>
              </a:rPr>
              <a:t>cep</a:t>
            </a:r>
            <a:r>
              <a:rPr lang="pt-BR" altLang="en-US" sz="1890" i="1" dirty="0">
                <a:ea typeface="ＭＳ Ｐゴシック" panose="020B0600070205080204" pitchFamily="34" charset="-128"/>
              </a:rPr>
              <a:t>, </a:t>
            </a:r>
            <a:r>
              <a:rPr lang="pt-BR" altLang="en-US" sz="1890" i="1" dirty="0" err="1">
                <a:ea typeface="ＭＳ Ｐゴシック" panose="020B0600070205080204" pitchFamily="34" charset="-128"/>
              </a:rPr>
              <a:t>data_de_nascimento</a:t>
            </a:r>
            <a:r>
              <a:rPr lang="pt-BR" altLang="en-US" sz="1890" i="1" dirty="0">
                <a:ea typeface="ＭＳ Ｐゴシック" panose="020B0600070205080204" pitchFamily="34" charset="-128"/>
              </a:rPr>
              <a:t>)</a:t>
            </a:r>
          </a:p>
          <a:p>
            <a:pPr lvl="1"/>
            <a:endParaRPr lang="pt-BR" altLang="en-US" sz="1890" dirty="0">
              <a:ea typeface="ＭＳ Ｐゴシック" panose="020B0600070205080204" pitchFamily="34" charset="-128"/>
            </a:endParaRPr>
          </a:p>
        </p:txBody>
      </p:sp>
      <p:pic>
        <p:nvPicPr>
          <p:cNvPr id="7" name="Picture 5">
            <a:extLst>
              <a:ext uri="{FF2B5EF4-FFF2-40B4-BE49-F238E27FC236}">
                <a16:creationId xmlns:a16="http://schemas.microsoft.com/office/drawing/2014/main" id="{646EC933-90CB-C441-8C8E-3ACC403B5A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2233" y="1285368"/>
            <a:ext cx="2248161" cy="4764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02252C9C-CF0F-EA43-94DE-DBC59EBF072C}"/>
              </a:ext>
            </a:extLst>
          </p:cNvPr>
          <p:cNvSpPr txBox="1"/>
          <p:nvPr/>
        </p:nvSpPr>
        <p:spPr>
          <a:xfrm>
            <a:off x="1174215" y="1355997"/>
            <a:ext cx="1403691" cy="382541"/>
          </a:xfrm>
          <a:prstGeom prst="rect">
            <a:avLst/>
          </a:prstGeom>
          <a:solidFill>
            <a:srgbClr val="C6E7F1"/>
          </a:solidFill>
        </p:spPr>
        <p:txBody>
          <a:bodyPr wrap="square" rtlCol="0">
            <a:spAutoFit/>
          </a:bodyPr>
          <a:lstStyle/>
          <a:p>
            <a:r>
              <a:rPr lang="pt-BR" sz="1886" i="1" dirty="0"/>
              <a:t>professor</a:t>
            </a:r>
          </a:p>
        </p:txBody>
      </p:sp>
      <p:sp>
        <p:nvSpPr>
          <p:cNvPr id="9" name="TextBox 8">
            <a:extLst>
              <a:ext uri="{FF2B5EF4-FFF2-40B4-BE49-F238E27FC236}">
                <a16:creationId xmlns:a16="http://schemas.microsoft.com/office/drawing/2014/main" id="{7AE50F49-91B2-1748-B07A-CEB33E731BC7}"/>
              </a:ext>
            </a:extLst>
          </p:cNvPr>
          <p:cNvSpPr txBox="1"/>
          <p:nvPr/>
        </p:nvSpPr>
        <p:spPr>
          <a:xfrm>
            <a:off x="962440" y="1842346"/>
            <a:ext cx="449797" cy="319639"/>
          </a:xfrm>
          <a:prstGeom prst="rect">
            <a:avLst/>
          </a:prstGeom>
          <a:solidFill>
            <a:schemeClr val="accent1"/>
          </a:solidFill>
        </p:spPr>
        <p:txBody>
          <a:bodyPr wrap="square" rtlCol="0">
            <a:spAutoFit/>
          </a:bodyPr>
          <a:lstStyle/>
          <a:p>
            <a:r>
              <a:rPr lang="pt-BR" sz="1477" i="1" u="sng" dirty="0"/>
              <a:t>ID</a:t>
            </a:r>
          </a:p>
        </p:txBody>
      </p:sp>
      <p:sp>
        <p:nvSpPr>
          <p:cNvPr id="10" name="TextBox 9">
            <a:extLst>
              <a:ext uri="{FF2B5EF4-FFF2-40B4-BE49-F238E27FC236}">
                <a16:creationId xmlns:a16="http://schemas.microsoft.com/office/drawing/2014/main" id="{D06B8E65-7093-1944-84BF-9D21ECC5F25C}"/>
              </a:ext>
            </a:extLst>
          </p:cNvPr>
          <p:cNvSpPr txBox="1"/>
          <p:nvPr/>
        </p:nvSpPr>
        <p:spPr>
          <a:xfrm>
            <a:off x="962441" y="2090274"/>
            <a:ext cx="844901" cy="319639"/>
          </a:xfrm>
          <a:prstGeom prst="rect">
            <a:avLst/>
          </a:prstGeom>
          <a:solidFill>
            <a:schemeClr val="accent1"/>
          </a:solidFill>
        </p:spPr>
        <p:txBody>
          <a:bodyPr wrap="square" rtlCol="0">
            <a:spAutoFit/>
          </a:bodyPr>
          <a:lstStyle/>
          <a:p>
            <a:r>
              <a:rPr lang="pt-BR" sz="1477" i="1" dirty="0"/>
              <a:t>nome</a:t>
            </a:r>
          </a:p>
        </p:txBody>
      </p:sp>
      <p:sp>
        <p:nvSpPr>
          <p:cNvPr id="11" name="TextBox 10">
            <a:extLst>
              <a:ext uri="{FF2B5EF4-FFF2-40B4-BE49-F238E27FC236}">
                <a16:creationId xmlns:a16="http://schemas.microsoft.com/office/drawing/2014/main" id="{2578124C-B330-984A-B817-18B0EB56E62D}"/>
              </a:ext>
            </a:extLst>
          </p:cNvPr>
          <p:cNvSpPr txBox="1"/>
          <p:nvPr/>
        </p:nvSpPr>
        <p:spPr>
          <a:xfrm>
            <a:off x="1187337" y="2338203"/>
            <a:ext cx="1735220" cy="319639"/>
          </a:xfrm>
          <a:prstGeom prst="rect">
            <a:avLst/>
          </a:prstGeom>
          <a:solidFill>
            <a:schemeClr val="accent1"/>
          </a:solidFill>
        </p:spPr>
        <p:txBody>
          <a:bodyPr wrap="square" rtlCol="0">
            <a:spAutoFit/>
          </a:bodyPr>
          <a:lstStyle/>
          <a:p>
            <a:r>
              <a:rPr lang="pt-BR" sz="1477" i="1" dirty="0" err="1"/>
              <a:t>primeiro_nome</a:t>
            </a:r>
            <a:endParaRPr lang="pt-BR" sz="1477" i="1" dirty="0"/>
          </a:p>
        </p:txBody>
      </p:sp>
      <p:sp>
        <p:nvSpPr>
          <p:cNvPr id="12" name="TextBox 11">
            <a:extLst>
              <a:ext uri="{FF2B5EF4-FFF2-40B4-BE49-F238E27FC236}">
                <a16:creationId xmlns:a16="http://schemas.microsoft.com/office/drawing/2014/main" id="{EAB9593C-3D8C-4042-AD13-89183BD3ED47}"/>
              </a:ext>
            </a:extLst>
          </p:cNvPr>
          <p:cNvSpPr txBox="1"/>
          <p:nvPr/>
        </p:nvSpPr>
        <p:spPr>
          <a:xfrm>
            <a:off x="1187338" y="2612012"/>
            <a:ext cx="1528050" cy="319639"/>
          </a:xfrm>
          <a:prstGeom prst="rect">
            <a:avLst/>
          </a:prstGeom>
          <a:solidFill>
            <a:schemeClr val="accent1"/>
          </a:solidFill>
        </p:spPr>
        <p:txBody>
          <a:bodyPr wrap="square" rtlCol="0">
            <a:spAutoFit/>
          </a:bodyPr>
          <a:lstStyle/>
          <a:p>
            <a:r>
              <a:rPr lang="pt-BR" sz="1477" i="1" dirty="0" err="1"/>
              <a:t>inicial_meio</a:t>
            </a:r>
            <a:endParaRPr lang="pt-BR" sz="1477" i="1" dirty="0"/>
          </a:p>
        </p:txBody>
      </p:sp>
      <p:sp>
        <p:nvSpPr>
          <p:cNvPr id="13" name="TextBox 12">
            <a:extLst>
              <a:ext uri="{FF2B5EF4-FFF2-40B4-BE49-F238E27FC236}">
                <a16:creationId xmlns:a16="http://schemas.microsoft.com/office/drawing/2014/main" id="{A3089C48-1BFC-8945-8681-A5991AC8C06C}"/>
              </a:ext>
            </a:extLst>
          </p:cNvPr>
          <p:cNvSpPr txBox="1"/>
          <p:nvPr/>
        </p:nvSpPr>
        <p:spPr>
          <a:xfrm>
            <a:off x="1187338" y="2885821"/>
            <a:ext cx="1528049" cy="319639"/>
          </a:xfrm>
          <a:prstGeom prst="rect">
            <a:avLst/>
          </a:prstGeom>
          <a:solidFill>
            <a:schemeClr val="accent1"/>
          </a:solidFill>
        </p:spPr>
        <p:txBody>
          <a:bodyPr wrap="square" rtlCol="0">
            <a:spAutoFit/>
          </a:bodyPr>
          <a:lstStyle/>
          <a:p>
            <a:r>
              <a:rPr lang="pt-BR" sz="1477" i="1" dirty="0" err="1"/>
              <a:t>último_nome</a:t>
            </a:r>
            <a:endParaRPr lang="pt-BR" sz="1477" i="1" dirty="0"/>
          </a:p>
        </p:txBody>
      </p:sp>
      <p:sp>
        <p:nvSpPr>
          <p:cNvPr id="14" name="TextBox 13">
            <a:extLst>
              <a:ext uri="{FF2B5EF4-FFF2-40B4-BE49-F238E27FC236}">
                <a16:creationId xmlns:a16="http://schemas.microsoft.com/office/drawing/2014/main" id="{7E958322-BB22-8249-A10F-BD222CDA64BC}"/>
              </a:ext>
            </a:extLst>
          </p:cNvPr>
          <p:cNvSpPr txBox="1"/>
          <p:nvPr/>
        </p:nvSpPr>
        <p:spPr>
          <a:xfrm>
            <a:off x="974784" y="3145545"/>
            <a:ext cx="1664688" cy="319639"/>
          </a:xfrm>
          <a:prstGeom prst="rect">
            <a:avLst/>
          </a:prstGeom>
          <a:solidFill>
            <a:schemeClr val="accent1"/>
          </a:solidFill>
        </p:spPr>
        <p:txBody>
          <a:bodyPr wrap="square" rtlCol="0">
            <a:spAutoFit/>
          </a:bodyPr>
          <a:lstStyle/>
          <a:p>
            <a:r>
              <a:rPr lang="pt-BR" sz="1477" i="1" dirty="0"/>
              <a:t>endereço</a:t>
            </a:r>
          </a:p>
        </p:txBody>
      </p:sp>
      <p:sp>
        <p:nvSpPr>
          <p:cNvPr id="15" name="TextBox 14">
            <a:extLst>
              <a:ext uri="{FF2B5EF4-FFF2-40B4-BE49-F238E27FC236}">
                <a16:creationId xmlns:a16="http://schemas.microsoft.com/office/drawing/2014/main" id="{62D87ACF-DE9E-5B45-A2A2-8E92294B7DEE}"/>
              </a:ext>
            </a:extLst>
          </p:cNvPr>
          <p:cNvSpPr txBox="1"/>
          <p:nvPr/>
        </p:nvSpPr>
        <p:spPr>
          <a:xfrm>
            <a:off x="1215432" y="3383700"/>
            <a:ext cx="1303152" cy="319639"/>
          </a:xfrm>
          <a:prstGeom prst="rect">
            <a:avLst/>
          </a:prstGeom>
          <a:solidFill>
            <a:schemeClr val="accent1"/>
          </a:solidFill>
        </p:spPr>
        <p:txBody>
          <a:bodyPr wrap="square" rtlCol="0">
            <a:spAutoFit/>
          </a:bodyPr>
          <a:lstStyle/>
          <a:p>
            <a:r>
              <a:rPr lang="pt-BR" sz="1477" i="1" dirty="0"/>
              <a:t>logradouro</a:t>
            </a:r>
          </a:p>
        </p:txBody>
      </p:sp>
      <p:sp>
        <p:nvSpPr>
          <p:cNvPr id="16" name="TextBox 15">
            <a:extLst>
              <a:ext uri="{FF2B5EF4-FFF2-40B4-BE49-F238E27FC236}">
                <a16:creationId xmlns:a16="http://schemas.microsoft.com/office/drawing/2014/main" id="{7F45BF9C-BE4F-4141-9BC1-6D0C4E234F2C}"/>
              </a:ext>
            </a:extLst>
          </p:cNvPr>
          <p:cNvSpPr txBox="1"/>
          <p:nvPr/>
        </p:nvSpPr>
        <p:spPr>
          <a:xfrm>
            <a:off x="1187338" y="3661040"/>
            <a:ext cx="1735221" cy="319639"/>
          </a:xfrm>
          <a:prstGeom prst="rect">
            <a:avLst/>
          </a:prstGeom>
          <a:solidFill>
            <a:schemeClr val="accent1"/>
          </a:solidFill>
        </p:spPr>
        <p:txBody>
          <a:bodyPr wrap="square" rtlCol="0">
            <a:spAutoFit/>
          </a:bodyPr>
          <a:lstStyle/>
          <a:p>
            <a:r>
              <a:rPr lang="pt-BR" sz="1477" i="1" dirty="0"/>
              <a:t>    rua</a:t>
            </a:r>
          </a:p>
        </p:txBody>
      </p:sp>
      <p:sp>
        <p:nvSpPr>
          <p:cNvPr id="17" name="TextBox 16">
            <a:extLst>
              <a:ext uri="{FF2B5EF4-FFF2-40B4-BE49-F238E27FC236}">
                <a16:creationId xmlns:a16="http://schemas.microsoft.com/office/drawing/2014/main" id="{B8C429AA-61F2-3342-BEC0-FB0BA00D0921}"/>
              </a:ext>
            </a:extLst>
          </p:cNvPr>
          <p:cNvSpPr txBox="1"/>
          <p:nvPr/>
        </p:nvSpPr>
        <p:spPr>
          <a:xfrm>
            <a:off x="1252804" y="3910117"/>
            <a:ext cx="1735221" cy="319639"/>
          </a:xfrm>
          <a:prstGeom prst="rect">
            <a:avLst/>
          </a:prstGeom>
          <a:solidFill>
            <a:schemeClr val="accent1"/>
          </a:solidFill>
        </p:spPr>
        <p:txBody>
          <a:bodyPr wrap="square" rtlCol="0">
            <a:spAutoFit/>
          </a:bodyPr>
          <a:lstStyle/>
          <a:p>
            <a:r>
              <a:rPr lang="pt-BR" sz="1477" i="1" dirty="0"/>
              <a:t>  número</a:t>
            </a:r>
          </a:p>
        </p:txBody>
      </p:sp>
      <p:sp>
        <p:nvSpPr>
          <p:cNvPr id="18" name="TextBox 17">
            <a:extLst>
              <a:ext uri="{FF2B5EF4-FFF2-40B4-BE49-F238E27FC236}">
                <a16:creationId xmlns:a16="http://schemas.microsoft.com/office/drawing/2014/main" id="{6B466428-C951-AF46-904C-7DCA480B18B9}"/>
              </a:ext>
            </a:extLst>
          </p:cNvPr>
          <p:cNvSpPr txBox="1"/>
          <p:nvPr/>
        </p:nvSpPr>
        <p:spPr>
          <a:xfrm>
            <a:off x="1187337" y="4161270"/>
            <a:ext cx="1735221" cy="319639"/>
          </a:xfrm>
          <a:prstGeom prst="rect">
            <a:avLst/>
          </a:prstGeom>
          <a:solidFill>
            <a:schemeClr val="accent1"/>
          </a:solidFill>
        </p:spPr>
        <p:txBody>
          <a:bodyPr wrap="square" rtlCol="0">
            <a:spAutoFit/>
          </a:bodyPr>
          <a:lstStyle/>
          <a:p>
            <a:r>
              <a:rPr lang="pt-BR" sz="1477" i="1" dirty="0"/>
              <a:t>   apto</a:t>
            </a:r>
          </a:p>
        </p:txBody>
      </p:sp>
      <p:sp>
        <p:nvSpPr>
          <p:cNvPr id="19" name="TextBox 18">
            <a:extLst>
              <a:ext uri="{FF2B5EF4-FFF2-40B4-BE49-F238E27FC236}">
                <a16:creationId xmlns:a16="http://schemas.microsoft.com/office/drawing/2014/main" id="{2E9E886B-61DB-B243-A5DB-AAFF2628E8AB}"/>
              </a:ext>
            </a:extLst>
          </p:cNvPr>
          <p:cNvSpPr txBox="1"/>
          <p:nvPr/>
        </p:nvSpPr>
        <p:spPr>
          <a:xfrm>
            <a:off x="1148057" y="4412423"/>
            <a:ext cx="1735221" cy="319639"/>
          </a:xfrm>
          <a:prstGeom prst="rect">
            <a:avLst/>
          </a:prstGeom>
          <a:solidFill>
            <a:schemeClr val="accent1"/>
          </a:solidFill>
        </p:spPr>
        <p:txBody>
          <a:bodyPr wrap="square" rtlCol="0">
            <a:spAutoFit/>
          </a:bodyPr>
          <a:lstStyle/>
          <a:p>
            <a:r>
              <a:rPr lang="pt-BR" sz="1477" i="1" dirty="0"/>
              <a:t>cidade</a:t>
            </a:r>
          </a:p>
        </p:txBody>
      </p:sp>
      <p:sp>
        <p:nvSpPr>
          <p:cNvPr id="20" name="TextBox 19">
            <a:extLst>
              <a:ext uri="{FF2B5EF4-FFF2-40B4-BE49-F238E27FC236}">
                <a16:creationId xmlns:a16="http://schemas.microsoft.com/office/drawing/2014/main" id="{377BD4AE-9CE8-3746-934D-C98F4E9EFABE}"/>
              </a:ext>
            </a:extLst>
          </p:cNvPr>
          <p:cNvSpPr txBox="1"/>
          <p:nvPr/>
        </p:nvSpPr>
        <p:spPr>
          <a:xfrm>
            <a:off x="1167696" y="4661525"/>
            <a:ext cx="1735221" cy="319639"/>
          </a:xfrm>
          <a:prstGeom prst="rect">
            <a:avLst/>
          </a:prstGeom>
          <a:solidFill>
            <a:schemeClr val="accent1"/>
          </a:solidFill>
        </p:spPr>
        <p:txBody>
          <a:bodyPr wrap="square" rtlCol="0">
            <a:spAutoFit/>
          </a:bodyPr>
          <a:lstStyle/>
          <a:p>
            <a:r>
              <a:rPr lang="pt-BR" sz="1477" i="1" dirty="0"/>
              <a:t>estado</a:t>
            </a:r>
          </a:p>
        </p:txBody>
      </p:sp>
      <p:sp>
        <p:nvSpPr>
          <p:cNvPr id="21" name="TextBox 20">
            <a:extLst>
              <a:ext uri="{FF2B5EF4-FFF2-40B4-BE49-F238E27FC236}">
                <a16:creationId xmlns:a16="http://schemas.microsoft.com/office/drawing/2014/main" id="{2DD022F9-7E27-AE4E-9385-DF8F9C5950C0}"/>
              </a:ext>
            </a:extLst>
          </p:cNvPr>
          <p:cNvSpPr txBox="1"/>
          <p:nvPr/>
        </p:nvSpPr>
        <p:spPr>
          <a:xfrm>
            <a:off x="1148057" y="4912655"/>
            <a:ext cx="1735221" cy="319639"/>
          </a:xfrm>
          <a:prstGeom prst="rect">
            <a:avLst/>
          </a:prstGeom>
          <a:solidFill>
            <a:schemeClr val="accent1"/>
          </a:solidFill>
        </p:spPr>
        <p:txBody>
          <a:bodyPr wrap="square" rtlCol="0">
            <a:spAutoFit/>
          </a:bodyPr>
          <a:lstStyle/>
          <a:p>
            <a:r>
              <a:rPr lang="pt-BR" sz="1477" i="1" dirty="0" err="1"/>
              <a:t>cep</a:t>
            </a:r>
            <a:endParaRPr lang="pt-BR" sz="1477" i="1" dirty="0"/>
          </a:p>
        </p:txBody>
      </p:sp>
      <p:sp>
        <p:nvSpPr>
          <p:cNvPr id="22" name="TextBox 21">
            <a:extLst>
              <a:ext uri="{FF2B5EF4-FFF2-40B4-BE49-F238E27FC236}">
                <a16:creationId xmlns:a16="http://schemas.microsoft.com/office/drawing/2014/main" id="{90F82F04-448F-A548-B486-24188C01A7E2}"/>
              </a:ext>
            </a:extLst>
          </p:cNvPr>
          <p:cNvSpPr txBox="1"/>
          <p:nvPr/>
        </p:nvSpPr>
        <p:spPr>
          <a:xfrm>
            <a:off x="888108" y="5185445"/>
            <a:ext cx="1995170" cy="319639"/>
          </a:xfrm>
          <a:prstGeom prst="rect">
            <a:avLst/>
          </a:prstGeom>
          <a:solidFill>
            <a:schemeClr val="accent1"/>
          </a:solidFill>
        </p:spPr>
        <p:txBody>
          <a:bodyPr wrap="square" rtlCol="0">
            <a:spAutoFit/>
          </a:bodyPr>
          <a:lstStyle/>
          <a:p>
            <a:r>
              <a:rPr lang="pt-BR" sz="1477" i="1" dirty="0"/>
              <a:t>{</a:t>
            </a:r>
            <a:r>
              <a:rPr lang="pt-BR" sz="1477" i="1" dirty="0" err="1"/>
              <a:t>número_telefone</a:t>
            </a:r>
            <a:r>
              <a:rPr lang="pt-BR" sz="1477" i="1" dirty="0"/>
              <a:t>}</a:t>
            </a:r>
          </a:p>
        </p:txBody>
      </p:sp>
      <p:sp>
        <p:nvSpPr>
          <p:cNvPr id="23" name="TextBox 22">
            <a:extLst>
              <a:ext uri="{FF2B5EF4-FFF2-40B4-BE49-F238E27FC236}">
                <a16:creationId xmlns:a16="http://schemas.microsoft.com/office/drawing/2014/main" id="{281DE716-0749-7943-A876-4E24F12E9811}"/>
              </a:ext>
            </a:extLst>
          </p:cNvPr>
          <p:cNvSpPr txBox="1"/>
          <p:nvPr/>
        </p:nvSpPr>
        <p:spPr>
          <a:xfrm>
            <a:off x="875016" y="5425978"/>
            <a:ext cx="2008262" cy="319639"/>
          </a:xfrm>
          <a:prstGeom prst="rect">
            <a:avLst/>
          </a:prstGeom>
          <a:solidFill>
            <a:schemeClr val="accent1"/>
          </a:solidFill>
        </p:spPr>
        <p:txBody>
          <a:bodyPr wrap="square" rtlCol="0">
            <a:spAutoFit/>
          </a:bodyPr>
          <a:lstStyle/>
          <a:p>
            <a:r>
              <a:rPr lang="pt-BR" sz="1477" i="1" dirty="0" err="1"/>
              <a:t>data_de_nascimento</a:t>
            </a:r>
            <a:endParaRPr lang="pt-BR" sz="1477" i="1" dirty="0"/>
          </a:p>
        </p:txBody>
      </p:sp>
      <p:sp>
        <p:nvSpPr>
          <p:cNvPr id="24" name="TextBox 23">
            <a:extLst>
              <a:ext uri="{FF2B5EF4-FFF2-40B4-BE49-F238E27FC236}">
                <a16:creationId xmlns:a16="http://schemas.microsoft.com/office/drawing/2014/main" id="{3231B4BA-86D7-6D40-9DC2-66FEDCBAB055}"/>
              </a:ext>
            </a:extLst>
          </p:cNvPr>
          <p:cNvSpPr txBox="1"/>
          <p:nvPr/>
        </p:nvSpPr>
        <p:spPr>
          <a:xfrm>
            <a:off x="888107" y="5699961"/>
            <a:ext cx="895366" cy="319639"/>
          </a:xfrm>
          <a:prstGeom prst="rect">
            <a:avLst/>
          </a:prstGeom>
          <a:solidFill>
            <a:schemeClr val="accent1"/>
          </a:solidFill>
        </p:spPr>
        <p:txBody>
          <a:bodyPr wrap="square" rtlCol="0">
            <a:spAutoFit/>
          </a:bodyPr>
          <a:lstStyle/>
          <a:p>
            <a:r>
              <a:rPr lang="pt-BR" sz="1477" i="1" dirty="0"/>
              <a:t>idade()</a:t>
            </a:r>
          </a:p>
        </p:txBody>
      </p:sp>
    </p:spTree>
    <p:extLst>
      <p:ext uri="{BB962C8B-B14F-4D97-AF65-F5344CB8AC3E}">
        <p14:creationId xmlns:p14="http://schemas.microsoft.com/office/powerpoint/2010/main" val="6833686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5B752CFA-C0EB-4F40-9218-876595694A01}"/>
              </a:ext>
            </a:extLst>
          </p:cNvPr>
          <p:cNvCxnSpPr/>
          <p:nvPr/>
        </p:nvCxnSpPr>
        <p:spPr bwMode="auto">
          <a:xfrm>
            <a:off x="1775339" y="188505"/>
            <a:ext cx="864132" cy="0"/>
          </a:xfrm>
          <a:prstGeom prst="line">
            <a:avLst/>
          </a:prstGeom>
          <a:solidFill>
            <a:schemeClr val="accent1"/>
          </a:solidFill>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cxnSp>
      <p:sp>
        <p:nvSpPr>
          <p:cNvPr id="668674" name="Rectangle 2"/>
          <p:cNvSpPr>
            <a:spLocks noGrp="1" noChangeArrowheads="1"/>
          </p:cNvSpPr>
          <p:nvPr>
            <p:ph type="title" idx="4294967295"/>
          </p:nvPr>
        </p:nvSpPr>
        <p:spPr>
          <a:xfrm>
            <a:off x="600416" y="277351"/>
            <a:ext cx="11280770" cy="576089"/>
          </a:xfrm>
        </p:spPr>
        <p:txBody>
          <a:bodyPr/>
          <a:lstStyle/>
          <a:p>
            <a:pPr>
              <a:defRPr/>
            </a:pPr>
            <a:r>
              <a:rPr lang="pt-BR" altLang="en-US" sz="3200" dirty="0">
                <a:effectLst>
                  <a:outerShdw sx="1000" sy="1000" algn="tl">
                    <a:srgbClr val="C0C0C0"/>
                  </a:outerShdw>
                </a:effectLst>
              </a:rPr>
              <a:t>Passo 1: mapeamento de Conjuntos de Entidades fortes (cont.)</a:t>
            </a:r>
            <a:endParaRPr lang="en-US" altLang="en-US" sz="3200" dirty="0">
              <a:effectLst>
                <a:outerShdw blurRad="38100" dist="38100" dir="2700000" algn="tl">
                  <a:srgbClr val="C0C0C0"/>
                </a:outerShdw>
              </a:effectLst>
            </a:endParaRPr>
          </a:p>
        </p:txBody>
      </p:sp>
      <p:grpSp>
        <p:nvGrpSpPr>
          <p:cNvPr id="6" name="Group 5">
            <a:extLst>
              <a:ext uri="{FF2B5EF4-FFF2-40B4-BE49-F238E27FC236}">
                <a16:creationId xmlns:a16="http://schemas.microsoft.com/office/drawing/2014/main" id="{47547882-6110-3740-AA5F-961C632556C4}"/>
              </a:ext>
            </a:extLst>
          </p:cNvPr>
          <p:cNvGrpSpPr/>
          <p:nvPr/>
        </p:nvGrpSpPr>
        <p:grpSpPr>
          <a:xfrm>
            <a:off x="1515391" y="1275195"/>
            <a:ext cx="2248161" cy="4764536"/>
            <a:chOff x="4091132" y="1093787"/>
            <a:chExt cx="2378940" cy="5041696"/>
          </a:xfrm>
        </p:grpSpPr>
        <p:pic>
          <p:nvPicPr>
            <p:cNvPr id="7" name="Picture 5">
              <a:extLst>
                <a:ext uri="{FF2B5EF4-FFF2-40B4-BE49-F238E27FC236}">
                  <a16:creationId xmlns:a16="http://schemas.microsoft.com/office/drawing/2014/main" id="{646EC933-90CB-C441-8C8E-3ACC403B5A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91132" y="1093787"/>
              <a:ext cx="2378940" cy="5041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02252C9C-CF0F-EA43-94DE-DBC59EBF072C}"/>
                </a:ext>
              </a:extLst>
            </p:cNvPr>
            <p:cNvSpPr txBox="1"/>
            <p:nvPr/>
          </p:nvSpPr>
          <p:spPr>
            <a:xfrm>
              <a:off x="4534010" y="1155561"/>
              <a:ext cx="1517071" cy="404794"/>
            </a:xfrm>
            <a:prstGeom prst="rect">
              <a:avLst/>
            </a:prstGeom>
            <a:solidFill>
              <a:srgbClr val="C6E7F1"/>
            </a:solidFill>
          </p:spPr>
          <p:txBody>
            <a:bodyPr wrap="square" rtlCol="0">
              <a:spAutoFit/>
            </a:bodyPr>
            <a:lstStyle/>
            <a:p>
              <a:r>
                <a:rPr lang="pt-BR" sz="1886" i="1" dirty="0"/>
                <a:t>professor</a:t>
              </a:r>
            </a:p>
          </p:txBody>
        </p:sp>
        <p:sp>
          <p:nvSpPr>
            <p:cNvPr id="9" name="TextBox 8">
              <a:extLst>
                <a:ext uri="{FF2B5EF4-FFF2-40B4-BE49-F238E27FC236}">
                  <a16:creationId xmlns:a16="http://schemas.microsoft.com/office/drawing/2014/main" id="{7AE50F49-91B2-1748-B07A-CEB33E731BC7}"/>
                </a:ext>
              </a:extLst>
            </p:cNvPr>
            <p:cNvSpPr txBox="1"/>
            <p:nvPr/>
          </p:nvSpPr>
          <p:spPr>
            <a:xfrm>
              <a:off x="4271240" y="1683165"/>
              <a:ext cx="475962" cy="298133"/>
            </a:xfrm>
            <a:prstGeom prst="rect">
              <a:avLst/>
            </a:prstGeom>
            <a:solidFill>
              <a:schemeClr val="accent1"/>
            </a:solidFill>
          </p:spPr>
          <p:txBody>
            <a:bodyPr wrap="square" rtlCol="0">
              <a:spAutoFit/>
            </a:bodyPr>
            <a:lstStyle/>
            <a:p>
              <a:r>
                <a:rPr lang="pt-BR" sz="1231" i="1" u="sng" dirty="0"/>
                <a:t>ID</a:t>
              </a:r>
            </a:p>
          </p:txBody>
        </p:sp>
        <p:sp>
          <p:nvSpPr>
            <p:cNvPr id="10" name="TextBox 9">
              <a:extLst>
                <a:ext uri="{FF2B5EF4-FFF2-40B4-BE49-F238E27FC236}">
                  <a16:creationId xmlns:a16="http://schemas.microsoft.com/office/drawing/2014/main" id="{D06B8E65-7093-1944-84BF-9D21ECC5F25C}"/>
                </a:ext>
              </a:extLst>
            </p:cNvPr>
            <p:cNvSpPr txBox="1"/>
            <p:nvPr/>
          </p:nvSpPr>
          <p:spPr>
            <a:xfrm>
              <a:off x="4271240" y="1945516"/>
              <a:ext cx="702542" cy="298133"/>
            </a:xfrm>
            <a:prstGeom prst="rect">
              <a:avLst/>
            </a:prstGeom>
            <a:solidFill>
              <a:schemeClr val="accent1"/>
            </a:solidFill>
          </p:spPr>
          <p:txBody>
            <a:bodyPr wrap="square" rtlCol="0">
              <a:spAutoFit/>
            </a:bodyPr>
            <a:lstStyle/>
            <a:p>
              <a:r>
                <a:rPr lang="pt-BR" sz="1231" i="1" dirty="0"/>
                <a:t>nome</a:t>
              </a:r>
            </a:p>
          </p:txBody>
        </p:sp>
        <p:sp>
          <p:nvSpPr>
            <p:cNvPr id="11" name="TextBox 10">
              <a:extLst>
                <a:ext uri="{FF2B5EF4-FFF2-40B4-BE49-F238E27FC236}">
                  <a16:creationId xmlns:a16="http://schemas.microsoft.com/office/drawing/2014/main" id="{2578124C-B330-984A-B817-18B0EB56E62D}"/>
                </a:ext>
              </a:extLst>
            </p:cNvPr>
            <p:cNvSpPr txBox="1"/>
            <p:nvPr/>
          </p:nvSpPr>
          <p:spPr>
            <a:xfrm>
              <a:off x="4509221" y="2207867"/>
              <a:ext cx="1644651" cy="298133"/>
            </a:xfrm>
            <a:prstGeom prst="rect">
              <a:avLst/>
            </a:prstGeom>
            <a:solidFill>
              <a:schemeClr val="accent1"/>
            </a:solidFill>
          </p:spPr>
          <p:txBody>
            <a:bodyPr wrap="square" rtlCol="0">
              <a:spAutoFit/>
            </a:bodyPr>
            <a:lstStyle/>
            <a:p>
              <a:r>
                <a:rPr lang="pt-BR" sz="1231" i="1" dirty="0" err="1"/>
                <a:t>primeiro_nome</a:t>
              </a:r>
              <a:endParaRPr lang="pt-BR" sz="1231" i="1" dirty="0"/>
            </a:p>
          </p:txBody>
        </p:sp>
        <p:sp>
          <p:nvSpPr>
            <p:cNvPr id="12" name="TextBox 11">
              <a:extLst>
                <a:ext uri="{FF2B5EF4-FFF2-40B4-BE49-F238E27FC236}">
                  <a16:creationId xmlns:a16="http://schemas.microsoft.com/office/drawing/2014/main" id="{EAB9593C-3D8C-4042-AD13-89183BD3ED47}"/>
                </a:ext>
              </a:extLst>
            </p:cNvPr>
            <p:cNvSpPr txBox="1"/>
            <p:nvPr/>
          </p:nvSpPr>
          <p:spPr>
            <a:xfrm>
              <a:off x="4509221" y="2497604"/>
              <a:ext cx="1378960" cy="298133"/>
            </a:xfrm>
            <a:prstGeom prst="rect">
              <a:avLst/>
            </a:prstGeom>
            <a:solidFill>
              <a:schemeClr val="accent1"/>
            </a:solidFill>
          </p:spPr>
          <p:txBody>
            <a:bodyPr wrap="square" rtlCol="0">
              <a:spAutoFit/>
            </a:bodyPr>
            <a:lstStyle/>
            <a:p>
              <a:r>
                <a:rPr lang="pt-BR" sz="1231" i="1" dirty="0" err="1"/>
                <a:t>inicial_meio</a:t>
              </a:r>
              <a:endParaRPr lang="pt-BR" sz="1231" i="1" dirty="0"/>
            </a:p>
          </p:txBody>
        </p:sp>
        <p:sp>
          <p:nvSpPr>
            <p:cNvPr id="13" name="TextBox 12">
              <a:extLst>
                <a:ext uri="{FF2B5EF4-FFF2-40B4-BE49-F238E27FC236}">
                  <a16:creationId xmlns:a16="http://schemas.microsoft.com/office/drawing/2014/main" id="{A3089C48-1BFC-8945-8681-A5991AC8C06C}"/>
                </a:ext>
              </a:extLst>
            </p:cNvPr>
            <p:cNvSpPr txBox="1"/>
            <p:nvPr/>
          </p:nvSpPr>
          <p:spPr>
            <a:xfrm>
              <a:off x="4509221" y="2787341"/>
              <a:ext cx="1378960" cy="298133"/>
            </a:xfrm>
            <a:prstGeom prst="rect">
              <a:avLst/>
            </a:prstGeom>
            <a:solidFill>
              <a:schemeClr val="accent1"/>
            </a:solidFill>
          </p:spPr>
          <p:txBody>
            <a:bodyPr wrap="square" rtlCol="0">
              <a:spAutoFit/>
            </a:bodyPr>
            <a:lstStyle/>
            <a:p>
              <a:r>
                <a:rPr lang="pt-BR" sz="1231" i="1" dirty="0" err="1"/>
                <a:t>último_nome</a:t>
              </a:r>
              <a:endParaRPr lang="pt-BR" sz="1231" i="1" dirty="0"/>
            </a:p>
          </p:txBody>
        </p:sp>
        <p:sp>
          <p:nvSpPr>
            <p:cNvPr id="14" name="TextBox 13">
              <a:extLst>
                <a:ext uri="{FF2B5EF4-FFF2-40B4-BE49-F238E27FC236}">
                  <a16:creationId xmlns:a16="http://schemas.microsoft.com/office/drawing/2014/main" id="{7E958322-BB22-8249-A10F-BD222CDA64BC}"/>
                </a:ext>
              </a:extLst>
            </p:cNvPr>
            <p:cNvSpPr txBox="1"/>
            <p:nvPr/>
          </p:nvSpPr>
          <p:spPr>
            <a:xfrm>
              <a:off x="4284302" y="3062173"/>
              <a:ext cx="1378960" cy="298133"/>
            </a:xfrm>
            <a:prstGeom prst="rect">
              <a:avLst/>
            </a:prstGeom>
            <a:solidFill>
              <a:schemeClr val="accent1"/>
            </a:solidFill>
          </p:spPr>
          <p:txBody>
            <a:bodyPr wrap="square" rtlCol="0">
              <a:spAutoFit/>
            </a:bodyPr>
            <a:lstStyle/>
            <a:p>
              <a:r>
                <a:rPr lang="pt-BR" sz="1231" i="1" dirty="0"/>
                <a:t>endereço</a:t>
              </a:r>
            </a:p>
          </p:txBody>
        </p:sp>
        <p:sp>
          <p:nvSpPr>
            <p:cNvPr id="15" name="TextBox 14">
              <a:extLst>
                <a:ext uri="{FF2B5EF4-FFF2-40B4-BE49-F238E27FC236}">
                  <a16:creationId xmlns:a16="http://schemas.microsoft.com/office/drawing/2014/main" id="{62D87ACF-DE9E-5B45-A2A2-8E92294B7DEE}"/>
                </a:ext>
              </a:extLst>
            </p:cNvPr>
            <p:cNvSpPr txBox="1"/>
            <p:nvPr/>
          </p:nvSpPr>
          <p:spPr>
            <a:xfrm>
              <a:off x="4538949" y="3314182"/>
              <a:ext cx="1378959" cy="298133"/>
            </a:xfrm>
            <a:prstGeom prst="rect">
              <a:avLst/>
            </a:prstGeom>
            <a:solidFill>
              <a:schemeClr val="accent1"/>
            </a:solidFill>
          </p:spPr>
          <p:txBody>
            <a:bodyPr wrap="square" rtlCol="0">
              <a:spAutoFit/>
            </a:bodyPr>
            <a:lstStyle/>
            <a:p>
              <a:r>
                <a:rPr lang="pt-BR" sz="1231" i="1" dirty="0"/>
                <a:t>logradouro</a:t>
              </a:r>
            </a:p>
          </p:txBody>
        </p:sp>
        <p:sp>
          <p:nvSpPr>
            <p:cNvPr id="16" name="TextBox 15">
              <a:extLst>
                <a:ext uri="{FF2B5EF4-FFF2-40B4-BE49-F238E27FC236}">
                  <a16:creationId xmlns:a16="http://schemas.microsoft.com/office/drawing/2014/main" id="{7F45BF9C-BE4F-4141-9BC1-6D0C4E234F2C}"/>
                </a:ext>
              </a:extLst>
            </p:cNvPr>
            <p:cNvSpPr txBox="1"/>
            <p:nvPr/>
          </p:nvSpPr>
          <p:spPr>
            <a:xfrm>
              <a:off x="4509221" y="3607655"/>
              <a:ext cx="1836161" cy="298133"/>
            </a:xfrm>
            <a:prstGeom prst="rect">
              <a:avLst/>
            </a:prstGeom>
            <a:solidFill>
              <a:schemeClr val="accent1"/>
            </a:solidFill>
          </p:spPr>
          <p:txBody>
            <a:bodyPr wrap="square" rtlCol="0">
              <a:spAutoFit/>
            </a:bodyPr>
            <a:lstStyle/>
            <a:p>
              <a:r>
                <a:rPr lang="pt-BR" sz="1231" i="1" dirty="0"/>
                <a:t>    rua</a:t>
              </a:r>
            </a:p>
          </p:txBody>
        </p:sp>
        <p:sp>
          <p:nvSpPr>
            <p:cNvPr id="17" name="TextBox 16">
              <a:extLst>
                <a:ext uri="{FF2B5EF4-FFF2-40B4-BE49-F238E27FC236}">
                  <a16:creationId xmlns:a16="http://schemas.microsoft.com/office/drawing/2014/main" id="{B8C429AA-61F2-3342-BEC0-FB0BA00D0921}"/>
                </a:ext>
              </a:extLst>
            </p:cNvPr>
            <p:cNvSpPr txBox="1"/>
            <p:nvPr/>
          </p:nvSpPr>
          <p:spPr>
            <a:xfrm>
              <a:off x="4578496" y="3871221"/>
              <a:ext cx="1836161" cy="298133"/>
            </a:xfrm>
            <a:prstGeom prst="rect">
              <a:avLst/>
            </a:prstGeom>
            <a:solidFill>
              <a:schemeClr val="accent1"/>
            </a:solidFill>
          </p:spPr>
          <p:txBody>
            <a:bodyPr wrap="square" rtlCol="0">
              <a:spAutoFit/>
            </a:bodyPr>
            <a:lstStyle/>
            <a:p>
              <a:r>
                <a:rPr lang="pt-BR" sz="1231" i="1" dirty="0"/>
                <a:t>  número</a:t>
              </a:r>
            </a:p>
          </p:txBody>
        </p:sp>
        <p:sp>
          <p:nvSpPr>
            <p:cNvPr id="18" name="TextBox 17">
              <a:extLst>
                <a:ext uri="{FF2B5EF4-FFF2-40B4-BE49-F238E27FC236}">
                  <a16:creationId xmlns:a16="http://schemas.microsoft.com/office/drawing/2014/main" id="{6B466428-C951-AF46-904C-7DCA480B18B9}"/>
                </a:ext>
              </a:extLst>
            </p:cNvPr>
            <p:cNvSpPr txBox="1"/>
            <p:nvPr/>
          </p:nvSpPr>
          <p:spPr>
            <a:xfrm>
              <a:off x="4509220" y="4136985"/>
              <a:ext cx="1836161" cy="298133"/>
            </a:xfrm>
            <a:prstGeom prst="rect">
              <a:avLst/>
            </a:prstGeom>
            <a:solidFill>
              <a:schemeClr val="accent1"/>
            </a:solidFill>
          </p:spPr>
          <p:txBody>
            <a:bodyPr wrap="square" rtlCol="0">
              <a:spAutoFit/>
            </a:bodyPr>
            <a:lstStyle/>
            <a:p>
              <a:r>
                <a:rPr lang="pt-BR" sz="1231" i="1" dirty="0"/>
                <a:t>   apto</a:t>
              </a:r>
            </a:p>
          </p:txBody>
        </p:sp>
        <p:sp>
          <p:nvSpPr>
            <p:cNvPr id="19" name="TextBox 18">
              <a:extLst>
                <a:ext uri="{FF2B5EF4-FFF2-40B4-BE49-F238E27FC236}">
                  <a16:creationId xmlns:a16="http://schemas.microsoft.com/office/drawing/2014/main" id="{2E9E886B-61DB-B243-A5DB-AAFF2628E8AB}"/>
                </a:ext>
              </a:extLst>
            </p:cNvPr>
            <p:cNvSpPr txBox="1"/>
            <p:nvPr/>
          </p:nvSpPr>
          <p:spPr>
            <a:xfrm>
              <a:off x="4467655" y="4402748"/>
              <a:ext cx="1836161" cy="298133"/>
            </a:xfrm>
            <a:prstGeom prst="rect">
              <a:avLst/>
            </a:prstGeom>
            <a:solidFill>
              <a:schemeClr val="accent1"/>
            </a:solidFill>
          </p:spPr>
          <p:txBody>
            <a:bodyPr wrap="square" rtlCol="0">
              <a:spAutoFit/>
            </a:bodyPr>
            <a:lstStyle/>
            <a:p>
              <a:r>
                <a:rPr lang="pt-BR" sz="1231" i="1" dirty="0"/>
                <a:t>cidade</a:t>
              </a:r>
            </a:p>
          </p:txBody>
        </p:sp>
        <p:sp>
          <p:nvSpPr>
            <p:cNvPr id="20" name="TextBox 19">
              <a:extLst>
                <a:ext uri="{FF2B5EF4-FFF2-40B4-BE49-F238E27FC236}">
                  <a16:creationId xmlns:a16="http://schemas.microsoft.com/office/drawing/2014/main" id="{377BD4AE-9CE8-3746-934D-C98F4E9EFABE}"/>
                </a:ext>
              </a:extLst>
            </p:cNvPr>
            <p:cNvSpPr txBox="1"/>
            <p:nvPr/>
          </p:nvSpPr>
          <p:spPr>
            <a:xfrm>
              <a:off x="4488437" y="4666340"/>
              <a:ext cx="1836161" cy="298133"/>
            </a:xfrm>
            <a:prstGeom prst="rect">
              <a:avLst/>
            </a:prstGeom>
            <a:solidFill>
              <a:schemeClr val="accent1"/>
            </a:solidFill>
          </p:spPr>
          <p:txBody>
            <a:bodyPr wrap="square" rtlCol="0">
              <a:spAutoFit/>
            </a:bodyPr>
            <a:lstStyle/>
            <a:p>
              <a:r>
                <a:rPr lang="pt-BR" sz="1231" i="1" dirty="0"/>
                <a:t>estado</a:t>
              </a:r>
            </a:p>
          </p:txBody>
        </p:sp>
        <p:sp>
          <p:nvSpPr>
            <p:cNvPr id="21" name="TextBox 20">
              <a:extLst>
                <a:ext uri="{FF2B5EF4-FFF2-40B4-BE49-F238E27FC236}">
                  <a16:creationId xmlns:a16="http://schemas.microsoft.com/office/drawing/2014/main" id="{2DD022F9-7E27-AE4E-9385-DF8F9C5950C0}"/>
                </a:ext>
              </a:extLst>
            </p:cNvPr>
            <p:cNvSpPr txBox="1"/>
            <p:nvPr/>
          </p:nvSpPr>
          <p:spPr>
            <a:xfrm>
              <a:off x="4467655" y="4967810"/>
              <a:ext cx="1836161" cy="298133"/>
            </a:xfrm>
            <a:prstGeom prst="rect">
              <a:avLst/>
            </a:prstGeom>
            <a:solidFill>
              <a:schemeClr val="accent1"/>
            </a:solidFill>
          </p:spPr>
          <p:txBody>
            <a:bodyPr wrap="square" rtlCol="0">
              <a:spAutoFit/>
            </a:bodyPr>
            <a:lstStyle/>
            <a:p>
              <a:r>
                <a:rPr lang="pt-BR" sz="1231" i="1" dirty="0" err="1"/>
                <a:t>cep</a:t>
              </a:r>
              <a:endParaRPr lang="pt-BR" sz="1231" i="1" dirty="0"/>
            </a:p>
          </p:txBody>
        </p:sp>
        <p:sp>
          <p:nvSpPr>
            <p:cNvPr id="22" name="TextBox 21">
              <a:extLst>
                <a:ext uri="{FF2B5EF4-FFF2-40B4-BE49-F238E27FC236}">
                  <a16:creationId xmlns:a16="http://schemas.microsoft.com/office/drawing/2014/main" id="{90F82F04-448F-A548-B486-24188C01A7E2}"/>
                </a:ext>
              </a:extLst>
            </p:cNvPr>
            <p:cNvSpPr txBox="1"/>
            <p:nvPr/>
          </p:nvSpPr>
          <p:spPr>
            <a:xfrm>
              <a:off x="4192583" y="5232646"/>
              <a:ext cx="2071690" cy="298133"/>
            </a:xfrm>
            <a:prstGeom prst="rect">
              <a:avLst/>
            </a:prstGeom>
            <a:solidFill>
              <a:schemeClr val="accent1"/>
            </a:solidFill>
          </p:spPr>
          <p:txBody>
            <a:bodyPr wrap="square" rtlCol="0">
              <a:spAutoFit/>
            </a:bodyPr>
            <a:lstStyle/>
            <a:p>
              <a:r>
                <a:rPr lang="pt-BR" sz="1231" i="1" dirty="0"/>
                <a:t>{</a:t>
              </a:r>
              <a:r>
                <a:rPr lang="pt-BR" sz="1231" i="1" dirty="0" err="1"/>
                <a:t>número_telefone</a:t>
              </a:r>
              <a:r>
                <a:rPr lang="pt-BR" sz="1231" i="1" dirty="0"/>
                <a:t>}</a:t>
              </a:r>
            </a:p>
          </p:txBody>
        </p:sp>
        <p:sp>
          <p:nvSpPr>
            <p:cNvPr id="23" name="TextBox 22">
              <a:extLst>
                <a:ext uri="{FF2B5EF4-FFF2-40B4-BE49-F238E27FC236}">
                  <a16:creationId xmlns:a16="http://schemas.microsoft.com/office/drawing/2014/main" id="{281DE716-0749-7943-A876-4E24F12E9811}"/>
                </a:ext>
              </a:extLst>
            </p:cNvPr>
            <p:cNvSpPr txBox="1"/>
            <p:nvPr/>
          </p:nvSpPr>
          <p:spPr>
            <a:xfrm>
              <a:off x="4178730" y="5510995"/>
              <a:ext cx="2235927" cy="298133"/>
            </a:xfrm>
            <a:prstGeom prst="rect">
              <a:avLst/>
            </a:prstGeom>
            <a:solidFill>
              <a:schemeClr val="accent1"/>
            </a:solidFill>
          </p:spPr>
          <p:txBody>
            <a:bodyPr wrap="square" rtlCol="0">
              <a:spAutoFit/>
            </a:bodyPr>
            <a:lstStyle/>
            <a:p>
              <a:r>
                <a:rPr lang="pt-BR" sz="1231" i="1" dirty="0" err="1"/>
                <a:t>data_de_nascimento</a:t>
              </a:r>
              <a:endParaRPr lang="pt-BR" sz="1231" i="1" dirty="0"/>
            </a:p>
          </p:txBody>
        </p:sp>
        <p:sp>
          <p:nvSpPr>
            <p:cNvPr id="24" name="TextBox 23">
              <a:extLst>
                <a:ext uri="{FF2B5EF4-FFF2-40B4-BE49-F238E27FC236}">
                  <a16:creationId xmlns:a16="http://schemas.microsoft.com/office/drawing/2014/main" id="{3231B4BA-86D7-6D40-9DC2-66FEDCBAB055}"/>
                </a:ext>
              </a:extLst>
            </p:cNvPr>
            <p:cNvSpPr txBox="1"/>
            <p:nvPr/>
          </p:nvSpPr>
          <p:spPr>
            <a:xfrm>
              <a:off x="4192583" y="5800916"/>
              <a:ext cx="947451" cy="298133"/>
            </a:xfrm>
            <a:prstGeom prst="rect">
              <a:avLst/>
            </a:prstGeom>
            <a:solidFill>
              <a:schemeClr val="accent1"/>
            </a:solidFill>
          </p:spPr>
          <p:txBody>
            <a:bodyPr wrap="square" rtlCol="0">
              <a:spAutoFit/>
            </a:bodyPr>
            <a:lstStyle/>
            <a:p>
              <a:r>
                <a:rPr lang="pt-BR" sz="1231" i="1" dirty="0"/>
                <a:t>idade()</a:t>
              </a:r>
            </a:p>
          </p:txBody>
        </p:sp>
      </p:grpSp>
      <p:grpSp>
        <p:nvGrpSpPr>
          <p:cNvPr id="45" name="Group 44">
            <a:extLst>
              <a:ext uri="{FF2B5EF4-FFF2-40B4-BE49-F238E27FC236}">
                <a16:creationId xmlns:a16="http://schemas.microsoft.com/office/drawing/2014/main" id="{6E600A83-2664-FB47-B6CE-2C34F1F65A2C}"/>
              </a:ext>
            </a:extLst>
          </p:cNvPr>
          <p:cNvGrpSpPr/>
          <p:nvPr/>
        </p:nvGrpSpPr>
        <p:grpSpPr>
          <a:xfrm>
            <a:off x="7874359" y="1285367"/>
            <a:ext cx="2248161" cy="4754363"/>
            <a:chOff x="7977809" y="1160668"/>
            <a:chExt cx="2378940" cy="5041696"/>
          </a:xfrm>
        </p:grpSpPr>
        <p:grpSp>
          <p:nvGrpSpPr>
            <p:cNvPr id="25" name="Group 24">
              <a:extLst>
                <a:ext uri="{FF2B5EF4-FFF2-40B4-BE49-F238E27FC236}">
                  <a16:creationId xmlns:a16="http://schemas.microsoft.com/office/drawing/2014/main" id="{A49131A3-766E-3B4E-8434-2930493A9D12}"/>
                </a:ext>
              </a:extLst>
            </p:cNvPr>
            <p:cNvGrpSpPr/>
            <p:nvPr/>
          </p:nvGrpSpPr>
          <p:grpSpPr>
            <a:xfrm>
              <a:off x="7977809" y="1160668"/>
              <a:ext cx="2378940" cy="5041696"/>
              <a:chOff x="4091132" y="1093787"/>
              <a:chExt cx="2378940" cy="5041696"/>
            </a:xfrm>
          </p:grpSpPr>
          <p:pic>
            <p:nvPicPr>
              <p:cNvPr id="26" name="Picture 5">
                <a:extLst>
                  <a:ext uri="{FF2B5EF4-FFF2-40B4-BE49-F238E27FC236}">
                    <a16:creationId xmlns:a16="http://schemas.microsoft.com/office/drawing/2014/main" id="{1017965C-B0B7-254B-BB9D-8DBA9F37AA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91132" y="1093787"/>
                <a:ext cx="2378940" cy="5041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 name="TextBox 26">
                <a:extLst>
                  <a:ext uri="{FF2B5EF4-FFF2-40B4-BE49-F238E27FC236}">
                    <a16:creationId xmlns:a16="http://schemas.microsoft.com/office/drawing/2014/main" id="{F2645B65-EB87-8C46-8C8C-67DE1BA21E3F}"/>
                  </a:ext>
                </a:extLst>
              </p:cNvPr>
              <p:cNvSpPr txBox="1"/>
              <p:nvPr/>
            </p:nvSpPr>
            <p:spPr>
              <a:xfrm>
                <a:off x="4699559" y="1154555"/>
                <a:ext cx="1538071" cy="405660"/>
              </a:xfrm>
              <a:prstGeom prst="rect">
                <a:avLst/>
              </a:prstGeom>
              <a:solidFill>
                <a:srgbClr val="C6E7F1"/>
              </a:solidFill>
            </p:spPr>
            <p:txBody>
              <a:bodyPr wrap="square" rtlCol="0">
                <a:spAutoFit/>
              </a:bodyPr>
              <a:lstStyle/>
              <a:p>
                <a:r>
                  <a:rPr lang="pt-BR" sz="1886" i="1" dirty="0"/>
                  <a:t>professor</a:t>
                </a:r>
              </a:p>
            </p:txBody>
          </p:sp>
          <p:sp>
            <p:nvSpPr>
              <p:cNvPr id="28" name="TextBox 27">
                <a:extLst>
                  <a:ext uri="{FF2B5EF4-FFF2-40B4-BE49-F238E27FC236}">
                    <a16:creationId xmlns:a16="http://schemas.microsoft.com/office/drawing/2014/main" id="{C4C11B9E-AAE6-764D-A2A0-8199B0E0A95C}"/>
                  </a:ext>
                </a:extLst>
              </p:cNvPr>
              <p:cNvSpPr txBox="1"/>
              <p:nvPr/>
            </p:nvSpPr>
            <p:spPr>
              <a:xfrm>
                <a:off x="4271240" y="1683165"/>
                <a:ext cx="567083" cy="338957"/>
              </a:xfrm>
              <a:prstGeom prst="rect">
                <a:avLst/>
              </a:prstGeom>
              <a:solidFill>
                <a:schemeClr val="accent1"/>
              </a:solidFill>
            </p:spPr>
            <p:txBody>
              <a:bodyPr wrap="square" rtlCol="0">
                <a:spAutoFit/>
              </a:bodyPr>
              <a:lstStyle/>
              <a:p>
                <a:r>
                  <a:rPr lang="pt-BR" sz="1477" i="1" u="sng" dirty="0"/>
                  <a:t>ID</a:t>
                </a:r>
              </a:p>
            </p:txBody>
          </p:sp>
          <p:sp>
            <p:nvSpPr>
              <p:cNvPr id="30" name="TextBox 29">
                <a:extLst>
                  <a:ext uri="{FF2B5EF4-FFF2-40B4-BE49-F238E27FC236}">
                    <a16:creationId xmlns:a16="http://schemas.microsoft.com/office/drawing/2014/main" id="{BD32595C-0907-1E45-9DAE-5AB7C40E4BA9}"/>
                  </a:ext>
                </a:extLst>
              </p:cNvPr>
              <p:cNvSpPr txBox="1"/>
              <p:nvPr/>
            </p:nvSpPr>
            <p:spPr>
              <a:xfrm>
                <a:off x="4243529" y="1967901"/>
                <a:ext cx="1625145" cy="338957"/>
              </a:xfrm>
              <a:prstGeom prst="rect">
                <a:avLst/>
              </a:prstGeom>
              <a:solidFill>
                <a:schemeClr val="accent1"/>
              </a:solidFill>
            </p:spPr>
            <p:txBody>
              <a:bodyPr wrap="square" rtlCol="0">
                <a:spAutoFit/>
              </a:bodyPr>
              <a:lstStyle/>
              <a:p>
                <a:r>
                  <a:rPr lang="pt-BR" sz="1477" i="1" dirty="0" err="1"/>
                  <a:t>primeiro_nome</a:t>
                </a:r>
                <a:endParaRPr lang="pt-BR" sz="1477" i="1" dirty="0"/>
              </a:p>
            </p:txBody>
          </p:sp>
          <p:sp>
            <p:nvSpPr>
              <p:cNvPr id="31" name="TextBox 30">
                <a:extLst>
                  <a:ext uri="{FF2B5EF4-FFF2-40B4-BE49-F238E27FC236}">
                    <a16:creationId xmlns:a16="http://schemas.microsoft.com/office/drawing/2014/main" id="{F6D2535E-8FD8-B742-9AFF-B60262C7865D}"/>
                  </a:ext>
                </a:extLst>
              </p:cNvPr>
              <p:cNvSpPr txBox="1"/>
              <p:nvPr/>
            </p:nvSpPr>
            <p:spPr>
              <a:xfrm>
                <a:off x="4243530" y="2260153"/>
                <a:ext cx="1474827" cy="338957"/>
              </a:xfrm>
              <a:prstGeom prst="rect">
                <a:avLst/>
              </a:prstGeom>
              <a:solidFill>
                <a:schemeClr val="accent1"/>
              </a:solidFill>
            </p:spPr>
            <p:txBody>
              <a:bodyPr wrap="square" rtlCol="0">
                <a:spAutoFit/>
              </a:bodyPr>
              <a:lstStyle/>
              <a:p>
                <a:r>
                  <a:rPr lang="pt-BR" sz="1477" i="1" dirty="0" err="1"/>
                  <a:t>inicial_meio</a:t>
                </a:r>
                <a:endParaRPr lang="pt-BR" sz="1477" i="1" dirty="0"/>
              </a:p>
            </p:txBody>
          </p:sp>
          <p:sp>
            <p:nvSpPr>
              <p:cNvPr id="32" name="TextBox 31">
                <a:extLst>
                  <a:ext uri="{FF2B5EF4-FFF2-40B4-BE49-F238E27FC236}">
                    <a16:creationId xmlns:a16="http://schemas.microsoft.com/office/drawing/2014/main" id="{84502FDD-C668-2C42-A0C6-D43B99FBBD4E}"/>
                  </a:ext>
                </a:extLst>
              </p:cNvPr>
              <p:cNvSpPr txBox="1"/>
              <p:nvPr/>
            </p:nvSpPr>
            <p:spPr>
              <a:xfrm>
                <a:off x="4244545" y="2521612"/>
                <a:ext cx="1721597" cy="338957"/>
              </a:xfrm>
              <a:prstGeom prst="rect">
                <a:avLst/>
              </a:prstGeom>
              <a:solidFill>
                <a:schemeClr val="accent1"/>
              </a:solidFill>
            </p:spPr>
            <p:txBody>
              <a:bodyPr wrap="square" rtlCol="0">
                <a:spAutoFit/>
              </a:bodyPr>
              <a:lstStyle/>
              <a:p>
                <a:r>
                  <a:rPr lang="pt-BR" sz="1477" i="1" dirty="0" err="1"/>
                  <a:t>último_nome</a:t>
                </a:r>
                <a:endParaRPr lang="pt-BR" sz="1477" i="1" dirty="0"/>
              </a:p>
            </p:txBody>
          </p:sp>
          <p:sp>
            <p:nvSpPr>
              <p:cNvPr id="33" name="TextBox 32">
                <a:extLst>
                  <a:ext uri="{FF2B5EF4-FFF2-40B4-BE49-F238E27FC236}">
                    <a16:creationId xmlns:a16="http://schemas.microsoft.com/office/drawing/2014/main" id="{B6FF3FAE-D5D9-3741-9A0E-60D1B434B30E}"/>
                  </a:ext>
                </a:extLst>
              </p:cNvPr>
              <p:cNvSpPr txBox="1"/>
              <p:nvPr/>
            </p:nvSpPr>
            <p:spPr>
              <a:xfrm>
                <a:off x="4257798" y="3062173"/>
                <a:ext cx="1340351" cy="338957"/>
              </a:xfrm>
              <a:prstGeom prst="rect">
                <a:avLst/>
              </a:prstGeom>
              <a:solidFill>
                <a:schemeClr val="accent1"/>
              </a:solidFill>
            </p:spPr>
            <p:txBody>
              <a:bodyPr wrap="square" rtlCol="0">
                <a:spAutoFit/>
              </a:bodyPr>
              <a:lstStyle/>
              <a:p>
                <a:r>
                  <a:rPr lang="pt-BR" sz="1477" i="1" dirty="0"/>
                  <a:t>número</a:t>
                </a:r>
              </a:p>
            </p:txBody>
          </p:sp>
          <p:sp>
            <p:nvSpPr>
              <p:cNvPr id="35" name="TextBox 34">
                <a:extLst>
                  <a:ext uri="{FF2B5EF4-FFF2-40B4-BE49-F238E27FC236}">
                    <a16:creationId xmlns:a16="http://schemas.microsoft.com/office/drawing/2014/main" id="{AF09BADD-D3DD-8D40-BC06-41D8124D2A57}"/>
                  </a:ext>
                </a:extLst>
              </p:cNvPr>
              <p:cNvSpPr txBox="1"/>
              <p:nvPr/>
            </p:nvSpPr>
            <p:spPr>
              <a:xfrm>
                <a:off x="4252094" y="2811658"/>
                <a:ext cx="1496427" cy="338957"/>
              </a:xfrm>
              <a:prstGeom prst="rect">
                <a:avLst/>
              </a:prstGeom>
              <a:solidFill>
                <a:schemeClr val="accent1"/>
              </a:solidFill>
            </p:spPr>
            <p:txBody>
              <a:bodyPr wrap="square" rtlCol="0">
                <a:spAutoFit/>
              </a:bodyPr>
              <a:lstStyle/>
              <a:p>
                <a:r>
                  <a:rPr lang="pt-BR" sz="1477" i="1" dirty="0" err="1"/>
                  <a:t>nome_rua</a:t>
                </a:r>
                <a:endParaRPr lang="pt-BR" sz="1477" i="1" dirty="0"/>
              </a:p>
            </p:txBody>
          </p:sp>
          <p:sp>
            <p:nvSpPr>
              <p:cNvPr id="36" name="TextBox 35">
                <a:extLst>
                  <a:ext uri="{FF2B5EF4-FFF2-40B4-BE49-F238E27FC236}">
                    <a16:creationId xmlns:a16="http://schemas.microsoft.com/office/drawing/2014/main" id="{110C669A-5070-E147-BA45-F0E14815050D}"/>
                  </a:ext>
                </a:extLst>
              </p:cNvPr>
              <p:cNvSpPr txBox="1"/>
              <p:nvPr/>
            </p:nvSpPr>
            <p:spPr>
              <a:xfrm>
                <a:off x="4217025" y="3367117"/>
                <a:ext cx="1625145" cy="338957"/>
              </a:xfrm>
              <a:prstGeom prst="rect">
                <a:avLst/>
              </a:prstGeom>
              <a:solidFill>
                <a:schemeClr val="accent1"/>
              </a:solidFill>
            </p:spPr>
            <p:txBody>
              <a:bodyPr wrap="square" rtlCol="0">
                <a:spAutoFit/>
              </a:bodyPr>
              <a:lstStyle/>
              <a:p>
                <a:r>
                  <a:rPr lang="pt-BR" sz="1477" i="1" dirty="0"/>
                  <a:t> </a:t>
                </a:r>
                <a:r>
                  <a:rPr lang="pt-BR" sz="1477" i="1" dirty="0" err="1"/>
                  <a:t>número_apt</a:t>
                </a:r>
                <a:endParaRPr lang="pt-BR" sz="1477" i="1" dirty="0"/>
              </a:p>
            </p:txBody>
          </p:sp>
          <p:sp>
            <p:nvSpPr>
              <p:cNvPr id="38" name="TextBox 37">
                <a:extLst>
                  <a:ext uri="{FF2B5EF4-FFF2-40B4-BE49-F238E27FC236}">
                    <a16:creationId xmlns:a16="http://schemas.microsoft.com/office/drawing/2014/main" id="{E8C8BD08-21CC-CC47-89B8-5326B82679BB}"/>
                  </a:ext>
                </a:extLst>
              </p:cNvPr>
              <p:cNvSpPr txBox="1"/>
              <p:nvPr/>
            </p:nvSpPr>
            <p:spPr>
              <a:xfrm>
                <a:off x="4271240" y="3646288"/>
                <a:ext cx="2040531" cy="338957"/>
              </a:xfrm>
              <a:prstGeom prst="rect">
                <a:avLst/>
              </a:prstGeom>
              <a:solidFill>
                <a:schemeClr val="accent1"/>
              </a:solidFill>
            </p:spPr>
            <p:txBody>
              <a:bodyPr wrap="square" rtlCol="0">
                <a:spAutoFit/>
              </a:bodyPr>
              <a:lstStyle/>
              <a:p>
                <a:r>
                  <a:rPr lang="pt-BR" sz="1477" i="1" dirty="0"/>
                  <a:t>cidade</a:t>
                </a:r>
              </a:p>
            </p:txBody>
          </p:sp>
          <p:sp>
            <p:nvSpPr>
              <p:cNvPr id="39" name="TextBox 38">
                <a:extLst>
                  <a:ext uri="{FF2B5EF4-FFF2-40B4-BE49-F238E27FC236}">
                    <a16:creationId xmlns:a16="http://schemas.microsoft.com/office/drawing/2014/main" id="{AFBA24B3-6FC2-544A-9FA6-E1EDAEF10969}"/>
                  </a:ext>
                </a:extLst>
              </p:cNvPr>
              <p:cNvSpPr txBox="1"/>
              <p:nvPr/>
            </p:nvSpPr>
            <p:spPr>
              <a:xfrm>
                <a:off x="4270122" y="3923170"/>
                <a:ext cx="1966390" cy="338957"/>
              </a:xfrm>
              <a:prstGeom prst="rect">
                <a:avLst/>
              </a:prstGeom>
              <a:solidFill>
                <a:schemeClr val="accent1"/>
              </a:solidFill>
            </p:spPr>
            <p:txBody>
              <a:bodyPr wrap="square" rtlCol="0">
                <a:spAutoFit/>
              </a:bodyPr>
              <a:lstStyle/>
              <a:p>
                <a:r>
                  <a:rPr lang="pt-BR" sz="1477" i="1" dirty="0"/>
                  <a:t>estado</a:t>
                </a:r>
              </a:p>
            </p:txBody>
          </p:sp>
          <p:sp>
            <p:nvSpPr>
              <p:cNvPr id="40" name="TextBox 39">
                <a:extLst>
                  <a:ext uri="{FF2B5EF4-FFF2-40B4-BE49-F238E27FC236}">
                    <a16:creationId xmlns:a16="http://schemas.microsoft.com/office/drawing/2014/main" id="{68A090FF-1138-4841-8B36-C00D8341FE23}"/>
                  </a:ext>
                </a:extLst>
              </p:cNvPr>
              <p:cNvSpPr txBox="1"/>
              <p:nvPr/>
            </p:nvSpPr>
            <p:spPr>
              <a:xfrm>
                <a:off x="4280513" y="4190463"/>
                <a:ext cx="1769003" cy="338957"/>
              </a:xfrm>
              <a:prstGeom prst="rect">
                <a:avLst/>
              </a:prstGeom>
              <a:solidFill>
                <a:schemeClr val="accent1"/>
              </a:solidFill>
            </p:spPr>
            <p:txBody>
              <a:bodyPr wrap="square" rtlCol="0">
                <a:spAutoFit/>
              </a:bodyPr>
              <a:lstStyle/>
              <a:p>
                <a:r>
                  <a:rPr lang="pt-BR" sz="1477" i="1" dirty="0" err="1"/>
                  <a:t>cep</a:t>
                </a:r>
                <a:endParaRPr lang="pt-BR" sz="1477" i="1" dirty="0"/>
              </a:p>
            </p:txBody>
          </p:sp>
          <p:sp>
            <p:nvSpPr>
              <p:cNvPr id="42" name="TextBox 41">
                <a:extLst>
                  <a:ext uri="{FF2B5EF4-FFF2-40B4-BE49-F238E27FC236}">
                    <a16:creationId xmlns:a16="http://schemas.microsoft.com/office/drawing/2014/main" id="{CBBD3C03-453A-DD42-9E79-2B97A113DF8F}"/>
                  </a:ext>
                </a:extLst>
              </p:cNvPr>
              <p:cNvSpPr txBox="1"/>
              <p:nvPr/>
            </p:nvSpPr>
            <p:spPr>
              <a:xfrm>
                <a:off x="4243530" y="4467617"/>
                <a:ext cx="2068242" cy="338957"/>
              </a:xfrm>
              <a:prstGeom prst="rect">
                <a:avLst/>
              </a:prstGeom>
              <a:solidFill>
                <a:schemeClr val="accent1"/>
              </a:solidFill>
            </p:spPr>
            <p:txBody>
              <a:bodyPr wrap="square" rtlCol="0">
                <a:spAutoFit/>
              </a:bodyPr>
              <a:lstStyle/>
              <a:p>
                <a:r>
                  <a:rPr lang="pt-BR" sz="1477" i="1" dirty="0" err="1"/>
                  <a:t>data_de_nascimento</a:t>
                </a:r>
                <a:endParaRPr lang="pt-BR" sz="1477" i="1" dirty="0"/>
              </a:p>
            </p:txBody>
          </p:sp>
        </p:grpSp>
        <p:cxnSp>
          <p:nvCxnSpPr>
            <p:cNvPr id="4" name="Straight Connector 3">
              <a:extLst>
                <a:ext uri="{FF2B5EF4-FFF2-40B4-BE49-F238E27FC236}">
                  <a16:creationId xmlns:a16="http://schemas.microsoft.com/office/drawing/2014/main" id="{DAC724C8-DACD-1144-ACFD-C19E251E7A1D}"/>
                </a:ext>
              </a:extLst>
            </p:cNvPr>
            <p:cNvCxnSpPr/>
            <p:nvPr/>
          </p:nvCxnSpPr>
          <p:spPr bwMode="auto">
            <a:xfrm>
              <a:off x="10343497" y="4159328"/>
              <a:ext cx="0" cy="828867"/>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5" name="Rectangle 4">
              <a:extLst>
                <a:ext uri="{FF2B5EF4-FFF2-40B4-BE49-F238E27FC236}">
                  <a16:creationId xmlns:a16="http://schemas.microsoft.com/office/drawing/2014/main" id="{A340DBAA-F14E-6C4F-9BDC-A00175C2A4E4}"/>
                </a:ext>
              </a:extLst>
            </p:cNvPr>
            <p:cNvSpPr/>
            <p:nvPr/>
          </p:nvSpPr>
          <p:spPr bwMode="auto">
            <a:xfrm>
              <a:off x="8103703" y="4797419"/>
              <a:ext cx="2068247" cy="1362436"/>
            </a:xfrm>
            <a:prstGeom prst="rect">
              <a:avLst/>
            </a:prstGeom>
            <a:solidFill>
              <a:schemeClr val="accent1"/>
            </a:solidFill>
            <a:ln w="9525" cap="flat" cmpd="sng" algn="ctr">
              <a:solidFill>
                <a:schemeClr val="accent1"/>
              </a:solidFill>
              <a:prstDash val="solid"/>
              <a:round/>
              <a:headEnd type="none" w="med" len="med"/>
              <a:tailEnd type="none" w="med" len="med"/>
            </a:ln>
            <a:effectLst/>
          </p:spPr>
          <p:txBody>
            <a:bodyPr vert="horz" wrap="none" lIns="86414" tIns="43207" rIns="86414" bIns="43207" numCol="1" rtlCol="0" anchor="t" anchorCtr="0" compatLnSpc="1">
              <a:prstTxWarp prst="textNoShape">
                <a:avLst/>
              </a:prstTxWarp>
            </a:bodyPr>
            <a:lstStyle/>
            <a:p>
              <a:pPr defTabSz="864223"/>
              <a:endParaRPr lang="pt-BR" sz="1512">
                <a:latin typeface="Helvetica" charset="0"/>
              </a:endParaRPr>
            </a:p>
          </p:txBody>
        </p:sp>
      </p:grpSp>
      <p:cxnSp>
        <p:nvCxnSpPr>
          <p:cNvPr id="47" name="Straight Arrow Connector 46">
            <a:extLst>
              <a:ext uri="{FF2B5EF4-FFF2-40B4-BE49-F238E27FC236}">
                <a16:creationId xmlns:a16="http://schemas.microsoft.com/office/drawing/2014/main" id="{E02F0352-C67D-4E4F-A736-3922F9CE334C}"/>
              </a:ext>
            </a:extLst>
          </p:cNvPr>
          <p:cNvCxnSpPr/>
          <p:nvPr/>
        </p:nvCxnSpPr>
        <p:spPr bwMode="auto">
          <a:xfrm>
            <a:off x="4405307" y="3465485"/>
            <a:ext cx="2855393" cy="0"/>
          </a:xfrm>
          <a:prstGeom prst="straightConnector1">
            <a:avLst/>
          </a:prstGeom>
          <a:solidFill>
            <a:schemeClr val="accent1"/>
          </a:solidFill>
          <a:ln w="95250" cap="flat" cmpd="sng" algn="ctr">
            <a:solidFill>
              <a:schemeClr val="tx1"/>
            </a:solidFill>
            <a:prstDash val="solid"/>
            <a:round/>
            <a:headEnd type="none" w="med" len="med"/>
            <a:tailEnd type="triangle"/>
          </a:ln>
          <a:effectLst/>
        </p:spPr>
      </p:cxnSp>
      <p:sp>
        <p:nvSpPr>
          <p:cNvPr id="3" name="TextBox 2">
            <a:extLst>
              <a:ext uri="{FF2B5EF4-FFF2-40B4-BE49-F238E27FC236}">
                <a16:creationId xmlns:a16="http://schemas.microsoft.com/office/drawing/2014/main" id="{227F29D1-3806-B74A-A167-3F140C6E0E02}"/>
              </a:ext>
            </a:extLst>
          </p:cNvPr>
          <p:cNvSpPr txBox="1"/>
          <p:nvPr/>
        </p:nvSpPr>
        <p:spPr>
          <a:xfrm>
            <a:off x="4868943" y="2997271"/>
            <a:ext cx="1900972" cy="369332"/>
          </a:xfrm>
          <a:prstGeom prst="rect">
            <a:avLst/>
          </a:prstGeom>
          <a:noFill/>
        </p:spPr>
        <p:txBody>
          <a:bodyPr wrap="square" rtlCol="0">
            <a:spAutoFit/>
          </a:bodyPr>
          <a:lstStyle/>
          <a:p>
            <a:pPr algn="ctr"/>
            <a:r>
              <a:rPr lang="pt-BR" sz="1800" dirty="0"/>
              <a:t>Mapeamento</a:t>
            </a:r>
          </a:p>
        </p:txBody>
      </p:sp>
      <p:sp>
        <p:nvSpPr>
          <p:cNvPr id="43" name="TextBox 42">
            <a:extLst>
              <a:ext uri="{FF2B5EF4-FFF2-40B4-BE49-F238E27FC236}">
                <a16:creationId xmlns:a16="http://schemas.microsoft.com/office/drawing/2014/main" id="{816AC00E-F6E8-E44D-B213-B7B4EE9FD947}"/>
              </a:ext>
            </a:extLst>
          </p:cNvPr>
          <p:cNvSpPr txBox="1"/>
          <p:nvPr/>
        </p:nvSpPr>
        <p:spPr>
          <a:xfrm>
            <a:off x="988828" y="6179600"/>
            <a:ext cx="3098113" cy="369332"/>
          </a:xfrm>
          <a:prstGeom prst="rect">
            <a:avLst/>
          </a:prstGeom>
          <a:noFill/>
        </p:spPr>
        <p:txBody>
          <a:bodyPr wrap="square" rtlCol="0">
            <a:spAutoFit/>
          </a:bodyPr>
          <a:lstStyle/>
          <a:p>
            <a:pPr algn="ctr"/>
            <a:r>
              <a:rPr lang="pt-BR" sz="1800" dirty="0">
                <a:latin typeface="Calibri Light" panose="020F0302020204030204" pitchFamily="34" charset="0"/>
                <a:cs typeface="Calibri Light" panose="020F0302020204030204" pitchFamily="34" charset="0"/>
              </a:rPr>
              <a:t>Conjunto de entidades</a:t>
            </a:r>
          </a:p>
        </p:txBody>
      </p:sp>
      <p:sp>
        <p:nvSpPr>
          <p:cNvPr id="44" name="TextBox 43">
            <a:extLst>
              <a:ext uri="{FF2B5EF4-FFF2-40B4-BE49-F238E27FC236}">
                <a16:creationId xmlns:a16="http://schemas.microsoft.com/office/drawing/2014/main" id="{ED3193D3-51D6-6249-83E7-6EA2AF8C133A}"/>
              </a:ext>
            </a:extLst>
          </p:cNvPr>
          <p:cNvSpPr txBox="1"/>
          <p:nvPr/>
        </p:nvSpPr>
        <p:spPr>
          <a:xfrm>
            <a:off x="7655442" y="6190289"/>
            <a:ext cx="2806995" cy="369332"/>
          </a:xfrm>
          <a:prstGeom prst="rect">
            <a:avLst/>
          </a:prstGeom>
          <a:noFill/>
        </p:spPr>
        <p:txBody>
          <a:bodyPr wrap="square" rtlCol="0">
            <a:spAutoFit/>
          </a:bodyPr>
          <a:lstStyle/>
          <a:p>
            <a:pPr algn="ctr"/>
            <a:r>
              <a:rPr lang="pt-BR" sz="1800" dirty="0">
                <a:latin typeface="Calibri Light" panose="020F0302020204030204" pitchFamily="34" charset="0"/>
                <a:cs typeface="Calibri Light" panose="020F0302020204030204" pitchFamily="34" charset="0"/>
              </a:rPr>
              <a:t>Esquema da tabela</a:t>
            </a:r>
          </a:p>
        </p:txBody>
      </p:sp>
    </p:spTree>
    <p:extLst>
      <p:ext uri="{BB962C8B-B14F-4D97-AF65-F5344CB8AC3E}">
        <p14:creationId xmlns:p14="http://schemas.microsoft.com/office/powerpoint/2010/main" val="7940602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62604BBA-5A1B-425B-BBBF-E447F1A4D69A}"/>
              </a:ext>
            </a:extLst>
          </p:cNvPr>
          <p:cNvCxnSpPr/>
          <p:nvPr/>
        </p:nvCxnSpPr>
        <p:spPr bwMode="auto">
          <a:xfrm>
            <a:off x="1775339" y="188505"/>
            <a:ext cx="864132" cy="0"/>
          </a:xfrm>
          <a:prstGeom prst="line">
            <a:avLst/>
          </a:prstGeom>
          <a:solidFill>
            <a:schemeClr val="accent1"/>
          </a:solidFill>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cxnSp>
      <p:sp>
        <p:nvSpPr>
          <p:cNvPr id="660482" name="Rectangle 2"/>
          <p:cNvSpPr>
            <a:spLocks noGrp="1" noChangeArrowheads="1"/>
          </p:cNvSpPr>
          <p:nvPr>
            <p:ph type="title"/>
          </p:nvPr>
        </p:nvSpPr>
        <p:spPr>
          <a:xfrm>
            <a:off x="660735" y="299522"/>
            <a:ext cx="10820090" cy="576088"/>
          </a:xfrm>
        </p:spPr>
        <p:txBody>
          <a:bodyPr/>
          <a:lstStyle/>
          <a:p>
            <a:pPr>
              <a:defRPr/>
            </a:pPr>
            <a:r>
              <a:rPr lang="pt-BR" altLang="en-US" dirty="0">
                <a:effectLst>
                  <a:outerShdw sx="1000" sy="1000" algn="tl">
                    <a:srgbClr val="C0C0C0"/>
                  </a:outerShdw>
                </a:effectLst>
              </a:rPr>
              <a:t>Passo 2: mapeamento de Conjuntos de Entidades fracas</a:t>
            </a:r>
          </a:p>
        </p:txBody>
      </p:sp>
      <p:sp>
        <p:nvSpPr>
          <p:cNvPr id="51203" name="Rectangle 3"/>
          <p:cNvSpPr>
            <a:spLocks noGrp="1" noChangeArrowheads="1"/>
          </p:cNvSpPr>
          <p:nvPr>
            <p:ph type="body" idx="1"/>
          </p:nvPr>
        </p:nvSpPr>
        <p:spPr>
          <a:xfrm>
            <a:off x="610710" y="1267171"/>
            <a:ext cx="11245463" cy="4406694"/>
          </a:xfrm>
        </p:spPr>
        <p:txBody>
          <a:bodyPr/>
          <a:lstStyle/>
          <a:p>
            <a:pPr eaLnBrk="1" hangingPunct="1">
              <a:lnSpc>
                <a:spcPct val="80000"/>
              </a:lnSpc>
              <a:spcBef>
                <a:spcPts val="567"/>
              </a:spcBef>
              <a:tabLst>
                <a:tab pos="313581" algn="l"/>
                <a:tab pos="420108" algn="l"/>
                <a:tab pos="852219" algn="l"/>
                <a:tab pos="1284331" algn="l"/>
                <a:tab pos="1716442" algn="l"/>
                <a:tab pos="2148554" algn="l"/>
                <a:tab pos="2580665" algn="l"/>
                <a:tab pos="3012776" algn="l"/>
                <a:tab pos="3444888" algn="l"/>
                <a:tab pos="3876999" algn="l"/>
                <a:tab pos="4309111" algn="l"/>
                <a:tab pos="4741222" algn="l"/>
                <a:tab pos="5173332" algn="l"/>
                <a:tab pos="5605445" algn="l"/>
                <a:tab pos="6037556" algn="l"/>
                <a:tab pos="6469666" algn="l"/>
                <a:tab pos="6901779" algn="l"/>
                <a:tab pos="7333890" algn="l"/>
                <a:tab pos="7766000" algn="l"/>
                <a:tab pos="8198113" algn="l"/>
                <a:tab pos="8630224" algn="l"/>
              </a:tabLst>
            </a:pPr>
            <a:r>
              <a:rPr lang="pt-BR" altLang="en-BR" sz="2000" dirty="0"/>
              <a:t>Para cada Conjunto de Entidades fracas </a:t>
            </a:r>
            <a:r>
              <a:rPr lang="pt-BR" altLang="en-BR" sz="2000" i="1" dirty="0"/>
              <a:t>W</a:t>
            </a:r>
            <a:r>
              <a:rPr lang="pt-BR" altLang="en-BR" sz="2000" dirty="0"/>
              <a:t>, crie uma tabela </a:t>
            </a:r>
            <a:r>
              <a:rPr lang="pt-BR" altLang="en-BR" sz="2000" i="1" dirty="0" err="1"/>
              <a:t>R</a:t>
            </a:r>
            <a:r>
              <a:rPr lang="pt-BR" altLang="en-BR" sz="2000" dirty="0"/>
              <a:t> e inclua todos os atributos simples (e componentes simples de atributos compostos) de </a:t>
            </a:r>
            <a:r>
              <a:rPr lang="pt-BR" altLang="en-BR" sz="2000" i="1" dirty="0"/>
              <a:t>W</a:t>
            </a:r>
            <a:r>
              <a:rPr lang="pt-BR" altLang="en-BR" sz="2000" dirty="0"/>
              <a:t> como atributos de </a:t>
            </a:r>
            <a:r>
              <a:rPr lang="pt-BR" altLang="en-BR" sz="2000" i="1" dirty="0"/>
              <a:t>R</a:t>
            </a:r>
            <a:r>
              <a:rPr lang="pt-BR" altLang="en-BR" sz="2000" dirty="0"/>
              <a:t>.</a:t>
            </a:r>
          </a:p>
          <a:p>
            <a:pPr marL="0" indent="0" eaLnBrk="1" hangingPunct="1">
              <a:lnSpc>
                <a:spcPct val="80000"/>
              </a:lnSpc>
              <a:spcBef>
                <a:spcPts val="567"/>
              </a:spcBef>
              <a:buNone/>
              <a:tabLst>
                <a:tab pos="313581" algn="l"/>
                <a:tab pos="420108" algn="l"/>
                <a:tab pos="852219" algn="l"/>
                <a:tab pos="1284331" algn="l"/>
                <a:tab pos="1716442" algn="l"/>
                <a:tab pos="2148554" algn="l"/>
                <a:tab pos="2580665" algn="l"/>
                <a:tab pos="3012776" algn="l"/>
                <a:tab pos="3444888" algn="l"/>
                <a:tab pos="3876999" algn="l"/>
                <a:tab pos="4309111" algn="l"/>
                <a:tab pos="4741222" algn="l"/>
                <a:tab pos="5173332" algn="l"/>
                <a:tab pos="5605445" algn="l"/>
                <a:tab pos="6037556" algn="l"/>
                <a:tab pos="6469666" algn="l"/>
                <a:tab pos="6901779" algn="l"/>
                <a:tab pos="7333890" algn="l"/>
                <a:tab pos="7766000" algn="l"/>
                <a:tab pos="8198113" algn="l"/>
                <a:tab pos="8630224" algn="l"/>
              </a:tabLst>
            </a:pPr>
            <a:endParaRPr lang="pt-BR" altLang="en-BR" sz="2000" dirty="0"/>
          </a:p>
          <a:p>
            <a:pPr eaLnBrk="1" hangingPunct="1">
              <a:lnSpc>
                <a:spcPct val="80000"/>
              </a:lnSpc>
              <a:spcBef>
                <a:spcPts val="567"/>
              </a:spcBef>
              <a:tabLst>
                <a:tab pos="313581" algn="l"/>
                <a:tab pos="420108" algn="l"/>
                <a:tab pos="852219" algn="l"/>
                <a:tab pos="1284331" algn="l"/>
                <a:tab pos="1716442" algn="l"/>
                <a:tab pos="2148554" algn="l"/>
                <a:tab pos="2580665" algn="l"/>
                <a:tab pos="3012776" algn="l"/>
                <a:tab pos="3444888" algn="l"/>
                <a:tab pos="3876999" algn="l"/>
                <a:tab pos="4309111" algn="l"/>
                <a:tab pos="4741222" algn="l"/>
                <a:tab pos="5173332" algn="l"/>
                <a:tab pos="5605445" algn="l"/>
                <a:tab pos="6037556" algn="l"/>
                <a:tab pos="6469666" algn="l"/>
                <a:tab pos="6901779" algn="l"/>
                <a:tab pos="7333890" algn="l"/>
                <a:tab pos="7766000" algn="l"/>
                <a:tab pos="8198113" algn="l"/>
                <a:tab pos="8630224" algn="l"/>
              </a:tabLst>
            </a:pPr>
            <a:endParaRPr lang="pt-BR" altLang="en-BR" sz="2000" dirty="0"/>
          </a:p>
          <a:p>
            <a:pPr eaLnBrk="1" hangingPunct="1">
              <a:lnSpc>
                <a:spcPct val="80000"/>
              </a:lnSpc>
              <a:spcBef>
                <a:spcPts val="567"/>
              </a:spcBef>
              <a:tabLst>
                <a:tab pos="313581" algn="l"/>
                <a:tab pos="420108" algn="l"/>
                <a:tab pos="852219" algn="l"/>
                <a:tab pos="1284331" algn="l"/>
                <a:tab pos="1716442" algn="l"/>
                <a:tab pos="2148554" algn="l"/>
                <a:tab pos="2580665" algn="l"/>
                <a:tab pos="3012776" algn="l"/>
                <a:tab pos="3444888" algn="l"/>
                <a:tab pos="3876999" algn="l"/>
                <a:tab pos="4309111" algn="l"/>
                <a:tab pos="4741222" algn="l"/>
                <a:tab pos="5173332" algn="l"/>
                <a:tab pos="5605445" algn="l"/>
                <a:tab pos="6037556" algn="l"/>
                <a:tab pos="6469666" algn="l"/>
                <a:tab pos="6901779" algn="l"/>
                <a:tab pos="7333890" algn="l"/>
                <a:tab pos="7766000" algn="l"/>
                <a:tab pos="8198113" algn="l"/>
                <a:tab pos="8630224" algn="l"/>
              </a:tabLst>
            </a:pPr>
            <a:r>
              <a:rPr lang="pt-BR" altLang="en-BR" sz="2000" dirty="0"/>
              <a:t>Inclua como chave estrangeira em </a:t>
            </a:r>
            <a:r>
              <a:rPr lang="pt-BR" altLang="en-BR" sz="2000" i="1" dirty="0" err="1"/>
              <a:t>R</a:t>
            </a:r>
            <a:r>
              <a:rPr lang="pt-BR" altLang="en-BR" sz="2000" dirty="0"/>
              <a:t> a chave primária do(</a:t>
            </a:r>
            <a:r>
              <a:rPr lang="pt-BR" altLang="en-BR" sz="2000" dirty="0" err="1"/>
              <a:t>s</a:t>
            </a:r>
            <a:r>
              <a:rPr lang="pt-BR" altLang="en-BR" sz="2000" dirty="0"/>
              <a:t>) conjuntos(</a:t>
            </a:r>
            <a:r>
              <a:rPr lang="pt-BR" altLang="en-BR" sz="2000" dirty="0" err="1"/>
              <a:t>s</a:t>
            </a:r>
            <a:r>
              <a:rPr lang="pt-BR" altLang="en-BR" sz="2000" dirty="0"/>
              <a:t>) de entidade(</a:t>
            </a:r>
            <a:r>
              <a:rPr lang="pt-BR" altLang="en-BR" sz="2000" dirty="0" err="1"/>
              <a:t>s</a:t>
            </a:r>
            <a:r>
              <a:rPr lang="pt-BR" altLang="en-BR" sz="2000" dirty="0"/>
              <a:t>) identificadora(</a:t>
            </a:r>
            <a:r>
              <a:rPr lang="pt-BR" altLang="en-BR" sz="2000" dirty="0" err="1"/>
              <a:t>s</a:t>
            </a:r>
            <a:r>
              <a:rPr lang="pt-BR" altLang="en-BR" sz="2000" dirty="0"/>
              <a:t>) de W.</a:t>
            </a:r>
          </a:p>
          <a:p>
            <a:pPr marL="0" indent="0" eaLnBrk="1" hangingPunct="1">
              <a:lnSpc>
                <a:spcPct val="80000"/>
              </a:lnSpc>
              <a:spcBef>
                <a:spcPts val="567"/>
              </a:spcBef>
              <a:buNone/>
              <a:tabLst>
                <a:tab pos="313581" algn="l"/>
                <a:tab pos="420108" algn="l"/>
                <a:tab pos="852219" algn="l"/>
                <a:tab pos="1284331" algn="l"/>
                <a:tab pos="1716442" algn="l"/>
                <a:tab pos="2148554" algn="l"/>
                <a:tab pos="2580665" algn="l"/>
                <a:tab pos="3012776" algn="l"/>
                <a:tab pos="3444888" algn="l"/>
                <a:tab pos="3876999" algn="l"/>
                <a:tab pos="4309111" algn="l"/>
                <a:tab pos="4741222" algn="l"/>
                <a:tab pos="5173332" algn="l"/>
                <a:tab pos="5605445" algn="l"/>
                <a:tab pos="6037556" algn="l"/>
                <a:tab pos="6469666" algn="l"/>
                <a:tab pos="6901779" algn="l"/>
                <a:tab pos="7333890" algn="l"/>
                <a:tab pos="7766000" algn="l"/>
                <a:tab pos="8198113" algn="l"/>
                <a:tab pos="8630224" algn="l"/>
              </a:tabLst>
            </a:pPr>
            <a:endParaRPr lang="pt-BR" altLang="en-BR" sz="2000" dirty="0"/>
          </a:p>
          <a:p>
            <a:pPr eaLnBrk="1" hangingPunct="1">
              <a:lnSpc>
                <a:spcPct val="80000"/>
              </a:lnSpc>
              <a:spcBef>
                <a:spcPts val="567"/>
              </a:spcBef>
              <a:tabLst>
                <a:tab pos="313581" algn="l"/>
                <a:tab pos="420108" algn="l"/>
                <a:tab pos="852219" algn="l"/>
                <a:tab pos="1284331" algn="l"/>
                <a:tab pos="1716442" algn="l"/>
                <a:tab pos="2148554" algn="l"/>
                <a:tab pos="2580665" algn="l"/>
                <a:tab pos="3012776" algn="l"/>
                <a:tab pos="3444888" algn="l"/>
                <a:tab pos="3876999" algn="l"/>
                <a:tab pos="4309111" algn="l"/>
                <a:tab pos="4741222" algn="l"/>
                <a:tab pos="5173332" algn="l"/>
                <a:tab pos="5605445" algn="l"/>
                <a:tab pos="6037556" algn="l"/>
                <a:tab pos="6469666" algn="l"/>
                <a:tab pos="6901779" algn="l"/>
                <a:tab pos="7333890" algn="l"/>
                <a:tab pos="7766000" algn="l"/>
                <a:tab pos="8198113" algn="l"/>
                <a:tab pos="8630224" algn="l"/>
              </a:tabLst>
            </a:pPr>
            <a:endParaRPr lang="pt-BR" altLang="en-BR" sz="2000" dirty="0"/>
          </a:p>
          <a:p>
            <a:pPr eaLnBrk="1" hangingPunct="1">
              <a:lnSpc>
                <a:spcPct val="80000"/>
              </a:lnSpc>
              <a:spcBef>
                <a:spcPts val="567"/>
              </a:spcBef>
              <a:tabLst>
                <a:tab pos="313581" algn="l"/>
                <a:tab pos="420108" algn="l"/>
                <a:tab pos="852219" algn="l"/>
                <a:tab pos="1284331" algn="l"/>
                <a:tab pos="1716442" algn="l"/>
                <a:tab pos="2148554" algn="l"/>
                <a:tab pos="2580665" algn="l"/>
                <a:tab pos="3012776" algn="l"/>
                <a:tab pos="3444888" algn="l"/>
                <a:tab pos="3876999" algn="l"/>
                <a:tab pos="4309111" algn="l"/>
                <a:tab pos="4741222" algn="l"/>
                <a:tab pos="5173332" algn="l"/>
                <a:tab pos="5605445" algn="l"/>
                <a:tab pos="6037556" algn="l"/>
                <a:tab pos="6469666" algn="l"/>
                <a:tab pos="6901779" algn="l"/>
                <a:tab pos="7333890" algn="l"/>
                <a:tab pos="7766000" algn="l"/>
                <a:tab pos="8198113" algn="l"/>
                <a:tab pos="8630224" algn="l"/>
              </a:tabLst>
            </a:pPr>
            <a:r>
              <a:rPr lang="pt-BR" altLang="en-BR" sz="2000" dirty="0"/>
              <a:t>A chave primária de </a:t>
            </a:r>
            <a:r>
              <a:rPr lang="pt-BR" altLang="en-BR" sz="2000" i="1" dirty="0" err="1"/>
              <a:t>R</a:t>
            </a:r>
            <a:r>
              <a:rPr lang="pt-BR" altLang="en-BR" sz="2000" dirty="0"/>
              <a:t> é a combinação da(</a:t>
            </a:r>
            <a:r>
              <a:rPr lang="pt-BR" altLang="en-BR" sz="2000" dirty="0" err="1"/>
              <a:t>s</a:t>
            </a:r>
            <a:r>
              <a:rPr lang="pt-BR" altLang="en-BR" sz="2000" dirty="0"/>
              <a:t>) chave(</a:t>
            </a:r>
            <a:r>
              <a:rPr lang="pt-BR" altLang="en-BR" sz="2000" dirty="0" err="1"/>
              <a:t>s</a:t>
            </a:r>
            <a:r>
              <a:rPr lang="pt-BR" altLang="en-BR" sz="2000" dirty="0"/>
              <a:t>) primária(</a:t>
            </a:r>
            <a:r>
              <a:rPr lang="pt-BR" altLang="en-BR" sz="2000" dirty="0" err="1"/>
              <a:t>s</a:t>
            </a:r>
            <a:r>
              <a:rPr lang="pt-BR" altLang="en-BR" sz="2000" dirty="0"/>
              <a:t>) da(</a:t>
            </a:r>
            <a:r>
              <a:rPr lang="pt-BR" altLang="en-BR" sz="2000" dirty="0" err="1"/>
              <a:t>s</a:t>
            </a:r>
            <a:r>
              <a:rPr lang="pt-BR" altLang="en-BR" sz="2000" dirty="0"/>
              <a:t>) entidade(</a:t>
            </a:r>
            <a:r>
              <a:rPr lang="pt-BR" altLang="en-BR" sz="2000" dirty="0" err="1"/>
              <a:t>s</a:t>
            </a:r>
            <a:r>
              <a:rPr lang="pt-BR" altLang="en-BR" sz="2000" dirty="0"/>
              <a:t>) identificadora(</a:t>
            </a:r>
            <a:r>
              <a:rPr lang="pt-BR" altLang="en-BR" sz="2000" dirty="0" err="1"/>
              <a:t>s</a:t>
            </a:r>
            <a:r>
              <a:rPr lang="pt-BR" altLang="en-BR" sz="2000" dirty="0"/>
              <a:t>) e a chave parcial da entidade fraca </a:t>
            </a:r>
            <a:r>
              <a:rPr lang="pt-BR" altLang="en-BR" sz="2000" i="1" dirty="0"/>
              <a:t>W</a:t>
            </a:r>
            <a:r>
              <a:rPr lang="pt-BR" altLang="en-BR" sz="2000" dirty="0"/>
              <a:t> (se existir).</a:t>
            </a:r>
          </a:p>
          <a:p>
            <a:pPr eaLnBrk="1" hangingPunct="1">
              <a:lnSpc>
                <a:spcPct val="80000"/>
              </a:lnSpc>
              <a:spcBef>
                <a:spcPts val="567"/>
              </a:spcBef>
              <a:tabLst>
                <a:tab pos="313581" algn="l"/>
                <a:tab pos="420108" algn="l"/>
                <a:tab pos="852219" algn="l"/>
                <a:tab pos="1284331" algn="l"/>
                <a:tab pos="1716442" algn="l"/>
                <a:tab pos="2148554" algn="l"/>
                <a:tab pos="2580665" algn="l"/>
                <a:tab pos="3012776" algn="l"/>
                <a:tab pos="3444888" algn="l"/>
                <a:tab pos="3876999" algn="l"/>
                <a:tab pos="4309111" algn="l"/>
                <a:tab pos="4741222" algn="l"/>
                <a:tab pos="5173332" algn="l"/>
                <a:tab pos="5605445" algn="l"/>
                <a:tab pos="6037556" algn="l"/>
                <a:tab pos="6469666" algn="l"/>
                <a:tab pos="6901779" algn="l"/>
                <a:tab pos="7333890" algn="l"/>
                <a:tab pos="7766000" algn="l"/>
                <a:tab pos="8198113" algn="l"/>
                <a:tab pos="8630224" algn="l"/>
              </a:tabLst>
            </a:pPr>
            <a:endParaRPr lang="pt-BR" altLang="en-BR" sz="2000" dirty="0"/>
          </a:p>
          <a:p>
            <a:pPr eaLnBrk="1" hangingPunct="1">
              <a:lnSpc>
                <a:spcPct val="80000"/>
              </a:lnSpc>
              <a:spcBef>
                <a:spcPts val="567"/>
              </a:spcBef>
              <a:tabLst>
                <a:tab pos="313581" algn="l"/>
                <a:tab pos="420108" algn="l"/>
                <a:tab pos="852219" algn="l"/>
                <a:tab pos="1284331" algn="l"/>
                <a:tab pos="1716442" algn="l"/>
                <a:tab pos="2148554" algn="l"/>
                <a:tab pos="2580665" algn="l"/>
                <a:tab pos="3012776" algn="l"/>
                <a:tab pos="3444888" algn="l"/>
                <a:tab pos="3876999" algn="l"/>
                <a:tab pos="4309111" algn="l"/>
                <a:tab pos="4741222" algn="l"/>
                <a:tab pos="5173332" algn="l"/>
                <a:tab pos="5605445" algn="l"/>
                <a:tab pos="6037556" algn="l"/>
                <a:tab pos="6469666" algn="l"/>
                <a:tab pos="6901779" algn="l"/>
                <a:tab pos="7333890" algn="l"/>
                <a:tab pos="7766000" algn="l"/>
                <a:tab pos="8198113" algn="l"/>
                <a:tab pos="8630224" algn="l"/>
              </a:tabLst>
            </a:pPr>
            <a:r>
              <a:rPr lang="pt-BR" altLang="en-BR" sz="2000" dirty="0"/>
              <a:t>A seguir veremos um exemplo.</a:t>
            </a:r>
          </a:p>
        </p:txBody>
      </p:sp>
    </p:spTree>
    <p:extLst>
      <p:ext uri="{BB962C8B-B14F-4D97-AF65-F5344CB8AC3E}">
        <p14:creationId xmlns:p14="http://schemas.microsoft.com/office/powerpoint/2010/main" val="22611935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62604BBA-5A1B-425B-BBBF-E447F1A4D69A}"/>
              </a:ext>
            </a:extLst>
          </p:cNvPr>
          <p:cNvCxnSpPr/>
          <p:nvPr/>
        </p:nvCxnSpPr>
        <p:spPr bwMode="auto">
          <a:xfrm>
            <a:off x="1775339" y="188505"/>
            <a:ext cx="864132" cy="0"/>
          </a:xfrm>
          <a:prstGeom prst="line">
            <a:avLst/>
          </a:prstGeom>
          <a:solidFill>
            <a:schemeClr val="accent1"/>
          </a:solidFill>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cxnSp>
      <p:sp>
        <p:nvSpPr>
          <p:cNvPr id="660482" name="Rectangle 2"/>
          <p:cNvSpPr>
            <a:spLocks noGrp="1" noChangeArrowheads="1"/>
          </p:cNvSpPr>
          <p:nvPr>
            <p:ph type="title"/>
          </p:nvPr>
        </p:nvSpPr>
        <p:spPr>
          <a:xfrm>
            <a:off x="535500" y="299522"/>
            <a:ext cx="11196147" cy="576088"/>
          </a:xfrm>
        </p:spPr>
        <p:txBody>
          <a:bodyPr/>
          <a:lstStyle/>
          <a:p>
            <a:pPr>
              <a:defRPr/>
            </a:pPr>
            <a:r>
              <a:rPr lang="pt-BR" altLang="en-US" sz="3200" dirty="0">
                <a:effectLst>
                  <a:outerShdw sx="1000" sy="1000" algn="tl">
                    <a:srgbClr val="C0C0C0"/>
                  </a:outerShdw>
                </a:effectLst>
              </a:rPr>
              <a:t>Passo 2: mapeamento de Conjuntos de Entidades fracas (cont.)</a:t>
            </a:r>
          </a:p>
        </p:txBody>
      </p:sp>
      <p:sp>
        <p:nvSpPr>
          <p:cNvPr id="51203" name="Rectangle 3"/>
          <p:cNvSpPr>
            <a:spLocks noGrp="1" noChangeArrowheads="1"/>
          </p:cNvSpPr>
          <p:nvPr>
            <p:ph type="body" idx="1"/>
          </p:nvPr>
        </p:nvSpPr>
        <p:spPr>
          <a:xfrm>
            <a:off x="660736" y="1041672"/>
            <a:ext cx="11008291" cy="3279752"/>
          </a:xfrm>
        </p:spPr>
        <p:txBody>
          <a:bodyPr/>
          <a:lstStyle/>
          <a:p>
            <a:r>
              <a:rPr lang="pt-BR" altLang="en-US" sz="2013" dirty="0"/>
              <a:t>No exemplo abaixo, disciplina é a entidade forte identificadora, mapeada no passo 1 para formar a seguinte tabela:  </a:t>
            </a:r>
          </a:p>
          <a:p>
            <a:pPr marL="0" indent="0" algn="ctr">
              <a:buNone/>
            </a:pPr>
            <a:r>
              <a:rPr lang="pt-BR" altLang="en-US" sz="2013" i="1" dirty="0"/>
              <a:t>disciplina=(</a:t>
            </a:r>
            <a:r>
              <a:rPr lang="pt-BR" altLang="en-US" sz="2013" i="1" u="sng" dirty="0" err="1"/>
              <a:t>disciplina_id</a:t>
            </a:r>
            <a:r>
              <a:rPr lang="pt-BR" altLang="en-US" sz="2013" i="1" dirty="0"/>
              <a:t>, título, créditos).</a:t>
            </a:r>
            <a:endParaRPr lang="pt-BR" altLang="en-US" sz="2013" dirty="0"/>
          </a:p>
          <a:p>
            <a:r>
              <a:rPr lang="pt-BR" altLang="en-US" sz="2013" dirty="0"/>
              <a:t>A partir do conjunto de entidades fracas </a:t>
            </a:r>
            <a:r>
              <a:rPr lang="pt-BR" altLang="en-US" sz="2013" i="1" dirty="0"/>
              <a:t>turma</a:t>
            </a:r>
            <a:r>
              <a:rPr lang="pt-BR" altLang="en-US" sz="2013" dirty="0"/>
              <a:t>  criamos uma tabela com o mesmo nome que inclui os atributos de </a:t>
            </a:r>
            <a:r>
              <a:rPr lang="pt-BR" altLang="en-US" sz="2013" i="1" dirty="0"/>
              <a:t>turma</a:t>
            </a:r>
            <a:r>
              <a:rPr lang="pt-BR" altLang="en-US" sz="2013" dirty="0"/>
              <a:t> e a chave primária de </a:t>
            </a:r>
            <a:r>
              <a:rPr lang="pt-BR" altLang="en-US" sz="2013" i="1" dirty="0"/>
              <a:t>disciplina</a:t>
            </a:r>
            <a:r>
              <a:rPr lang="pt-BR" altLang="en-US" sz="2013" dirty="0"/>
              <a:t> (veja acima). A chave primária da tabela </a:t>
            </a:r>
            <a:r>
              <a:rPr lang="pt-BR" altLang="en-US" sz="2013" i="1" dirty="0"/>
              <a:t>turma</a:t>
            </a:r>
            <a:r>
              <a:rPr lang="pt-BR" altLang="en-US" sz="2013" dirty="0"/>
              <a:t> é formada pela chave primária de </a:t>
            </a:r>
            <a:r>
              <a:rPr lang="pt-BR" altLang="en-US" sz="2013" i="1" dirty="0"/>
              <a:t>disciplina</a:t>
            </a:r>
            <a:r>
              <a:rPr lang="pt-BR" altLang="en-US" sz="2013" dirty="0"/>
              <a:t> juntamente com a chave parcial da entidade fraca </a:t>
            </a:r>
            <a:r>
              <a:rPr lang="pt-BR" altLang="en-US" sz="2013" i="1" dirty="0"/>
              <a:t>turma</a:t>
            </a:r>
            <a:r>
              <a:rPr lang="pt-BR" altLang="en-US" sz="2013" dirty="0"/>
              <a:t>: </a:t>
            </a:r>
          </a:p>
          <a:p>
            <a:pPr marL="0" indent="0" algn="ctr">
              <a:buNone/>
            </a:pPr>
            <a:r>
              <a:rPr lang="pt-BR" altLang="en-US" sz="2013" i="1" dirty="0"/>
              <a:t>turma =( </a:t>
            </a:r>
            <a:r>
              <a:rPr lang="pt-BR" altLang="en-US" sz="2013" i="1" u="sng" dirty="0" err="1"/>
              <a:t>disciplina_id</a:t>
            </a:r>
            <a:r>
              <a:rPr lang="pt-BR" altLang="en-US" sz="2013" i="1" dirty="0"/>
              <a:t>, </a:t>
            </a:r>
            <a:r>
              <a:rPr lang="pt-BR" altLang="en-US" sz="2013" i="1" u="sng" dirty="0" err="1"/>
              <a:t>turma_id</a:t>
            </a:r>
            <a:r>
              <a:rPr lang="pt-BR" altLang="en-US" sz="2013" i="1" dirty="0"/>
              <a:t>, </a:t>
            </a:r>
            <a:r>
              <a:rPr lang="pt-BR" altLang="en-US" sz="2013" i="1" u="sng" dirty="0"/>
              <a:t>semestre</a:t>
            </a:r>
            <a:r>
              <a:rPr lang="pt-BR" altLang="en-US" sz="2013" i="1" dirty="0"/>
              <a:t>, </a:t>
            </a:r>
            <a:r>
              <a:rPr lang="pt-BR" altLang="en-US" sz="2013" i="1" u="sng" dirty="0"/>
              <a:t>ano</a:t>
            </a:r>
            <a:r>
              <a:rPr lang="pt-BR" altLang="en-US" sz="2013" i="1" dirty="0"/>
              <a:t> )</a:t>
            </a:r>
          </a:p>
          <a:p>
            <a:r>
              <a:rPr lang="pt-BR" altLang="en-US" sz="2013" dirty="0"/>
              <a:t>O atributo </a:t>
            </a:r>
            <a:r>
              <a:rPr lang="pt-BR" altLang="en-US" sz="2013" i="1" dirty="0" err="1"/>
              <a:t>disciplina_id</a:t>
            </a:r>
            <a:r>
              <a:rPr lang="pt-BR" altLang="en-US" sz="2013" dirty="0"/>
              <a:t> da tabela turma passa a ser também chave estrangeira para a tabela </a:t>
            </a:r>
            <a:r>
              <a:rPr lang="pt-BR" altLang="en-US" sz="2013" i="1" dirty="0"/>
              <a:t>disciplina</a:t>
            </a:r>
            <a:r>
              <a:rPr lang="pt-BR" altLang="en-US" sz="2013" dirty="0"/>
              <a:t> mapeando o relacionamento de </a:t>
            </a:r>
            <a:r>
              <a:rPr lang="pt-BR" altLang="en-US" sz="2013" dirty="0" err="1"/>
              <a:t>dependencia</a:t>
            </a:r>
            <a:r>
              <a:rPr lang="pt-BR" altLang="en-US" sz="2013" dirty="0"/>
              <a:t>.</a:t>
            </a:r>
            <a:endParaRPr lang="pt-BR" altLang="en-US" sz="2013" i="1" dirty="0"/>
          </a:p>
        </p:txBody>
      </p:sp>
      <p:grpSp>
        <p:nvGrpSpPr>
          <p:cNvPr id="6" name="Group 5">
            <a:extLst>
              <a:ext uri="{FF2B5EF4-FFF2-40B4-BE49-F238E27FC236}">
                <a16:creationId xmlns:a16="http://schemas.microsoft.com/office/drawing/2014/main" id="{646746D9-2CA9-2447-B85E-340FE5A72602}"/>
              </a:ext>
            </a:extLst>
          </p:cNvPr>
          <p:cNvGrpSpPr/>
          <p:nvPr/>
        </p:nvGrpSpPr>
        <p:grpSpPr>
          <a:xfrm>
            <a:off x="1599301" y="4569513"/>
            <a:ext cx="8993399" cy="1843647"/>
            <a:chOff x="1981199" y="4211782"/>
            <a:chExt cx="9516558" cy="1950894"/>
          </a:xfrm>
        </p:grpSpPr>
        <p:pic>
          <p:nvPicPr>
            <p:cNvPr id="7" name="Picture 6">
              <a:extLst>
                <a:ext uri="{FF2B5EF4-FFF2-40B4-BE49-F238E27FC236}">
                  <a16:creationId xmlns:a16="http://schemas.microsoft.com/office/drawing/2014/main" id="{97D51AB4-9EE5-DF4D-B060-850B122D3C7E}"/>
                </a:ext>
              </a:extLst>
            </p:cNvPr>
            <p:cNvPicPr>
              <a:picLocks noChangeAspect="1"/>
            </p:cNvPicPr>
            <p:nvPr/>
          </p:nvPicPr>
          <p:blipFill>
            <a:blip r:embed="rId3"/>
            <a:stretch>
              <a:fillRect/>
            </a:stretch>
          </p:blipFill>
          <p:spPr>
            <a:xfrm>
              <a:off x="1981199" y="4211782"/>
              <a:ext cx="9516558" cy="1950894"/>
            </a:xfrm>
            <a:prstGeom prst="rect">
              <a:avLst/>
            </a:prstGeom>
          </p:spPr>
        </p:pic>
        <p:sp>
          <p:nvSpPr>
            <p:cNvPr id="8" name="TextBox 7">
              <a:extLst>
                <a:ext uri="{FF2B5EF4-FFF2-40B4-BE49-F238E27FC236}">
                  <a16:creationId xmlns:a16="http://schemas.microsoft.com/office/drawing/2014/main" id="{C68ECD61-4940-7E4D-8DC8-5B1FDC7E6C35}"/>
                </a:ext>
              </a:extLst>
            </p:cNvPr>
            <p:cNvSpPr txBox="1"/>
            <p:nvPr/>
          </p:nvSpPr>
          <p:spPr>
            <a:xfrm>
              <a:off x="9444321" y="4380677"/>
              <a:ext cx="1118904" cy="404794"/>
            </a:xfrm>
            <a:prstGeom prst="rect">
              <a:avLst/>
            </a:prstGeom>
            <a:solidFill>
              <a:srgbClr val="CCEEFB"/>
            </a:solidFill>
          </p:spPr>
          <p:txBody>
            <a:bodyPr wrap="square" rtlCol="0">
              <a:spAutoFit/>
            </a:bodyPr>
            <a:lstStyle/>
            <a:p>
              <a:r>
                <a:rPr lang="pt-BR" sz="1886" i="1" dirty="0"/>
                <a:t>turma</a:t>
              </a:r>
            </a:p>
          </p:txBody>
        </p:sp>
        <p:sp>
          <p:nvSpPr>
            <p:cNvPr id="9" name="TextBox 8">
              <a:extLst>
                <a:ext uri="{FF2B5EF4-FFF2-40B4-BE49-F238E27FC236}">
                  <a16:creationId xmlns:a16="http://schemas.microsoft.com/office/drawing/2014/main" id="{205D5962-2FAD-8241-BC6B-17C0A80CFEED}"/>
                </a:ext>
              </a:extLst>
            </p:cNvPr>
            <p:cNvSpPr txBox="1"/>
            <p:nvPr/>
          </p:nvSpPr>
          <p:spPr>
            <a:xfrm>
              <a:off x="2438399" y="4287581"/>
              <a:ext cx="1434025" cy="404794"/>
            </a:xfrm>
            <a:prstGeom prst="rect">
              <a:avLst/>
            </a:prstGeom>
            <a:solidFill>
              <a:srgbClr val="CCEEFB"/>
            </a:solidFill>
          </p:spPr>
          <p:txBody>
            <a:bodyPr wrap="square" rtlCol="0">
              <a:spAutoFit/>
            </a:bodyPr>
            <a:lstStyle/>
            <a:p>
              <a:r>
                <a:rPr lang="pt-BR" sz="1886" i="1" dirty="0" err="1"/>
                <a:t>disiciplina</a:t>
              </a:r>
              <a:endParaRPr lang="pt-BR" sz="1886" i="1" dirty="0"/>
            </a:p>
          </p:txBody>
        </p:sp>
        <p:sp>
          <p:nvSpPr>
            <p:cNvPr id="10" name="TextBox 9">
              <a:extLst>
                <a:ext uri="{FF2B5EF4-FFF2-40B4-BE49-F238E27FC236}">
                  <a16:creationId xmlns:a16="http://schemas.microsoft.com/office/drawing/2014/main" id="{73576879-8656-D04D-A37A-9852EA572D42}"/>
                </a:ext>
              </a:extLst>
            </p:cNvPr>
            <p:cNvSpPr txBox="1"/>
            <p:nvPr/>
          </p:nvSpPr>
          <p:spPr>
            <a:xfrm>
              <a:off x="5819592" y="4897781"/>
              <a:ext cx="1560759" cy="404794"/>
            </a:xfrm>
            <a:prstGeom prst="rect">
              <a:avLst/>
            </a:prstGeom>
            <a:solidFill>
              <a:srgbClr val="EDF9FE"/>
            </a:solidFill>
          </p:spPr>
          <p:txBody>
            <a:bodyPr wrap="square" rtlCol="0">
              <a:spAutoFit/>
            </a:bodyPr>
            <a:lstStyle/>
            <a:p>
              <a:r>
                <a:rPr lang="pt-BR" sz="1886" i="1" dirty="0" err="1"/>
                <a:t>oferta_disc</a:t>
              </a:r>
              <a:endParaRPr lang="pt-BR" sz="1886" i="1" dirty="0"/>
            </a:p>
          </p:txBody>
        </p:sp>
        <p:sp>
          <p:nvSpPr>
            <p:cNvPr id="11" name="TextBox 10">
              <a:extLst>
                <a:ext uri="{FF2B5EF4-FFF2-40B4-BE49-F238E27FC236}">
                  <a16:creationId xmlns:a16="http://schemas.microsoft.com/office/drawing/2014/main" id="{562FCD02-CE81-5F47-9B81-E1F39B508FA0}"/>
                </a:ext>
              </a:extLst>
            </p:cNvPr>
            <p:cNvSpPr txBox="1"/>
            <p:nvPr/>
          </p:nvSpPr>
          <p:spPr>
            <a:xfrm>
              <a:off x="2333518" y="4856795"/>
              <a:ext cx="1660958" cy="711883"/>
            </a:xfrm>
            <a:prstGeom prst="rect">
              <a:avLst/>
            </a:prstGeom>
            <a:solidFill>
              <a:schemeClr val="accent1"/>
            </a:solidFill>
          </p:spPr>
          <p:txBody>
            <a:bodyPr wrap="square" rtlCol="0">
              <a:spAutoFit/>
            </a:bodyPr>
            <a:lstStyle/>
            <a:p>
              <a:r>
                <a:rPr lang="pt-BR" sz="1886" u="sng" dirty="0"/>
                <a:t>disciplina id</a:t>
              </a:r>
            </a:p>
            <a:p>
              <a:r>
                <a:rPr lang="pt-BR" sz="1886" u="sng" dirty="0" err="1"/>
                <a:t>d</a:t>
              </a:r>
              <a:endParaRPr lang="pt-BR" sz="1886" u="sng" dirty="0"/>
            </a:p>
          </p:txBody>
        </p:sp>
        <p:sp>
          <p:nvSpPr>
            <p:cNvPr id="12" name="TextBox 11">
              <a:extLst>
                <a:ext uri="{FF2B5EF4-FFF2-40B4-BE49-F238E27FC236}">
                  <a16:creationId xmlns:a16="http://schemas.microsoft.com/office/drawing/2014/main" id="{29511BA3-B28C-4A41-BEDD-F81ECD3EDAFB}"/>
                </a:ext>
              </a:extLst>
            </p:cNvPr>
            <p:cNvSpPr txBox="1"/>
            <p:nvPr/>
          </p:nvSpPr>
          <p:spPr>
            <a:xfrm>
              <a:off x="2349317" y="5209205"/>
              <a:ext cx="1326118" cy="404794"/>
            </a:xfrm>
            <a:prstGeom prst="rect">
              <a:avLst/>
            </a:prstGeom>
            <a:solidFill>
              <a:schemeClr val="accent1"/>
            </a:solidFill>
          </p:spPr>
          <p:txBody>
            <a:bodyPr wrap="square" rtlCol="0">
              <a:spAutoFit/>
            </a:bodyPr>
            <a:lstStyle/>
            <a:p>
              <a:r>
                <a:rPr lang="pt-BR" sz="1886" dirty="0"/>
                <a:t>título</a:t>
              </a:r>
            </a:p>
          </p:txBody>
        </p:sp>
        <p:sp>
          <p:nvSpPr>
            <p:cNvPr id="13" name="TextBox 12">
              <a:extLst>
                <a:ext uri="{FF2B5EF4-FFF2-40B4-BE49-F238E27FC236}">
                  <a16:creationId xmlns:a16="http://schemas.microsoft.com/office/drawing/2014/main" id="{450CE4D9-2D91-E043-B8AD-FEC43EDD32FB}"/>
                </a:ext>
              </a:extLst>
            </p:cNvPr>
            <p:cNvSpPr txBox="1"/>
            <p:nvPr/>
          </p:nvSpPr>
          <p:spPr>
            <a:xfrm>
              <a:off x="2333518" y="5494151"/>
              <a:ext cx="1538906" cy="404794"/>
            </a:xfrm>
            <a:prstGeom prst="rect">
              <a:avLst/>
            </a:prstGeom>
            <a:solidFill>
              <a:schemeClr val="accent1"/>
            </a:solidFill>
          </p:spPr>
          <p:txBody>
            <a:bodyPr wrap="square" rtlCol="0">
              <a:spAutoFit/>
            </a:bodyPr>
            <a:lstStyle/>
            <a:p>
              <a:r>
                <a:rPr lang="pt-BR" sz="1886" dirty="0"/>
                <a:t>créditos</a:t>
              </a:r>
            </a:p>
          </p:txBody>
        </p:sp>
        <p:sp>
          <p:nvSpPr>
            <p:cNvPr id="14" name="TextBox 13">
              <a:extLst>
                <a:ext uri="{FF2B5EF4-FFF2-40B4-BE49-F238E27FC236}">
                  <a16:creationId xmlns:a16="http://schemas.microsoft.com/office/drawing/2014/main" id="{664DA95A-08E5-9748-9FC3-55EF4931BF9A}"/>
                </a:ext>
              </a:extLst>
            </p:cNvPr>
            <p:cNvSpPr txBox="1"/>
            <p:nvPr/>
          </p:nvSpPr>
          <p:spPr>
            <a:xfrm>
              <a:off x="9194148" y="4892495"/>
              <a:ext cx="1328668" cy="404794"/>
            </a:xfrm>
            <a:prstGeom prst="rect">
              <a:avLst/>
            </a:prstGeom>
            <a:solidFill>
              <a:schemeClr val="accent1"/>
            </a:solidFill>
          </p:spPr>
          <p:txBody>
            <a:bodyPr wrap="square" rtlCol="0">
              <a:spAutoFit/>
            </a:bodyPr>
            <a:lstStyle/>
            <a:p>
              <a:r>
                <a:rPr lang="pt-BR" sz="1886" dirty="0" err="1"/>
                <a:t>turma_id</a:t>
              </a:r>
              <a:endParaRPr lang="pt-BR" sz="1886" dirty="0"/>
            </a:p>
          </p:txBody>
        </p:sp>
        <p:sp>
          <p:nvSpPr>
            <p:cNvPr id="15" name="TextBox 14">
              <a:extLst>
                <a:ext uri="{FF2B5EF4-FFF2-40B4-BE49-F238E27FC236}">
                  <a16:creationId xmlns:a16="http://schemas.microsoft.com/office/drawing/2014/main" id="{E0C47959-AD2C-A247-9B77-8687EBF86128}"/>
                </a:ext>
              </a:extLst>
            </p:cNvPr>
            <p:cNvSpPr txBox="1"/>
            <p:nvPr/>
          </p:nvSpPr>
          <p:spPr>
            <a:xfrm>
              <a:off x="9252951" y="5244189"/>
              <a:ext cx="1147908" cy="378264"/>
            </a:xfrm>
            <a:prstGeom prst="rect">
              <a:avLst/>
            </a:prstGeom>
            <a:solidFill>
              <a:schemeClr val="accent1"/>
            </a:solidFill>
          </p:spPr>
          <p:txBody>
            <a:bodyPr wrap="square" rtlCol="0">
              <a:spAutoFit/>
            </a:bodyPr>
            <a:lstStyle/>
            <a:p>
              <a:r>
                <a:rPr lang="pt-BR" sz="1723" dirty="0"/>
                <a:t>semestre</a:t>
              </a:r>
            </a:p>
          </p:txBody>
        </p:sp>
        <p:sp>
          <p:nvSpPr>
            <p:cNvPr id="16" name="TextBox 15">
              <a:extLst>
                <a:ext uri="{FF2B5EF4-FFF2-40B4-BE49-F238E27FC236}">
                  <a16:creationId xmlns:a16="http://schemas.microsoft.com/office/drawing/2014/main" id="{01F3842C-ADEE-F84A-8132-EF1E7EA413AA}"/>
                </a:ext>
              </a:extLst>
            </p:cNvPr>
            <p:cNvSpPr txBox="1"/>
            <p:nvPr/>
          </p:nvSpPr>
          <p:spPr>
            <a:xfrm>
              <a:off x="9252951" y="5608188"/>
              <a:ext cx="1147908" cy="378264"/>
            </a:xfrm>
            <a:prstGeom prst="rect">
              <a:avLst/>
            </a:prstGeom>
            <a:solidFill>
              <a:schemeClr val="accent1"/>
            </a:solidFill>
          </p:spPr>
          <p:txBody>
            <a:bodyPr wrap="square" rtlCol="0">
              <a:spAutoFit/>
            </a:bodyPr>
            <a:lstStyle/>
            <a:p>
              <a:r>
                <a:rPr lang="pt-BR" sz="1723" dirty="0"/>
                <a:t>ano</a:t>
              </a:r>
            </a:p>
          </p:txBody>
        </p:sp>
      </p:grpSp>
      <p:cxnSp>
        <p:nvCxnSpPr>
          <p:cNvPr id="4" name="Straight Connector 3">
            <a:extLst>
              <a:ext uri="{FF2B5EF4-FFF2-40B4-BE49-F238E27FC236}">
                <a16:creationId xmlns:a16="http://schemas.microsoft.com/office/drawing/2014/main" id="{2B871ED6-5C83-CC46-9124-56D57314983C}"/>
              </a:ext>
            </a:extLst>
          </p:cNvPr>
          <p:cNvCxnSpPr/>
          <p:nvPr/>
        </p:nvCxnSpPr>
        <p:spPr bwMode="auto">
          <a:xfrm>
            <a:off x="8471299" y="5545165"/>
            <a:ext cx="988790" cy="0"/>
          </a:xfrm>
          <a:prstGeom prst="line">
            <a:avLst/>
          </a:prstGeom>
          <a:ln>
            <a:prstDash val="dash"/>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18" name="Straight Connector 17">
            <a:extLst>
              <a:ext uri="{FF2B5EF4-FFF2-40B4-BE49-F238E27FC236}">
                <a16:creationId xmlns:a16="http://schemas.microsoft.com/office/drawing/2014/main" id="{9C19D51C-606C-3A4D-8EA7-F55B5C660C98}"/>
              </a:ext>
            </a:extLst>
          </p:cNvPr>
          <p:cNvCxnSpPr/>
          <p:nvPr/>
        </p:nvCxnSpPr>
        <p:spPr bwMode="auto">
          <a:xfrm>
            <a:off x="8499520" y="5855611"/>
            <a:ext cx="988790" cy="0"/>
          </a:xfrm>
          <a:prstGeom prst="line">
            <a:avLst/>
          </a:prstGeom>
          <a:ln>
            <a:prstDash val="dash"/>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19" name="Straight Connector 18">
            <a:extLst>
              <a:ext uri="{FF2B5EF4-FFF2-40B4-BE49-F238E27FC236}">
                <a16:creationId xmlns:a16="http://schemas.microsoft.com/office/drawing/2014/main" id="{215F19DE-C920-F742-80E6-6E7947A9816F}"/>
              </a:ext>
            </a:extLst>
          </p:cNvPr>
          <p:cNvCxnSpPr/>
          <p:nvPr/>
        </p:nvCxnSpPr>
        <p:spPr bwMode="auto">
          <a:xfrm>
            <a:off x="8482585" y="6166057"/>
            <a:ext cx="988790" cy="0"/>
          </a:xfrm>
          <a:prstGeom prst="line">
            <a:avLst/>
          </a:prstGeom>
          <a:ln>
            <a:prstDash val="dash"/>
            <a:headEnd type="none" w="med" len="med"/>
            <a:tailEnd type="none" w="med" len="med"/>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4958386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62604BBA-5A1B-425B-BBBF-E447F1A4D69A}"/>
              </a:ext>
            </a:extLst>
          </p:cNvPr>
          <p:cNvCxnSpPr/>
          <p:nvPr/>
        </p:nvCxnSpPr>
        <p:spPr bwMode="auto">
          <a:xfrm>
            <a:off x="1775339" y="188505"/>
            <a:ext cx="864132" cy="0"/>
          </a:xfrm>
          <a:prstGeom prst="line">
            <a:avLst/>
          </a:prstGeom>
          <a:solidFill>
            <a:schemeClr val="accent1"/>
          </a:solidFill>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cxnSp>
      <p:grpSp>
        <p:nvGrpSpPr>
          <p:cNvPr id="6" name="Group 5">
            <a:extLst>
              <a:ext uri="{FF2B5EF4-FFF2-40B4-BE49-F238E27FC236}">
                <a16:creationId xmlns:a16="http://schemas.microsoft.com/office/drawing/2014/main" id="{646746D9-2CA9-2447-B85E-340FE5A72602}"/>
              </a:ext>
            </a:extLst>
          </p:cNvPr>
          <p:cNvGrpSpPr/>
          <p:nvPr/>
        </p:nvGrpSpPr>
        <p:grpSpPr>
          <a:xfrm>
            <a:off x="1436494" y="1426077"/>
            <a:ext cx="8993399" cy="1843647"/>
            <a:chOff x="1981199" y="4211782"/>
            <a:chExt cx="9516558" cy="1950894"/>
          </a:xfrm>
        </p:grpSpPr>
        <p:pic>
          <p:nvPicPr>
            <p:cNvPr id="7" name="Picture 6">
              <a:extLst>
                <a:ext uri="{FF2B5EF4-FFF2-40B4-BE49-F238E27FC236}">
                  <a16:creationId xmlns:a16="http://schemas.microsoft.com/office/drawing/2014/main" id="{97D51AB4-9EE5-DF4D-B060-850B122D3C7E}"/>
                </a:ext>
              </a:extLst>
            </p:cNvPr>
            <p:cNvPicPr>
              <a:picLocks noChangeAspect="1"/>
            </p:cNvPicPr>
            <p:nvPr/>
          </p:nvPicPr>
          <p:blipFill>
            <a:blip r:embed="rId3"/>
            <a:stretch>
              <a:fillRect/>
            </a:stretch>
          </p:blipFill>
          <p:spPr>
            <a:xfrm>
              <a:off x="1981199" y="4211782"/>
              <a:ext cx="9516558" cy="1950894"/>
            </a:xfrm>
            <a:prstGeom prst="rect">
              <a:avLst/>
            </a:prstGeom>
          </p:spPr>
        </p:pic>
        <p:sp>
          <p:nvSpPr>
            <p:cNvPr id="8" name="TextBox 7">
              <a:extLst>
                <a:ext uri="{FF2B5EF4-FFF2-40B4-BE49-F238E27FC236}">
                  <a16:creationId xmlns:a16="http://schemas.microsoft.com/office/drawing/2014/main" id="{C68ECD61-4940-7E4D-8DC8-5B1FDC7E6C35}"/>
                </a:ext>
              </a:extLst>
            </p:cNvPr>
            <p:cNvSpPr txBox="1"/>
            <p:nvPr/>
          </p:nvSpPr>
          <p:spPr>
            <a:xfrm>
              <a:off x="9444321" y="4387763"/>
              <a:ext cx="1118904" cy="404794"/>
            </a:xfrm>
            <a:prstGeom prst="rect">
              <a:avLst/>
            </a:prstGeom>
            <a:solidFill>
              <a:srgbClr val="CCEEFB"/>
            </a:solidFill>
          </p:spPr>
          <p:txBody>
            <a:bodyPr wrap="square" rtlCol="0">
              <a:spAutoFit/>
            </a:bodyPr>
            <a:lstStyle/>
            <a:p>
              <a:r>
                <a:rPr lang="pt-BR" sz="1886" i="1" dirty="0"/>
                <a:t>turma</a:t>
              </a:r>
            </a:p>
          </p:txBody>
        </p:sp>
        <p:sp>
          <p:nvSpPr>
            <p:cNvPr id="9" name="TextBox 8">
              <a:extLst>
                <a:ext uri="{FF2B5EF4-FFF2-40B4-BE49-F238E27FC236}">
                  <a16:creationId xmlns:a16="http://schemas.microsoft.com/office/drawing/2014/main" id="{205D5962-2FAD-8241-BC6B-17C0A80CFEED}"/>
                </a:ext>
              </a:extLst>
            </p:cNvPr>
            <p:cNvSpPr txBox="1"/>
            <p:nvPr/>
          </p:nvSpPr>
          <p:spPr>
            <a:xfrm>
              <a:off x="2438399" y="4284804"/>
              <a:ext cx="1460529" cy="404794"/>
            </a:xfrm>
            <a:prstGeom prst="rect">
              <a:avLst/>
            </a:prstGeom>
            <a:solidFill>
              <a:srgbClr val="CCEEFB"/>
            </a:solidFill>
          </p:spPr>
          <p:txBody>
            <a:bodyPr wrap="square" rtlCol="0">
              <a:spAutoFit/>
            </a:bodyPr>
            <a:lstStyle/>
            <a:p>
              <a:r>
                <a:rPr lang="pt-BR" sz="1886" i="1" dirty="0" err="1"/>
                <a:t>disiciplina</a:t>
              </a:r>
              <a:endParaRPr lang="pt-BR" sz="1886" i="1" dirty="0"/>
            </a:p>
          </p:txBody>
        </p:sp>
        <p:sp>
          <p:nvSpPr>
            <p:cNvPr id="10" name="TextBox 9">
              <a:extLst>
                <a:ext uri="{FF2B5EF4-FFF2-40B4-BE49-F238E27FC236}">
                  <a16:creationId xmlns:a16="http://schemas.microsoft.com/office/drawing/2014/main" id="{73576879-8656-D04D-A37A-9852EA572D42}"/>
                </a:ext>
              </a:extLst>
            </p:cNvPr>
            <p:cNvSpPr txBox="1"/>
            <p:nvPr/>
          </p:nvSpPr>
          <p:spPr>
            <a:xfrm>
              <a:off x="5792502" y="4901030"/>
              <a:ext cx="1660232" cy="404794"/>
            </a:xfrm>
            <a:prstGeom prst="rect">
              <a:avLst/>
            </a:prstGeom>
            <a:solidFill>
              <a:srgbClr val="EDF9FE"/>
            </a:solidFill>
          </p:spPr>
          <p:txBody>
            <a:bodyPr wrap="square" rtlCol="0">
              <a:spAutoFit/>
            </a:bodyPr>
            <a:lstStyle/>
            <a:p>
              <a:r>
                <a:rPr lang="pt-BR" sz="1886" i="1" dirty="0" err="1"/>
                <a:t>oferta_disc</a:t>
              </a:r>
              <a:endParaRPr lang="pt-BR" sz="1886" i="1" dirty="0"/>
            </a:p>
          </p:txBody>
        </p:sp>
        <p:sp>
          <p:nvSpPr>
            <p:cNvPr id="11" name="TextBox 10">
              <a:extLst>
                <a:ext uri="{FF2B5EF4-FFF2-40B4-BE49-F238E27FC236}">
                  <a16:creationId xmlns:a16="http://schemas.microsoft.com/office/drawing/2014/main" id="{562FCD02-CE81-5F47-9B81-E1F39B508FA0}"/>
                </a:ext>
              </a:extLst>
            </p:cNvPr>
            <p:cNvSpPr txBox="1"/>
            <p:nvPr/>
          </p:nvSpPr>
          <p:spPr>
            <a:xfrm>
              <a:off x="2333518" y="4856795"/>
              <a:ext cx="1328668" cy="338233"/>
            </a:xfrm>
            <a:prstGeom prst="rect">
              <a:avLst/>
            </a:prstGeom>
            <a:solidFill>
              <a:schemeClr val="accent1"/>
            </a:solidFill>
          </p:spPr>
          <p:txBody>
            <a:bodyPr wrap="square" rtlCol="0">
              <a:spAutoFit/>
            </a:bodyPr>
            <a:lstStyle/>
            <a:p>
              <a:r>
                <a:rPr lang="pt-BR" sz="1477" u="sng" dirty="0" err="1"/>
                <a:t>disciplina_id</a:t>
              </a:r>
              <a:endParaRPr lang="pt-BR" sz="1477" u="sng" dirty="0"/>
            </a:p>
          </p:txBody>
        </p:sp>
        <p:sp>
          <p:nvSpPr>
            <p:cNvPr id="12" name="TextBox 11">
              <a:extLst>
                <a:ext uri="{FF2B5EF4-FFF2-40B4-BE49-F238E27FC236}">
                  <a16:creationId xmlns:a16="http://schemas.microsoft.com/office/drawing/2014/main" id="{29511BA3-B28C-4A41-BEDD-F81ECD3EDAFB}"/>
                </a:ext>
              </a:extLst>
            </p:cNvPr>
            <p:cNvSpPr txBox="1"/>
            <p:nvPr/>
          </p:nvSpPr>
          <p:spPr>
            <a:xfrm>
              <a:off x="2349318" y="5209205"/>
              <a:ext cx="690099" cy="338233"/>
            </a:xfrm>
            <a:prstGeom prst="rect">
              <a:avLst/>
            </a:prstGeom>
            <a:solidFill>
              <a:schemeClr val="accent1"/>
            </a:solidFill>
          </p:spPr>
          <p:txBody>
            <a:bodyPr wrap="square" rtlCol="0">
              <a:spAutoFit/>
            </a:bodyPr>
            <a:lstStyle/>
            <a:p>
              <a:r>
                <a:rPr lang="pt-BR" sz="1477" dirty="0"/>
                <a:t>título</a:t>
              </a:r>
            </a:p>
          </p:txBody>
        </p:sp>
        <p:sp>
          <p:nvSpPr>
            <p:cNvPr id="13" name="TextBox 12">
              <a:extLst>
                <a:ext uri="{FF2B5EF4-FFF2-40B4-BE49-F238E27FC236}">
                  <a16:creationId xmlns:a16="http://schemas.microsoft.com/office/drawing/2014/main" id="{450CE4D9-2D91-E043-B8AD-FEC43EDD32FB}"/>
                </a:ext>
              </a:extLst>
            </p:cNvPr>
            <p:cNvSpPr txBox="1"/>
            <p:nvPr/>
          </p:nvSpPr>
          <p:spPr>
            <a:xfrm>
              <a:off x="2390883" y="5519344"/>
              <a:ext cx="1328668" cy="338233"/>
            </a:xfrm>
            <a:prstGeom prst="rect">
              <a:avLst/>
            </a:prstGeom>
            <a:solidFill>
              <a:schemeClr val="accent1"/>
            </a:solidFill>
          </p:spPr>
          <p:txBody>
            <a:bodyPr wrap="square" rtlCol="0">
              <a:spAutoFit/>
            </a:bodyPr>
            <a:lstStyle/>
            <a:p>
              <a:r>
                <a:rPr lang="pt-BR" sz="1477" dirty="0"/>
                <a:t>créditos</a:t>
              </a:r>
            </a:p>
          </p:txBody>
        </p:sp>
        <p:sp>
          <p:nvSpPr>
            <p:cNvPr id="14" name="TextBox 13">
              <a:extLst>
                <a:ext uri="{FF2B5EF4-FFF2-40B4-BE49-F238E27FC236}">
                  <a16:creationId xmlns:a16="http://schemas.microsoft.com/office/drawing/2014/main" id="{664DA95A-08E5-9748-9FC3-55EF4931BF9A}"/>
                </a:ext>
              </a:extLst>
            </p:cNvPr>
            <p:cNvSpPr txBox="1"/>
            <p:nvPr/>
          </p:nvSpPr>
          <p:spPr>
            <a:xfrm>
              <a:off x="9220616" y="4910353"/>
              <a:ext cx="1328668" cy="313129"/>
            </a:xfrm>
            <a:prstGeom prst="rect">
              <a:avLst/>
            </a:prstGeom>
            <a:solidFill>
              <a:schemeClr val="accent1"/>
            </a:solidFill>
          </p:spPr>
          <p:txBody>
            <a:bodyPr wrap="square" rtlCol="0">
              <a:spAutoFit/>
            </a:bodyPr>
            <a:lstStyle/>
            <a:p>
              <a:r>
                <a:rPr lang="pt-BR" sz="1323" dirty="0" err="1"/>
                <a:t>turma_id</a:t>
              </a:r>
              <a:endParaRPr lang="pt-BR" sz="1323" dirty="0"/>
            </a:p>
          </p:txBody>
        </p:sp>
        <p:sp>
          <p:nvSpPr>
            <p:cNvPr id="15" name="TextBox 14">
              <a:extLst>
                <a:ext uri="{FF2B5EF4-FFF2-40B4-BE49-F238E27FC236}">
                  <a16:creationId xmlns:a16="http://schemas.microsoft.com/office/drawing/2014/main" id="{E0C47959-AD2C-A247-9B77-8687EBF86128}"/>
                </a:ext>
              </a:extLst>
            </p:cNvPr>
            <p:cNvSpPr txBox="1"/>
            <p:nvPr/>
          </p:nvSpPr>
          <p:spPr>
            <a:xfrm>
              <a:off x="9252951" y="5268010"/>
              <a:ext cx="1147908" cy="313129"/>
            </a:xfrm>
            <a:prstGeom prst="rect">
              <a:avLst/>
            </a:prstGeom>
            <a:solidFill>
              <a:schemeClr val="accent1"/>
            </a:solidFill>
          </p:spPr>
          <p:txBody>
            <a:bodyPr wrap="square" rtlCol="0">
              <a:spAutoFit/>
            </a:bodyPr>
            <a:lstStyle/>
            <a:p>
              <a:r>
                <a:rPr lang="pt-BR" sz="1323" dirty="0"/>
                <a:t>semestre</a:t>
              </a:r>
            </a:p>
          </p:txBody>
        </p:sp>
        <p:sp>
          <p:nvSpPr>
            <p:cNvPr id="16" name="TextBox 15">
              <a:extLst>
                <a:ext uri="{FF2B5EF4-FFF2-40B4-BE49-F238E27FC236}">
                  <a16:creationId xmlns:a16="http://schemas.microsoft.com/office/drawing/2014/main" id="{01F3842C-ADEE-F84A-8132-EF1E7EA413AA}"/>
                </a:ext>
              </a:extLst>
            </p:cNvPr>
            <p:cNvSpPr txBox="1"/>
            <p:nvPr/>
          </p:nvSpPr>
          <p:spPr>
            <a:xfrm>
              <a:off x="9252951" y="5631975"/>
              <a:ext cx="1147908" cy="313129"/>
            </a:xfrm>
            <a:prstGeom prst="rect">
              <a:avLst/>
            </a:prstGeom>
            <a:solidFill>
              <a:schemeClr val="accent1"/>
            </a:solidFill>
          </p:spPr>
          <p:txBody>
            <a:bodyPr wrap="square" rtlCol="0">
              <a:spAutoFit/>
            </a:bodyPr>
            <a:lstStyle/>
            <a:p>
              <a:r>
                <a:rPr lang="pt-BR" sz="1323" dirty="0"/>
                <a:t>ano</a:t>
              </a:r>
            </a:p>
          </p:txBody>
        </p:sp>
      </p:grpSp>
      <p:sp>
        <p:nvSpPr>
          <p:cNvPr id="18" name="Rectangle 2">
            <a:extLst>
              <a:ext uri="{FF2B5EF4-FFF2-40B4-BE49-F238E27FC236}">
                <a16:creationId xmlns:a16="http://schemas.microsoft.com/office/drawing/2014/main" id="{FE892A14-91D0-3E4A-9EB5-B55C97BA76D7}"/>
              </a:ext>
            </a:extLst>
          </p:cNvPr>
          <p:cNvSpPr>
            <a:spLocks noGrp="1" noChangeArrowheads="1"/>
          </p:cNvSpPr>
          <p:nvPr>
            <p:ph type="title"/>
          </p:nvPr>
        </p:nvSpPr>
        <p:spPr>
          <a:xfrm>
            <a:off x="535500" y="299522"/>
            <a:ext cx="11196147" cy="576088"/>
          </a:xfrm>
        </p:spPr>
        <p:txBody>
          <a:bodyPr/>
          <a:lstStyle/>
          <a:p>
            <a:pPr>
              <a:defRPr/>
            </a:pPr>
            <a:r>
              <a:rPr lang="pt-BR" altLang="en-US" sz="3200" dirty="0">
                <a:effectLst>
                  <a:outerShdw sx="1000" sy="1000" algn="tl">
                    <a:srgbClr val="C0C0C0"/>
                  </a:outerShdw>
                </a:effectLst>
              </a:rPr>
              <a:t>Passo 2: mapeamento de Conjuntos de Entidades fracas (cont.)</a:t>
            </a:r>
          </a:p>
        </p:txBody>
      </p:sp>
      <p:sp>
        <p:nvSpPr>
          <p:cNvPr id="20" name="Freeform 19">
            <a:extLst>
              <a:ext uri="{FF2B5EF4-FFF2-40B4-BE49-F238E27FC236}">
                <a16:creationId xmlns:a16="http://schemas.microsoft.com/office/drawing/2014/main" id="{E8DC8D3B-E7D9-474F-AE83-4F5F461E7DBB}"/>
              </a:ext>
            </a:extLst>
          </p:cNvPr>
          <p:cNvSpPr/>
          <p:nvPr/>
        </p:nvSpPr>
        <p:spPr>
          <a:xfrm rot="10800000" flipV="1">
            <a:off x="8045727" y="5213434"/>
            <a:ext cx="1235081" cy="218490"/>
          </a:xfrm>
          <a:custGeom>
            <a:avLst/>
            <a:gdLst>
              <a:gd name="connsiteX0" fmla="*/ 0 w 1002359"/>
              <a:gd name="connsiteY0" fmla="*/ -89 h 231200"/>
              <a:gd name="connsiteX1" fmla="*/ 1002359 w 1002359"/>
              <a:gd name="connsiteY1" fmla="*/ -89 h 231200"/>
              <a:gd name="connsiteX2" fmla="*/ 1002359 w 1002359"/>
              <a:gd name="connsiteY2" fmla="*/ 231111 h 231200"/>
              <a:gd name="connsiteX3" fmla="*/ 0 w 1002359"/>
              <a:gd name="connsiteY3" fmla="*/ 231111 h 231200"/>
            </a:gdLst>
            <a:ahLst/>
            <a:cxnLst>
              <a:cxn ang="0">
                <a:pos x="connsiteX0" y="connsiteY0"/>
              </a:cxn>
              <a:cxn ang="0">
                <a:pos x="connsiteX1" y="connsiteY1"/>
              </a:cxn>
              <a:cxn ang="0">
                <a:pos x="connsiteX2" y="connsiteY2"/>
              </a:cxn>
              <a:cxn ang="0">
                <a:pos x="connsiteX3" y="connsiteY3"/>
              </a:cxn>
            </a:cxnLst>
            <a:rect l="l" t="t" r="r" b="b"/>
            <a:pathLst>
              <a:path w="1002359" h="231200">
                <a:moveTo>
                  <a:pt x="0" y="-89"/>
                </a:moveTo>
                <a:lnTo>
                  <a:pt x="1002359" y="-89"/>
                </a:lnTo>
                <a:lnTo>
                  <a:pt x="1002359" y="231111"/>
                </a:lnTo>
                <a:lnTo>
                  <a:pt x="0" y="231111"/>
                </a:lnTo>
                <a:close/>
              </a:path>
            </a:pathLst>
          </a:custGeom>
          <a:solidFill>
            <a:srgbClr val="CCEEFB"/>
          </a:solidFill>
          <a:ln w="12055" cap="rnd">
            <a:solidFill>
              <a:srgbClr val="231F20"/>
            </a:solidFill>
            <a:prstDash val="solid"/>
            <a:miter/>
          </a:ln>
        </p:spPr>
        <p:txBody>
          <a:bodyPr rtlCol="0" anchor="ctr"/>
          <a:lstStyle/>
          <a:p>
            <a:pPr algn="ctr"/>
            <a:r>
              <a:rPr lang="pt-BR" sz="1477" dirty="0">
                <a:latin typeface="Calibri Light" panose="020F0302020204030204" pitchFamily="34" charset="0"/>
                <a:cs typeface="Calibri Light" panose="020F0302020204030204" pitchFamily="34" charset="0"/>
              </a:rPr>
              <a:t>turma</a:t>
            </a:r>
          </a:p>
        </p:txBody>
      </p:sp>
      <p:sp>
        <p:nvSpPr>
          <p:cNvPr id="21" name="Freeform 20">
            <a:extLst>
              <a:ext uri="{FF2B5EF4-FFF2-40B4-BE49-F238E27FC236}">
                <a16:creationId xmlns:a16="http://schemas.microsoft.com/office/drawing/2014/main" id="{ED3051E2-56DA-8F49-B29B-A1D2A4A6CEF5}"/>
              </a:ext>
            </a:extLst>
          </p:cNvPr>
          <p:cNvSpPr/>
          <p:nvPr/>
        </p:nvSpPr>
        <p:spPr>
          <a:xfrm rot="10800000" flipV="1">
            <a:off x="1887328" y="5185315"/>
            <a:ext cx="1693214" cy="218491"/>
          </a:xfrm>
          <a:custGeom>
            <a:avLst/>
            <a:gdLst>
              <a:gd name="connsiteX0" fmla="*/ 0 w 848164"/>
              <a:gd name="connsiteY0" fmla="*/ -89 h 231200"/>
              <a:gd name="connsiteX1" fmla="*/ 848165 w 848164"/>
              <a:gd name="connsiteY1" fmla="*/ -89 h 231200"/>
              <a:gd name="connsiteX2" fmla="*/ 848165 w 848164"/>
              <a:gd name="connsiteY2" fmla="*/ 231111 h 231200"/>
              <a:gd name="connsiteX3" fmla="*/ 0 w 848164"/>
              <a:gd name="connsiteY3" fmla="*/ 231111 h 231200"/>
            </a:gdLst>
            <a:ahLst/>
            <a:cxnLst>
              <a:cxn ang="0">
                <a:pos x="connsiteX0" y="connsiteY0"/>
              </a:cxn>
              <a:cxn ang="0">
                <a:pos x="connsiteX1" y="connsiteY1"/>
              </a:cxn>
              <a:cxn ang="0">
                <a:pos x="connsiteX2" y="connsiteY2"/>
              </a:cxn>
              <a:cxn ang="0">
                <a:pos x="connsiteX3" y="connsiteY3"/>
              </a:cxn>
            </a:cxnLst>
            <a:rect l="l" t="t" r="r" b="b"/>
            <a:pathLst>
              <a:path w="848164" h="231200">
                <a:moveTo>
                  <a:pt x="0" y="-89"/>
                </a:moveTo>
                <a:lnTo>
                  <a:pt x="848165" y="-89"/>
                </a:lnTo>
                <a:lnTo>
                  <a:pt x="848165" y="231111"/>
                </a:lnTo>
                <a:lnTo>
                  <a:pt x="0" y="231111"/>
                </a:lnTo>
                <a:close/>
              </a:path>
            </a:pathLst>
          </a:custGeom>
          <a:solidFill>
            <a:srgbClr val="CCEEFB"/>
          </a:solidFill>
          <a:ln w="12055" cap="rnd">
            <a:solidFill>
              <a:srgbClr val="231F20"/>
            </a:solidFill>
            <a:prstDash val="solid"/>
            <a:miter/>
          </a:ln>
        </p:spPr>
        <p:txBody>
          <a:bodyPr rtlCol="0" anchor="ctr"/>
          <a:lstStyle/>
          <a:p>
            <a:pPr algn="ctr"/>
            <a:r>
              <a:rPr lang="pt-BR" sz="1477">
                <a:latin typeface="Calibri Light" panose="020F0302020204030204" pitchFamily="34" charset="0"/>
                <a:cs typeface="Calibri Light" panose="020F0302020204030204" pitchFamily="34" charset="0"/>
              </a:rPr>
              <a:t>disciplina</a:t>
            </a:r>
          </a:p>
        </p:txBody>
      </p:sp>
      <p:sp>
        <p:nvSpPr>
          <p:cNvPr id="22" name="Freeform 21">
            <a:extLst>
              <a:ext uri="{FF2B5EF4-FFF2-40B4-BE49-F238E27FC236}">
                <a16:creationId xmlns:a16="http://schemas.microsoft.com/office/drawing/2014/main" id="{2B3C3CD4-CB70-1742-98C4-7D6A695E429D}"/>
              </a:ext>
            </a:extLst>
          </p:cNvPr>
          <p:cNvSpPr/>
          <p:nvPr/>
        </p:nvSpPr>
        <p:spPr>
          <a:xfrm rot="10800000">
            <a:off x="3575995" y="5583004"/>
            <a:ext cx="4472831" cy="72830"/>
          </a:xfrm>
          <a:custGeom>
            <a:avLst/>
            <a:gdLst>
              <a:gd name="connsiteX0" fmla="*/ 4619 w 2703179"/>
              <a:gd name="connsiteY0" fmla="*/ 33916 h 77066"/>
              <a:gd name="connsiteX1" fmla="*/ 2639282 w 2703179"/>
              <a:gd name="connsiteY1" fmla="*/ 33916 h 77066"/>
              <a:gd name="connsiteX2" fmla="*/ 2642298 w 2703179"/>
              <a:gd name="connsiteY2" fmla="*/ 35423 h 77066"/>
              <a:gd name="connsiteX3" fmla="*/ 2643891 w 2703179"/>
              <a:gd name="connsiteY3" fmla="*/ 38534 h 77066"/>
              <a:gd name="connsiteX4" fmla="*/ 2642298 w 2703179"/>
              <a:gd name="connsiteY4" fmla="*/ 41549 h 77066"/>
              <a:gd name="connsiteX5" fmla="*/ 2639282 w 2703179"/>
              <a:gd name="connsiteY5" fmla="*/ 43151 h 77066"/>
              <a:gd name="connsiteX6" fmla="*/ 4619 w 2703179"/>
              <a:gd name="connsiteY6" fmla="*/ 43151 h 77066"/>
              <a:gd name="connsiteX7" fmla="*/ 1508 w 2703179"/>
              <a:gd name="connsiteY7" fmla="*/ 41549 h 77066"/>
              <a:gd name="connsiteX8" fmla="*/ 0 w 2703179"/>
              <a:gd name="connsiteY8" fmla="*/ 38534 h 77066"/>
              <a:gd name="connsiteX9" fmla="*/ 1508 w 2703179"/>
              <a:gd name="connsiteY9" fmla="*/ 35423 h 77066"/>
              <a:gd name="connsiteX10" fmla="*/ 2626179 w 2703179"/>
              <a:gd name="connsiteY10" fmla="*/ 0 h 77066"/>
              <a:gd name="connsiteX11" fmla="*/ 2703179 w 2703179"/>
              <a:gd name="connsiteY11" fmla="*/ 38534 h 77066"/>
              <a:gd name="connsiteX12" fmla="*/ 2626179 w 2703179"/>
              <a:gd name="connsiteY12" fmla="*/ 77066 h 77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03179" h="77066">
                <a:moveTo>
                  <a:pt x="4619" y="33916"/>
                </a:moveTo>
                <a:lnTo>
                  <a:pt x="2639282" y="33916"/>
                </a:lnTo>
                <a:lnTo>
                  <a:pt x="2642298" y="35423"/>
                </a:lnTo>
                <a:lnTo>
                  <a:pt x="2643891" y="38534"/>
                </a:lnTo>
                <a:lnTo>
                  <a:pt x="2642298" y="41549"/>
                </a:lnTo>
                <a:lnTo>
                  <a:pt x="2639282" y="43151"/>
                </a:lnTo>
                <a:lnTo>
                  <a:pt x="4619" y="43151"/>
                </a:lnTo>
                <a:lnTo>
                  <a:pt x="1508" y="41549"/>
                </a:lnTo>
                <a:lnTo>
                  <a:pt x="0" y="38534"/>
                </a:lnTo>
                <a:lnTo>
                  <a:pt x="1508" y="35423"/>
                </a:lnTo>
                <a:close/>
                <a:moveTo>
                  <a:pt x="2626179" y="0"/>
                </a:moveTo>
                <a:lnTo>
                  <a:pt x="2703179" y="38534"/>
                </a:lnTo>
                <a:lnTo>
                  <a:pt x="2626179" y="77066"/>
                </a:lnTo>
              </a:path>
            </a:pathLst>
          </a:custGeom>
          <a:solidFill>
            <a:srgbClr val="231F20"/>
          </a:solidFill>
          <a:ln w="24109" cap="flat">
            <a:noFill/>
            <a:prstDash val="solid"/>
            <a:miter/>
          </a:ln>
        </p:spPr>
        <p:txBody>
          <a:bodyPr rtlCol="0" anchor="ctr"/>
          <a:lstStyle/>
          <a:p>
            <a:endParaRPr lang="pt-BR" sz="1886"/>
          </a:p>
        </p:txBody>
      </p:sp>
      <p:sp>
        <p:nvSpPr>
          <p:cNvPr id="23" name="TextBox 22">
            <a:extLst>
              <a:ext uri="{FF2B5EF4-FFF2-40B4-BE49-F238E27FC236}">
                <a16:creationId xmlns:a16="http://schemas.microsoft.com/office/drawing/2014/main" id="{9DAF6AB1-D5D9-F843-A591-535D6C303D4C}"/>
              </a:ext>
            </a:extLst>
          </p:cNvPr>
          <p:cNvSpPr txBox="1"/>
          <p:nvPr/>
        </p:nvSpPr>
        <p:spPr>
          <a:xfrm>
            <a:off x="1882781" y="5396782"/>
            <a:ext cx="1693214" cy="774251"/>
          </a:xfrm>
          <a:prstGeom prst="rect">
            <a:avLst/>
          </a:prstGeom>
          <a:noFill/>
          <a:ln w="12700">
            <a:solidFill>
              <a:schemeClr val="tx1"/>
            </a:solidFill>
          </a:ln>
        </p:spPr>
        <p:txBody>
          <a:bodyPr wrap="square" rtlCol="0">
            <a:spAutoFit/>
          </a:bodyPr>
          <a:lstStyle/>
          <a:p>
            <a:r>
              <a:rPr lang="pt-BR" sz="1477" u="sng" dirty="0" err="1">
                <a:latin typeface="Calibri Light" panose="020F0302020204030204" pitchFamily="34" charset="0"/>
                <a:cs typeface="Calibri Light" panose="020F0302020204030204" pitchFamily="34" charset="0"/>
              </a:rPr>
              <a:t>disciplina_id</a:t>
            </a:r>
            <a:endParaRPr lang="pt-BR" sz="1477" u="sng" dirty="0">
              <a:latin typeface="Calibri Light" panose="020F0302020204030204" pitchFamily="34" charset="0"/>
              <a:cs typeface="Calibri Light" panose="020F0302020204030204" pitchFamily="34" charset="0"/>
            </a:endParaRPr>
          </a:p>
          <a:p>
            <a:r>
              <a:rPr lang="pt-BR" sz="1477" dirty="0">
                <a:latin typeface="Calibri Light" panose="020F0302020204030204" pitchFamily="34" charset="0"/>
                <a:cs typeface="Calibri Light" panose="020F0302020204030204" pitchFamily="34" charset="0"/>
              </a:rPr>
              <a:t>título</a:t>
            </a:r>
          </a:p>
          <a:p>
            <a:r>
              <a:rPr lang="pt-BR" sz="1477" dirty="0">
                <a:latin typeface="Calibri Light" panose="020F0302020204030204" pitchFamily="34" charset="0"/>
                <a:cs typeface="Calibri Light" panose="020F0302020204030204" pitchFamily="34" charset="0"/>
              </a:rPr>
              <a:t>créditos</a:t>
            </a:r>
          </a:p>
        </p:txBody>
      </p:sp>
      <p:sp>
        <p:nvSpPr>
          <p:cNvPr id="24" name="TextBox 23">
            <a:extLst>
              <a:ext uri="{FF2B5EF4-FFF2-40B4-BE49-F238E27FC236}">
                <a16:creationId xmlns:a16="http://schemas.microsoft.com/office/drawing/2014/main" id="{86EAF068-C44A-F74F-8C51-A21515A491DF}"/>
              </a:ext>
            </a:extLst>
          </p:cNvPr>
          <p:cNvSpPr txBox="1"/>
          <p:nvPr/>
        </p:nvSpPr>
        <p:spPr>
          <a:xfrm>
            <a:off x="8048826" y="5431923"/>
            <a:ext cx="1225627" cy="1080104"/>
          </a:xfrm>
          <a:prstGeom prst="rect">
            <a:avLst/>
          </a:prstGeom>
          <a:noFill/>
          <a:ln w="12700">
            <a:solidFill>
              <a:schemeClr val="tx1"/>
            </a:solidFill>
          </a:ln>
        </p:spPr>
        <p:txBody>
          <a:bodyPr wrap="square" rtlCol="0">
            <a:spAutoFit/>
          </a:bodyPr>
          <a:lstStyle/>
          <a:p>
            <a:pPr>
              <a:lnSpc>
                <a:spcPct val="110000"/>
              </a:lnSpc>
            </a:pPr>
            <a:r>
              <a:rPr lang="pt-BR" sz="1477" u="sng" dirty="0" err="1">
                <a:latin typeface="Calibri Light" panose="020F0302020204030204" pitchFamily="34" charset="0"/>
                <a:cs typeface="Calibri Light" panose="020F0302020204030204" pitchFamily="34" charset="0"/>
              </a:rPr>
              <a:t>disciplina_id</a:t>
            </a:r>
            <a:endParaRPr lang="pt-BR" sz="1477" u="sng" dirty="0">
              <a:latin typeface="Calibri Light" panose="020F0302020204030204" pitchFamily="34" charset="0"/>
              <a:cs typeface="Calibri Light" panose="020F0302020204030204" pitchFamily="34" charset="0"/>
            </a:endParaRPr>
          </a:p>
          <a:p>
            <a:pPr>
              <a:lnSpc>
                <a:spcPct val="110000"/>
              </a:lnSpc>
            </a:pPr>
            <a:r>
              <a:rPr lang="pt-BR" sz="1477" u="sng" dirty="0" err="1">
                <a:latin typeface="Calibri Light" panose="020F0302020204030204" pitchFamily="34" charset="0"/>
                <a:cs typeface="Calibri Light" panose="020F0302020204030204" pitchFamily="34" charset="0"/>
              </a:rPr>
              <a:t>turma_id</a:t>
            </a:r>
            <a:endParaRPr lang="pt-BR" sz="1477" u="sng" dirty="0">
              <a:latin typeface="Calibri Light" panose="020F0302020204030204" pitchFamily="34" charset="0"/>
              <a:cs typeface="Calibri Light" panose="020F0302020204030204" pitchFamily="34" charset="0"/>
            </a:endParaRPr>
          </a:p>
          <a:p>
            <a:pPr>
              <a:lnSpc>
                <a:spcPct val="110000"/>
              </a:lnSpc>
            </a:pPr>
            <a:r>
              <a:rPr lang="pt-BR" sz="1477" u="sng" dirty="0">
                <a:latin typeface="Calibri Light" panose="020F0302020204030204" pitchFamily="34" charset="0"/>
                <a:cs typeface="Calibri Light" panose="020F0302020204030204" pitchFamily="34" charset="0"/>
              </a:rPr>
              <a:t>semestre</a:t>
            </a:r>
          </a:p>
          <a:p>
            <a:pPr>
              <a:lnSpc>
                <a:spcPct val="110000"/>
              </a:lnSpc>
            </a:pPr>
            <a:r>
              <a:rPr lang="pt-BR" sz="1477" u="sng" dirty="0">
                <a:latin typeface="Calibri Light" panose="020F0302020204030204" pitchFamily="34" charset="0"/>
                <a:cs typeface="Calibri Light" panose="020F0302020204030204" pitchFamily="34" charset="0"/>
              </a:rPr>
              <a:t>ano</a:t>
            </a:r>
          </a:p>
        </p:txBody>
      </p:sp>
      <p:cxnSp>
        <p:nvCxnSpPr>
          <p:cNvPr id="19" name="Straight Arrow Connector 18">
            <a:extLst>
              <a:ext uri="{FF2B5EF4-FFF2-40B4-BE49-F238E27FC236}">
                <a16:creationId xmlns:a16="http://schemas.microsoft.com/office/drawing/2014/main" id="{A2174B80-F58D-064E-A08C-DBF19E8D0CFE}"/>
              </a:ext>
            </a:extLst>
          </p:cNvPr>
          <p:cNvCxnSpPr/>
          <p:nvPr/>
        </p:nvCxnSpPr>
        <p:spPr bwMode="auto">
          <a:xfrm>
            <a:off x="5807956" y="3429001"/>
            <a:ext cx="34021" cy="1496922"/>
          </a:xfrm>
          <a:prstGeom prst="straightConnector1">
            <a:avLst/>
          </a:prstGeom>
          <a:solidFill>
            <a:schemeClr val="accent1"/>
          </a:solidFill>
          <a:ln w="63500" cap="flat" cmpd="sng" algn="ctr">
            <a:solidFill>
              <a:schemeClr val="tx1"/>
            </a:solidFill>
            <a:prstDash val="solid"/>
            <a:round/>
            <a:headEnd type="none" w="med" len="med"/>
            <a:tailEnd type="triangle"/>
          </a:ln>
          <a:effectLst/>
        </p:spPr>
      </p:cxnSp>
      <p:sp>
        <p:nvSpPr>
          <p:cNvPr id="3" name="TextBox 2">
            <a:extLst>
              <a:ext uri="{FF2B5EF4-FFF2-40B4-BE49-F238E27FC236}">
                <a16:creationId xmlns:a16="http://schemas.microsoft.com/office/drawing/2014/main" id="{93BAF40C-D74C-7347-A988-098D0D39E351}"/>
              </a:ext>
            </a:extLst>
          </p:cNvPr>
          <p:cNvSpPr txBox="1"/>
          <p:nvPr/>
        </p:nvSpPr>
        <p:spPr>
          <a:xfrm>
            <a:off x="5990673" y="3926805"/>
            <a:ext cx="1798506" cy="369332"/>
          </a:xfrm>
          <a:prstGeom prst="rect">
            <a:avLst/>
          </a:prstGeom>
          <a:noFill/>
        </p:spPr>
        <p:txBody>
          <a:bodyPr wrap="square" rtlCol="0">
            <a:spAutoFit/>
          </a:bodyPr>
          <a:lstStyle/>
          <a:p>
            <a:r>
              <a:rPr lang="pt-BR" sz="1800" dirty="0"/>
              <a:t>Mapeamento</a:t>
            </a:r>
          </a:p>
        </p:txBody>
      </p:sp>
    </p:spTree>
    <p:extLst>
      <p:ext uri="{BB962C8B-B14F-4D97-AF65-F5344CB8AC3E}">
        <p14:creationId xmlns:p14="http://schemas.microsoft.com/office/powerpoint/2010/main" val="7399199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F4677EE1-E8DB-4D68-A10F-B4FE5C51B6C8}"/>
              </a:ext>
            </a:extLst>
          </p:cNvPr>
          <p:cNvCxnSpPr/>
          <p:nvPr/>
        </p:nvCxnSpPr>
        <p:spPr bwMode="auto">
          <a:xfrm>
            <a:off x="1775339" y="188505"/>
            <a:ext cx="864132" cy="0"/>
          </a:xfrm>
          <a:prstGeom prst="line">
            <a:avLst/>
          </a:prstGeom>
          <a:solidFill>
            <a:schemeClr val="accent1"/>
          </a:solidFill>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cxnSp>
      <p:sp>
        <p:nvSpPr>
          <p:cNvPr id="668674" name="Rectangle 2"/>
          <p:cNvSpPr>
            <a:spLocks noGrp="1" noChangeArrowheads="1"/>
          </p:cNvSpPr>
          <p:nvPr>
            <p:ph type="title" idx="4294967295"/>
          </p:nvPr>
        </p:nvSpPr>
        <p:spPr>
          <a:xfrm>
            <a:off x="811020" y="233512"/>
            <a:ext cx="9675735" cy="576088"/>
          </a:xfrm>
        </p:spPr>
        <p:txBody>
          <a:bodyPr/>
          <a:lstStyle/>
          <a:p>
            <a:pPr>
              <a:defRPr/>
            </a:pPr>
            <a:r>
              <a:rPr lang="pt-BR" altLang="en-US" sz="3200" dirty="0">
                <a:effectLst>
                  <a:outerShdw sx="1000" sy="1000" algn="tl">
                    <a:srgbClr val="C0C0C0"/>
                  </a:outerShdw>
                </a:effectLst>
              </a:rPr>
              <a:t>Passo 3: mapeamento de atributos multivalorados</a:t>
            </a:r>
          </a:p>
        </p:txBody>
      </p:sp>
      <p:sp>
        <p:nvSpPr>
          <p:cNvPr id="53251" name="Rectangle 3"/>
          <p:cNvSpPr>
            <a:spLocks noGrp="1" noChangeArrowheads="1"/>
          </p:cNvSpPr>
          <p:nvPr>
            <p:ph type="body" idx="4294967295"/>
          </p:nvPr>
        </p:nvSpPr>
        <p:spPr>
          <a:xfrm>
            <a:off x="587910" y="1327372"/>
            <a:ext cx="11168212" cy="4985201"/>
          </a:xfrm>
        </p:spPr>
        <p:txBody>
          <a:bodyPr/>
          <a:lstStyle/>
          <a:p>
            <a:pPr>
              <a:buFont typeface="Wingdings" panose="05000000000000000000" pitchFamily="2" charset="2"/>
              <a:buChar char="§"/>
            </a:pPr>
            <a:r>
              <a:rPr lang="pt-BR" altLang="en-US" sz="2000" dirty="0"/>
              <a:t>Um atributo multivalorado </a:t>
            </a:r>
            <a:r>
              <a:rPr lang="pt-BR" altLang="en-US" sz="2000" i="1" dirty="0"/>
              <a:t>M</a:t>
            </a:r>
            <a:r>
              <a:rPr lang="pt-BR" altLang="en-US" sz="2000" dirty="0"/>
              <a:t> de um conjunto de entidades </a:t>
            </a:r>
            <a:r>
              <a:rPr lang="pt-BR" altLang="en-US" sz="2000" i="1" dirty="0"/>
              <a:t>E</a:t>
            </a:r>
            <a:r>
              <a:rPr lang="pt-BR" altLang="en-US" sz="2000" dirty="0"/>
              <a:t> é representado por uma nova tabela </a:t>
            </a:r>
            <a:r>
              <a:rPr lang="pt-BR" altLang="en-US" sz="2000" i="1" dirty="0"/>
              <a:t>R.</a:t>
            </a:r>
          </a:p>
          <a:p>
            <a:pPr marL="0" indent="0">
              <a:buNone/>
            </a:pPr>
            <a:endParaRPr lang="pt-BR" altLang="en-US" sz="2000" dirty="0"/>
          </a:p>
          <a:p>
            <a:pPr>
              <a:buFont typeface="Wingdings" panose="05000000000000000000" pitchFamily="2" charset="2"/>
              <a:buChar char="§"/>
            </a:pPr>
            <a:r>
              <a:rPr lang="pt-BR" altLang="en-US" sz="2000" dirty="0"/>
              <a:t>A tabela </a:t>
            </a:r>
            <a:r>
              <a:rPr lang="pt-BR" altLang="en-US" sz="2000" i="1" dirty="0" err="1"/>
              <a:t>R</a:t>
            </a:r>
            <a:r>
              <a:rPr lang="pt-BR" altLang="en-US" sz="2000" dirty="0"/>
              <a:t> deve conter os atributos correspondente a chave primária de </a:t>
            </a:r>
            <a:r>
              <a:rPr lang="pt-BR" altLang="en-US" sz="2000" i="1" dirty="0"/>
              <a:t>E</a:t>
            </a:r>
            <a:r>
              <a:rPr lang="pt-BR" altLang="en-US" sz="2000" dirty="0"/>
              <a:t> e um atributo correspondente ao atributo multivalorado  </a:t>
            </a:r>
            <a:r>
              <a:rPr lang="pt-BR" altLang="en-US" sz="2000" i="1" dirty="0"/>
              <a:t>M.</a:t>
            </a:r>
          </a:p>
          <a:p>
            <a:pPr>
              <a:buFont typeface="Wingdings" panose="05000000000000000000" pitchFamily="2" charset="2"/>
              <a:buChar char="§"/>
            </a:pPr>
            <a:endParaRPr lang="pt-BR" altLang="en-US" sz="2000" dirty="0"/>
          </a:p>
          <a:p>
            <a:pPr>
              <a:buFont typeface="Wingdings" panose="05000000000000000000" pitchFamily="2" charset="2"/>
              <a:buChar char="§"/>
            </a:pPr>
            <a:r>
              <a:rPr lang="pt-BR" altLang="en-US" sz="2000" dirty="0"/>
              <a:t>Cada valor do atributo multivalorado se torna uma </a:t>
            </a:r>
            <a:r>
              <a:rPr lang="pt-BR" altLang="en-US" sz="2000" i="1" dirty="0" err="1"/>
              <a:t>tupla</a:t>
            </a:r>
            <a:r>
              <a:rPr lang="pt-BR" altLang="en-US" sz="2000" dirty="0"/>
              <a:t> separada da tabela </a:t>
            </a:r>
            <a:r>
              <a:rPr lang="pt-BR" altLang="en-US" sz="2000" i="1" dirty="0"/>
              <a:t>R. </a:t>
            </a:r>
            <a:r>
              <a:rPr lang="pt-BR" altLang="en-US" sz="2000" dirty="0"/>
              <a:t>Por exemplo, se a entidade </a:t>
            </a:r>
            <a:r>
              <a:rPr lang="pt-BR" altLang="en-US" sz="2000" i="1" dirty="0"/>
              <a:t>professor</a:t>
            </a:r>
            <a:r>
              <a:rPr lang="pt-BR" altLang="en-US" sz="2000" dirty="0"/>
              <a:t> possuir o atributo multivalorado {</a:t>
            </a:r>
            <a:r>
              <a:rPr lang="pt-BR" altLang="en-US" sz="2000" i="1" dirty="0"/>
              <a:t>telefone</a:t>
            </a:r>
            <a:r>
              <a:rPr lang="pt-BR" altLang="en-US" sz="2000" dirty="0"/>
              <a:t>}, então uma</a:t>
            </a:r>
            <a:r>
              <a:rPr lang="pt-BR" altLang="en-US" sz="2000" dirty="0">
                <a:ea typeface="ＭＳ Ｐゴシック" panose="020B0600070205080204" pitchFamily="34" charset="-128"/>
              </a:rPr>
              <a:t> entidade específica de </a:t>
            </a:r>
            <a:r>
              <a:rPr lang="pt-BR" altLang="en-US" sz="2000" i="1" dirty="0">
                <a:ea typeface="ＭＳ Ｐゴシック" panose="020B0600070205080204" pitchFamily="34" charset="-128"/>
              </a:rPr>
              <a:t>professor</a:t>
            </a:r>
            <a:r>
              <a:rPr lang="pt-BR" altLang="en-US" sz="2000" dirty="0">
                <a:ea typeface="ＭＳ Ｐゴシック" panose="020B0600070205080204" pitchFamily="34" charset="-128"/>
              </a:rPr>
              <a:t> com chave primária  22222 e números de telefone 456-7890 e 123-4567 seria mapeada para duas </a:t>
            </a:r>
            <a:r>
              <a:rPr lang="pt-BR" altLang="en-US" sz="2000" dirty="0" err="1">
                <a:ea typeface="ＭＳ Ｐゴシック" panose="020B0600070205080204" pitchFamily="34" charset="-128"/>
              </a:rPr>
              <a:t>tuplas</a:t>
            </a:r>
            <a:r>
              <a:rPr lang="pt-BR" altLang="en-US" sz="2000" dirty="0">
                <a:ea typeface="ＭＳ Ｐゴシック" panose="020B0600070205080204" pitchFamily="34" charset="-128"/>
              </a:rPr>
              <a:t>:   (22222, 456-7890) e (22222, 123-4567).</a:t>
            </a:r>
          </a:p>
          <a:p>
            <a:pPr marL="432111" lvl="1" indent="0">
              <a:buNone/>
            </a:pPr>
            <a:endParaRPr lang="pt-BR" altLang="en-US" sz="2000" dirty="0">
              <a:ea typeface="ＭＳ Ｐゴシック" panose="020B0600070205080204" pitchFamily="34" charset="-128"/>
            </a:endParaRPr>
          </a:p>
          <a:p>
            <a:pPr>
              <a:buFont typeface="Arial" panose="020B0604020202020204" pitchFamily="34" charset="0"/>
              <a:buChar char="•"/>
            </a:pPr>
            <a:r>
              <a:rPr lang="pt-BR" altLang="en-US" sz="2000" dirty="0">
                <a:ea typeface="ＭＳ Ｐゴシック" panose="020B0600070205080204" pitchFamily="34" charset="-128"/>
              </a:rPr>
              <a:t>A seguir veremos um exemplo.</a:t>
            </a:r>
          </a:p>
        </p:txBody>
      </p:sp>
    </p:spTree>
    <p:extLst>
      <p:ext uri="{BB962C8B-B14F-4D97-AF65-F5344CB8AC3E}">
        <p14:creationId xmlns:p14="http://schemas.microsoft.com/office/powerpoint/2010/main" val="31041476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5B752CFA-C0EB-4F40-9218-876595694A01}"/>
              </a:ext>
            </a:extLst>
          </p:cNvPr>
          <p:cNvCxnSpPr/>
          <p:nvPr/>
        </p:nvCxnSpPr>
        <p:spPr bwMode="auto">
          <a:xfrm>
            <a:off x="1775339" y="188505"/>
            <a:ext cx="864132" cy="0"/>
          </a:xfrm>
          <a:prstGeom prst="line">
            <a:avLst/>
          </a:prstGeom>
          <a:solidFill>
            <a:schemeClr val="accent1"/>
          </a:solidFill>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cxnSp>
      <p:sp>
        <p:nvSpPr>
          <p:cNvPr id="668674" name="Rectangle 2"/>
          <p:cNvSpPr>
            <a:spLocks noGrp="1" noChangeArrowheads="1"/>
          </p:cNvSpPr>
          <p:nvPr>
            <p:ph type="title" idx="4294967295"/>
          </p:nvPr>
        </p:nvSpPr>
        <p:spPr>
          <a:xfrm>
            <a:off x="609600" y="277351"/>
            <a:ext cx="11119556" cy="576089"/>
          </a:xfrm>
        </p:spPr>
        <p:txBody>
          <a:bodyPr/>
          <a:lstStyle/>
          <a:p>
            <a:pPr>
              <a:defRPr/>
            </a:pPr>
            <a:r>
              <a:rPr lang="pt-BR" altLang="en-US" sz="3200" dirty="0">
                <a:effectLst>
                  <a:outerShdw sx="1000" sy="1000" algn="tl">
                    <a:srgbClr val="C0C0C0"/>
                  </a:outerShdw>
                </a:effectLst>
              </a:rPr>
              <a:t>Passo 3: mapeamento de atributos multivalorados (cont.)</a:t>
            </a:r>
            <a:endParaRPr lang="pt-BR" altLang="en-US" sz="3200" dirty="0">
              <a:effectLst>
                <a:outerShdw blurRad="38100" dist="38100" dir="2700000" algn="tl">
                  <a:srgbClr val="C0C0C0"/>
                </a:outerShdw>
              </a:effectLst>
            </a:endParaRPr>
          </a:p>
        </p:txBody>
      </p:sp>
      <p:grpSp>
        <p:nvGrpSpPr>
          <p:cNvPr id="6" name="Group 5">
            <a:extLst>
              <a:ext uri="{FF2B5EF4-FFF2-40B4-BE49-F238E27FC236}">
                <a16:creationId xmlns:a16="http://schemas.microsoft.com/office/drawing/2014/main" id="{47547882-6110-3740-AA5F-961C632556C4}"/>
              </a:ext>
            </a:extLst>
          </p:cNvPr>
          <p:cNvGrpSpPr/>
          <p:nvPr/>
        </p:nvGrpSpPr>
        <p:grpSpPr>
          <a:xfrm>
            <a:off x="1515391" y="1275195"/>
            <a:ext cx="2248161" cy="4764536"/>
            <a:chOff x="4091132" y="1093787"/>
            <a:chExt cx="2378940" cy="5041696"/>
          </a:xfrm>
        </p:grpSpPr>
        <p:pic>
          <p:nvPicPr>
            <p:cNvPr id="7" name="Picture 5">
              <a:extLst>
                <a:ext uri="{FF2B5EF4-FFF2-40B4-BE49-F238E27FC236}">
                  <a16:creationId xmlns:a16="http://schemas.microsoft.com/office/drawing/2014/main" id="{646EC933-90CB-C441-8C8E-3ACC403B5A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91132" y="1093787"/>
              <a:ext cx="2378940" cy="5041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02252C9C-CF0F-EA43-94DE-DBC59EBF072C}"/>
                </a:ext>
              </a:extLst>
            </p:cNvPr>
            <p:cNvSpPr txBox="1"/>
            <p:nvPr/>
          </p:nvSpPr>
          <p:spPr>
            <a:xfrm>
              <a:off x="4675527" y="1147525"/>
              <a:ext cx="1421204" cy="404794"/>
            </a:xfrm>
            <a:prstGeom prst="rect">
              <a:avLst/>
            </a:prstGeom>
            <a:solidFill>
              <a:srgbClr val="C6E7F1"/>
            </a:solidFill>
          </p:spPr>
          <p:txBody>
            <a:bodyPr wrap="square" rtlCol="0">
              <a:spAutoFit/>
            </a:bodyPr>
            <a:lstStyle/>
            <a:p>
              <a:r>
                <a:rPr lang="pt-BR" sz="1886" i="1" dirty="0"/>
                <a:t>professor</a:t>
              </a:r>
            </a:p>
          </p:txBody>
        </p:sp>
        <p:sp>
          <p:nvSpPr>
            <p:cNvPr id="9" name="TextBox 8">
              <a:extLst>
                <a:ext uri="{FF2B5EF4-FFF2-40B4-BE49-F238E27FC236}">
                  <a16:creationId xmlns:a16="http://schemas.microsoft.com/office/drawing/2014/main" id="{7AE50F49-91B2-1748-B07A-CEB33E731BC7}"/>
                </a:ext>
              </a:extLst>
            </p:cNvPr>
            <p:cNvSpPr txBox="1"/>
            <p:nvPr/>
          </p:nvSpPr>
          <p:spPr>
            <a:xfrm>
              <a:off x="4271240" y="1683165"/>
              <a:ext cx="475962" cy="298133"/>
            </a:xfrm>
            <a:prstGeom prst="rect">
              <a:avLst/>
            </a:prstGeom>
            <a:solidFill>
              <a:schemeClr val="accent1"/>
            </a:solidFill>
          </p:spPr>
          <p:txBody>
            <a:bodyPr wrap="square" rtlCol="0">
              <a:spAutoFit/>
            </a:bodyPr>
            <a:lstStyle/>
            <a:p>
              <a:r>
                <a:rPr lang="pt-BR" sz="1231" i="1" u="sng" dirty="0"/>
                <a:t>ID</a:t>
              </a:r>
            </a:p>
          </p:txBody>
        </p:sp>
        <p:sp>
          <p:nvSpPr>
            <p:cNvPr id="10" name="TextBox 9">
              <a:extLst>
                <a:ext uri="{FF2B5EF4-FFF2-40B4-BE49-F238E27FC236}">
                  <a16:creationId xmlns:a16="http://schemas.microsoft.com/office/drawing/2014/main" id="{D06B8E65-7093-1944-84BF-9D21ECC5F25C}"/>
                </a:ext>
              </a:extLst>
            </p:cNvPr>
            <p:cNvSpPr txBox="1"/>
            <p:nvPr/>
          </p:nvSpPr>
          <p:spPr>
            <a:xfrm>
              <a:off x="4271240" y="1945516"/>
              <a:ext cx="702542" cy="298133"/>
            </a:xfrm>
            <a:prstGeom prst="rect">
              <a:avLst/>
            </a:prstGeom>
            <a:solidFill>
              <a:schemeClr val="accent1"/>
            </a:solidFill>
          </p:spPr>
          <p:txBody>
            <a:bodyPr wrap="square" rtlCol="0">
              <a:spAutoFit/>
            </a:bodyPr>
            <a:lstStyle/>
            <a:p>
              <a:r>
                <a:rPr lang="pt-BR" sz="1231" i="1" dirty="0"/>
                <a:t>nome</a:t>
              </a:r>
            </a:p>
          </p:txBody>
        </p:sp>
        <p:sp>
          <p:nvSpPr>
            <p:cNvPr id="11" name="TextBox 10">
              <a:extLst>
                <a:ext uri="{FF2B5EF4-FFF2-40B4-BE49-F238E27FC236}">
                  <a16:creationId xmlns:a16="http://schemas.microsoft.com/office/drawing/2014/main" id="{2578124C-B330-984A-B817-18B0EB56E62D}"/>
                </a:ext>
              </a:extLst>
            </p:cNvPr>
            <p:cNvSpPr txBox="1"/>
            <p:nvPr/>
          </p:nvSpPr>
          <p:spPr>
            <a:xfrm>
              <a:off x="4509221" y="2231687"/>
              <a:ext cx="1644651" cy="298133"/>
            </a:xfrm>
            <a:prstGeom prst="rect">
              <a:avLst/>
            </a:prstGeom>
            <a:solidFill>
              <a:schemeClr val="accent1"/>
            </a:solidFill>
          </p:spPr>
          <p:txBody>
            <a:bodyPr wrap="square" rtlCol="0">
              <a:spAutoFit/>
            </a:bodyPr>
            <a:lstStyle/>
            <a:p>
              <a:r>
                <a:rPr lang="pt-BR" sz="1231" i="1" dirty="0" err="1"/>
                <a:t>primeiro_nome</a:t>
              </a:r>
              <a:endParaRPr lang="pt-BR" sz="1231" i="1" dirty="0"/>
            </a:p>
          </p:txBody>
        </p:sp>
        <p:sp>
          <p:nvSpPr>
            <p:cNvPr id="12" name="TextBox 11">
              <a:extLst>
                <a:ext uri="{FF2B5EF4-FFF2-40B4-BE49-F238E27FC236}">
                  <a16:creationId xmlns:a16="http://schemas.microsoft.com/office/drawing/2014/main" id="{EAB9593C-3D8C-4042-AD13-89183BD3ED47}"/>
                </a:ext>
              </a:extLst>
            </p:cNvPr>
            <p:cNvSpPr txBox="1"/>
            <p:nvPr/>
          </p:nvSpPr>
          <p:spPr>
            <a:xfrm>
              <a:off x="4509221" y="2497604"/>
              <a:ext cx="1378960" cy="298133"/>
            </a:xfrm>
            <a:prstGeom prst="rect">
              <a:avLst/>
            </a:prstGeom>
            <a:solidFill>
              <a:schemeClr val="accent1"/>
            </a:solidFill>
          </p:spPr>
          <p:txBody>
            <a:bodyPr wrap="square" rtlCol="0">
              <a:spAutoFit/>
            </a:bodyPr>
            <a:lstStyle/>
            <a:p>
              <a:r>
                <a:rPr lang="pt-BR" sz="1231" i="1" dirty="0" err="1"/>
                <a:t>inicial_meio</a:t>
              </a:r>
              <a:endParaRPr lang="pt-BR" sz="1231" i="1" dirty="0"/>
            </a:p>
          </p:txBody>
        </p:sp>
        <p:sp>
          <p:nvSpPr>
            <p:cNvPr id="13" name="TextBox 12">
              <a:extLst>
                <a:ext uri="{FF2B5EF4-FFF2-40B4-BE49-F238E27FC236}">
                  <a16:creationId xmlns:a16="http://schemas.microsoft.com/office/drawing/2014/main" id="{A3089C48-1BFC-8945-8681-A5991AC8C06C}"/>
                </a:ext>
              </a:extLst>
            </p:cNvPr>
            <p:cNvSpPr txBox="1"/>
            <p:nvPr/>
          </p:nvSpPr>
          <p:spPr>
            <a:xfrm>
              <a:off x="4509221" y="2787341"/>
              <a:ext cx="1378960" cy="298133"/>
            </a:xfrm>
            <a:prstGeom prst="rect">
              <a:avLst/>
            </a:prstGeom>
            <a:solidFill>
              <a:schemeClr val="accent1"/>
            </a:solidFill>
          </p:spPr>
          <p:txBody>
            <a:bodyPr wrap="square" rtlCol="0">
              <a:spAutoFit/>
            </a:bodyPr>
            <a:lstStyle/>
            <a:p>
              <a:r>
                <a:rPr lang="pt-BR" sz="1231" i="1" dirty="0" err="1"/>
                <a:t>último_nome</a:t>
              </a:r>
              <a:endParaRPr lang="pt-BR" sz="1231" i="1" dirty="0"/>
            </a:p>
          </p:txBody>
        </p:sp>
        <p:sp>
          <p:nvSpPr>
            <p:cNvPr id="14" name="TextBox 13">
              <a:extLst>
                <a:ext uri="{FF2B5EF4-FFF2-40B4-BE49-F238E27FC236}">
                  <a16:creationId xmlns:a16="http://schemas.microsoft.com/office/drawing/2014/main" id="{7E958322-BB22-8249-A10F-BD222CDA64BC}"/>
                </a:ext>
              </a:extLst>
            </p:cNvPr>
            <p:cNvSpPr txBox="1"/>
            <p:nvPr/>
          </p:nvSpPr>
          <p:spPr>
            <a:xfrm>
              <a:off x="4284302" y="3062173"/>
              <a:ext cx="1378960" cy="298133"/>
            </a:xfrm>
            <a:prstGeom prst="rect">
              <a:avLst/>
            </a:prstGeom>
            <a:solidFill>
              <a:schemeClr val="accent1"/>
            </a:solidFill>
          </p:spPr>
          <p:txBody>
            <a:bodyPr wrap="square" rtlCol="0">
              <a:spAutoFit/>
            </a:bodyPr>
            <a:lstStyle/>
            <a:p>
              <a:r>
                <a:rPr lang="pt-BR" sz="1231" i="1" dirty="0"/>
                <a:t>endereço</a:t>
              </a:r>
            </a:p>
          </p:txBody>
        </p:sp>
        <p:sp>
          <p:nvSpPr>
            <p:cNvPr id="15" name="TextBox 14">
              <a:extLst>
                <a:ext uri="{FF2B5EF4-FFF2-40B4-BE49-F238E27FC236}">
                  <a16:creationId xmlns:a16="http://schemas.microsoft.com/office/drawing/2014/main" id="{62D87ACF-DE9E-5B45-A2A2-8E92294B7DEE}"/>
                </a:ext>
              </a:extLst>
            </p:cNvPr>
            <p:cNvSpPr txBox="1"/>
            <p:nvPr/>
          </p:nvSpPr>
          <p:spPr>
            <a:xfrm>
              <a:off x="4538949" y="3314182"/>
              <a:ext cx="1378959" cy="298133"/>
            </a:xfrm>
            <a:prstGeom prst="rect">
              <a:avLst/>
            </a:prstGeom>
            <a:solidFill>
              <a:schemeClr val="accent1"/>
            </a:solidFill>
          </p:spPr>
          <p:txBody>
            <a:bodyPr wrap="square" rtlCol="0">
              <a:spAutoFit/>
            </a:bodyPr>
            <a:lstStyle/>
            <a:p>
              <a:r>
                <a:rPr lang="pt-BR" sz="1231" i="1" dirty="0"/>
                <a:t>logradouro</a:t>
              </a:r>
            </a:p>
          </p:txBody>
        </p:sp>
        <p:sp>
          <p:nvSpPr>
            <p:cNvPr id="16" name="TextBox 15">
              <a:extLst>
                <a:ext uri="{FF2B5EF4-FFF2-40B4-BE49-F238E27FC236}">
                  <a16:creationId xmlns:a16="http://schemas.microsoft.com/office/drawing/2014/main" id="{7F45BF9C-BE4F-4141-9BC1-6D0C4E234F2C}"/>
                </a:ext>
              </a:extLst>
            </p:cNvPr>
            <p:cNvSpPr txBox="1"/>
            <p:nvPr/>
          </p:nvSpPr>
          <p:spPr>
            <a:xfrm>
              <a:off x="4509221" y="3607655"/>
              <a:ext cx="1836161" cy="298133"/>
            </a:xfrm>
            <a:prstGeom prst="rect">
              <a:avLst/>
            </a:prstGeom>
            <a:solidFill>
              <a:schemeClr val="accent1"/>
            </a:solidFill>
          </p:spPr>
          <p:txBody>
            <a:bodyPr wrap="square" rtlCol="0">
              <a:spAutoFit/>
            </a:bodyPr>
            <a:lstStyle/>
            <a:p>
              <a:r>
                <a:rPr lang="pt-BR" sz="1231" i="1" dirty="0"/>
                <a:t>    rua</a:t>
              </a:r>
            </a:p>
          </p:txBody>
        </p:sp>
        <p:sp>
          <p:nvSpPr>
            <p:cNvPr id="17" name="TextBox 16">
              <a:extLst>
                <a:ext uri="{FF2B5EF4-FFF2-40B4-BE49-F238E27FC236}">
                  <a16:creationId xmlns:a16="http://schemas.microsoft.com/office/drawing/2014/main" id="{B8C429AA-61F2-3342-BEC0-FB0BA00D0921}"/>
                </a:ext>
              </a:extLst>
            </p:cNvPr>
            <p:cNvSpPr txBox="1"/>
            <p:nvPr/>
          </p:nvSpPr>
          <p:spPr>
            <a:xfrm>
              <a:off x="4578496" y="3871221"/>
              <a:ext cx="1836161" cy="298133"/>
            </a:xfrm>
            <a:prstGeom prst="rect">
              <a:avLst/>
            </a:prstGeom>
            <a:solidFill>
              <a:schemeClr val="accent1"/>
            </a:solidFill>
          </p:spPr>
          <p:txBody>
            <a:bodyPr wrap="square" rtlCol="0">
              <a:spAutoFit/>
            </a:bodyPr>
            <a:lstStyle/>
            <a:p>
              <a:r>
                <a:rPr lang="pt-BR" sz="1231" i="1" dirty="0"/>
                <a:t>  número</a:t>
              </a:r>
            </a:p>
          </p:txBody>
        </p:sp>
        <p:sp>
          <p:nvSpPr>
            <p:cNvPr id="18" name="TextBox 17">
              <a:extLst>
                <a:ext uri="{FF2B5EF4-FFF2-40B4-BE49-F238E27FC236}">
                  <a16:creationId xmlns:a16="http://schemas.microsoft.com/office/drawing/2014/main" id="{6B466428-C951-AF46-904C-7DCA480B18B9}"/>
                </a:ext>
              </a:extLst>
            </p:cNvPr>
            <p:cNvSpPr txBox="1"/>
            <p:nvPr/>
          </p:nvSpPr>
          <p:spPr>
            <a:xfrm>
              <a:off x="4509220" y="4148896"/>
              <a:ext cx="1836161" cy="298133"/>
            </a:xfrm>
            <a:prstGeom prst="rect">
              <a:avLst/>
            </a:prstGeom>
            <a:solidFill>
              <a:schemeClr val="accent1"/>
            </a:solidFill>
          </p:spPr>
          <p:txBody>
            <a:bodyPr wrap="square" rtlCol="0">
              <a:spAutoFit/>
            </a:bodyPr>
            <a:lstStyle/>
            <a:p>
              <a:r>
                <a:rPr lang="pt-BR" sz="1231" i="1" dirty="0"/>
                <a:t>   apto</a:t>
              </a:r>
            </a:p>
          </p:txBody>
        </p:sp>
        <p:sp>
          <p:nvSpPr>
            <p:cNvPr id="19" name="TextBox 18">
              <a:extLst>
                <a:ext uri="{FF2B5EF4-FFF2-40B4-BE49-F238E27FC236}">
                  <a16:creationId xmlns:a16="http://schemas.microsoft.com/office/drawing/2014/main" id="{2E9E886B-61DB-B243-A5DB-AAFF2628E8AB}"/>
                </a:ext>
              </a:extLst>
            </p:cNvPr>
            <p:cNvSpPr txBox="1"/>
            <p:nvPr/>
          </p:nvSpPr>
          <p:spPr>
            <a:xfrm>
              <a:off x="4467655" y="4402748"/>
              <a:ext cx="1836161" cy="298133"/>
            </a:xfrm>
            <a:prstGeom prst="rect">
              <a:avLst/>
            </a:prstGeom>
            <a:solidFill>
              <a:schemeClr val="accent1"/>
            </a:solidFill>
          </p:spPr>
          <p:txBody>
            <a:bodyPr wrap="square" rtlCol="0">
              <a:spAutoFit/>
            </a:bodyPr>
            <a:lstStyle/>
            <a:p>
              <a:r>
                <a:rPr lang="pt-BR" sz="1231" i="1" dirty="0"/>
                <a:t>cidade</a:t>
              </a:r>
            </a:p>
          </p:txBody>
        </p:sp>
        <p:sp>
          <p:nvSpPr>
            <p:cNvPr id="20" name="TextBox 19">
              <a:extLst>
                <a:ext uri="{FF2B5EF4-FFF2-40B4-BE49-F238E27FC236}">
                  <a16:creationId xmlns:a16="http://schemas.microsoft.com/office/drawing/2014/main" id="{377BD4AE-9CE8-3746-934D-C98F4E9EFABE}"/>
                </a:ext>
              </a:extLst>
            </p:cNvPr>
            <p:cNvSpPr txBox="1"/>
            <p:nvPr/>
          </p:nvSpPr>
          <p:spPr>
            <a:xfrm>
              <a:off x="4488437" y="4666340"/>
              <a:ext cx="1836161" cy="298133"/>
            </a:xfrm>
            <a:prstGeom prst="rect">
              <a:avLst/>
            </a:prstGeom>
            <a:solidFill>
              <a:schemeClr val="accent1"/>
            </a:solidFill>
          </p:spPr>
          <p:txBody>
            <a:bodyPr wrap="square" rtlCol="0">
              <a:spAutoFit/>
            </a:bodyPr>
            <a:lstStyle/>
            <a:p>
              <a:r>
                <a:rPr lang="pt-BR" sz="1231" i="1" dirty="0"/>
                <a:t>estado</a:t>
              </a:r>
            </a:p>
          </p:txBody>
        </p:sp>
        <p:sp>
          <p:nvSpPr>
            <p:cNvPr id="21" name="TextBox 20">
              <a:extLst>
                <a:ext uri="{FF2B5EF4-FFF2-40B4-BE49-F238E27FC236}">
                  <a16:creationId xmlns:a16="http://schemas.microsoft.com/office/drawing/2014/main" id="{2DD022F9-7E27-AE4E-9385-DF8F9C5950C0}"/>
                </a:ext>
              </a:extLst>
            </p:cNvPr>
            <p:cNvSpPr txBox="1"/>
            <p:nvPr/>
          </p:nvSpPr>
          <p:spPr>
            <a:xfrm>
              <a:off x="4467655" y="4979720"/>
              <a:ext cx="1836161" cy="298133"/>
            </a:xfrm>
            <a:prstGeom prst="rect">
              <a:avLst/>
            </a:prstGeom>
            <a:solidFill>
              <a:schemeClr val="accent1"/>
            </a:solidFill>
          </p:spPr>
          <p:txBody>
            <a:bodyPr wrap="square" rtlCol="0">
              <a:spAutoFit/>
            </a:bodyPr>
            <a:lstStyle/>
            <a:p>
              <a:r>
                <a:rPr lang="pt-BR" sz="1231" i="1" dirty="0" err="1"/>
                <a:t>cep</a:t>
              </a:r>
              <a:endParaRPr lang="pt-BR" sz="1231" i="1" dirty="0"/>
            </a:p>
          </p:txBody>
        </p:sp>
        <p:sp>
          <p:nvSpPr>
            <p:cNvPr id="22" name="TextBox 21">
              <a:extLst>
                <a:ext uri="{FF2B5EF4-FFF2-40B4-BE49-F238E27FC236}">
                  <a16:creationId xmlns:a16="http://schemas.microsoft.com/office/drawing/2014/main" id="{90F82F04-448F-A548-B486-24188C01A7E2}"/>
                </a:ext>
              </a:extLst>
            </p:cNvPr>
            <p:cNvSpPr txBox="1"/>
            <p:nvPr/>
          </p:nvSpPr>
          <p:spPr>
            <a:xfrm>
              <a:off x="4192583" y="5244559"/>
              <a:ext cx="2071690" cy="298133"/>
            </a:xfrm>
            <a:prstGeom prst="rect">
              <a:avLst/>
            </a:prstGeom>
            <a:solidFill>
              <a:schemeClr val="accent1"/>
            </a:solidFill>
          </p:spPr>
          <p:txBody>
            <a:bodyPr wrap="square" rtlCol="0">
              <a:spAutoFit/>
            </a:bodyPr>
            <a:lstStyle/>
            <a:p>
              <a:r>
                <a:rPr lang="pt-BR" sz="1231" i="1" dirty="0"/>
                <a:t>{</a:t>
              </a:r>
              <a:r>
                <a:rPr lang="pt-BR" sz="1231" i="1" dirty="0" err="1"/>
                <a:t>número_telefone</a:t>
              </a:r>
              <a:r>
                <a:rPr lang="pt-BR" sz="1231" i="1" dirty="0"/>
                <a:t>}</a:t>
              </a:r>
            </a:p>
          </p:txBody>
        </p:sp>
        <p:sp>
          <p:nvSpPr>
            <p:cNvPr id="23" name="TextBox 22">
              <a:extLst>
                <a:ext uri="{FF2B5EF4-FFF2-40B4-BE49-F238E27FC236}">
                  <a16:creationId xmlns:a16="http://schemas.microsoft.com/office/drawing/2014/main" id="{281DE716-0749-7943-A876-4E24F12E9811}"/>
                </a:ext>
              </a:extLst>
            </p:cNvPr>
            <p:cNvSpPr txBox="1"/>
            <p:nvPr/>
          </p:nvSpPr>
          <p:spPr>
            <a:xfrm>
              <a:off x="4178730" y="5534816"/>
              <a:ext cx="2235927" cy="298133"/>
            </a:xfrm>
            <a:prstGeom prst="rect">
              <a:avLst/>
            </a:prstGeom>
            <a:solidFill>
              <a:schemeClr val="accent1"/>
            </a:solidFill>
          </p:spPr>
          <p:txBody>
            <a:bodyPr wrap="square" rtlCol="0">
              <a:spAutoFit/>
            </a:bodyPr>
            <a:lstStyle/>
            <a:p>
              <a:r>
                <a:rPr lang="pt-BR" sz="1231" i="1" dirty="0" err="1"/>
                <a:t>data_de_nascimento</a:t>
              </a:r>
              <a:endParaRPr lang="pt-BR" sz="1231" i="1" dirty="0"/>
            </a:p>
          </p:txBody>
        </p:sp>
        <p:sp>
          <p:nvSpPr>
            <p:cNvPr id="24" name="TextBox 23">
              <a:extLst>
                <a:ext uri="{FF2B5EF4-FFF2-40B4-BE49-F238E27FC236}">
                  <a16:creationId xmlns:a16="http://schemas.microsoft.com/office/drawing/2014/main" id="{3231B4BA-86D7-6D40-9DC2-66FEDCBAB055}"/>
                </a:ext>
              </a:extLst>
            </p:cNvPr>
            <p:cNvSpPr txBox="1"/>
            <p:nvPr/>
          </p:nvSpPr>
          <p:spPr>
            <a:xfrm>
              <a:off x="4192583" y="5812826"/>
              <a:ext cx="947451" cy="298133"/>
            </a:xfrm>
            <a:prstGeom prst="rect">
              <a:avLst/>
            </a:prstGeom>
            <a:solidFill>
              <a:schemeClr val="accent1"/>
            </a:solidFill>
          </p:spPr>
          <p:txBody>
            <a:bodyPr wrap="square" rtlCol="0">
              <a:spAutoFit/>
            </a:bodyPr>
            <a:lstStyle/>
            <a:p>
              <a:r>
                <a:rPr lang="pt-BR" sz="1231" i="1" dirty="0"/>
                <a:t>idade()</a:t>
              </a:r>
            </a:p>
          </p:txBody>
        </p:sp>
      </p:grpSp>
      <p:grpSp>
        <p:nvGrpSpPr>
          <p:cNvPr id="45" name="Group 44">
            <a:extLst>
              <a:ext uri="{FF2B5EF4-FFF2-40B4-BE49-F238E27FC236}">
                <a16:creationId xmlns:a16="http://schemas.microsoft.com/office/drawing/2014/main" id="{6E600A83-2664-FB47-B6CE-2C34F1F65A2C}"/>
              </a:ext>
            </a:extLst>
          </p:cNvPr>
          <p:cNvGrpSpPr/>
          <p:nvPr/>
        </p:nvGrpSpPr>
        <p:grpSpPr>
          <a:xfrm>
            <a:off x="7874361" y="1285367"/>
            <a:ext cx="2257030" cy="4764536"/>
            <a:chOff x="7977809" y="1160668"/>
            <a:chExt cx="2388325" cy="5041696"/>
          </a:xfrm>
        </p:grpSpPr>
        <p:grpSp>
          <p:nvGrpSpPr>
            <p:cNvPr id="25" name="Group 24">
              <a:extLst>
                <a:ext uri="{FF2B5EF4-FFF2-40B4-BE49-F238E27FC236}">
                  <a16:creationId xmlns:a16="http://schemas.microsoft.com/office/drawing/2014/main" id="{A49131A3-766E-3B4E-8434-2930493A9D12}"/>
                </a:ext>
              </a:extLst>
            </p:cNvPr>
            <p:cNvGrpSpPr/>
            <p:nvPr/>
          </p:nvGrpSpPr>
          <p:grpSpPr>
            <a:xfrm>
              <a:off x="7977809" y="1160668"/>
              <a:ext cx="2388325" cy="5041696"/>
              <a:chOff x="4091132" y="1093787"/>
              <a:chExt cx="2388325" cy="5041696"/>
            </a:xfrm>
          </p:grpSpPr>
          <p:pic>
            <p:nvPicPr>
              <p:cNvPr id="26" name="Picture 5">
                <a:extLst>
                  <a:ext uri="{FF2B5EF4-FFF2-40B4-BE49-F238E27FC236}">
                    <a16:creationId xmlns:a16="http://schemas.microsoft.com/office/drawing/2014/main" id="{1017965C-B0B7-254B-BB9D-8DBA9F37AA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91132" y="1093787"/>
                <a:ext cx="2378940" cy="5041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 name="TextBox 26">
                <a:extLst>
                  <a:ext uri="{FF2B5EF4-FFF2-40B4-BE49-F238E27FC236}">
                    <a16:creationId xmlns:a16="http://schemas.microsoft.com/office/drawing/2014/main" id="{F2645B65-EB87-8C46-8C8C-67DE1BA21E3F}"/>
                  </a:ext>
                </a:extLst>
              </p:cNvPr>
              <p:cNvSpPr txBox="1"/>
              <p:nvPr/>
            </p:nvSpPr>
            <p:spPr>
              <a:xfrm>
                <a:off x="4639690" y="1147525"/>
                <a:ext cx="1341053" cy="404794"/>
              </a:xfrm>
              <a:prstGeom prst="rect">
                <a:avLst/>
              </a:prstGeom>
              <a:solidFill>
                <a:srgbClr val="C6E7F1"/>
              </a:solidFill>
            </p:spPr>
            <p:txBody>
              <a:bodyPr wrap="square" rtlCol="0">
                <a:spAutoFit/>
              </a:bodyPr>
              <a:lstStyle/>
              <a:p>
                <a:r>
                  <a:rPr lang="pt-BR" sz="1886" i="1" dirty="0"/>
                  <a:t>professor</a:t>
                </a:r>
              </a:p>
            </p:txBody>
          </p:sp>
          <p:sp>
            <p:nvSpPr>
              <p:cNvPr id="28" name="TextBox 27">
                <a:extLst>
                  <a:ext uri="{FF2B5EF4-FFF2-40B4-BE49-F238E27FC236}">
                    <a16:creationId xmlns:a16="http://schemas.microsoft.com/office/drawing/2014/main" id="{C4C11B9E-AAE6-764D-A2A0-8199B0E0A95C}"/>
                  </a:ext>
                </a:extLst>
              </p:cNvPr>
              <p:cNvSpPr txBox="1"/>
              <p:nvPr/>
            </p:nvSpPr>
            <p:spPr>
              <a:xfrm>
                <a:off x="4271240" y="1683165"/>
                <a:ext cx="475962" cy="298133"/>
              </a:xfrm>
              <a:prstGeom prst="rect">
                <a:avLst/>
              </a:prstGeom>
              <a:solidFill>
                <a:schemeClr val="accent1"/>
              </a:solidFill>
            </p:spPr>
            <p:txBody>
              <a:bodyPr wrap="square" rtlCol="0">
                <a:spAutoFit/>
              </a:bodyPr>
              <a:lstStyle/>
              <a:p>
                <a:r>
                  <a:rPr lang="pt-BR" sz="1231" i="1" u="sng" dirty="0"/>
                  <a:t>ID</a:t>
                </a:r>
              </a:p>
            </p:txBody>
          </p:sp>
          <p:sp>
            <p:nvSpPr>
              <p:cNvPr id="30" name="TextBox 29">
                <a:extLst>
                  <a:ext uri="{FF2B5EF4-FFF2-40B4-BE49-F238E27FC236}">
                    <a16:creationId xmlns:a16="http://schemas.microsoft.com/office/drawing/2014/main" id="{BD32595C-0907-1E45-9DAE-5AB7C40E4BA9}"/>
                  </a:ext>
                </a:extLst>
              </p:cNvPr>
              <p:cNvSpPr txBox="1"/>
              <p:nvPr/>
            </p:nvSpPr>
            <p:spPr>
              <a:xfrm>
                <a:off x="4243530" y="1967901"/>
                <a:ext cx="1644650" cy="298133"/>
              </a:xfrm>
              <a:prstGeom prst="rect">
                <a:avLst/>
              </a:prstGeom>
              <a:solidFill>
                <a:schemeClr val="accent1"/>
              </a:solidFill>
            </p:spPr>
            <p:txBody>
              <a:bodyPr wrap="square" rtlCol="0">
                <a:spAutoFit/>
              </a:bodyPr>
              <a:lstStyle/>
              <a:p>
                <a:r>
                  <a:rPr lang="pt-BR" sz="1231" i="1" dirty="0" err="1"/>
                  <a:t>primeiro_nome</a:t>
                </a:r>
                <a:endParaRPr lang="pt-BR" sz="1231" i="1" dirty="0"/>
              </a:p>
            </p:txBody>
          </p:sp>
          <p:sp>
            <p:nvSpPr>
              <p:cNvPr id="31" name="TextBox 30">
                <a:extLst>
                  <a:ext uri="{FF2B5EF4-FFF2-40B4-BE49-F238E27FC236}">
                    <a16:creationId xmlns:a16="http://schemas.microsoft.com/office/drawing/2014/main" id="{F6D2535E-8FD8-B742-9AFF-B60262C7865D}"/>
                  </a:ext>
                </a:extLst>
              </p:cNvPr>
              <p:cNvSpPr txBox="1"/>
              <p:nvPr/>
            </p:nvSpPr>
            <p:spPr>
              <a:xfrm>
                <a:off x="4243530" y="2260153"/>
                <a:ext cx="1378961" cy="298133"/>
              </a:xfrm>
              <a:prstGeom prst="rect">
                <a:avLst/>
              </a:prstGeom>
              <a:solidFill>
                <a:schemeClr val="accent1"/>
              </a:solidFill>
            </p:spPr>
            <p:txBody>
              <a:bodyPr wrap="square" rtlCol="0">
                <a:spAutoFit/>
              </a:bodyPr>
              <a:lstStyle/>
              <a:p>
                <a:r>
                  <a:rPr lang="pt-BR" sz="1231" i="1" dirty="0" err="1"/>
                  <a:t>inicial_meio</a:t>
                </a:r>
                <a:endParaRPr lang="pt-BR" sz="1231" i="1" dirty="0"/>
              </a:p>
            </p:txBody>
          </p:sp>
          <p:sp>
            <p:nvSpPr>
              <p:cNvPr id="32" name="TextBox 31">
                <a:extLst>
                  <a:ext uri="{FF2B5EF4-FFF2-40B4-BE49-F238E27FC236}">
                    <a16:creationId xmlns:a16="http://schemas.microsoft.com/office/drawing/2014/main" id="{84502FDD-C668-2C42-A0C6-D43B99FBBD4E}"/>
                  </a:ext>
                </a:extLst>
              </p:cNvPr>
              <p:cNvSpPr txBox="1"/>
              <p:nvPr/>
            </p:nvSpPr>
            <p:spPr>
              <a:xfrm>
                <a:off x="4244545" y="2521612"/>
                <a:ext cx="1644650" cy="298133"/>
              </a:xfrm>
              <a:prstGeom prst="rect">
                <a:avLst/>
              </a:prstGeom>
              <a:solidFill>
                <a:schemeClr val="accent1"/>
              </a:solidFill>
            </p:spPr>
            <p:txBody>
              <a:bodyPr wrap="square" rtlCol="0">
                <a:spAutoFit/>
              </a:bodyPr>
              <a:lstStyle/>
              <a:p>
                <a:r>
                  <a:rPr lang="pt-BR" sz="1231" i="1" dirty="0" err="1"/>
                  <a:t>último_nome</a:t>
                </a:r>
                <a:endParaRPr lang="pt-BR" sz="1231" i="1" dirty="0"/>
              </a:p>
            </p:txBody>
          </p:sp>
          <p:sp>
            <p:nvSpPr>
              <p:cNvPr id="33" name="TextBox 32">
                <a:extLst>
                  <a:ext uri="{FF2B5EF4-FFF2-40B4-BE49-F238E27FC236}">
                    <a16:creationId xmlns:a16="http://schemas.microsoft.com/office/drawing/2014/main" id="{B6FF3FAE-D5D9-3741-9A0E-60D1B434B30E}"/>
                  </a:ext>
                </a:extLst>
              </p:cNvPr>
              <p:cNvSpPr txBox="1"/>
              <p:nvPr/>
            </p:nvSpPr>
            <p:spPr>
              <a:xfrm>
                <a:off x="4257798" y="3062173"/>
                <a:ext cx="1378961" cy="298133"/>
              </a:xfrm>
              <a:prstGeom prst="rect">
                <a:avLst/>
              </a:prstGeom>
              <a:solidFill>
                <a:schemeClr val="accent1"/>
              </a:solidFill>
            </p:spPr>
            <p:txBody>
              <a:bodyPr wrap="square" rtlCol="0">
                <a:spAutoFit/>
              </a:bodyPr>
              <a:lstStyle/>
              <a:p>
                <a:r>
                  <a:rPr lang="pt-BR" sz="1231" i="1" dirty="0"/>
                  <a:t>número</a:t>
                </a:r>
              </a:p>
            </p:txBody>
          </p:sp>
          <p:sp>
            <p:nvSpPr>
              <p:cNvPr id="35" name="TextBox 34">
                <a:extLst>
                  <a:ext uri="{FF2B5EF4-FFF2-40B4-BE49-F238E27FC236}">
                    <a16:creationId xmlns:a16="http://schemas.microsoft.com/office/drawing/2014/main" id="{AF09BADD-D3DD-8D40-BC06-41D8124D2A57}"/>
                  </a:ext>
                </a:extLst>
              </p:cNvPr>
              <p:cNvSpPr txBox="1"/>
              <p:nvPr/>
            </p:nvSpPr>
            <p:spPr>
              <a:xfrm>
                <a:off x="4252094" y="2811659"/>
                <a:ext cx="1836160" cy="298133"/>
              </a:xfrm>
              <a:prstGeom prst="rect">
                <a:avLst/>
              </a:prstGeom>
              <a:solidFill>
                <a:schemeClr val="accent1"/>
              </a:solidFill>
            </p:spPr>
            <p:txBody>
              <a:bodyPr wrap="square" rtlCol="0">
                <a:spAutoFit/>
              </a:bodyPr>
              <a:lstStyle/>
              <a:p>
                <a:r>
                  <a:rPr lang="pt-BR" sz="1231" i="1" dirty="0" err="1"/>
                  <a:t>nome_rua</a:t>
                </a:r>
                <a:endParaRPr lang="pt-BR" sz="1231" i="1" dirty="0"/>
              </a:p>
            </p:txBody>
          </p:sp>
          <p:sp>
            <p:nvSpPr>
              <p:cNvPr id="36" name="TextBox 35">
                <a:extLst>
                  <a:ext uri="{FF2B5EF4-FFF2-40B4-BE49-F238E27FC236}">
                    <a16:creationId xmlns:a16="http://schemas.microsoft.com/office/drawing/2014/main" id="{110C669A-5070-E147-BA45-F0E14815050D}"/>
                  </a:ext>
                </a:extLst>
              </p:cNvPr>
              <p:cNvSpPr txBox="1"/>
              <p:nvPr/>
            </p:nvSpPr>
            <p:spPr>
              <a:xfrm>
                <a:off x="4217026" y="3367117"/>
                <a:ext cx="1836160" cy="298133"/>
              </a:xfrm>
              <a:prstGeom prst="rect">
                <a:avLst/>
              </a:prstGeom>
              <a:solidFill>
                <a:schemeClr val="accent1"/>
              </a:solidFill>
            </p:spPr>
            <p:txBody>
              <a:bodyPr wrap="square" rtlCol="0">
                <a:spAutoFit/>
              </a:bodyPr>
              <a:lstStyle/>
              <a:p>
                <a:r>
                  <a:rPr lang="pt-BR" sz="1231" i="1" dirty="0"/>
                  <a:t> </a:t>
                </a:r>
                <a:r>
                  <a:rPr lang="pt-BR" sz="1231" i="1" dirty="0" err="1"/>
                  <a:t>número_apt</a:t>
                </a:r>
                <a:endParaRPr lang="pt-BR" sz="1231" i="1" dirty="0"/>
              </a:p>
            </p:txBody>
          </p:sp>
          <p:sp>
            <p:nvSpPr>
              <p:cNvPr id="38" name="TextBox 37">
                <a:extLst>
                  <a:ext uri="{FF2B5EF4-FFF2-40B4-BE49-F238E27FC236}">
                    <a16:creationId xmlns:a16="http://schemas.microsoft.com/office/drawing/2014/main" id="{E8C8BD08-21CC-CC47-89B8-5326B82679BB}"/>
                  </a:ext>
                </a:extLst>
              </p:cNvPr>
              <p:cNvSpPr txBox="1"/>
              <p:nvPr/>
            </p:nvSpPr>
            <p:spPr>
              <a:xfrm>
                <a:off x="4271240" y="3646288"/>
                <a:ext cx="2014033" cy="298133"/>
              </a:xfrm>
              <a:prstGeom prst="rect">
                <a:avLst/>
              </a:prstGeom>
              <a:solidFill>
                <a:schemeClr val="accent1"/>
              </a:solidFill>
            </p:spPr>
            <p:txBody>
              <a:bodyPr wrap="square" rtlCol="0">
                <a:spAutoFit/>
              </a:bodyPr>
              <a:lstStyle/>
              <a:p>
                <a:r>
                  <a:rPr lang="pt-BR" sz="1231" i="1" dirty="0"/>
                  <a:t>cidade</a:t>
                </a:r>
              </a:p>
            </p:txBody>
          </p:sp>
          <p:sp>
            <p:nvSpPr>
              <p:cNvPr id="39" name="TextBox 38">
                <a:extLst>
                  <a:ext uri="{FF2B5EF4-FFF2-40B4-BE49-F238E27FC236}">
                    <a16:creationId xmlns:a16="http://schemas.microsoft.com/office/drawing/2014/main" id="{AFBA24B3-6FC2-544A-9FA6-E1EDAEF10969}"/>
                  </a:ext>
                </a:extLst>
              </p:cNvPr>
              <p:cNvSpPr txBox="1"/>
              <p:nvPr/>
            </p:nvSpPr>
            <p:spPr>
              <a:xfrm>
                <a:off x="4270122" y="3923170"/>
                <a:ext cx="1836160" cy="298133"/>
              </a:xfrm>
              <a:prstGeom prst="rect">
                <a:avLst/>
              </a:prstGeom>
              <a:solidFill>
                <a:schemeClr val="accent1"/>
              </a:solidFill>
            </p:spPr>
            <p:txBody>
              <a:bodyPr wrap="square" rtlCol="0">
                <a:spAutoFit/>
              </a:bodyPr>
              <a:lstStyle/>
              <a:p>
                <a:r>
                  <a:rPr lang="pt-BR" sz="1231" i="1" dirty="0"/>
                  <a:t>estado</a:t>
                </a:r>
              </a:p>
            </p:txBody>
          </p:sp>
          <p:sp>
            <p:nvSpPr>
              <p:cNvPr id="40" name="TextBox 39">
                <a:extLst>
                  <a:ext uri="{FF2B5EF4-FFF2-40B4-BE49-F238E27FC236}">
                    <a16:creationId xmlns:a16="http://schemas.microsoft.com/office/drawing/2014/main" id="{68A090FF-1138-4841-8B36-C00D8341FE23}"/>
                  </a:ext>
                </a:extLst>
              </p:cNvPr>
              <p:cNvSpPr txBox="1"/>
              <p:nvPr/>
            </p:nvSpPr>
            <p:spPr>
              <a:xfrm>
                <a:off x="4280513" y="4190463"/>
                <a:ext cx="1836160" cy="298133"/>
              </a:xfrm>
              <a:prstGeom prst="rect">
                <a:avLst/>
              </a:prstGeom>
              <a:solidFill>
                <a:schemeClr val="accent1"/>
              </a:solidFill>
            </p:spPr>
            <p:txBody>
              <a:bodyPr wrap="square" rtlCol="0">
                <a:spAutoFit/>
              </a:bodyPr>
              <a:lstStyle/>
              <a:p>
                <a:r>
                  <a:rPr lang="pt-BR" sz="1231" i="1" dirty="0" err="1"/>
                  <a:t>cep</a:t>
                </a:r>
                <a:endParaRPr lang="pt-BR" sz="1231" i="1" dirty="0"/>
              </a:p>
            </p:txBody>
          </p:sp>
          <p:sp>
            <p:nvSpPr>
              <p:cNvPr id="42" name="TextBox 41">
                <a:extLst>
                  <a:ext uri="{FF2B5EF4-FFF2-40B4-BE49-F238E27FC236}">
                    <a16:creationId xmlns:a16="http://schemas.microsoft.com/office/drawing/2014/main" id="{CBBD3C03-453A-DD42-9E79-2B97A113DF8F}"/>
                  </a:ext>
                </a:extLst>
              </p:cNvPr>
              <p:cNvSpPr txBox="1"/>
              <p:nvPr/>
            </p:nvSpPr>
            <p:spPr>
              <a:xfrm>
                <a:off x="4243530" y="4467617"/>
                <a:ext cx="2235927" cy="298133"/>
              </a:xfrm>
              <a:prstGeom prst="rect">
                <a:avLst/>
              </a:prstGeom>
              <a:solidFill>
                <a:schemeClr val="accent1"/>
              </a:solidFill>
            </p:spPr>
            <p:txBody>
              <a:bodyPr wrap="square" rtlCol="0">
                <a:spAutoFit/>
              </a:bodyPr>
              <a:lstStyle/>
              <a:p>
                <a:r>
                  <a:rPr lang="pt-BR" sz="1231" i="1" dirty="0" err="1"/>
                  <a:t>data_de_nascimento</a:t>
                </a:r>
                <a:endParaRPr lang="pt-BR" sz="1231" i="1" dirty="0"/>
              </a:p>
            </p:txBody>
          </p:sp>
        </p:grpSp>
        <p:cxnSp>
          <p:nvCxnSpPr>
            <p:cNvPr id="4" name="Straight Connector 3">
              <a:extLst>
                <a:ext uri="{FF2B5EF4-FFF2-40B4-BE49-F238E27FC236}">
                  <a16:creationId xmlns:a16="http://schemas.microsoft.com/office/drawing/2014/main" id="{DAC724C8-DACD-1144-ACFD-C19E251E7A1D}"/>
                </a:ext>
              </a:extLst>
            </p:cNvPr>
            <p:cNvCxnSpPr/>
            <p:nvPr/>
          </p:nvCxnSpPr>
          <p:spPr bwMode="auto">
            <a:xfrm>
              <a:off x="10343497" y="4159328"/>
              <a:ext cx="0" cy="828867"/>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5" name="Rectangle 4">
              <a:extLst>
                <a:ext uri="{FF2B5EF4-FFF2-40B4-BE49-F238E27FC236}">
                  <a16:creationId xmlns:a16="http://schemas.microsoft.com/office/drawing/2014/main" id="{A340DBAA-F14E-6C4F-9BDC-A00175C2A4E4}"/>
                </a:ext>
              </a:extLst>
            </p:cNvPr>
            <p:cNvSpPr/>
            <p:nvPr/>
          </p:nvSpPr>
          <p:spPr bwMode="auto">
            <a:xfrm>
              <a:off x="8103703" y="4797419"/>
              <a:ext cx="2068247" cy="1362436"/>
            </a:xfrm>
            <a:prstGeom prst="rect">
              <a:avLst/>
            </a:prstGeom>
            <a:solidFill>
              <a:schemeClr val="accent1"/>
            </a:solidFill>
            <a:ln w="9525" cap="flat" cmpd="sng" algn="ctr">
              <a:solidFill>
                <a:schemeClr val="accent1"/>
              </a:solidFill>
              <a:prstDash val="solid"/>
              <a:round/>
              <a:headEnd type="none" w="med" len="med"/>
              <a:tailEnd type="none" w="med" len="med"/>
            </a:ln>
            <a:effectLst/>
          </p:spPr>
          <p:txBody>
            <a:bodyPr vert="horz" wrap="none" lIns="86414" tIns="43207" rIns="86414" bIns="43207" numCol="1" rtlCol="0" anchor="t" anchorCtr="0" compatLnSpc="1">
              <a:prstTxWarp prst="textNoShape">
                <a:avLst/>
              </a:prstTxWarp>
            </a:bodyPr>
            <a:lstStyle/>
            <a:p>
              <a:pPr defTabSz="864223"/>
              <a:endParaRPr lang="pt-BR" sz="1512">
                <a:latin typeface="Helvetica" charset="0"/>
              </a:endParaRPr>
            </a:p>
          </p:txBody>
        </p:sp>
      </p:grpSp>
      <p:cxnSp>
        <p:nvCxnSpPr>
          <p:cNvPr id="47" name="Straight Arrow Connector 46">
            <a:extLst>
              <a:ext uri="{FF2B5EF4-FFF2-40B4-BE49-F238E27FC236}">
                <a16:creationId xmlns:a16="http://schemas.microsoft.com/office/drawing/2014/main" id="{E02F0352-C67D-4E4F-A736-3922F9CE334C}"/>
              </a:ext>
            </a:extLst>
          </p:cNvPr>
          <p:cNvCxnSpPr>
            <a:cxnSpLocks/>
          </p:cNvCxnSpPr>
          <p:nvPr/>
        </p:nvCxnSpPr>
        <p:spPr bwMode="auto">
          <a:xfrm>
            <a:off x="4405307" y="3465485"/>
            <a:ext cx="1690693" cy="0"/>
          </a:xfrm>
          <a:prstGeom prst="straightConnector1">
            <a:avLst/>
          </a:prstGeom>
          <a:solidFill>
            <a:schemeClr val="accent1"/>
          </a:solidFill>
          <a:ln w="95250" cap="flat" cmpd="sng" algn="ctr">
            <a:solidFill>
              <a:schemeClr val="tx1"/>
            </a:solidFill>
            <a:prstDash val="solid"/>
            <a:round/>
            <a:headEnd type="none" w="med" len="med"/>
            <a:tailEnd type="triangle"/>
          </a:ln>
          <a:effectLst/>
        </p:spPr>
      </p:cxnSp>
      <p:sp>
        <p:nvSpPr>
          <p:cNvPr id="43" name="Freeform 42">
            <a:extLst>
              <a:ext uri="{FF2B5EF4-FFF2-40B4-BE49-F238E27FC236}">
                <a16:creationId xmlns:a16="http://schemas.microsoft.com/office/drawing/2014/main" id="{1A62510E-CD11-D744-8027-EB7E70A88EB2}"/>
              </a:ext>
            </a:extLst>
          </p:cNvPr>
          <p:cNvSpPr/>
          <p:nvPr/>
        </p:nvSpPr>
        <p:spPr>
          <a:xfrm rot="10800000" flipV="1">
            <a:off x="6121047" y="1673102"/>
            <a:ext cx="1347328" cy="216602"/>
          </a:xfrm>
          <a:custGeom>
            <a:avLst/>
            <a:gdLst>
              <a:gd name="connsiteX0" fmla="*/ 0 w 848164"/>
              <a:gd name="connsiteY0" fmla="*/ -89 h 231200"/>
              <a:gd name="connsiteX1" fmla="*/ 848165 w 848164"/>
              <a:gd name="connsiteY1" fmla="*/ -89 h 231200"/>
              <a:gd name="connsiteX2" fmla="*/ 848165 w 848164"/>
              <a:gd name="connsiteY2" fmla="*/ 231111 h 231200"/>
              <a:gd name="connsiteX3" fmla="*/ 0 w 848164"/>
              <a:gd name="connsiteY3" fmla="*/ 231111 h 231200"/>
            </a:gdLst>
            <a:ahLst/>
            <a:cxnLst>
              <a:cxn ang="0">
                <a:pos x="connsiteX0" y="connsiteY0"/>
              </a:cxn>
              <a:cxn ang="0">
                <a:pos x="connsiteX1" y="connsiteY1"/>
              </a:cxn>
              <a:cxn ang="0">
                <a:pos x="connsiteX2" y="connsiteY2"/>
              </a:cxn>
              <a:cxn ang="0">
                <a:pos x="connsiteX3" y="connsiteY3"/>
              </a:cxn>
            </a:cxnLst>
            <a:rect l="l" t="t" r="r" b="b"/>
            <a:pathLst>
              <a:path w="848164" h="231200">
                <a:moveTo>
                  <a:pt x="0" y="-89"/>
                </a:moveTo>
                <a:lnTo>
                  <a:pt x="848165" y="-89"/>
                </a:lnTo>
                <a:lnTo>
                  <a:pt x="848165" y="231111"/>
                </a:lnTo>
                <a:lnTo>
                  <a:pt x="0" y="231111"/>
                </a:lnTo>
                <a:close/>
              </a:path>
            </a:pathLst>
          </a:custGeom>
          <a:solidFill>
            <a:srgbClr val="CCEEFB"/>
          </a:solidFill>
          <a:ln w="12055" cap="rnd">
            <a:solidFill>
              <a:srgbClr val="231F20"/>
            </a:solidFill>
            <a:prstDash val="solid"/>
            <a:miter/>
          </a:ln>
        </p:spPr>
        <p:txBody>
          <a:bodyPr rtlCol="0" anchor="ctr"/>
          <a:lstStyle/>
          <a:p>
            <a:pPr algn="ctr"/>
            <a:r>
              <a:rPr lang="pt-BR" sz="1800" i="1" dirty="0" err="1">
                <a:latin typeface="Calibri Light" panose="020F0302020204030204" pitchFamily="34" charset="0"/>
                <a:cs typeface="Calibri Light" panose="020F0302020204030204" pitchFamily="34" charset="0"/>
              </a:rPr>
              <a:t>prof_fone</a:t>
            </a:r>
            <a:endParaRPr lang="pt-BR" sz="1800" i="1" dirty="0">
              <a:latin typeface="Calibri Light" panose="020F0302020204030204" pitchFamily="34" charset="0"/>
              <a:cs typeface="Calibri Light" panose="020F0302020204030204" pitchFamily="34" charset="0"/>
            </a:endParaRPr>
          </a:p>
        </p:txBody>
      </p:sp>
      <p:sp>
        <p:nvSpPr>
          <p:cNvPr id="44" name="TextBox 43">
            <a:extLst>
              <a:ext uri="{FF2B5EF4-FFF2-40B4-BE49-F238E27FC236}">
                <a16:creationId xmlns:a16="http://schemas.microsoft.com/office/drawing/2014/main" id="{3A2B512F-62A4-8741-870C-B38A27A989C1}"/>
              </a:ext>
            </a:extLst>
          </p:cNvPr>
          <p:cNvSpPr txBox="1"/>
          <p:nvPr/>
        </p:nvSpPr>
        <p:spPr>
          <a:xfrm>
            <a:off x="6125402" y="1882678"/>
            <a:ext cx="1347328" cy="471155"/>
          </a:xfrm>
          <a:prstGeom prst="rect">
            <a:avLst/>
          </a:prstGeom>
          <a:noFill/>
          <a:ln w="12700">
            <a:solidFill>
              <a:schemeClr val="tx1"/>
            </a:solidFill>
          </a:ln>
        </p:spPr>
        <p:txBody>
          <a:bodyPr wrap="square" rtlCol="0">
            <a:spAutoFit/>
          </a:bodyPr>
          <a:lstStyle/>
          <a:p>
            <a:r>
              <a:rPr lang="pt-BR" sz="1231" u="sng" dirty="0" err="1">
                <a:latin typeface="Calibri Light" panose="020F0302020204030204" pitchFamily="34" charset="0"/>
                <a:cs typeface="Calibri Light" panose="020F0302020204030204" pitchFamily="34" charset="0"/>
              </a:rPr>
              <a:t>id_professor</a:t>
            </a:r>
            <a:endParaRPr lang="pt-BR" sz="1231" u="sng" dirty="0">
              <a:latin typeface="Calibri Light" panose="020F0302020204030204" pitchFamily="34" charset="0"/>
              <a:cs typeface="Calibri Light" panose="020F0302020204030204" pitchFamily="34" charset="0"/>
            </a:endParaRPr>
          </a:p>
          <a:p>
            <a:r>
              <a:rPr lang="pt-BR" sz="1231" u="sng" dirty="0" err="1">
                <a:latin typeface="Calibri Light" panose="020F0302020204030204" pitchFamily="34" charset="0"/>
                <a:cs typeface="Calibri Light" panose="020F0302020204030204" pitchFamily="34" charset="0"/>
              </a:rPr>
              <a:t>numero_telefone</a:t>
            </a:r>
            <a:endParaRPr lang="pt-BR" sz="1231" u="sng" dirty="0">
              <a:latin typeface="Calibri Light" panose="020F0302020204030204" pitchFamily="34" charset="0"/>
              <a:cs typeface="Calibri Light" panose="020F0302020204030204" pitchFamily="34" charset="0"/>
            </a:endParaRPr>
          </a:p>
        </p:txBody>
      </p:sp>
      <p:cxnSp>
        <p:nvCxnSpPr>
          <p:cNvPr id="34" name="Straight Arrow Connector 33">
            <a:extLst>
              <a:ext uri="{FF2B5EF4-FFF2-40B4-BE49-F238E27FC236}">
                <a16:creationId xmlns:a16="http://schemas.microsoft.com/office/drawing/2014/main" id="{AE2CF45E-6902-CB4D-AAE8-2117F404CDFC}"/>
              </a:ext>
            </a:extLst>
          </p:cNvPr>
          <p:cNvCxnSpPr>
            <a:cxnSpLocks/>
          </p:cNvCxnSpPr>
          <p:nvPr/>
        </p:nvCxnSpPr>
        <p:spPr bwMode="auto">
          <a:xfrm>
            <a:off x="7468477" y="1992437"/>
            <a:ext cx="405883" cy="1"/>
          </a:xfrm>
          <a:prstGeom prst="straightConnector1">
            <a:avLst/>
          </a:prstGeom>
          <a:solidFill>
            <a:schemeClr val="accent1"/>
          </a:solidFill>
          <a:ln w="28575" cap="flat" cmpd="sng" algn="ctr">
            <a:solidFill>
              <a:schemeClr val="tx1"/>
            </a:solidFill>
            <a:prstDash val="solid"/>
            <a:round/>
            <a:headEnd type="none" w="med" len="med"/>
            <a:tailEnd type="triangle"/>
          </a:ln>
          <a:effectLst/>
        </p:spPr>
      </p:cxnSp>
      <p:sp>
        <p:nvSpPr>
          <p:cNvPr id="29" name="TextBox 28">
            <a:extLst>
              <a:ext uri="{FF2B5EF4-FFF2-40B4-BE49-F238E27FC236}">
                <a16:creationId xmlns:a16="http://schemas.microsoft.com/office/drawing/2014/main" id="{20C8858D-8DF1-AF41-88DA-6964044161CC}"/>
              </a:ext>
            </a:extLst>
          </p:cNvPr>
          <p:cNvSpPr txBox="1"/>
          <p:nvPr/>
        </p:nvSpPr>
        <p:spPr>
          <a:xfrm>
            <a:off x="4425906" y="3650867"/>
            <a:ext cx="1600819" cy="369332"/>
          </a:xfrm>
          <a:prstGeom prst="rect">
            <a:avLst/>
          </a:prstGeom>
          <a:noFill/>
        </p:spPr>
        <p:txBody>
          <a:bodyPr wrap="square" rtlCol="0">
            <a:spAutoFit/>
          </a:bodyPr>
          <a:lstStyle/>
          <a:p>
            <a:r>
              <a:rPr lang="pt-BR" sz="1800" dirty="0"/>
              <a:t>Mapeamento</a:t>
            </a:r>
          </a:p>
        </p:txBody>
      </p:sp>
      <p:sp>
        <p:nvSpPr>
          <p:cNvPr id="46" name="TextBox 45">
            <a:extLst>
              <a:ext uri="{FF2B5EF4-FFF2-40B4-BE49-F238E27FC236}">
                <a16:creationId xmlns:a16="http://schemas.microsoft.com/office/drawing/2014/main" id="{DE0A641F-0649-624E-97B4-0429998BA9BC}"/>
              </a:ext>
            </a:extLst>
          </p:cNvPr>
          <p:cNvSpPr txBox="1"/>
          <p:nvPr/>
        </p:nvSpPr>
        <p:spPr>
          <a:xfrm>
            <a:off x="1337386" y="6163860"/>
            <a:ext cx="2505559" cy="369332"/>
          </a:xfrm>
          <a:prstGeom prst="rect">
            <a:avLst/>
          </a:prstGeom>
          <a:noFill/>
        </p:spPr>
        <p:txBody>
          <a:bodyPr wrap="square" rtlCol="0">
            <a:spAutoFit/>
          </a:bodyPr>
          <a:lstStyle/>
          <a:p>
            <a:pPr algn="ctr"/>
            <a:r>
              <a:rPr lang="pt-BR" sz="1800" dirty="0">
                <a:latin typeface="Calibri Light" panose="020F0302020204030204" pitchFamily="34" charset="0"/>
                <a:cs typeface="Calibri Light" panose="020F0302020204030204" pitchFamily="34" charset="0"/>
              </a:rPr>
              <a:t>Conjunto de entidades</a:t>
            </a:r>
          </a:p>
        </p:txBody>
      </p:sp>
      <p:sp>
        <p:nvSpPr>
          <p:cNvPr id="48" name="TextBox 47">
            <a:extLst>
              <a:ext uri="{FF2B5EF4-FFF2-40B4-BE49-F238E27FC236}">
                <a16:creationId xmlns:a16="http://schemas.microsoft.com/office/drawing/2014/main" id="{7CC665B4-2EAE-8046-8093-2BAAD560D76D}"/>
              </a:ext>
            </a:extLst>
          </p:cNvPr>
          <p:cNvSpPr txBox="1"/>
          <p:nvPr/>
        </p:nvSpPr>
        <p:spPr>
          <a:xfrm>
            <a:off x="7874360" y="6160758"/>
            <a:ext cx="2257031" cy="369332"/>
          </a:xfrm>
          <a:prstGeom prst="rect">
            <a:avLst/>
          </a:prstGeom>
          <a:noFill/>
        </p:spPr>
        <p:txBody>
          <a:bodyPr wrap="square" rtlCol="0">
            <a:spAutoFit/>
          </a:bodyPr>
          <a:lstStyle/>
          <a:p>
            <a:pPr algn="ctr"/>
            <a:r>
              <a:rPr lang="pt-BR" sz="1800" dirty="0">
                <a:latin typeface="Calibri Light" panose="020F0302020204030204" pitchFamily="34" charset="0"/>
                <a:cs typeface="Calibri Light" panose="020F0302020204030204" pitchFamily="34" charset="0"/>
              </a:rPr>
              <a:t>Esquema da tabela</a:t>
            </a:r>
          </a:p>
        </p:txBody>
      </p:sp>
      <p:sp>
        <p:nvSpPr>
          <p:cNvPr id="41" name="TextBox 40">
            <a:extLst>
              <a:ext uri="{FF2B5EF4-FFF2-40B4-BE49-F238E27FC236}">
                <a16:creationId xmlns:a16="http://schemas.microsoft.com/office/drawing/2014/main" id="{3E9614BE-0700-6D4A-A93D-3039AC4AB301}"/>
              </a:ext>
            </a:extLst>
          </p:cNvPr>
          <p:cNvSpPr txBox="1"/>
          <p:nvPr/>
        </p:nvSpPr>
        <p:spPr>
          <a:xfrm>
            <a:off x="3966545" y="938906"/>
            <a:ext cx="3150734" cy="379463"/>
          </a:xfrm>
          <a:prstGeom prst="rect">
            <a:avLst/>
          </a:prstGeom>
          <a:noFill/>
        </p:spPr>
        <p:txBody>
          <a:bodyPr wrap="square" rtlCol="0">
            <a:spAutoFit/>
          </a:bodyPr>
          <a:lstStyle/>
          <a:p>
            <a:pPr algn="ctr"/>
            <a:r>
              <a:rPr lang="pt-BR" sz="933" dirty="0"/>
              <a:t>Tabela gerada pelo atributo multivalorado </a:t>
            </a:r>
            <a:r>
              <a:rPr lang="pt-BR" sz="933" i="1" dirty="0" err="1"/>
              <a:t>número_telefone</a:t>
            </a:r>
            <a:endParaRPr lang="pt-BR" sz="933" dirty="0"/>
          </a:p>
        </p:txBody>
      </p:sp>
      <p:cxnSp>
        <p:nvCxnSpPr>
          <p:cNvPr id="50" name="Straight Arrow Connector 49">
            <a:extLst>
              <a:ext uri="{FF2B5EF4-FFF2-40B4-BE49-F238E27FC236}">
                <a16:creationId xmlns:a16="http://schemas.microsoft.com/office/drawing/2014/main" id="{DF925940-7E46-F04E-A540-3BA6B5ACD926}"/>
              </a:ext>
            </a:extLst>
          </p:cNvPr>
          <p:cNvCxnSpPr>
            <a:cxnSpLocks/>
            <a:stCxn id="41" idx="2"/>
          </p:cNvCxnSpPr>
          <p:nvPr/>
        </p:nvCxnSpPr>
        <p:spPr bwMode="auto">
          <a:xfrm>
            <a:off x="5541912" y="1318369"/>
            <a:ext cx="419975" cy="354732"/>
          </a:xfrm>
          <a:prstGeom prst="straightConnector1">
            <a:avLst/>
          </a:prstGeom>
          <a:solidFill>
            <a:schemeClr val="accent1"/>
          </a:solidFill>
          <a:ln w="34925" cap="flat" cmpd="sng" algn="ctr">
            <a:solidFill>
              <a:schemeClr val="tx1"/>
            </a:solidFill>
            <a:prstDash val="solid"/>
            <a:round/>
            <a:headEnd type="none" w="med" len="med"/>
            <a:tailEnd type="triangle"/>
          </a:ln>
          <a:effectLst/>
        </p:spPr>
      </p:cxnSp>
    </p:spTree>
    <p:extLst>
      <p:ext uri="{BB962C8B-B14F-4D97-AF65-F5344CB8AC3E}">
        <p14:creationId xmlns:p14="http://schemas.microsoft.com/office/powerpoint/2010/main" val="1326586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FC76CA3E-8E5B-4E32-8319-D6101395F8ED}"/>
              </a:ext>
            </a:extLst>
          </p:cNvPr>
          <p:cNvCxnSpPr/>
          <p:nvPr/>
        </p:nvCxnSpPr>
        <p:spPr bwMode="auto">
          <a:xfrm>
            <a:off x="1775339" y="188505"/>
            <a:ext cx="864132" cy="0"/>
          </a:xfrm>
          <a:prstGeom prst="line">
            <a:avLst/>
          </a:prstGeom>
          <a:solidFill>
            <a:schemeClr val="accent1"/>
          </a:solidFill>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cxnSp>
      <p:sp>
        <p:nvSpPr>
          <p:cNvPr id="666626" name="Rectangle 2"/>
          <p:cNvSpPr>
            <a:spLocks noGrp="1" noChangeArrowheads="1"/>
          </p:cNvSpPr>
          <p:nvPr>
            <p:ph type="title" idx="4294967295"/>
          </p:nvPr>
        </p:nvSpPr>
        <p:spPr>
          <a:xfrm>
            <a:off x="440267" y="299522"/>
            <a:ext cx="11040558" cy="576088"/>
          </a:xfrm>
        </p:spPr>
        <p:txBody>
          <a:bodyPr/>
          <a:lstStyle/>
          <a:p>
            <a:pPr eaLnBrk="1" hangingPunct="1">
              <a:lnSpc>
                <a:spcPct val="80000"/>
              </a:lnSpc>
              <a:spcBef>
                <a:spcPts val="473"/>
              </a:spcBef>
              <a:tabLst>
                <a:tab pos="315081" algn="l"/>
                <a:tab pos="421609" algn="l"/>
                <a:tab pos="853721" algn="l"/>
                <a:tab pos="1285832" algn="l"/>
                <a:tab pos="1717944" algn="l"/>
                <a:tab pos="2150055" algn="l"/>
                <a:tab pos="2582166" algn="l"/>
                <a:tab pos="3014278" algn="l"/>
                <a:tab pos="3446389" algn="l"/>
                <a:tab pos="3878500" algn="l"/>
                <a:tab pos="4310612" algn="l"/>
                <a:tab pos="4742723" algn="l"/>
                <a:tab pos="5174834" algn="l"/>
                <a:tab pos="5606946" algn="l"/>
                <a:tab pos="6039057" algn="l"/>
                <a:tab pos="6471168" algn="l"/>
                <a:tab pos="6903280" algn="l"/>
                <a:tab pos="7335391" algn="l"/>
                <a:tab pos="7767502" algn="l"/>
                <a:tab pos="8199613" algn="l"/>
                <a:tab pos="8631725" algn="l"/>
              </a:tabLst>
            </a:pPr>
            <a:r>
              <a:rPr lang="pt-BR" altLang="en-BR" sz="3200" dirty="0"/>
              <a:t>Passo 4: Mapeamento de Conjuntos de Relacionamento 1:1</a:t>
            </a:r>
          </a:p>
        </p:txBody>
      </p:sp>
      <p:sp>
        <p:nvSpPr>
          <p:cNvPr id="56323" name="Rectangle 3"/>
          <p:cNvSpPr>
            <a:spLocks noGrp="1" noChangeArrowheads="1"/>
          </p:cNvSpPr>
          <p:nvPr>
            <p:ph type="body" idx="4294967295"/>
          </p:nvPr>
        </p:nvSpPr>
        <p:spPr>
          <a:xfrm>
            <a:off x="440267" y="1140178"/>
            <a:ext cx="11176000" cy="4797778"/>
          </a:xfrm>
        </p:spPr>
        <p:txBody>
          <a:bodyPr/>
          <a:lstStyle/>
          <a:p>
            <a:pPr marL="351090" indent="-297077" eaLnBrk="1" hangingPunct="1">
              <a:lnSpc>
                <a:spcPct val="80000"/>
              </a:lnSpc>
              <a:spcBef>
                <a:spcPts val="425"/>
              </a:spcBef>
              <a:buClr>
                <a:srgbClr val="333399"/>
              </a:buClr>
              <a:buSzPct val="55000"/>
              <a:buFont typeface="Wingdings" pitchFamily="2" charset="2"/>
              <a:buChar char=""/>
              <a:tabLst>
                <a:tab pos="315081" algn="l"/>
                <a:tab pos="421609" algn="l"/>
                <a:tab pos="853721" algn="l"/>
                <a:tab pos="1285832" algn="l"/>
                <a:tab pos="1717944" algn="l"/>
                <a:tab pos="2150055" algn="l"/>
                <a:tab pos="2582166" algn="l"/>
                <a:tab pos="3014278" algn="l"/>
                <a:tab pos="3446389" algn="l"/>
                <a:tab pos="3878500" algn="l"/>
                <a:tab pos="4310612" algn="l"/>
                <a:tab pos="4742723" algn="l"/>
                <a:tab pos="5174834" algn="l"/>
                <a:tab pos="5606946" algn="l"/>
                <a:tab pos="6039057" algn="l"/>
                <a:tab pos="6471168" algn="l"/>
                <a:tab pos="6903280" algn="l"/>
                <a:tab pos="7335391" algn="l"/>
                <a:tab pos="7767502" algn="l"/>
                <a:tab pos="8199613" algn="l"/>
                <a:tab pos="8631725" algn="l"/>
              </a:tabLst>
            </a:pPr>
            <a:r>
              <a:rPr lang="pt-BR" altLang="en-BR" sz="2000" dirty="0"/>
              <a:t>Para cada conjunto de relacionamentos binário </a:t>
            </a:r>
            <a:r>
              <a:rPr lang="pt-BR" altLang="en-BR" sz="2000" i="1" dirty="0" err="1"/>
              <a:t>R</a:t>
            </a:r>
            <a:r>
              <a:rPr lang="pt-BR" altLang="en-BR" sz="2000" dirty="0"/>
              <a:t> 1:1, identifique os conjuntos de entidades participantes </a:t>
            </a:r>
            <a:r>
              <a:rPr lang="pt-BR" altLang="en-BR" sz="2000" i="1" dirty="0" err="1"/>
              <a:t>S</a:t>
            </a:r>
            <a:r>
              <a:rPr lang="pt-BR" altLang="en-BR" sz="2000" dirty="0"/>
              <a:t> e </a:t>
            </a:r>
            <a:r>
              <a:rPr lang="pt-BR" altLang="en-BR" sz="2000" i="1" dirty="0"/>
              <a:t>T</a:t>
            </a:r>
            <a:r>
              <a:rPr lang="pt-BR" altLang="en-BR" sz="2000" dirty="0"/>
              <a:t>. </a:t>
            </a:r>
          </a:p>
          <a:p>
            <a:pPr marL="351090" indent="-297077" eaLnBrk="1" hangingPunct="1">
              <a:lnSpc>
                <a:spcPct val="80000"/>
              </a:lnSpc>
              <a:spcBef>
                <a:spcPts val="425"/>
              </a:spcBef>
              <a:buClr>
                <a:srgbClr val="333399"/>
              </a:buClr>
              <a:buSzPct val="55000"/>
              <a:buFont typeface="Wingdings" pitchFamily="2" charset="2"/>
              <a:buChar char=""/>
              <a:tabLst>
                <a:tab pos="315081" algn="l"/>
                <a:tab pos="421609" algn="l"/>
                <a:tab pos="853721" algn="l"/>
                <a:tab pos="1285832" algn="l"/>
                <a:tab pos="1717944" algn="l"/>
                <a:tab pos="2150055" algn="l"/>
                <a:tab pos="2582166" algn="l"/>
                <a:tab pos="3014278" algn="l"/>
                <a:tab pos="3446389" algn="l"/>
                <a:tab pos="3878500" algn="l"/>
                <a:tab pos="4310612" algn="l"/>
                <a:tab pos="4742723" algn="l"/>
                <a:tab pos="5174834" algn="l"/>
                <a:tab pos="5606946" algn="l"/>
                <a:tab pos="6039057" algn="l"/>
                <a:tab pos="6471168" algn="l"/>
                <a:tab pos="6903280" algn="l"/>
                <a:tab pos="7335391" algn="l"/>
                <a:tab pos="7767502" algn="l"/>
                <a:tab pos="8199613" algn="l"/>
                <a:tab pos="8631725" algn="l"/>
              </a:tabLst>
            </a:pPr>
            <a:endParaRPr lang="pt-BR" altLang="en-BR" sz="2000" dirty="0"/>
          </a:p>
          <a:p>
            <a:pPr marL="351090" indent="-297077" eaLnBrk="1" hangingPunct="1">
              <a:lnSpc>
                <a:spcPct val="80000"/>
              </a:lnSpc>
              <a:spcBef>
                <a:spcPts val="425"/>
              </a:spcBef>
              <a:buClr>
                <a:srgbClr val="333399"/>
              </a:buClr>
              <a:buSzPct val="55000"/>
              <a:buFont typeface="Wingdings" pitchFamily="2" charset="2"/>
              <a:buChar char=""/>
              <a:tabLst>
                <a:tab pos="315081" algn="l"/>
                <a:tab pos="421609" algn="l"/>
                <a:tab pos="853721" algn="l"/>
                <a:tab pos="1285832" algn="l"/>
                <a:tab pos="1717944" algn="l"/>
                <a:tab pos="2150055" algn="l"/>
                <a:tab pos="2582166" algn="l"/>
                <a:tab pos="3014278" algn="l"/>
                <a:tab pos="3446389" algn="l"/>
                <a:tab pos="3878500" algn="l"/>
                <a:tab pos="4310612" algn="l"/>
                <a:tab pos="4742723" algn="l"/>
                <a:tab pos="5174834" algn="l"/>
                <a:tab pos="5606946" algn="l"/>
                <a:tab pos="6039057" algn="l"/>
                <a:tab pos="6471168" algn="l"/>
                <a:tab pos="6903280" algn="l"/>
                <a:tab pos="7335391" algn="l"/>
                <a:tab pos="7767502" algn="l"/>
                <a:tab pos="8199613" algn="l"/>
                <a:tab pos="8631725" algn="l"/>
              </a:tabLst>
            </a:pPr>
            <a:r>
              <a:rPr lang="pt-BR" altLang="en-BR" sz="2000" dirty="0"/>
              <a:t>Primeiramente, crie uma tabela correspondente a </a:t>
            </a:r>
            <a:r>
              <a:rPr lang="pt-BR" altLang="en-BR" sz="2000" i="1" dirty="0" err="1"/>
              <a:t>R</a:t>
            </a:r>
            <a:r>
              <a:rPr lang="pt-BR" altLang="en-BR" sz="2000" dirty="0"/>
              <a:t> formada com os atributos das chaves primárias de </a:t>
            </a:r>
            <a:r>
              <a:rPr lang="pt-BR" altLang="en-BR" sz="2000" i="1" dirty="0" err="1"/>
              <a:t>S</a:t>
            </a:r>
            <a:r>
              <a:rPr lang="pt-BR" altLang="en-BR" sz="2000" dirty="0"/>
              <a:t> e </a:t>
            </a:r>
            <a:r>
              <a:rPr lang="pt-BR" altLang="en-BR" sz="2000" i="1" dirty="0" err="1"/>
              <a:t>T</a:t>
            </a:r>
            <a:r>
              <a:rPr lang="pt-BR" altLang="en-BR" sz="2000" dirty="0"/>
              <a:t> e demais atributos de </a:t>
            </a:r>
            <a:r>
              <a:rPr lang="pt-BR" altLang="en-BR" sz="2000" i="1" dirty="0" err="1"/>
              <a:t>R</a:t>
            </a:r>
            <a:r>
              <a:rPr lang="pt-BR" altLang="en-BR" sz="2000" i="1" dirty="0"/>
              <a:t> </a:t>
            </a:r>
            <a:r>
              <a:rPr lang="pt-BR" altLang="en-BR" sz="2000" dirty="0"/>
              <a:t>(caso exista)</a:t>
            </a:r>
            <a:r>
              <a:rPr lang="pt-BR" altLang="en-BR" sz="2000" i="1" dirty="0"/>
              <a:t>. </a:t>
            </a:r>
            <a:r>
              <a:rPr lang="pt-BR" altLang="en-BR" sz="2000" dirty="0"/>
              <a:t>Como a cardinalidade é 1:1, a chave primária do relacionamento pode ser escolhida para ser a chave primária de qualquer uma das entidades participantes </a:t>
            </a:r>
            <a:r>
              <a:rPr lang="pt-BR" altLang="en-BR" sz="2000" i="1" dirty="0" err="1"/>
              <a:t>S</a:t>
            </a:r>
            <a:r>
              <a:rPr lang="pt-BR" altLang="en-BR" sz="2000" i="1" dirty="0"/>
              <a:t> </a:t>
            </a:r>
            <a:r>
              <a:rPr lang="pt-BR" altLang="en-BR" sz="2000" dirty="0"/>
              <a:t>ou </a:t>
            </a:r>
            <a:r>
              <a:rPr lang="pt-BR" altLang="en-BR" sz="2000" i="1" dirty="0"/>
              <a:t>T</a:t>
            </a:r>
            <a:r>
              <a:rPr lang="pt-BR" altLang="en-BR" sz="2000" dirty="0"/>
              <a:t>. Além disso, as chaves primárias de </a:t>
            </a:r>
            <a:r>
              <a:rPr lang="pt-BR" altLang="en-BR" sz="2000" i="1" dirty="0" err="1"/>
              <a:t>S</a:t>
            </a:r>
            <a:r>
              <a:rPr lang="pt-BR" altLang="en-BR" sz="2000" dirty="0"/>
              <a:t> e </a:t>
            </a:r>
            <a:r>
              <a:rPr lang="pt-BR" altLang="en-BR" sz="2000" i="1" dirty="0" err="1"/>
              <a:t>T</a:t>
            </a:r>
            <a:r>
              <a:rPr lang="pt-BR" altLang="en-BR" sz="2000" dirty="0"/>
              <a:t> são chaves estrangeiras de </a:t>
            </a:r>
            <a:r>
              <a:rPr lang="pt-BR" altLang="en-BR" sz="2000" i="1" dirty="0"/>
              <a:t>R.</a:t>
            </a:r>
            <a:endParaRPr lang="pt-BR" altLang="en-BR" sz="2000" dirty="0"/>
          </a:p>
          <a:p>
            <a:pPr marL="351090" indent="-297077" eaLnBrk="1" hangingPunct="1">
              <a:lnSpc>
                <a:spcPct val="80000"/>
              </a:lnSpc>
              <a:spcBef>
                <a:spcPts val="425"/>
              </a:spcBef>
              <a:buClr>
                <a:srgbClr val="333399"/>
              </a:buClr>
              <a:buSzPct val="55000"/>
              <a:buFont typeface="Wingdings" pitchFamily="2" charset="2"/>
              <a:buChar char=""/>
              <a:tabLst>
                <a:tab pos="315081" algn="l"/>
                <a:tab pos="421609" algn="l"/>
                <a:tab pos="853721" algn="l"/>
                <a:tab pos="1285832" algn="l"/>
                <a:tab pos="1717944" algn="l"/>
                <a:tab pos="2150055" algn="l"/>
                <a:tab pos="2582166" algn="l"/>
                <a:tab pos="3014278" algn="l"/>
                <a:tab pos="3446389" algn="l"/>
                <a:tab pos="3878500" algn="l"/>
                <a:tab pos="4310612" algn="l"/>
                <a:tab pos="4742723" algn="l"/>
                <a:tab pos="5174834" algn="l"/>
                <a:tab pos="5606946" algn="l"/>
                <a:tab pos="6039057" algn="l"/>
                <a:tab pos="6471168" algn="l"/>
                <a:tab pos="6903280" algn="l"/>
                <a:tab pos="7335391" algn="l"/>
                <a:tab pos="7767502" algn="l"/>
                <a:tab pos="8199613" algn="l"/>
                <a:tab pos="8631725" algn="l"/>
              </a:tabLst>
            </a:pPr>
            <a:endParaRPr lang="pt-BR" altLang="en-BR" sz="2000" dirty="0"/>
          </a:p>
          <a:p>
            <a:pPr marL="351090" indent="-297077" eaLnBrk="1" hangingPunct="1">
              <a:lnSpc>
                <a:spcPct val="80000"/>
              </a:lnSpc>
              <a:spcBef>
                <a:spcPts val="425"/>
              </a:spcBef>
              <a:buClr>
                <a:srgbClr val="333399"/>
              </a:buClr>
              <a:buSzPct val="55000"/>
              <a:buFont typeface="Wingdings" pitchFamily="2" charset="2"/>
              <a:buChar char=""/>
              <a:tabLst>
                <a:tab pos="315081" algn="l"/>
                <a:tab pos="421609" algn="l"/>
                <a:tab pos="853721" algn="l"/>
                <a:tab pos="1285832" algn="l"/>
                <a:tab pos="1717944" algn="l"/>
                <a:tab pos="2150055" algn="l"/>
                <a:tab pos="2582166" algn="l"/>
                <a:tab pos="3014278" algn="l"/>
                <a:tab pos="3446389" algn="l"/>
                <a:tab pos="3878500" algn="l"/>
                <a:tab pos="4310612" algn="l"/>
                <a:tab pos="4742723" algn="l"/>
                <a:tab pos="5174834" algn="l"/>
                <a:tab pos="5606946" algn="l"/>
                <a:tab pos="6039057" algn="l"/>
                <a:tab pos="6471168" algn="l"/>
                <a:tab pos="6903280" algn="l"/>
                <a:tab pos="7335391" algn="l"/>
                <a:tab pos="7767502" algn="l"/>
                <a:tab pos="8199613" algn="l"/>
                <a:tab pos="8631725" algn="l"/>
              </a:tabLst>
            </a:pPr>
            <a:r>
              <a:rPr lang="pt-BR" altLang="en-BR" sz="2000" dirty="0"/>
              <a:t>Em seguida, devemos analisar a possibilidade de eliminar redundância:</a:t>
            </a:r>
          </a:p>
          <a:p>
            <a:pPr marL="864223" lvl="1" indent="-432111" eaLnBrk="1" hangingPunct="1">
              <a:lnSpc>
                <a:spcPct val="80000"/>
              </a:lnSpc>
              <a:spcBef>
                <a:spcPts val="425"/>
              </a:spcBef>
              <a:buClr>
                <a:srgbClr val="333399"/>
              </a:buClr>
              <a:buFont typeface="+mj-lt"/>
              <a:buAutoNum type="arabicPeriod"/>
              <a:tabLst>
                <a:tab pos="315081" algn="l"/>
                <a:tab pos="421609" algn="l"/>
                <a:tab pos="853721" algn="l"/>
                <a:tab pos="1285832" algn="l"/>
                <a:tab pos="1717944" algn="l"/>
                <a:tab pos="2150055" algn="l"/>
                <a:tab pos="2582166" algn="l"/>
                <a:tab pos="3014278" algn="l"/>
                <a:tab pos="3446389" algn="l"/>
                <a:tab pos="3878500" algn="l"/>
                <a:tab pos="4310612" algn="l"/>
                <a:tab pos="4742723" algn="l"/>
                <a:tab pos="5174834" algn="l"/>
                <a:tab pos="5606946" algn="l"/>
                <a:tab pos="6039057" algn="l"/>
                <a:tab pos="6471168" algn="l"/>
                <a:tab pos="6903280" algn="l"/>
                <a:tab pos="7335391" algn="l"/>
                <a:tab pos="7767502" algn="l"/>
                <a:tab pos="8199613" algn="l"/>
                <a:tab pos="8631725" algn="l"/>
              </a:tabLst>
            </a:pPr>
            <a:r>
              <a:rPr lang="pt-BR" altLang="en-BR" sz="2000" dirty="0"/>
              <a:t>Se houver cobertura total de um dos conjuntos de entidades participantes, por exemplo </a:t>
            </a:r>
            <a:r>
              <a:rPr lang="pt-BR" altLang="en-BR" sz="2000" i="1" dirty="0" err="1"/>
              <a:t>S</a:t>
            </a:r>
            <a:r>
              <a:rPr lang="pt-BR" altLang="en-BR" sz="2000" dirty="0"/>
              <a:t>, podemos juntar a tabela </a:t>
            </a:r>
            <a:r>
              <a:rPr lang="pt-BR" altLang="en-BR" sz="2000" i="1" dirty="0" err="1"/>
              <a:t>R</a:t>
            </a:r>
            <a:r>
              <a:rPr lang="pt-BR" altLang="en-BR" sz="2000" i="1" dirty="0"/>
              <a:t> </a:t>
            </a:r>
            <a:r>
              <a:rPr lang="pt-BR" altLang="en-BR" sz="2000" dirty="0"/>
              <a:t>com a tabela oriunda de </a:t>
            </a:r>
            <a:r>
              <a:rPr lang="pt-BR" altLang="en-BR" sz="2000" i="1" dirty="0" err="1"/>
              <a:t>S</a:t>
            </a:r>
            <a:r>
              <a:rPr lang="pt-BR" altLang="en-BR" sz="2000" i="1" dirty="0"/>
              <a:t> </a:t>
            </a:r>
            <a:r>
              <a:rPr lang="pt-BR" altLang="en-BR" sz="2000" dirty="0"/>
              <a:t>para evitar redundância. Nesse caso, a chave primária de </a:t>
            </a:r>
            <a:r>
              <a:rPr lang="pt-BR" altLang="en-BR" sz="2000" i="1" dirty="0" err="1"/>
              <a:t>T</a:t>
            </a:r>
            <a:r>
              <a:rPr lang="pt-BR" altLang="en-BR" sz="2000" dirty="0"/>
              <a:t> entraria como chave estrangeira em </a:t>
            </a:r>
            <a:r>
              <a:rPr lang="pt-BR" altLang="en-BR" sz="2000" i="1" dirty="0"/>
              <a:t>S.</a:t>
            </a:r>
            <a:endParaRPr lang="pt-BR" altLang="en-BR" sz="2000" dirty="0"/>
          </a:p>
          <a:p>
            <a:pPr marL="864223" lvl="1" indent="-432111" eaLnBrk="1" hangingPunct="1">
              <a:lnSpc>
                <a:spcPct val="80000"/>
              </a:lnSpc>
              <a:spcBef>
                <a:spcPts val="425"/>
              </a:spcBef>
              <a:buClr>
                <a:srgbClr val="333399"/>
              </a:buClr>
              <a:buFont typeface="+mj-lt"/>
              <a:buAutoNum type="arabicPeriod"/>
              <a:tabLst>
                <a:tab pos="315081" algn="l"/>
                <a:tab pos="421609" algn="l"/>
                <a:tab pos="853721" algn="l"/>
                <a:tab pos="1285832" algn="l"/>
                <a:tab pos="1717944" algn="l"/>
                <a:tab pos="2150055" algn="l"/>
                <a:tab pos="2582166" algn="l"/>
                <a:tab pos="3014278" algn="l"/>
                <a:tab pos="3446389" algn="l"/>
                <a:tab pos="3878500" algn="l"/>
                <a:tab pos="4310612" algn="l"/>
                <a:tab pos="4742723" algn="l"/>
                <a:tab pos="5174834" algn="l"/>
                <a:tab pos="5606946" algn="l"/>
                <a:tab pos="6039057" algn="l"/>
                <a:tab pos="6471168" algn="l"/>
                <a:tab pos="6903280" algn="l"/>
                <a:tab pos="7335391" algn="l"/>
                <a:tab pos="7767502" algn="l"/>
                <a:tab pos="8199613" algn="l"/>
                <a:tab pos="8631725" algn="l"/>
              </a:tabLst>
            </a:pPr>
            <a:r>
              <a:rPr lang="pt-BR" altLang="en-BR" sz="2000" dirty="0"/>
              <a:t>Se ambas as participações forem totais podemos junte as tabelas </a:t>
            </a:r>
            <a:r>
              <a:rPr lang="pt-BR" altLang="en-BR" sz="2000" i="1" dirty="0" err="1"/>
              <a:t>S</a:t>
            </a:r>
            <a:r>
              <a:rPr lang="pt-BR" altLang="en-BR" sz="2000" dirty="0"/>
              <a:t> e </a:t>
            </a:r>
            <a:r>
              <a:rPr lang="pt-BR" altLang="en-BR" sz="2000" i="1" dirty="0" err="1"/>
              <a:t>T</a:t>
            </a:r>
            <a:r>
              <a:rPr lang="pt-BR" altLang="en-BR" sz="2000" dirty="0"/>
              <a:t> e os atributos do relacionamento (se houver) em uma única tabela. Como a cardinalidade é 1:1, a chave primária da nova tabela pode ser a chave de </a:t>
            </a:r>
            <a:r>
              <a:rPr lang="pt-BR" altLang="en-BR" sz="2000" i="1" dirty="0" err="1"/>
              <a:t>S</a:t>
            </a:r>
            <a:r>
              <a:rPr lang="pt-BR" altLang="en-BR" sz="2000" dirty="0"/>
              <a:t> ou a chave de </a:t>
            </a:r>
            <a:r>
              <a:rPr lang="pt-BR" altLang="en-BR" sz="2000" i="1" dirty="0"/>
              <a:t>T</a:t>
            </a:r>
            <a:r>
              <a:rPr lang="pt-BR" altLang="en-BR" sz="2000" dirty="0"/>
              <a:t>.</a:t>
            </a:r>
            <a:r>
              <a:rPr lang="pt-BR" altLang="en-BR" sz="2000" i="1" dirty="0"/>
              <a:t> </a:t>
            </a:r>
            <a:endParaRPr lang="pt-BR" altLang="en-BR" sz="2000" dirty="0"/>
          </a:p>
        </p:txBody>
      </p:sp>
    </p:spTree>
    <p:extLst>
      <p:ext uri="{BB962C8B-B14F-4D97-AF65-F5344CB8AC3E}">
        <p14:creationId xmlns:p14="http://schemas.microsoft.com/office/powerpoint/2010/main" val="198217425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FC76CA3E-8E5B-4E32-8319-D6101395F8ED}"/>
              </a:ext>
            </a:extLst>
          </p:cNvPr>
          <p:cNvCxnSpPr/>
          <p:nvPr/>
        </p:nvCxnSpPr>
        <p:spPr bwMode="auto">
          <a:xfrm>
            <a:off x="1775339" y="188505"/>
            <a:ext cx="864132" cy="0"/>
          </a:xfrm>
          <a:prstGeom prst="line">
            <a:avLst/>
          </a:prstGeom>
          <a:solidFill>
            <a:schemeClr val="accent1"/>
          </a:solidFill>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cxnSp>
      <p:sp>
        <p:nvSpPr>
          <p:cNvPr id="666626" name="Rectangle 2"/>
          <p:cNvSpPr>
            <a:spLocks noGrp="1" noChangeArrowheads="1"/>
          </p:cNvSpPr>
          <p:nvPr>
            <p:ph type="title" idx="4294967295"/>
          </p:nvPr>
        </p:nvSpPr>
        <p:spPr>
          <a:xfrm>
            <a:off x="811019" y="299522"/>
            <a:ext cx="10669806" cy="576088"/>
          </a:xfrm>
        </p:spPr>
        <p:txBody>
          <a:bodyPr/>
          <a:lstStyle/>
          <a:p>
            <a:pPr eaLnBrk="1" hangingPunct="1">
              <a:lnSpc>
                <a:spcPct val="80000"/>
              </a:lnSpc>
              <a:spcBef>
                <a:spcPts val="473"/>
              </a:spcBef>
              <a:tabLst>
                <a:tab pos="315081" algn="l"/>
                <a:tab pos="421609" algn="l"/>
                <a:tab pos="853721" algn="l"/>
                <a:tab pos="1285832" algn="l"/>
                <a:tab pos="1717944" algn="l"/>
                <a:tab pos="2150055" algn="l"/>
                <a:tab pos="2582166" algn="l"/>
                <a:tab pos="3014278" algn="l"/>
                <a:tab pos="3446389" algn="l"/>
                <a:tab pos="3878500" algn="l"/>
                <a:tab pos="4310612" algn="l"/>
                <a:tab pos="4742723" algn="l"/>
                <a:tab pos="5174834" algn="l"/>
                <a:tab pos="5606946" algn="l"/>
                <a:tab pos="6039057" algn="l"/>
                <a:tab pos="6471168" algn="l"/>
                <a:tab pos="6903280" algn="l"/>
                <a:tab pos="7335391" algn="l"/>
                <a:tab pos="7767502" algn="l"/>
                <a:tab pos="8199613" algn="l"/>
                <a:tab pos="8631725" algn="l"/>
              </a:tabLst>
            </a:pPr>
            <a:r>
              <a:rPr lang="pt-BR" altLang="en-BR" dirty="0"/>
              <a:t>Passo 4: Conjuntos de Relacionamento 1:1 (cont.)</a:t>
            </a:r>
          </a:p>
        </p:txBody>
      </p:sp>
      <p:grpSp>
        <p:nvGrpSpPr>
          <p:cNvPr id="18" name="Group 17">
            <a:extLst>
              <a:ext uri="{FF2B5EF4-FFF2-40B4-BE49-F238E27FC236}">
                <a16:creationId xmlns:a16="http://schemas.microsoft.com/office/drawing/2014/main" id="{4C55FC0E-8A64-6340-BC8F-95BA0652BC52}"/>
              </a:ext>
            </a:extLst>
          </p:cNvPr>
          <p:cNvGrpSpPr/>
          <p:nvPr/>
        </p:nvGrpSpPr>
        <p:grpSpPr>
          <a:xfrm>
            <a:off x="2219929" y="1311402"/>
            <a:ext cx="7303240" cy="1494543"/>
            <a:chOff x="2108686" y="4859073"/>
            <a:chExt cx="7728080" cy="1581484"/>
          </a:xfrm>
        </p:grpSpPr>
        <p:pic>
          <p:nvPicPr>
            <p:cNvPr id="6" name="Picture 6">
              <a:extLst>
                <a:ext uri="{FF2B5EF4-FFF2-40B4-BE49-F238E27FC236}">
                  <a16:creationId xmlns:a16="http://schemas.microsoft.com/office/drawing/2014/main" id="{6B32BE90-2821-9C46-BC07-C96E8AC07A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08686" y="4859073"/>
              <a:ext cx="7728080" cy="1581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a:extLst>
                <a:ext uri="{FF2B5EF4-FFF2-40B4-BE49-F238E27FC236}">
                  <a16:creationId xmlns:a16="http://schemas.microsoft.com/office/drawing/2014/main" id="{EAA565C8-E6DA-8A43-8407-EFCD92B07F01}"/>
                </a:ext>
              </a:extLst>
            </p:cNvPr>
            <p:cNvSpPr txBox="1"/>
            <p:nvPr/>
          </p:nvSpPr>
          <p:spPr>
            <a:xfrm>
              <a:off x="2438400" y="4910739"/>
              <a:ext cx="1245704" cy="325681"/>
            </a:xfrm>
            <a:prstGeom prst="rect">
              <a:avLst/>
            </a:prstGeom>
            <a:solidFill>
              <a:srgbClr val="C6E7F1"/>
            </a:solidFill>
          </p:spPr>
          <p:txBody>
            <a:bodyPr wrap="square" rtlCol="0">
              <a:spAutoFit/>
            </a:bodyPr>
            <a:lstStyle/>
            <a:p>
              <a:pPr algn="ctr"/>
              <a:r>
                <a:rPr lang="pt-BR" sz="1400" i="1" dirty="0">
                  <a:latin typeface="Calibri Light" panose="020F0302020204030204" pitchFamily="34" charset="0"/>
                  <a:cs typeface="Calibri Light" panose="020F0302020204030204" pitchFamily="34" charset="0"/>
                </a:rPr>
                <a:t>professor</a:t>
              </a:r>
            </a:p>
          </p:txBody>
        </p:sp>
        <p:sp>
          <p:nvSpPr>
            <p:cNvPr id="8" name="TextBox 7">
              <a:extLst>
                <a:ext uri="{FF2B5EF4-FFF2-40B4-BE49-F238E27FC236}">
                  <a16:creationId xmlns:a16="http://schemas.microsoft.com/office/drawing/2014/main" id="{19CCB358-026B-C646-93AC-3DE944627CE1}"/>
                </a:ext>
              </a:extLst>
            </p:cNvPr>
            <p:cNvSpPr txBox="1"/>
            <p:nvPr/>
          </p:nvSpPr>
          <p:spPr>
            <a:xfrm>
              <a:off x="8262730" y="4920139"/>
              <a:ext cx="1245704" cy="325681"/>
            </a:xfrm>
            <a:prstGeom prst="rect">
              <a:avLst/>
            </a:prstGeom>
            <a:solidFill>
              <a:srgbClr val="C6E7F1"/>
            </a:solidFill>
          </p:spPr>
          <p:txBody>
            <a:bodyPr wrap="square" rtlCol="0">
              <a:spAutoFit/>
            </a:bodyPr>
            <a:lstStyle/>
            <a:p>
              <a:pPr algn="ctr"/>
              <a:r>
                <a:rPr lang="pt-BR" sz="1400" i="1" dirty="0">
                  <a:latin typeface="Calibri Light" panose="020F0302020204030204" pitchFamily="34" charset="0"/>
                  <a:cs typeface="Calibri Light" panose="020F0302020204030204" pitchFamily="34" charset="0"/>
                </a:rPr>
                <a:t>aluno</a:t>
              </a:r>
            </a:p>
          </p:txBody>
        </p:sp>
        <p:sp>
          <p:nvSpPr>
            <p:cNvPr id="9" name="TextBox 8">
              <a:extLst>
                <a:ext uri="{FF2B5EF4-FFF2-40B4-BE49-F238E27FC236}">
                  <a16:creationId xmlns:a16="http://schemas.microsoft.com/office/drawing/2014/main" id="{E7DE8919-E098-0745-B626-AABA4D37BA3E}"/>
                </a:ext>
              </a:extLst>
            </p:cNvPr>
            <p:cNvSpPr txBox="1"/>
            <p:nvPr/>
          </p:nvSpPr>
          <p:spPr>
            <a:xfrm>
              <a:off x="5595731" y="5414061"/>
              <a:ext cx="868017" cy="298134"/>
            </a:xfrm>
            <a:prstGeom prst="rect">
              <a:avLst/>
            </a:prstGeom>
            <a:solidFill>
              <a:srgbClr val="ECF6FA"/>
            </a:solidFill>
          </p:spPr>
          <p:txBody>
            <a:bodyPr wrap="square" rtlCol="0">
              <a:spAutoFit/>
            </a:bodyPr>
            <a:lstStyle/>
            <a:p>
              <a:pPr algn="ctr"/>
              <a:r>
                <a:rPr lang="pt-BR" sz="1231" i="1" dirty="0">
                  <a:latin typeface="Calibri Light" panose="020F0302020204030204" pitchFamily="34" charset="0"/>
                  <a:cs typeface="Calibri Light" panose="020F0302020204030204" pitchFamily="34" charset="0"/>
                </a:rPr>
                <a:t>orienta</a:t>
              </a:r>
            </a:p>
          </p:txBody>
        </p:sp>
        <p:sp>
          <p:nvSpPr>
            <p:cNvPr id="5" name="TextBox 4">
              <a:extLst>
                <a:ext uri="{FF2B5EF4-FFF2-40B4-BE49-F238E27FC236}">
                  <a16:creationId xmlns:a16="http://schemas.microsoft.com/office/drawing/2014/main" id="{3EC2516D-BFD6-2B42-BC64-6B2C4F1AABB3}"/>
                </a:ext>
              </a:extLst>
            </p:cNvPr>
            <p:cNvSpPr txBox="1"/>
            <p:nvPr/>
          </p:nvSpPr>
          <p:spPr>
            <a:xfrm>
              <a:off x="8100390" y="5423289"/>
              <a:ext cx="457200" cy="298134"/>
            </a:xfrm>
            <a:prstGeom prst="rect">
              <a:avLst/>
            </a:prstGeom>
            <a:solidFill>
              <a:schemeClr val="accent1"/>
            </a:solidFill>
          </p:spPr>
          <p:txBody>
            <a:bodyPr wrap="square" rtlCol="0">
              <a:spAutoFit/>
            </a:bodyPr>
            <a:lstStyle/>
            <a:p>
              <a:r>
                <a:rPr lang="pt-BR" sz="1231" u="sng" dirty="0"/>
                <a:t>ID</a:t>
              </a:r>
            </a:p>
          </p:txBody>
        </p:sp>
        <p:sp>
          <p:nvSpPr>
            <p:cNvPr id="11" name="TextBox 10">
              <a:extLst>
                <a:ext uri="{FF2B5EF4-FFF2-40B4-BE49-F238E27FC236}">
                  <a16:creationId xmlns:a16="http://schemas.microsoft.com/office/drawing/2014/main" id="{672A9C08-093E-2144-ACDF-E7BB4875D1B7}"/>
                </a:ext>
              </a:extLst>
            </p:cNvPr>
            <p:cNvSpPr txBox="1"/>
            <p:nvPr/>
          </p:nvSpPr>
          <p:spPr>
            <a:xfrm>
              <a:off x="8087136" y="5687697"/>
              <a:ext cx="868017" cy="298134"/>
            </a:xfrm>
            <a:prstGeom prst="rect">
              <a:avLst/>
            </a:prstGeom>
            <a:solidFill>
              <a:schemeClr val="accent1"/>
            </a:solidFill>
          </p:spPr>
          <p:txBody>
            <a:bodyPr wrap="square" rtlCol="0">
              <a:spAutoFit/>
            </a:bodyPr>
            <a:lstStyle/>
            <a:p>
              <a:r>
                <a:rPr lang="pt-BR" sz="1231" i="1" dirty="0"/>
                <a:t>nome</a:t>
              </a:r>
            </a:p>
          </p:txBody>
        </p:sp>
        <p:sp>
          <p:nvSpPr>
            <p:cNvPr id="12" name="TextBox 11">
              <a:extLst>
                <a:ext uri="{FF2B5EF4-FFF2-40B4-BE49-F238E27FC236}">
                  <a16:creationId xmlns:a16="http://schemas.microsoft.com/office/drawing/2014/main" id="{4675EBB8-4ED5-FB4C-B00D-88C747D555C5}"/>
                </a:ext>
              </a:extLst>
            </p:cNvPr>
            <p:cNvSpPr txBox="1"/>
            <p:nvPr/>
          </p:nvSpPr>
          <p:spPr>
            <a:xfrm>
              <a:off x="8083825" y="5992545"/>
              <a:ext cx="1099932" cy="298134"/>
            </a:xfrm>
            <a:prstGeom prst="rect">
              <a:avLst/>
            </a:prstGeom>
            <a:solidFill>
              <a:schemeClr val="accent1"/>
            </a:solidFill>
          </p:spPr>
          <p:txBody>
            <a:bodyPr wrap="square" rtlCol="0">
              <a:spAutoFit/>
            </a:bodyPr>
            <a:lstStyle/>
            <a:p>
              <a:r>
                <a:rPr lang="pt-BR" sz="1231" i="1" dirty="0" err="1"/>
                <a:t>tot_cred</a:t>
              </a:r>
              <a:endParaRPr lang="pt-BR" sz="1231" i="1" dirty="0"/>
            </a:p>
          </p:txBody>
        </p:sp>
        <p:sp>
          <p:nvSpPr>
            <p:cNvPr id="13" name="TextBox 12">
              <a:extLst>
                <a:ext uri="{FF2B5EF4-FFF2-40B4-BE49-F238E27FC236}">
                  <a16:creationId xmlns:a16="http://schemas.microsoft.com/office/drawing/2014/main" id="{393682C3-A122-F146-A54E-2D946E458F98}"/>
                </a:ext>
              </a:extLst>
            </p:cNvPr>
            <p:cNvSpPr txBox="1"/>
            <p:nvPr/>
          </p:nvSpPr>
          <p:spPr>
            <a:xfrm>
              <a:off x="2451652" y="5388899"/>
              <a:ext cx="457200" cy="298134"/>
            </a:xfrm>
            <a:prstGeom prst="rect">
              <a:avLst/>
            </a:prstGeom>
            <a:solidFill>
              <a:schemeClr val="accent1"/>
            </a:solidFill>
          </p:spPr>
          <p:txBody>
            <a:bodyPr wrap="square" rtlCol="0">
              <a:spAutoFit/>
            </a:bodyPr>
            <a:lstStyle/>
            <a:p>
              <a:r>
                <a:rPr lang="pt-BR" sz="1231" u="sng" dirty="0"/>
                <a:t>ID</a:t>
              </a:r>
            </a:p>
          </p:txBody>
        </p:sp>
        <p:sp>
          <p:nvSpPr>
            <p:cNvPr id="14" name="TextBox 13">
              <a:extLst>
                <a:ext uri="{FF2B5EF4-FFF2-40B4-BE49-F238E27FC236}">
                  <a16:creationId xmlns:a16="http://schemas.microsoft.com/office/drawing/2014/main" id="{B9779172-2442-5C49-9C58-8D7A98C36C54}"/>
                </a:ext>
              </a:extLst>
            </p:cNvPr>
            <p:cNvSpPr txBox="1"/>
            <p:nvPr/>
          </p:nvSpPr>
          <p:spPr>
            <a:xfrm>
              <a:off x="2435083" y="5649816"/>
              <a:ext cx="868017" cy="298134"/>
            </a:xfrm>
            <a:prstGeom prst="rect">
              <a:avLst/>
            </a:prstGeom>
            <a:solidFill>
              <a:schemeClr val="accent1"/>
            </a:solidFill>
          </p:spPr>
          <p:txBody>
            <a:bodyPr wrap="square" rtlCol="0">
              <a:spAutoFit/>
            </a:bodyPr>
            <a:lstStyle/>
            <a:p>
              <a:r>
                <a:rPr lang="pt-BR" sz="1231" i="1" dirty="0"/>
                <a:t>nome</a:t>
              </a:r>
            </a:p>
          </p:txBody>
        </p:sp>
        <p:sp>
          <p:nvSpPr>
            <p:cNvPr id="15" name="TextBox 14">
              <a:extLst>
                <a:ext uri="{FF2B5EF4-FFF2-40B4-BE49-F238E27FC236}">
                  <a16:creationId xmlns:a16="http://schemas.microsoft.com/office/drawing/2014/main" id="{DFEA5461-9ED7-4E45-969A-1DC37A342C1B}"/>
                </a:ext>
              </a:extLst>
            </p:cNvPr>
            <p:cNvSpPr txBox="1"/>
            <p:nvPr/>
          </p:nvSpPr>
          <p:spPr>
            <a:xfrm>
              <a:off x="2435082" y="6012190"/>
              <a:ext cx="868017" cy="298134"/>
            </a:xfrm>
            <a:prstGeom prst="rect">
              <a:avLst/>
            </a:prstGeom>
            <a:solidFill>
              <a:schemeClr val="accent1"/>
            </a:solidFill>
          </p:spPr>
          <p:txBody>
            <a:bodyPr wrap="square" rtlCol="0">
              <a:spAutoFit/>
            </a:bodyPr>
            <a:lstStyle/>
            <a:p>
              <a:r>
                <a:rPr lang="pt-BR" sz="1231" i="1" dirty="0"/>
                <a:t>salário</a:t>
              </a:r>
            </a:p>
          </p:txBody>
        </p:sp>
        <p:cxnSp>
          <p:nvCxnSpPr>
            <p:cNvPr id="10" name="Straight Arrow Connector 9">
              <a:extLst>
                <a:ext uri="{FF2B5EF4-FFF2-40B4-BE49-F238E27FC236}">
                  <a16:creationId xmlns:a16="http://schemas.microsoft.com/office/drawing/2014/main" id="{D29104C6-A13E-6A47-8AF6-7971A6B910F1}"/>
                </a:ext>
              </a:extLst>
            </p:cNvPr>
            <p:cNvCxnSpPr/>
            <p:nvPr/>
          </p:nvCxnSpPr>
          <p:spPr bwMode="auto">
            <a:xfrm>
              <a:off x="6732104" y="5535697"/>
              <a:ext cx="1179444"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7" name="Straight Arrow Connector 16">
              <a:extLst>
                <a:ext uri="{FF2B5EF4-FFF2-40B4-BE49-F238E27FC236}">
                  <a16:creationId xmlns:a16="http://schemas.microsoft.com/office/drawing/2014/main" id="{1C26D3E4-0189-C544-A49D-CBBC98222E0F}"/>
                </a:ext>
              </a:extLst>
            </p:cNvPr>
            <p:cNvCxnSpPr/>
            <p:nvPr/>
          </p:nvCxnSpPr>
          <p:spPr bwMode="auto">
            <a:xfrm flipH="1">
              <a:off x="4055165" y="5535697"/>
              <a:ext cx="1232452" cy="0"/>
            </a:xfrm>
            <a:prstGeom prst="straightConnector1">
              <a:avLst/>
            </a:prstGeom>
            <a:solidFill>
              <a:schemeClr val="accent1"/>
            </a:solidFill>
            <a:ln w="47625" cap="flat" cmpd="dbl" algn="ctr">
              <a:solidFill>
                <a:schemeClr val="tx1"/>
              </a:solidFill>
              <a:prstDash val="solid"/>
              <a:round/>
              <a:headEnd type="none" w="med" len="med"/>
              <a:tailEnd type="triangle"/>
            </a:ln>
            <a:effectLst/>
          </p:spPr>
        </p:cxnSp>
      </p:grpSp>
      <p:cxnSp>
        <p:nvCxnSpPr>
          <p:cNvPr id="7" name="Straight Arrow Connector 6">
            <a:extLst>
              <a:ext uri="{FF2B5EF4-FFF2-40B4-BE49-F238E27FC236}">
                <a16:creationId xmlns:a16="http://schemas.microsoft.com/office/drawing/2014/main" id="{C41B731B-08E5-3846-A218-53AE8BDF22FD}"/>
              </a:ext>
            </a:extLst>
          </p:cNvPr>
          <p:cNvCxnSpPr/>
          <p:nvPr/>
        </p:nvCxnSpPr>
        <p:spPr bwMode="auto">
          <a:xfrm>
            <a:off x="5871549" y="3093597"/>
            <a:ext cx="0" cy="751420"/>
          </a:xfrm>
          <a:prstGeom prst="straightConnector1">
            <a:avLst/>
          </a:prstGeom>
          <a:solidFill>
            <a:schemeClr val="accent1"/>
          </a:solidFill>
          <a:ln w="57150" cap="flat" cmpd="sng" algn="ctr">
            <a:solidFill>
              <a:schemeClr val="tx1"/>
            </a:solidFill>
            <a:prstDash val="solid"/>
            <a:round/>
            <a:headEnd type="none" w="med" len="med"/>
            <a:tailEnd type="triangle"/>
          </a:ln>
          <a:effectLst/>
        </p:spPr>
      </p:cxnSp>
      <p:pic>
        <p:nvPicPr>
          <p:cNvPr id="21" name="Picture 6">
            <a:extLst>
              <a:ext uri="{FF2B5EF4-FFF2-40B4-BE49-F238E27FC236}">
                <a16:creationId xmlns:a16="http://schemas.microsoft.com/office/drawing/2014/main" id="{6AF38D2B-B98E-434E-B906-DE1212F9C3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19929" y="4290086"/>
            <a:ext cx="7303240" cy="1494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TextBox 21">
            <a:extLst>
              <a:ext uri="{FF2B5EF4-FFF2-40B4-BE49-F238E27FC236}">
                <a16:creationId xmlns:a16="http://schemas.microsoft.com/office/drawing/2014/main" id="{B6D1F28D-371F-7F4F-9C4F-55A8FE448636}"/>
              </a:ext>
            </a:extLst>
          </p:cNvPr>
          <p:cNvSpPr txBox="1"/>
          <p:nvPr/>
        </p:nvSpPr>
        <p:spPr>
          <a:xfrm>
            <a:off x="2531518" y="4327588"/>
            <a:ext cx="1177223" cy="307777"/>
          </a:xfrm>
          <a:prstGeom prst="rect">
            <a:avLst/>
          </a:prstGeom>
          <a:solidFill>
            <a:srgbClr val="C6E7F1"/>
          </a:solidFill>
        </p:spPr>
        <p:txBody>
          <a:bodyPr wrap="square" rtlCol="0">
            <a:spAutoFit/>
          </a:bodyPr>
          <a:lstStyle/>
          <a:p>
            <a:pPr algn="ctr"/>
            <a:r>
              <a:rPr lang="pt-BR" sz="1400" i="1" dirty="0">
                <a:latin typeface="Calibri Light" panose="020F0302020204030204" pitchFamily="34" charset="0"/>
                <a:cs typeface="Calibri Light" panose="020F0302020204030204" pitchFamily="34" charset="0"/>
              </a:rPr>
              <a:t>professor</a:t>
            </a:r>
          </a:p>
        </p:txBody>
      </p:sp>
      <p:sp>
        <p:nvSpPr>
          <p:cNvPr id="23" name="TextBox 22">
            <a:extLst>
              <a:ext uri="{FF2B5EF4-FFF2-40B4-BE49-F238E27FC236}">
                <a16:creationId xmlns:a16="http://schemas.microsoft.com/office/drawing/2014/main" id="{6E723A5F-98C6-CA4F-A33D-19AFA98FA38E}"/>
              </a:ext>
            </a:extLst>
          </p:cNvPr>
          <p:cNvSpPr txBox="1"/>
          <p:nvPr/>
        </p:nvSpPr>
        <p:spPr>
          <a:xfrm>
            <a:off x="8035664" y="4336505"/>
            <a:ext cx="1177223" cy="307777"/>
          </a:xfrm>
          <a:prstGeom prst="rect">
            <a:avLst/>
          </a:prstGeom>
          <a:solidFill>
            <a:srgbClr val="C6E7F1"/>
          </a:solidFill>
        </p:spPr>
        <p:txBody>
          <a:bodyPr wrap="square" rtlCol="0">
            <a:spAutoFit/>
          </a:bodyPr>
          <a:lstStyle/>
          <a:p>
            <a:pPr algn="ctr"/>
            <a:r>
              <a:rPr lang="pt-BR" sz="1400" i="1" dirty="0">
                <a:latin typeface="Calibri Light" panose="020F0302020204030204" pitchFamily="34" charset="0"/>
                <a:cs typeface="Calibri Light" panose="020F0302020204030204" pitchFamily="34" charset="0"/>
              </a:rPr>
              <a:t>aluno</a:t>
            </a:r>
          </a:p>
        </p:txBody>
      </p:sp>
      <p:sp>
        <p:nvSpPr>
          <p:cNvPr id="24" name="TextBox 23">
            <a:extLst>
              <a:ext uri="{FF2B5EF4-FFF2-40B4-BE49-F238E27FC236}">
                <a16:creationId xmlns:a16="http://schemas.microsoft.com/office/drawing/2014/main" id="{458BE301-6A85-8E4E-A298-EC090292C1FE}"/>
              </a:ext>
            </a:extLst>
          </p:cNvPr>
          <p:cNvSpPr txBox="1"/>
          <p:nvPr/>
        </p:nvSpPr>
        <p:spPr>
          <a:xfrm>
            <a:off x="5515279" y="4769542"/>
            <a:ext cx="820299" cy="672748"/>
          </a:xfrm>
          <a:prstGeom prst="rect">
            <a:avLst/>
          </a:prstGeom>
          <a:solidFill>
            <a:srgbClr val="ECF6FA"/>
          </a:solidFill>
        </p:spPr>
        <p:txBody>
          <a:bodyPr wrap="square" rtlCol="0">
            <a:spAutoFit/>
          </a:bodyPr>
          <a:lstStyle/>
          <a:p>
            <a:pPr algn="ctr"/>
            <a:r>
              <a:rPr lang="pt-BR" sz="1886" i="1" dirty="0">
                <a:latin typeface="Calibri Light" panose="020F0302020204030204" pitchFamily="34" charset="0"/>
                <a:cs typeface="Calibri Light" panose="020F0302020204030204" pitchFamily="34" charset="0"/>
              </a:rPr>
              <a:t>orienta</a:t>
            </a:r>
          </a:p>
        </p:txBody>
      </p:sp>
      <p:sp>
        <p:nvSpPr>
          <p:cNvPr id="25" name="TextBox 24">
            <a:extLst>
              <a:ext uri="{FF2B5EF4-FFF2-40B4-BE49-F238E27FC236}">
                <a16:creationId xmlns:a16="http://schemas.microsoft.com/office/drawing/2014/main" id="{AA519602-50C7-E24F-BBD2-4905DBA15F94}"/>
              </a:ext>
            </a:extLst>
          </p:cNvPr>
          <p:cNvSpPr txBox="1"/>
          <p:nvPr/>
        </p:nvSpPr>
        <p:spPr>
          <a:xfrm>
            <a:off x="7882248" y="4800772"/>
            <a:ext cx="432066" cy="281744"/>
          </a:xfrm>
          <a:prstGeom prst="rect">
            <a:avLst/>
          </a:prstGeom>
          <a:solidFill>
            <a:schemeClr val="accent1"/>
          </a:solidFill>
        </p:spPr>
        <p:txBody>
          <a:bodyPr wrap="square" rtlCol="0">
            <a:spAutoFit/>
          </a:bodyPr>
          <a:lstStyle/>
          <a:p>
            <a:r>
              <a:rPr lang="pt-BR" sz="1231" u="sng" dirty="0"/>
              <a:t>ID</a:t>
            </a:r>
          </a:p>
        </p:txBody>
      </p:sp>
      <p:sp>
        <p:nvSpPr>
          <p:cNvPr id="26" name="TextBox 25">
            <a:extLst>
              <a:ext uri="{FF2B5EF4-FFF2-40B4-BE49-F238E27FC236}">
                <a16:creationId xmlns:a16="http://schemas.microsoft.com/office/drawing/2014/main" id="{A80FC11B-52D6-FE47-A5A9-7226F6FED11C}"/>
              </a:ext>
            </a:extLst>
          </p:cNvPr>
          <p:cNvSpPr txBox="1"/>
          <p:nvPr/>
        </p:nvSpPr>
        <p:spPr>
          <a:xfrm>
            <a:off x="7869722" y="5073156"/>
            <a:ext cx="820299" cy="281744"/>
          </a:xfrm>
          <a:prstGeom prst="rect">
            <a:avLst/>
          </a:prstGeom>
          <a:solidFill>
            <a:schemeClr val="accent1"/>
          </a:solidFill>
        </p:spPr>
        <p:txBody>
          <a:bodyPr wrap="square" rtlCol="0">
            <a:spAutoFit/>
          </a:bodyPr>
          <a:lstStyle/>
          <a:p>
            <a:r>
              <a:rPr lang="pt-BR" sz="1231" i="1" dirty="0"/>
              <a:t>nome</a:t>
            </a:r>
          </a:p>
        </p:txBody>
      </p:sp>
      <p:sp>
        <p:nvSpPr>
          <p:cNvPr id="27" name="TextBox 26">
            <a:extLst>
              <a:ext uri="{FF2B5EF4-FFF2-40B4-BE49-F238E27FC236}">
                <a16:creationId xmlns:a16="http://schemas.microsoft.com/office/drawing/2014/main" id="{C766CBAB-08DD-D94D-8484-0D94B0074ACB}"/>
              </a:ext>
            </a:extLst>
          </p:cNvPr>
          <p:cNvSpPr txBox="1"/>
          <p:nvPr/>
        </p:nvSpPr>
        <p:spPr>
          <a:xfrm>
            <a:off x="7866593" y="5361246"/>
            <a:ext cx="1039465" cy="281744"/>
          </a:xfrm>
          <a:prstGeom prst="rect">
            <a:avLst/>
          </a:prstGeom>
          <a:solidFill>
            <a:schemeClr val="accent1"/>
          </a:solidFill>
        </p:spPr>
        <p:txBody>
          <a:bodyPr wrap="square" rtlCol="0">
            <a:spAutoFit/>
          </a:bodyPr>
          <a:lstStyle/>
          <a:p>
            <a:r>
              <a:rPr lang="pt-BR" sz="1231" i="1" dirty="0" err="1"/>
              <a:t>tot_cred</a:t>
            </a:r>
            <a:endParaRPr lang="pt-BR" sz="1231" i="1" dirty="0"/>
          </a:p>
        </p:txBody>
      </p:sp>
      <p:sp>
        <p:nvSpPr>
          <p:cNvPr id="29" name="TextBox 28">
            <a:extLst>
              <a:ext uri="{FF2B5EF4-FFF2-40B4-BE49-F238E27FC236}">
                <a16:creationId xmlns:a16="http://schemas.microsoft.com/office/drawing/2014/main" id="{734DDC7B-094C-9744-A9F6-139FBBF00CDB}"/>
              </a:ext>
            </a:extLst>
          </p:cNvPr>
          <p:cNvSpPr txBox="1"/>
          <p:nvPr/>
        </p:nvSpPr>
        <p:spPr>
          <a:xfrm>
            <a:off x="2528383" y="4912122"/>
            <a:ext cx="820299" cy="281744"/>
          </a:xfrm>
          <a:prstGeom prst="rect">
            <a:avLst/>
          </a:prstGeom>
          <a:solidFill>
            <a:schemeClr val="accent1"/>
          </a:solidFill>
        </p:spPr>
        <p:txBody>
          <a:bodyPr wrap="square" rtlCol="0">
            <a:spAutoFit/>
          </a:bodyPr>
          <a:lstStyle/>
          <a:p>
            <a:r>
              <a:rPr lang="pt-BR" sz="1231" i="1" dirty="0"/>
              <a:t>nome</a:t>
            </a:r>
          </a:p>
        </p:txBody>
      </p:sp>
      <p:sp>
        <p:nvSpPr>
          <p:cNvPr id="30" name="TextBox 29">
            <a:extLst>
              <a:ext uri="{FF2B5EF4-FFF2-40B4-BE49-F238E27FC236}">
                <a16:creationId xmlns:a16="http://schemas.microsoft.com/office/drawing/2014/main" id="{A9B125BF-A0E2-0C4A-9199-E25D8C36350B}"/>
              </a:ext>
            </a:extLst>
          </p:cNvPr>
          <p:cNvSpPr txBox="1"/>
          <p:nvPr/>
        </p:nvSpPr>
        <p:spPr>
          <a:xfrm>
            <a:off x="2528382" y="5144400"/>
            <a:ext cx="820299" cy="281744"/>
          </a:xfrm>
          <a:prstGeom prst="rect">
            <a:avLst/>
          </a:prstGeom>
          <a:solidFill>
            <a:schemeClr val="accent1"/>
          </a:solidFill>
        </p:spPr>
        <p:txBody>
          <a:bodyPr wrap="square" rtlCol="0">
            <a:spAutoFit/>
          </a:bodyPr>
          <a:lstStyle/>
          <a:p>
            <a:r>
              <a:rPr lang="pt-BR" sz="1231" i="1" dirty="0"/>
              <a:t>salário</a:t>
            </a:r>
          </a:p>
        </p:txBody>
      </p:sp>
      <p:sp>
        <p:nvSpPr>
          <p:cNvPr id="16" name="Rectangle 15">
            <a:extLst>
              <a:ext uri="{FF2B5EF4-FFF2-40B4-BE49-F238E27FC236}">
                <a16:creationId xmlns:a16="http://schemas.microsoft.com/office/drawing/2014/main" id="{032C10C0-67F8-B847-B685-EA99BF27593D}"/>
              </a:ext>
            </a:extLst>
          </p:cNvPr>
          <p:cNvSpPr/>
          <p:nvPr/>
        </p:nvSpPr>
        <p:spPr bwMode="auto">
          <a:xfrm>
            <a:off x="4071926" y="4290085"/>
            <a:ext cx="3591150" cy="1387156"/>
          </a:xfrm>
          <a:prstGeom prst="rect">
            <a:avLst/>
          </a:prstGeom>
          <a:solidFill>
            <a:schemeClr val="accent1"/>
          </a:solidFill>
          <a:ln w="9525" cap="flat" cmpd="sng" algn="ctr">
            <a:noFill/>
            <a:prstDash val="solid"/>
            <a:round/>
            <a:headEnd type="none" w="med" len="med"/>
            <a:tailEnd type="none" w="med" len="med"/>
          </a:ln>
          <a:effectLst/>
        </p:spPr>
        <p:txBody>
          <a:bodyPr vert="horz" wrap="none" lIns="86414" tIns="43207" rIns="86414" bIns="43207" numCol="1" rtlCol="0" anchor="t" anchorCtr="0" compatLnSpc="1">
            <a:prstTxWarp prst="textNoShape">
              <a:avLst/>
            </a:prstTxWarp>
          </a:bodyPr>
          <a:lstStyle/>
          <a:p>
            <a:pPr defTabSz="864223"/>
            <a:endParaRPr lang="pt-BR" sz="1512" dirty="0">
              <a:latin typeface="Helvetica" charset="0"/>
            </a:endParaRPr>
          </a:p>
        </p:txBody>
      </p:sp>
      <p:sp>
        <p:nvSpPr>
          <p:cNvPr id="34" name="TextBox 33">
            <a:extLst>
              <a:ext uri="{FF2B5EF4-FFF2-40B4-BE49-F238E27FC236}">
                <a16:creationId xmlns:a16="http://schemas.microsoft.com/office/drawing/2014/main" id="{88ADF003-0E15-C941-BC00-7882291DBF05}"/>
              </a:ext>
            </a:extLst>
          </p:cNvPr>
          <p:cNvSpPr txBox="1"/>
          <p:nvPr/>
        </p:nvSpPr>
        <p:spPr>
          <a:xfrm>
            <a:off x="2544042" y="5376678"/>
            <a:ext cx="1073470" cy="281744"/>
          </a:xfrm>
          <a:prstGeom prst="rect">
            <a:avLst/>
          </a:prstGeom>
          <a:solidFill>
            <a:schemeClr val="accent1"/>
          </a:solidFill>
        </p:spPr>
        <p:txBody>
          <a:bodyPr wrap="square" rtlCol="0">
            <a:spAutoFit/>
          </a:bodyPr>
          <a:lstStyle/>
          <a:p>
            <a:r>
              <a:rPr lang="pt-BR" sz="1231" dirty="0" err="1"/>
              <a:t>fk_id_aluno</a:t>
            </a:r>
            <a:endParaRPr lang="pt-BR" sz="1231" dirty="0"/>
          </a:p>
        </p:txBody>
      </p:sp>
      <p:sp>
        <p:nvSpPr>
          <p:cNvPr id="28" name="TextBox 27">
            <a:extLst>
              <a:ext uri="{FF2B5EF4-FFF2-40B4-BE49-F238E27FC236}">
                <a16:creationId xmlns:a16="http://schemas.microsoft.com/office/drawing/2014/main" id="{2AA93310-7B34-D742-822C-953403C38DA3}"/>
              </a:ext>
            </a:extLst>
          </p:cNvPr>
          <p:cNvSpPr txBox="1"/>
          <p:nvPr/>
        </p:nvSpPr>
        <p:spPr>
          <a:xfrm>
            <a:off x="2544041" y="4681877"/>
            <a:ext cx="432066" cy="281744"/>
          </a:xfrm>
          <a:prstGeom prst="rect">
            <a:avLst/>
          </a:prstGeom>
          <a:solidFill>
            <a:schemeClr val="accent1"/>
          </a:solidFill>
        </p:spPr>
        <p:txBody>
          <a:bodyPr wrap="square" rtlCol="0">
            <a:spAutoFit/>
          </a:bodyPr>
          <a:lstStyle/>
          <a:p>
            <a:r>
              <a:rPr lang="pt-BR" sz="1231" u="sng" dirty="0"/>
              <a:t>ID</a:t>
            </a:r>
          </a:p>
        </p:txBody>
      </p:sp>
      <p:cxnSp>
        <p:nvCxnSpPr>
          <p:cNvPr id="33" name="Straight Connector 32">
            <a:extLst>
              <a:ext uri="{FF2B5EF4-FFF2-40B4-BE49-F238E27FC236}">
                <a16:creationId xmlns:a16="http://schemas.microsoft.com/office/drawing/2014/main" id="{5BA40E8F-94CB-834E-82F0-E92E3C138BD8}"/>
              </a:ext>
            </a:extLst>
          </p:cNvPr>
          <p:cNvCxnSpPr/>
          <p:nvPr/>
        </p:nvCxnSpPr>
        <p:spPr bwMode="auto">
          <a:xfrm>
            <a:off x="4059403" y="5586200"/>
            <a:ext cx="1443353" cy="0"/>
          </a:xfrm>
          <a:prstGeom prst="line">
            <a:avLst/>
          </a:prstGeom>
          <a:solidFill>
            <a:schemeClr val="accent1"/>
          </a:solidFill>
          <a:ln w="34925" cap="flat" cmpd="sng" algn="ctr">
            <a:solidFill>
              <a:schemeClr val="tx1"/>
            </a:solidFill>
            <a:prstDash val="solid"/>
            <a:round/>
            <a:headEnd type="none" w="med" len="med"/>
            <a:tailEnd type="none" w="med" len="med"/>
          </a:ln>
          <a:effectLst/>
        </p:spPr>
      </p:cxnSp>
      <p:cxnSp>
        <p:nvCxnSpPr>
          <p:cNvPr id="36" name="Straight Connector 35">
            <a:extLst>
              <a:ext uri="{FF2B5EF4-FFF2-40B4-BE49-F238E27FC236}">
                <a16:creationId xmlns:a16="http://schemas.microsoft.com/office/drawing/2014/main" id="{794D3657-D23C-724B-8892-E1BED0D784DD}"/>
              </a:ext>
            </a:extLst>
          </p:cNvPr>
          <p:cNvCxnSpPr/>
          <p:nvPr/>
        </p:nvCxnSpPr>
        <p:spPr bwMode="auto">
          <a:xfrm flipV="1">
            <a:off x="5515279" y="4912122"/>
            <a:ext cx="0" cy="674076"/>
          </a:xfrm>
          <a:prstGeom prst="line">
            <a:avLst/>
          </a:prstGeom>
          <a:solidFill>
            <a:schemeClr val="accent1"/>
          </a:solidFill>
          <a:ln w="34925" cap="flat" cmpd="sng" algn="ctr">
            <a:solidFill>
              <a:schemeClr val="tx1"/>
            </a:solidFill>
            <a:prstDash val="solid"/>
            <a:round/>
            <a:headEnd type="none" w="med" len="med"/>
            <a:tailEnd type="none" w="med" len="med"/>
          </a:ln>
          <a:effectLst/>
        </p:spPr>
      </p:cxnSp>
      <p:cxnSp>
        <p:nvCxnSpPr>
          <p:cNvPr id="38" name="Straight Arrow Connector 37">
            <a:extLst>
              <a:ext uri="{FF2B5EF4-FFF2-40B4-BE49-F238E27FC236}">
                <a16:creationId xmlns:a16="http://schemas.microsoft.com/office/drawing/2014/main" id="{C949320D-420E-C443-BE3E-8D7A468DFA2F}"/>
              </a:ext>
            </a:extLst>
          </p:cNvPr>
          <p:cNvCxnSpPr>
            <a:cxnSpLocks/>
          </p:cNvCxnSpPr>
          <p:nvPr/>
        </p:nvCxnSpPr>
        <p:spPr bwMode="auto">
          <a:xfrm>
            <a:off x="5502756" y="4912122"/>
            <a:ext cx="2160320" cy="0"/>
          </a:xfrm>
          <a:prstGeom prst="straightConnector1">
            <a:avLst/>
          </a:prstGeom>
          <a:solidFill>
            <a:schemeClr val="accent1"/>
          </a:solidFill>
          <a:ln w="34925" cap="flat" cmpd="sng" algn="ctr">
            <a:solidFill>
              <a:schemeClr val="tx1"/>
            </a:solidFill>
            <a:prstDash val="solid"/>
            <a:round/>
            <a:headEnd type="none" w="med" len="med"/>
            <a:tailEnd type="triangle"/>
          </a:ln>
          <a:effectLst/>
        </p:spPr>
      </p:cxnSp>
      <p:sp>
        <p:nvSpPr>
          <p:cNvPr id="3" name="TextBox 2">
            <a:extLst>
              <a:ext uri="{FF2B5EF4-FFF2-40B4-BE49-F238E27FC236}">
                <a16:creationId xmlns:a16="http://schemas.microsoft.com/office/drawing/2014/main" id="{AC364670-A0D7-3C42-B660-DD7A360ABE1B}"/>
              </a:ext>
            </a:extLst>
          </p:cNvPr>
          <p:cNvSpPr txBox="1"/>
          <p:nvPr/>
        </p:nvSpPr>
        <p:spPr>
          <a:xfrm>
            <a:off x="6096000" y="3301689"/>
            <a:ext cx="3427169" cy="307777"/>
          </a:xfrm>
          <a:prstGeom prst="rect">
            <a:avLst/>
          </a:prstGeom>
          <a:noFill/>
        </p:spPr>
        <p:txBody>
          <a:bodyPr wrap="square" rtlCol="0">
            <a:spAutoFit/>
          </a:bodyPr>
          <a:lstStyle/>
          <a:p>
            <a:r>
              <a:rPr lang="pt-BR" sz="1400" dirty="0"/>
              <a:t>Mapeamento usando a abordagem 1</a:t>
            </a:r>
          </a:p>
        </p:txBody>
      </p:sp>
    </p:spTree>
    <p:extLst>
      <p:ext uri="{BB962C8B-B14F-4D97-AF65-F5344CB8AC3E}">
        <p14:creationId xmlns:p14="http://schemas.microsoft.com/office/powerpoint/2010/main" val="14016135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755F7536-BC6B-4913-B44A-500E76086342}"/>
              </a:ext>
            </a:extLst>
          </p:cNvPr>
          <p:cNvCxnSpPr/>
          <p:nvPr/>
        </p:nvCxnSpPr>
        <p:spPr bwMode="auto">
          <a:xfrm>
            <a:off x="1775339" y="188505"/>
            <a:ext cx="864132" cy="0"/>
          </a:xfrm>
          <a:prstGeom prst="line">
            <a:avLst/>
          </a:prstGeom>
          <a:solidFill>
            <a:schemeClr val="accent1"/>
          </a:solidFill>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cxnSp>
      <p:sp>
        <p:nvSpPr>
          <p:cNvPr id="662530" name="Rectangle 2"/>
          <p:cNvSpPr>
            <a:spLocks noGrp="1" noChangeArrowheads="1"/>
          </p:cNvSpPr>
          <p:nvPr>
            <p:ph type="title"/>
          </p:nvPr>
        </p:nvSpPr>
        <p:spPr>
          <a:xfrm>
            <a:off x="423148" y="303904"/>
            <a:ext cx="11345705" cy="559261"/>
          </a:xfrm>
        </p:spPr>
        <p:txBody>
          <a:bodyPr/>
          <a:lstStyle/>
          <a:p>
            <a:pPr>
              <a:defRPr/>
            </a:pPr>
            <a:r>
              <a:rPr lang="pt-BR" altLang="en-BR" sz="2708" dirty="0"/>
              <a:t>Passo 5: Mapeamento de  Conjuntos de Relacionamentos binários 1:N (ou N:1)</a:t>
            </a:r>
            <a:endParaRPr lang="en-US" altLang="en-US" sz="2708" dirty="0">
              <a:effectLst>
                <a:outerShdw sx="1000" sy="1000" algn="tl">
                  <a:srgbClr val="C0C0C0"/>
                </a:outerShdw>
              </a:effectLst>
            </a:endParaRPr>
          </a:p>
        </p:txBody>
      </p:sp>
      <p:sp>
        <p:nvSpPr>
          <p:cNvPr id="54275" name="Rectangle 3"/>
          <p:cNvSpPr>
            <a:spLocks noGrp="1" noChangeArrowheads="1"/>
          </p:cNvSpPr>
          <p:nvPr>
            <p:ph type="body" idx="1"/>
          </p:nvPr>
        </p:nvSpPr>
        <p:spPr>
          <a:xfrm>
            <a:off x="522975" y="1171672"/>
            <a:ext cx="11245878" cy="5382424"/>
          </a:xfrm>
        </p:spPr>
        <p:txBody>
          <a:bodyPr/>
          <a:lstStyle/>
          <a:p>
            <a:pPr eaLnBrk="1" hangingPunct="1">
              <a:lnSpc>
                <a:spcPct val="90000"/>
              </a:lnSpc>
              <a:spcBef>
                <a:spcPts val="567"/>
              </a:spcBef>
              <a:tabLst>
                <a:tab pos="315081" algn="l"/>
                <a:tab pos="421609" algn="l"/>
                <a:tab pos="853721" algn="l"/>
                <a:tab pos="1285832" algn="l"/>
                <a:tab pos="1717944" algn="l"/>
                <a:tab pos="2150055" algn="l"/>
                <a:tab pos="2582166" algn="l"/>
                <a:tab pos="3014278" algn="l"/>
                <a:tab pos="3446389" algn="l"/>
                <a:tab pos="3878500" algn="l"/>
                <a:tab pos="4310612" algn="l"/>
                <a:tab pos="4742723" algn="l"/>
                <a:tab pos="5174834" algn="l"/>
                <a:tab pos="5606946" algn="l"/>
                <a:tab pos="6039057" algn="l"/>
                <a:tab pos="6471168" algn="l"/>
                <a:tab pos="6903280" algn="l"/>
                <a:tab pos="7335391" algn="l"/>
                <a:tab pos="7767502" algn="l"/>
                <a:tab pos="8199613" algn="l"/>
                <a:tab pos="8631725" algn="l"/>
              </a:tabLst>
            </a:pPr>
            <a:r>
              <a:rPr lang="pt-BR" altLang="en-BR" sz="2000" dirty="0"/>
              <a:t>Para cada conjunto de relacionamentos binário </a:t>
            </a:r>
            <a:r>
              <a:rPr lang="pt-BR" altLang="en-BR" sz="2000" i="1" dirty="0" err="1"/>
              <a:t>R</a:t>
            </a:r>
            <a:r>
              <a:rPr lang="pt-BR" altLang="en-BR" sz="2000" dirty="0"/>
              <a:t> com cardinalidade 1:N, identifique os conjuntos de entidades participantes </a:t>
            </a:r>
            <a:r>
              <a:rPr lang="pt-BR" altLang="en-BR" sz="2000" i="1" dirty="0" err="1"/>
              <a:t>S</a:t>
            </a:r>
            <a:r>
              <a:rPr lang="pt-BR" altLang="en-BR" sz="2000" dirty="0"/>
              <a:t> e </a:t>
            </a:r>
            <a:r>
              <a:rPr lang="pt-BR" altLang="en-BR" sz="2000" i="1" dirty="0"/>
              <a:t>T</a:t>
            </a:r>
            <a:r>
              <a:rPr lang="pt-BR" altLang="en-BR" sz="2000" dirty="0"/>
              <a:t>.  Primeiramente, crie uma tabela correspondente a </a:t>
            </a:r>
            <a:r>
              <a:rPr lang="pt-BR" altLang="en-BR" sz="2000" i="1" dirty="0" err="1"/>
              <a:t>R</a:t>
            </a:r>
            <a:r>
              <a:rPr lang="pt-BR" altLang="en-BR" sz="2000" dirty="0"/>
              <a:t> formada com os atributos das chaves primárias de </a:t>
            </a:r>
            <a:r>
              <a:rPr lang="pt-BR" altLang="en-BR" sz="2000" i="1" dirty="0" err="1"/>
              <a:t>S</a:t>
            </a:r>
            <a:r>
              <a:rPr lang="pt-BR" altLang="en-BR" sz="2000" dirty="0"/>
              <a:t> e </a:t>
            </a:r>
            <a:r>
              <a:rPr lang="pt-BR" altLang="en-BR" sz="2000" i="1" dirty="0" err="1"/>
              <a:t>T</a:t>
            </a:r>
            <a:r>
              <a:rPr lang="pt-BR" altLang="en-BR" sz="2000" dirty="0"/>
              <a:t> e demais atributos de </a:t>
            </a:r>
            <a:r>
              <a:rPr lang="pt-BR" altLang="en-BR" sz="2000" i="1" dirty="0" err="1"/>
              <a:t>R</a:t>
            </a:r>
            <a:r>
              <a:rPr lang="pt-BR" altLang="en-BR" sz="2000" i="1" dirty="0"/>
              <a:t> </a:t>
            </a:r>
            <a:r>
              <a:rPr lang="pt-BR" altLang="en-BR" sz="2000" dirty="0"/>
              <a:t>(caso exista)</a:t>
            </a:r>
            <a:r>
              <a:rPr lang="pt-BR" altLang="en-BR" sz="2000" i="1" dirty="0"/>
              <a:t>. </a:t>
            </a:r>
            <a:r>
              <a:rPr lang="pt-BR" altLang="en-BR" sz="2000" dirty="0"/>
              <a:t>Como a cardinalidade é 1:N, a chave primária do relacionamento deve ser escolhida para ser a chave primária do conjunto de entidades que participa uma única vez do relacionamento (o lado N na notação padrão que estamos usando). Além disso, as chaves primárias de </a:t>
            </a:r>
            <a:r>
              <a:rPr lang="pt-BR" altLang="en-BR" sz="2000" i="1" dirty="0" err="1"/>
              <a:t>S</a:t>
            </a:r>
            <a:r>
              <a:rPr lang="pt-BR" altLang="en-BR" sz="2000" dirty="0"/>
              <a:t> e </a:t>
            </a:r>
            <a:r>
              <a:rPr lang="pt-BR" altLang="en-BR" sz="2000" i="1" dirty="0" err="1"/>
              <a:t>T</a:t>
            </a:r>
            <a:r>
              <a:rPr lang="pt-BR" altLang="en-BR" sz="2000" dirty="0"/>
              <a:t> são chaves estrangeiras de </a:t>
            </a:r>
            <a:r>
              <a:rPr lang="pt-BR" altLang="en-BR" sz="2000" i="1" dirty="0" err="1"/>
              <a:t>R</a:t>
            </a:r>
            <a:r>
              <a:rPr lang="pt-BR" altLang="en-BR" sz="2000" i="1" dirty="0"/>
              <a:t> </a:t>
            </a:r>
            <a:r>
              <a:rPr lang="pt-BR" altLang="en-BR" sz="2000" dirty="0"/>
              <a:t>para as tabelas oriundas de </a:t>
            </a:r>
            <a:r>
              <a:rPr lang="pt-BR" altLang="en-BR" sz="2000" i="1" dirty="0" err="1"/>
              <a:t>S</a:t>
            </a:r>
            <a:r>
              <a:rPr lang="pt-BR" altLang="en-BR" sz="2000" dirty="0"/>
              <a:t> e </a:t>
            </a:r>
            <a:r>
              <a:rPr lang="pt-BR" altLang="en-BR" sz="2000" i="1" dirty="0"/>
              <a:t>T.</a:t>
            </a:r>
            <a:r>
              <a:rPr lang="pt-BR" altLang="en-BR" sz="2000" dirty="0"/>
              <a:t> </a:t>
            </a:r>
          </a:p>
          <a:p>
            <a:pPr eaLnBrk="1" hangingPunct="1">
              <a:lnSpc>
                <a:spcPct val="90000"/>
              </a:lnSpc>
              <a:spcBef>
                <a:spcPts val="567"/>
              </a:spcBef>
              <a:tabLst>
                <a:tab pos="315081" algn="l"/>
                <a:tab pos="421609" algn="l"/>
                <a:tab pos="853721" algn="l"/>
                <a:tab pos="1285832" algn="l"/>
                <a:tab pos="1717944" algn="l"/>
                <a:tab pos="2150055" algn="l"/>
                <a:tab pos="2582166" algn="l"/>
                <a:tab pos="3014278" algn="l"/>
                <a:tab pos="3446389" algn="l"/>
                <a:tab pos="3878500" algn="l"/>
                <a:tab pos="4310612" algn="l"/>
                <a:tab pos="4742723" algn="l"/>
                <a:tab pos="5174834" algn="l"/>
                <a:tab pos="5606946" algn="l"/>
                <a:tab pos="6039057" algn="l"/>
                <a:tab pos="6471168" algn="l"/>
                <a:tab pos="6903280" algn="l"/>
                <a:tab pos="7335391" algn="l"/>
                <a:tab pos="7767502" algn="l"/>
                <a:tab pos="8199613" algn="l"/>
                <a:tab pos="8631725" algn="l"/>
              </a:tabLst>
            </a:pPr>
            <a:endParaRPr lang="pt-BR" altLang="en-BR" sz="2000" dirty="0"/>
          </a:p>
          <a:p>
            <a:pPr eaLnBrk="1" hangingPunct="1">
              <a:lnSpc>
                <a:spcPct val="90000"/>
              </a:lnSpc>
              <a:spcBef>
                <a:spcPts val="567"/>
              </a:spcBef>
              <a:tabLst>
                <a:tab pos="315081" algn="l"/>
                <a:tab pos="421609" algn="l"/>
                <a:tab pos="853721" algn="l"/>
                <a:tab pos="1285832" algn="l"/>
                <a:tab pos="1717944" algn="l"/>
                <a:tab pos="2150055" algn="l"/>
                <a:tab pos="2582166" algn="l"/>
                <a:tab pos="3014278" algn="l"/>
                <a:tab pos="3446389" algn="l"/>
                <a:tab pos="3878500" algn="l"/>
                <a:tab pos="4310612" algn="l"/>
                <a:tab pos="4742723" algn="l"/>
                <a:tab pos="5174834" algn="l"/>
                <a:tab pos="5606946" algn="l"/>
                <a:tab pos="6039057" algn="l"/>
                <a:tab pos="6471168" algn="l"/>
                <a:tab pos="6903280" algn="l"/>
                <a:tab pos="7335391" algn="l"/>
                <a:tab pos="7767502" algn="l"/>
                <a:tab pos="8199613" algn="l"/>
                <a:tab pos="8631725" algn="l"/>
              </a:tabLst>
            </a:pPr>
            <a:r>
              <a:rPr lang="pt-BR" altLang="en-BR" sz="2025" dirty="0"/>
              <a:t>Em seguida, devemos analisar a possibilidade de eliminar redundância:</a:t>
            </a:r>
          </a:p>
          <a:p>
            <a:pPr marL="694680" lvl="1" indent="-316582" eaLnBrk="1" hangingPunct="1">
              <a:lnSpc>
                <a:spcPct val="90000"/>
              </a:lnSpc>
              <a:spcBef>
                <a:spcPts val="567"/>
              </a:spcBef>
              <a:buFont typeface="+mj-lt"/>
              <a:buAutoNum type="arabicPeriod"/>
              <a:tabLst>
                <a:tab pos="315081" algn="l"/>
                <a:tab pos="421609" algn="l"/>
                <a:tab pos="853721" algn="l"/>
                <a:tab pos="1285832" algn="l"/>
                <a:tab pos="1717944" algn="l"/>
                <a:tab pos="2150055" algn="l"/>
                <a:tab pos="2582166" algn="l"/>
                <a:tab pos="3014278" algn="l"/>
                <a:tab pos="3446389" algn="l"/>
                <a:tab pos="3878500" algn="l"/>
                <a:tab pos="4310612" algn="l"/>
                <a:tab pos="4742723" algn="l"/>
                <a:tab pos="5174834" algn="l"/>
                <a:tab pos="5606946" algn="l"/>
                <a:tab pos="6039057" algn="l"/>
                <a:tab pos="6471168" algn="l"/>
                <a:tab pos="6903280" algn="l"/>
                <a:tab pos="7335391" algn="l"/>
                <a:tab pos="7767502" algn="l"/>
                <a:tab pos="8199613" algn="l"/>
                <a:tab pos="8631725" algn="l"/>
              </a:tabLst>
            </a:pPr>
            <a:r>
              <a:rPr lang="pt-BR" altLang="en-BR" sz="2025" dirty="0"/>
              <a:t>Se o conjunto de entidades que participa uma única vez do relacionamento, por exemplo </a:t>
            </a:r>
            <a:r>
              <a:rPr lang="pt-BR" altLang="en-BR" sz="2025" i="1" dirty="0" err="1"/>
              <a:t>S</a:t>
            </a:r>
            <a:r>
              <a:rPr lang="pt-BR" altLang="en-BR" sz="2025" dirty="0"/>
              <a:t>, tiver cobertura total, então devemos considerar a possibilidade de juntar </a:t>
            </a:r>
            <a:r>
              <a:rPr lang="pt-BR" altLang="en-BR" sz="2025" i="1" dirty="0" err="1"/>
              <a:t>R</a:t>
            </a:r>
            <a:r>
              <a:rPr lang="pt-BR" altLang="en-BR" sz="2025" i="1" dirty="0"/>
              <a:t> </a:t>
            </a:r>
            <a:r>
              <a:rPr lang="pt-BR" altLang="en-BR" sz="2025" dirty="0"/>
              <a:t>e </a:t>
            </a:r>
            <a:r>
              <a:rPr lang="pt-BR" altLang="en-BR" sz="2025" i="1" dirty="0"/>
              <a:t>S.</a:t>
            </a:r>
          </a:p>
          <a:p>
            <a:pPr marL="1063898" lvl="2" indent="-342900" eaLnBrk="1" hangingPunct="1">
              <a:lnSpc>
                <a:spcPct val="90000"/>
              </a:lnSpc>
              <a:spcBef>
                <a:spcPts val="567"/>
              </a:spcBef>
              <a:tabLst>
                <a:tab pos="315081" algn="l"/>
                <a:tab pos="421609" algn="l"/>
                <a:tab pos="853721" algn="l"/>
                <a:tab pos="1285832" algn="l"/>
                <a:tab pos="1717944" algn="l"/>
                <a:tab pos="2150055" algn="l"/>
                <a:tab pos="2582166" algn="l"/>
                <a:tab pos="3014278" algn="l"/>
                <a:tab pos="3446389" algn="l"/>
                <a:tab pos="3878500" algn="l"/>
                <a:tab pos="4310612" algn="l"/>
                <a:tab pos="4742723" algn="l"/>
                <a:tab pos="5174834" algn="l"/>
                <a:tab pos="5606946" algn="l"/>
                <a:tab pos="6039057" algn="l"/>
                <a:tab pos="6471168" algn="l"/>
                <a:tab pos="6903280" algn="l"/>
                <a:tab pos="7335391" algn="l"/>
                <a:tab pos="7767502" algn="l"/>
                <a:tab pos="8199613" algn="l"/>
                <a:tab pos="8631725" algn="l"/>
              </a:tabLst>
            </a:pPr>
            <a:r>
              <a:rPr lang="pt-BR" altLang="en-BR" sz="2025" dirty="0"/>
              <a:t>Se a cobertura do conjunto de entidades  </a:t>
            </a:r>
            <a:r>
              <a:rPr lang="pt-BR" altLang="en-BR" sz="2025" i="1" dirty="0" err="1"/>
              <a:t>S</a:t>
            </a:r>
            <a:r>
              <a:rPr lang="pt-BR" altLang="en-BR" sz="2025" dirty="0"/>
              <a:t> </a:t>
            </a:r>
            <a:r>
              <a:rPr lang="pt-BR" altLang="en-BR" sz="2025" u="sng" dirty="0"/>
              <a:t>for parcial</a:t>
            </a:r>
            <a:r>
              <a:rPr lang="pt-BR" altLang="en-BR" sz="2025" dirty="0"/>
              <a:t>, então juntar as relações não é um erro, mas exige a possibilidade de valores </a:t>
            </a:r>
            <a:r>
              <a:rPr lang="pt-BR" altLang="en-BR" sz="2025" dirty="0" err="1"/>
              <a:t>null</a:t>
            </a:r>
            <a:r>
              <a:rPr lang="pt-BR" altLang="en-BR" sz="2025" dirty="0"/>
              <a:t> na chave estrangeira. </a:t>
            </a:r>
          </a:p>
          <a:p>
            <a:pPr>
              <a:buFont typeface="Monotype Sorts" charset="2"/>
              <a:buNone/>
            </a:pPr>
            <a:r>
              <a:rPr lang="en-US" altLang="en-US" sz="2025" dirty="0"/>
              <a:t>	</a:t>
            </a:r>
          </a:p>
        </p:txBody>
      </p:sp>
    </p:spTree>
    <p:extLst>
      <p:ext uri="{BB962C8B-B14F-4D97-AF65-F5344CB8AC3E}">
        <p14:creationId xmlns:p14="http://schemas.microsoft.com/office/powerpoint/2010/main" val="236799419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755F7536-BC6B-4913-B44A-500E76086342}"/>
              </a:ext>
            </a:extLst>
          </p:cNvPr>
          <p:cNvCxnSpPr/>
          <p:nvPr/>
        </p:nvCxnSpPr>
        <p:spPr bwMode="auto">
          <a:xfrm>
            <a:off x="1775339" y="188505"/>
            <a:ext cx="864132" cy="0"/>
          </a:xfrm>
          <a:prstGeom prst="line">
            <a:avLst/>
          </a:prstGeom>
          <a:solidFill>
            <a:schemeClr val="accent1"/>
          </a:solidFill>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cxnSp>
      <p:sp>
        <p:nvSpPr>
          <p:cNvPr id="662530" name="Rectangle 2"/>
          <p:cNvSpPr>
            <a:spLocks noGrp="1" noChangeArrowheads="1"/>
          </p:cNvSpPr>
          <p:nvPr>
            <p:ph type="title"/>
          </p:nvPr>
        </p:nvSpPr>
        <p:spPr>
          <a:xfrm>
            <a:off x="395581" y="196581"/>
            <a:ext cx="11453494" cy="596892"/>
          </a:xfrm>
        </p:spPr>
        <p:txBody>
          <a:bodyPr/>
          <a:lstStyle/>
          <a:p>
            <a:pPr>
              <a:defRPr/>
            </a:pPr>
            <a:r>
              <a:rPr lang="pt-BR" altLang="en-BR" sz="2708" dirty="0"/>
              <a:t>Passo 5: Mapeamento de  Conjuntos de Relacionamentos binários 1:N  (cont.)</a:t>
            </a:r>
            <a:endParaRPr lang="en-US" altLang="en-US" sz="2708" dirty="0">
              <a:effectLst>
                <a:outerShdw sx="1000" sy="1000" algn="tl">
                  <a:srgbClr val="C0C0C0"/>
                </a:outerShdw>
              </a:effectLst>
            </a:endParaRPr>
          </a:p>
        </p:txBody>
      </p:sp>
      <p:grpSp>
        <p:nvGrpSpPr>
          <p:cNvPr id="25" name="Group 24">
            <a:extLst>
              <a:ext uri="{FF2B5EF4-FFF2-40B4-BE49-F238E27FC236}">
                <a16:creationId xmlns:a16="http://schemas.microsoft.com/office/drawing/2014/main" id="{18387AAB-1CFB-5C4F-81FD-10545C02A468}"/>
              </a:ext>
            </a:extLst>
          </p:cNvPr>
          <p:cNvGrpSpPr/>
          <p:nvPr/>
        </p:nvGrpSpPr>
        <p:grpSpPr>
          <a:xfrm>
            <a:off x="2219929" y="1599448"/>
            <a:ext cx="7303240" cy="1494543"/>
            <a:chOff x="1994452" y="1188221"/>
            <a:chExt cx="7728080" cy="1581484"/>
          </a:xfrm>
        </p:grpSpPr>
        <p:grpSp>
          <p:nvGrpSpPr>
            <p:cNvPr id="10" name="Group 9">
              <a:extLst>
                <a:ext uri="{FF2B5EF4-FFF2-40B4-BE49-F238E27FC236}">
                  <a16:creationId xmlns:a16="http://schemas.microsoft.com/office/drawing/2014/main" id="{96A5E81B-8E14-EC4E-9D9E-1529304D000C}"/>
                </a:ext>
              </a:extLst>
            </p:cNvPr>
            <p:cNvGrpSpPr/>
            <p:nvPr/>
          </p:nvGrpSpPr>
          <p:grpSpPr>
            <a:xfrm>
              <a:off x="1994452" y="1188221"/>
              <a:ext cx="7728080" cy="1581484"/>
              <a:chOff x="2108686" y="4859073"/>
              <a:chExt cx="7728080" cy="1581484"/>
            </a:xfrm>
          </p:grpSpPr>
          <p:pic>
            <p:nvPicPr>
              <p:cNvPr id="11" name="Picture 6">
                <a:extLst>
                  <a:ext uri="{FF2B5EF4-FFF2-40B4-BE49-F238E27FC236}">
                    <a16:creationId xmlns:a16="http://schemas.microsoft.com/office/drawing/2014/main" id="{BBDDACEB-EABC-704A-842D-40FA220798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08686" y="4859073"/>
                <a:ext cx="7728080" cy="1581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11">
                <a:extLst>
                  <a:ext uri="{FF2B5EF4-FFF2-40B4-BE49-F238E27FC236}">
                    <a16:creationId xmlns:a16="http://schemas.microsoft.com/office/drawing/2014/main" id="{9A80462A-4724-2C49-B0A2-989266ABA292}"/>
                  </a:ext>
                </a:extLst>
              </p:cNvPr>
              <p:cNvSpPr txBox="1"/>
              <p:nvPr/>
            </p:nvSpPr>
            <p:spPr>
              <a:xfrm>
                <a:off x="2438400" y="4898829"/>
                <a:ext cx="1245704" cy="298134"/>
              </a:xfrm>
              <a:prstGeom prst="rect">
                <a:avLst/>
              </a:prstGeom>
              <a:solidFill>
                <a:srgbClr val="C6E7F1"/>
              </a:solidFill>
            </p:spPr>
            <p:txBody>
              <a:bodyPr wrap="square" rtlCol="0">
                <a:spAutoFit/>
              </a:bodyPr>
              <a:lstStyle/>
              <a:p>
                <a:pPr algn="ctr"/>
                <a:r>
                  <a:rPr lang="pt-BR" sz="1231" i="1" dirty="0">
                    <a:latin typeface="Calibri Light" panose="020F0302020204030204" pitchFamily="34" charset="0"/>
                    <a:cs typeface="Calibri Light" panose="020F0302020204030204" pitchFamily="34" charset="0"/>
                  </a:rPr>
                  <a:t>professor</a:t>
                </a:r>
              </a:p>
            </p:txBody>
          </p:sp>
          <p:sp>
            <p:nvSpPr>
              <p:cNvPr id="13" name="TextBox 12">
                <a:extLst>
                  <a:ext uri="{FF2B5EF4-FFF2-40B4-BE49-F238E27FC236}">
                    <a16:creationId xmlns:a16="http://schemas.microsoft.com/office/drawing/2014/main" id="{FEA0C157-55AB-9643-81E6-7D5184FB5BD8}"/>
                  </a:ext>
                </a:extLst>
              </p:cNvPr>
              <p:cNvSpPr txBox="1"/>
              <p:nvPr/>
            </p:nvSpPr>
            <p:spPr>
              <a:xfrm>
                <a:off x="8169966" y="4911073"/>
                <a:ext cx="1413078" cy="298134"/>
              </a:xfrm>
              <a:prstGeom prst="rect">
                <a:avLst/>
              </a:prstGeom>
              <a:solidFill>
                <a:srgbClr val="C6E7F1"/>
              </a:solidFill>
            </p:spPr>
            <p:txBody>
              <a:bodyPr wrap="square" rtlCol="0">
                <a:spAutoFit/>
              </a:bodyPr>
              <a:lstStyle/>
              <a:p>
                <a:pPr algn="ctr"/>
                <a:r>
                  <a:rPr lang="pt-BR" sz="1231" i="1" dirty="0">
                    <a:latin typeface="Calibri Light" panose="020F0302020204030204" pitchFamily="34" charset="0"/>
                    <a:cs typeface="Calibri Light" panose="020F0302020204030204" pitchFamily="34" charset="0"/>
                  </a:rPr>
                  <a:t>departamento</a:t>
                </a:r>
              </a:p>
            </p:txBody>
          </p:sp>
          <p:sp>
            <p:nvSpPr>
              <p:cNvPr id="14" name="TextBox 13">
                <a:extLst>
                  <a:ext uri="{FF2B5EF4-FFF2-40B4-BE49-F238E27FC236}">
                    <a16:creationId xmlns:a16="http://schemas.microsoft.com/office/drawing/2014/main" id="{950F95B7-50DB-7041-B872-01470750E386}"/>
                  </a:ext>
                </a:extLst>
              </p:cNvPr>
              <p:cNvSpPr txBox="1"/>
              <p:nvPr/>
            </p:nvSpPr>
            <p:spPr>
              <a:xfrm>
                <a:off x="5607392" y="5419444"/>
                <a:ext cx="846420" cy="282392"/>
              </a:xfrm>
              <a:prstGeom prst="rect">
                <a:avLst/>
              </a:prstGeom>
              <a:solidFill>
                <a:srgbClr val="ECF6FA"/>
              </a:solidFill>
            </p:spPr>
            <p:txBody>
              <a:bodyPr wrap="square" rtlCol="0">
                <a:spAutoFit/>
              </a:bodyPr>
              <a:lstStyle/>
              <a:p>
                <a:pPr algn="ctr"/>
                <a:r>
                  <a:rPr lang="pt-BR" sz="1134" i="1" dirty="0" err="1">
                    <a:latin typeface="Calibri Light" panose="020F0302020204030204" pitchFamily="34" charset="0"/>
                    <a:cs typeface="Calibri Light" panose="020F0302020204030204" pitchFamily="34" charset="0"/>
                  </a:rPr>
                  <a:t>prof_dept</a:t>
                </a:r>
                <a:endParaRPr lang="pt-BR" sz="1134" i="1" dirty="0">
                  <a:latin typeface="Calibri Light" panose="020F0302020204030204" pitchFamily="34" charset="0"/>
                  <a:cs typeface="Calibri Light" panose="020F0302020204030204" pitchFamily="34" charset="0"/>
                </a:endParaRPr>
              </a:p>
            </p:txBody>
          </p:sp>
          <p:sp>
            <p:nvSpPr>
              <p:cNvPr id="15" name="TextBox 14">
                <a:extLst>
                  <a:ext uri="{FF2B5EF4-FFF2-40B4-BE49-F238E27FC236}">
                    <a16:creationId xmlns:a16="http://schemas.microsoft.com/office/drawing/2014/main" id="{0E493B92-B397-0544-BC5E-030CF99BA6B2}"/>
                  </a:ext>
                </a:extLst>
              </p:cNvPr>
              <p:cNvSpPr txBox="1"/>
              <p:nvPr/>
            </p:nvSpPr>
            <p:spPr>
              <a:xfrm>
                <a:off x="8100390" y="5423289"/>
                <a:ext cx="1482654" cy="298134"/>
              </a:xfrm>
              <a:prstGeom prst="rect">
                <a:avLst/>
              </a:prstGeom>
              <a:solidFill>
                <a:schemeClr val="accent1"/>
              </a:solidFill>
            </p:spPr>
            <p:txBody>
              <a:bodyPr wrap="square" rtlCol="0">
                <a:spAutoFit/>
              </a:bodyPr>
              <a:lstStyle/>
              <a:p>
                <a:r>
                  <a:rPr lang="pt-BR" sz="1231" i="1" u="sng" dirty="0" err="1"/>
                  <a:t>nome_dept</a:t>
                </a:r>
                <a:endParaRPr lang="pt-BR" sz="1231" i="1" u="sng" dirty="0"/>
              </a:p>
            </p:txBody>
          </p:sp>
          <p:sp>
            <p:nvSpPr>
              <p:cNvPr id="16" name="TextBox 15">
                <a:extLst>
                  <a:ext uri="{FF2B5EF4-FFF2-40B4-BE49-F238E27FC236}">
                    <a16:creationId xmlns:a16="http://schemas.microsoft.com/office/drawing/2014/main" id="{08CDDF1A-9615-FF42-9D8F-86275F63C9F8}"/>
                  </a:ext>
                </a:extLst>
              </p:cNvPr>
              <p:cNvSpPr txBox="1"/>
              <p:nvPr/>
            </p:nvSpPr>
            <p:spPr>
              <a:xfrm>
                <a:off x="8087136" y="5678470"/>
                <a:ext cx="868017" cy="298134"/>
              </a:xfrm>
              <a:prstGeom prst="rect">
                <a:avLst/>
              </a:prstGeom>
              <a:solidFill>
                <a:schemeClr val="accent1"/>
              </a:solidFill>
            </p:spPr>
            <p:txBody>
              <a:bodyPr wrap="square" rtlCol="0">
                <a:spAutoFit/>
              </a:bodyPr>
              <a:lstStyle/>
              <a:p>
                <a:r>
                  <a:rPr lang="pt-BR" sz="1231" i="1" dirty="0"/>
                  <a:t>prédio</a:t>
                </a:r>
              </a:p>
            </p:txBody>
          </p:sp>
          <p:sp>
            <p:nvSpPr>
              <p:cNvPr id="17" name="TextBox 16">
                <a:extLst>
                  <a:ext uri="{FF2B5EF4-FFF2-40B4-BE49-F238E27FC236}">
                    <a16:creationId xmlns:a16="http://schemas.microsoft.com/office/drawing/2014/main" id="{B52D45E7-4268-3049-AB9D-B2C590967514}"/>
                  </a:ext>
                </a:extLst>
              </p:cNvPr>
              <p:cNvSpPr txBox="1"/>
              <p:nvPr/>
            </p:nvSpPr>
            <p:spPr>
              <a:xfrm>
                <a:off x="8083825" y="6028277"/>
                <a:ext cx="1280426" cy="298134"/>
              </a:xfrm>
              <a:prstGeom prst="rect">
                <a:avLst/>
              </a:prstGeom>
              <a:solidFill>
                <a:schemeClr val="accent1"/>
              </a:solidFill>
            </p:spPr>
            <p:txBody>
              <a:bodyPr wrap="square" rtlCol="0">
                <a:spAutoFit/>
              </a:bodyPr>
              <a:lstStyle/>
              <a:p>
                <a:r>
                  <a:rPr lang="pt-BR" sz="1231" i="1" dirty="0"/>
                  <a:t>orçamento</a:t>
                </a:r>
              </a:p>
            </p:txBody>
          </p:sp>
          <p:sp>
            <p:nvSpPr>
              <p:cNvPr id="18" name="TextBox 17">
                <a:extLst>
                  <a:ext uri="{FF2B5EF4-FFF2-40B4-BE49-F238E27FC236}">
                    <a16:creationId xmlns:a16="http://schemas.microsoft.com/office/drawing/2014/main" id="{77EBACA6-8F76-864F-A9C6-672E29893B89}"/>
                  </a:ext>
                </a:extLst>
              </p:cNvPr>
              <p:cNvSpPr txBox="1"/>
              <p:nvPr/>
            </p:nvSpPr>
            <p:spPr>
              <a:xfrm>
                <a:off x="2451652" y="5388899"/>
                <a:ext cx="457200" cy="298134"/>
              </a:xfrm>
              <a:prstGeom prst="rect">
                <a:avLst/>
              </a:prstGeom>
              <a:solidFill>
                <a:schemeClr val="accent1"/>
              </a:solidFill>
            </p:spPr>
            <p:txBody>
              <a:bodyPr wrap="square" rtlCol="0">
                <a:spAutoFit/>
              </a:bodyPr>
              <a:lstStyle/>
              <a:p>
                <a:r>
                  <a:rPr lang="pt-BR" sz="1231" u="sng" dirty="0"/>
                  <a:t>ID</a:t>
                </a:r>
              </a:p>
            </p:txBody>
          </p:sp>
          <p:sp>
            <p:nvSpPr>
              <p:cNvPr id="19" name="TextBox 18">
                <a:extLst>
                  <a:ext uri="{FF2B5EF4-FFF2-40B4-BE49-F238E27FC236}">
                    <a16:creationId xmlns:a16="http://schemas.microsoft.com/office/drawing/2014/main" id="{CA166154-07E8-1F40-B873-377A12721D49}"/>
                  </a:ext>
                </a:extLst>
              </p:cNvPr>
              <p:cNvSpPr txBox="1"/>
              <p:nvPr/>
            </p:nvSpPr>
            <p:spPr>
              <a:xfrm>
                <a:off x="2435083" y="5673636"/>
                <a:ext cx="868017" cy="298134"/>
              </a:xfrm>
              <a:prstGeom prst="rect">
                <a:avLst/>
              </a:prstGeom>
              <a:solidFill>
                <a:schemeClr val="accent1"/>
              </a:solidFill>
            </p:spPr>
            <p:txBody>
              <a:bodyPr wrap="square" rtlCol="0">
                <a:spAutoFit/>
              </a:bodyPr>
              <a:lstStyle/>
              <a:p>
                <a:r>
                  <a:rPr lang="pt-BR" sz="1231" i="1" dirty="0"/>
                  <a:t>nome</a:t>
                </a:r>
              </a:p>
            </p:txBody>
          </p:sp>
          <p:sp>
            <p:nvSpPr>
              <p:cNvPr id="20" name="TextBox 19">
                <a:extLst>
                  <a:ext uri="{FF2B5EF4-FFF2-40B4-BE49-F238E27FC236}">
                    <a16:creationId xmlns:a16="http://schemas.microsoft.com/office/drawing/2014/main" id="{AFB4BF56-9DC1-E04F-B1B1-7133800E4118}"/>
                  </a:ext>
                </a:extLst>
              </p:cNvPr>
              <p:cNvSpPr txBox="1"/>
              <p:nvPr/>
            </p:nvSpPr>
            <p:spPr>
              <a:xfrm>
                <a:off x="2435082" y="6024101"/>
                <a:ext cx="868017" cy="298134"/>
              </a:xfrm>
              <a:prstGeom prst="rect">
                <a:avLst/>
              </a:prstGeom>
              <a:solidFill>
                <a:schemeClr val="accent1"/>
              </a:solidFill>
            </p:spPr>
            <p:txBody>
              <a:bodyPr wrap="square" rtlCol="0">
                <a:spAutoFit/>
              </a:bodyPr>
              <a:lstStyle/>
              <a:p>
                <a:r>
                  <a:rPr lang="pt-BR" sz="1231" i="1" dirty="0"/>
                  <a:t>salário</a:t>
                </a:r>
              </a:p>
            </p:txBody>
          </p:sp>
          <p:cxnSp>
            <p:nvCxnSpPr>
              <p:cNvPr id="21" name="Straight Arrow Connector 20">
                <a:extLst>
                  <a:ext uri="{FF2B5EF4-FFF2-40B4-BE49-F238E27FC236}">
                    <a16:creationId xmlns:a16="http://schemas.microsoft.com/office/drawing/2014/main" id="{15649E5D-EEB7-6D41-833F-A6DB94EA9E09}"/>
                  </a:ext>
                </a:extLst>
              </p:cNvPr>
              <p:cNvCxnSpPr/>
              <p:nvPr/>
            </p:nvCxnSpPr>
            <p:spPr bwMode="auto">
              <a:xfrm>
                <a:off x="6732104" y="5535697"/>
                <a:ext cx="1179444" cy="0"/>
              </a:xfrm>
              <a:prstGeom prst="straightConnector1">
                <a:avLst/>
              </a:prstGeom>
              <a:solidFill>
                <a:schemeClr val="accent1"/>
              </a:solidFill>
              <a:ln w="31750" cap="flat" cmpd="sng" algn="ctr">
                <a:solidFill>
                  <a:schemeClr val="tx1"/>
                </a:solidFill>
                <a:prstDash val="solid"/>
                <a:round/>
                <a:headEnd type="none" w="med" len="med"/>
                <a:tailEnd type="triangle"/>
              </a:ln>
              <a:effectLst/>
            </p:spPr>
          </p:cxnSp>
        </p:grpSp>
        <p:cxnSp>
          <p:nvCxnSpPr>
            <p:cNvPr id="24" name="Straight Connector 23">
              <a:extLst>
                <a:ext uri="{FF2B5EF4-FFF2-40B4-BE49-F238E27FC236}">
                  <a16:creationId xmlns:a16="http://schemas.microsoft.com/office/drawing/2014/main" id="{294B1785-95EE-9346-B3E7-7E421CBA0DCC}"/>
                </a:ext>
              </a:extLst>
            </p:cNvPr>
            <p:cNvCxnSpPr/>
            <p:nvPr/>
          </p:nvCxnSpPr>
          <p:spPr bwMode="auto">
            <a:xfrm>
              <a:off x="3935896" y="1886936"/>
              <a:ext cx="1272208" cy="0"/>
            </a:xfrm>
            <a:prstGeom prst="line">
              <a:avLst/>
            </a:prstGeom>
            <a:solidFill>
              <a:schemeClr val="accent1"/>
            </a:solidFill>
            <a:ln w="28575" cap="flat" cmpd="dbl" algn="ctr">
              <a:solidFill>
                <a:schemeClr val="tx1"/>
              </a:solidFill>
              <a:prstDash val="solid"/>
              <a:round/>
              <a:headEnd type="none" w="med" len="med"/>
              <a:tailEnd type="none" w="med" len="med"/>
            </a:ln>
            <a:effectLst/>
          </p:spPr>
        </p:cxnSp>
      </p:grpSp>
      <p:cxnSp>
        <p:nvCxnSpPr>
          <p:cNvPr id="28" name="Straight Arrow Connector 27">
            <a:extLst>
              <a:ext uri="{FF2B5EF4-FFF2-40B4-BE49-F238E27FC236}">
                <a16:creationId xmlns:a16="http://schemas.microsoft.com/office/drawing/2014/main" id="{74646493-9F1E-594B-9448-F6FE61901C94}"/>
              </a:ext>
            </a:extLst>
          </p:cNvPr>
          <p:cNvCxnSpPr/>
          <p:nvPr/>
        </p:nvCxnSpPr>
        <p:spPr bwMode="auto">
          <a:xfrm>
            <a:off x="5871549" y="3093994"/>
            <a:ext cx="0" cy="751420"/>
          </a:xfrm>
          <a:prstGeom prst="straightConnector1">
            <a:avLst/>
          </a:prstGeom>
          <a:solidFill>
            <a:schemeClr val="accent1"/>
          </a:solidFill>
          <a:ln w="57150" cap="flat" cmpd="sng" algn="ctr">
            <a:solidFill>
              <a:schemeClr val="tx1"/>
            </a:solidFill>
            <a:prstDash val="solid"/>
            <a:round/>
            <a:headEnd type="none" w="med" len="med"/>
            <a:tailEnd type="triangle"/>
          </a:ln>
          <a:effectLst/>
        </p:spPr>
      </p:cxnSp>
      <p:grpSp>
        <p:nvGrpSpPr>
          <p:cNvPr id="29" name="Group 28">
            <a:extLst>
              <a:ext uri="{FF2B5EF4-FFF2-40B4-BE49-F238E27FC236}">
                <a16:creationId xmlns:a16="http://schemas.microsoft.com/office/drawing/2014/main" id="{0D439CE4-68D5-0D4B-A20E-93AC8F605FE1}"/>
              </a:ext>
            </a:extLst>
          </p:cNvPr>
          <p:cNvGrpSpPr/>
          <p:nvPr/>
        </p:nvGrpSpPr>
        <p:grpSpPr>
          <a:xfrm>
            <a:off x="2219929" y="4290086"/>
            <a:ext cx="7303240" cy="1494544"/>
            <a:chOff x="1994452" y="4340176"/>
            <a:chExt cx="7728080" cy="1581484"/>
          </a:xfrm>
        </p:grpSpPr>
        <p:pic>
          <p:nvPicPr>
            <p:cNvPr id="30" name="Picture 6">
              <a:extLst>
                <a:ext uri="{FF2B5EF4-FFF2-40B4-BE49-F238E27FC236}">
                  <a16:creationId xmlns:a16="http://schemas.microsoft.com/office/drawing/2014/main" id="{CC966894-39E9-704E-ADF3-BB7ABD54C8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94452" y="4340176"/>
              <a:ext cx="7728080" cy="1581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 name="TextBox 30">
              <a:extLst>
                <a:ext uri="{FF2B5EF4-FFF2-40B4-BE49-F238E27FC236}">
                  <a16:creationId xmlns:a16="http://schemas.microsoft.com/office/drawing/2014/main" id="{E715F826-7897-4048-88E7-B2C0A5EC568B}"/>
                </a:ext>
              </a:extLst>
            </p:cNvPr>
            <p:cNvSpPr txBox="1"/>
            <p:nvPr/>
          </p:nvSpPr>
          <p:spPr>
            <a:xfrm>
              <a:off x="2324166" y="4379932"/>
              <a:ext cx="1245704" cy="298133"/>
            </a:xfrm>
            <a:prstGeom prst="rect">
              <a:avLst/>
            </a:prstGeom>
            <a:solidFill>
              <a:srgbClr val="C6E7F1"/>
            </a:solidFill>
          </p:spPr>
          <p:txBody>
            <a:bodyPr wrap="square" rtlCol="0">
              <a:spAutoFit/>
            </a:bodyPr>
            <a:lstStyle/>
            <a:p>
              <a:pPr algn="ctr"/>
              <a:r>
                <a:rPr lang="pt-BR" sz="1231" i="1" dirty="0">
                  <a:latin typeface="Calibri Light" panose="020F0302020204030204" pitchFamily="34" charset="0"/>
                  <a:cs typeface="Calibri Light" panose="020F0302020204030204" pitchFamily="34" charset="0"/>
                </a:rPr>
                <a:t>professor</a:t>
              </a:r>
            </a:p>
          </p:txBody>
        </p:sp>
        <p:sp>
          <p:nvSpPr>
            <p:cNvPr id="32" name="TextBox 31">
              <a:extLst>
                <a:ext uri="{FF2B5EF4-FFF2-40B4-BE49-F238E27FC236}">
                  <a16:creationId xmlns:a16="http://schemas.microsoft.com/office/drawing/2014/main" id="{CFF009C0-7ADD-F14F-8543-393708A94F27}"/>
                </a:ext>
              </a:extLst>
            </p:cNvPr>
            <p:cNvSpPr txBox="1"/>
            <p:nvPr/>
          </p:nvSpPr>
          <p:spPr>
            <a:xfrm>
              <a:off x="8148496" y="4389332"/>
              <a:ext cx="1432826" cy="298133"/>
            </a:xfrm>
            <a:prstGeom prst="rect">
              <a:avLst/>
            </a:prstGeom>
            <a:solidFill>
              <a:srgbClr val="C6E7F1"/>
            </a:solidFill>
          </p:spPr>
          <p:txBody>
            <a:bodyPr wrap="square" rtlCol="0">
              <a:spAutoFit/>
            </a:bodyPr>
            <a:lstStyle/>
            <a:p>
              <a:pPr algn="ctr"/>
              <a:r>
                <a:rPr lang="pt-BR" sz="1231" i="1" dirty="0">
                  <a:latin typeface="Calibri Light" panose="020F0302020204030204" pitchFamily="34" charset="0"/>
                  <a:cs typeface="Calibri Light" panose="020F0302020204030204" pitchFamily="34" charset="0"/>
                </a:rPr>
                <a:t>departamento</a:t>
              </a:r>
            </a:p>
          </p:txBody>
        </p:sp>
        <p:sp>
          <p:nvSpPr>
            <p:cNvPr id="33" name="TextBox 32">
              <a:extLst>
                <a:ext uri="{FF2B5EF4-FFF2-40B4-BE49-F238E27FC236}">
                  <a16:creationId xmlns:a16="http://schemas.microsoft.com/office/drawing/2014/main" id="{A57FBC63-14CF-564E-9590-DB9E355E26D6}"/>
                </a:ext>
              </a:extLst>
            </p:cNvPr>
            <p:cNvSpPr txBox="1"/>
            <p:nvPr/>
          </p:nvSpPr>
          <p:spPr>
            <a:xfrm>
              <a:off x="5481497" y="4847523"/>
              <a:ext cx="868017" cy="711883"/>
            </a:xfrm>
            <a:prstGeom prst="rect">
              <a:avLst/>
            </a:prstGeom>
            <a:solidFill>
              <a:srgbClr val="ECF6FA"/>
            </a:solidFill>
          </p:spPr>
          <p:txBody>
            <a:bodyPr wrap="square" rtlCol="0">
              <a:spAutoFit/>
            </a:bodyPr>
            <a:lstStyle/>
            <a:p>
              <a:pPr algn="ctr"/>
              <a:r>
                <a:rPr lang="pt-BR" sz="1886" i="1" dirty="0">
                  <a:latin typeface="Calibri Light" panose="020F0302020204030204" pitchFamily="34" charset="0"/>
                  <a:cs typeface="Calibri Light" panose="020F0302020204030204" pitchFamily="34" charset="0"/>
                </a:rPr>
                <a:t>orienta</a:t>
              </a:r>
            </a:p>
          </p:txBody>
        </p:sp>
        <p:sp>
          <p:nvSpPr>
            <p:cNvPr id="34" name="TextBox 33">
              <a:extLst>
                <a:ext uri="{FF2B5EF4-FFF2-40B4-BE49-F238E27FC236}">
                  <a16:creationId xmlns:a16="http://schemas.microsoft.com/office/drawing/2014/main" id="{F4FA3225-AB98-2146-8230-7AE5D8C3FD57}"/>
                </a:ext>
              </a:extLst>
            </p:cNvPr>
            <p:cNvSpPr txBox="1"/>
            <p:nvPr/>
          </p:nvSpPr>
          <p:spPr>
            <a:xfrm>
              <a:off x="7986156" y="4892482"/>
              <a:ext cx="1432826" cy="298133"/>
            </a:xfrm>
            <a:prstGeom prst="rect">
              <a:avLst/>
            </a:prstGeom>
            <a:solidFill>
              <a:schemeClr val="accent1"/>
            </a:solidFill>
          </p:spPr>
          <p:txBody>
            <a:bodyPr wrap="square" rtlCol="0">
              <a:spAutoFit/>
            </a:bodyPr>
            <a:lstStyle/>
            <a:p>
              <a:r>
                <a:rPr lang="pt-BR" sz="1231" u="sng" dirty="0" err="1"/>
                <a:t>nome_dept</a:t>
              </a:r>
              <a:endParaRPr lang="pt-BR" sz="1231" u="sng" dirty="0"/>
            </a:p>
          </p:txBody>
        </p:sp>
        <p:sp>
          <p:nvSpPr>
            <p:cNvPr id="35" name="TextBox 34">
              <a:extLst>
                <a:ext uri="{FF2B5EF4-FFF2-40B4-BE49-F238E27FC236}">
                  <a16:creationId xmlns:a16="http://schemas.microsoft.com/office/drawing/2014/main" id="{E18717D5-D514-854D-BDEC-1223B0C43FA2}"/>
                </a:ext>
              </a:extLst>
            </p:cNvPr>
            <p:cNvSpPr txBox="1"/>
            <p:nvPr/>
          </p:nvSpPr>
          <p:spPr>
            <a:xfrm>
              <a:off x="7972902" y="5156890"/>
              <a:ext cx="868017" cy="298133"/>
            </a:xfrm>
            <a:prstGeom prst="rect">
              <a:avLst/>
            </a:prstGeom>
            <a:solidFill>
              <a:schemeClr val="accent1"/>
            </a:solidFill>
          </p:spPr>
          <p:txBody>
            <a:bodyPr wrap="square" rtlCol="0">
              <a:spAutoFit/>
            </a:bodyPr>
            <a:lstStyle/>
            <a:p>
              <a:r>
                <a:rPr lang="pt-BR" sz="1231" i="1" dirty="0"/>
                <a:t>prédio</a:t>
              </a:r>
            </a:p>
          </p:txBody>
        </p:sp>
        <p:sp>
          <p:nvSpPr>
            <p:cNvPr id="36" name="TextBox 35">
              <a:extLst>
                <a:ext uri="{FF2B5EF4-FFF2-40B4-BE49-F238E27FC236}">
                  <a16:creationId xmlns:a16="http://schemas.microsoft.com/office/drawing/2014/main" id="{894CA5C4-1062-1448-B9D2-4C4369130765}"/>
                </a:ext>
              </a:extLst>
            </p:cNvPr>
            <p:cNvSpPr txBox="1"/>
            <p:nvPr/>
          </p:nvSpPr>
          <p:spPr>
            <a:xfrm>
              <a:off x="7969590" y="5497469"/>
              <a:ext cx="1432826" cy="298133"/>
            </a:xfrm>
            <a:prstGeom prst="rect">
              <a:avLst/>
            </a:prstGeom>
            <a:solidFill>
              <a:schemeClr val="accent1"/>
            </a:solidFill>
          </p:spPr>
          <p:txBody>
            <a:bodyPr wrap="square" rtlCol="0">
              <a:spAutoFit/>
            </a:bodyPr>
            <a:lstStyle/>
            <a:p>
              <a:r>
                <a:rPr lang="pt-BR" sz="1231" i="1" dirty="0"/>
                <a:t>orçamento</a:t>
              </a:r>
            </a:p>
          </p:txBody>
        </p:sp>
        <p:sp>
          <p:nvSpPr>
            <p:cNvPr id="37" name="TextBox 36">
              <a:extLst>
                <a:ext uri="{FF2B5EF4-FFF2-40B4-BE49-F238E27FC236}">
                  <a16:creationId xmlns:a16="http://schemas.microsoft.com/office/drawing/2014/main" id="{3A348D0D-0336-9245-AB8B-78885AAD4985}"/>
                </a:ext>
              </a:extLst>
            </p:cNvPr>
            <p:cNvSpPr txBox="1"/>
            <p:nvPr/>
          </p:nvSpPr>
          <p:spPr>
            <a:xfrm>
              <a:off x="2320849" y="4998398"/>
              <a:ext cx="868017" cy="298133"/>
            </a:xfrm>
            <a:prstGeom prst="rect">
              <a:avLst/>
            </a:prstGeom>
            <a:solidFill>
              <a:schemeClr val="accent1"/>
            </a:solidFill>
          </p:spPr>
          <p:txBody>
            <a:bodyPr wrap="square" rtlCol="0">
              <a:spAutoFit/>
            </a:bodyPr>
            <a:lstStyle/>
            <a:p>
              <a:r>
                <a:rPr lang="pt-BR" sz="1231" i="1" dirty="0"/>
                <a:t>nome</a:t>
              </a:r>
            </a:p>
          </p:txBody>
        </p:sp>
        <p:sp>
          <p:nvSpPr>
            <p:cNvPr id="38" name="TextBox 37">
              <a:extLst>
                <a:ext uri="{FF2B5EF4-FFF2-40B4-BE49-F238E27FC236}">
                  <a16:creationId xmlns:a16="http://schemas.microsoft.com/office/drawing/2014/main" id="{1338D27C-1757-314B-928C-3F9132A8B598}"/>
                </a:ext>
              </a:extLst>
            </p:cNvPr>
            <p:cNvSpPr txBox="1"/>
            <p:nvPr/>
          </p:nvSpPr>
          <p:spPr>
            <a:xfrm>
              <a:off x="2320848" y="5244188"/>
              <a:ext cx="868017" cy="298133"/>
            </a:xfrm>
            <a:prstGeom prst="rect">
              <a:avLst/>
            </a:prstGeom>
            <a:solidFill>
              <a:schemeClr val="accent1"/>
            </a:solidFill>
          </p:spPr>
          <p:txBody>
            <a:bodyPr wrap="square" rtlCol="0">
              <a:spAutoFit/>
            </a:bodyPr>
            <a:lstStyle/>
            <a:p>
              <a:r>
                <a:rPr lang="pt-BR" sz="1231" i="1" dirty="0"/>
                <a:t>salário</a:t>
              </a:r>
            </a:p>
          </p:txBody>
        </p:sp>
        <p:sp>
          <p:nvSpPr>
            <p:cNvPr id="39" name="Rectangle 38">
              <a:extLst>
                <a:ext uri="{FF2B5EF4-FFF2-40B4-BE49-F238E27FC236}">
                  <a16:creationId xmlns:a16="http://schemas.microsoft.com/office/drawing/2014/main" id="{C265689F-D0B7-CB40-B53B-7E6B41294A79}"/>
                </a:ext>
              </a:extLst>
            </p:cNvPr>
            <p:cNvSpPr/>
            <p:nvPr/>
          </p:nvSpPr>
          <p:spPr bwMode="auto">
            <a:xfrm>
              <a:off x="3954182" y="4340176"/>
              <a:ext cx="3800053" cy="1467850"/>
            </a:xfrm>
            <a:prstGeom prst="rect">
              <a:avLst/>
            </a:prstGeom>
            <a:solidFill>
              <a:schemeClr val="accent1"/>
            </a:solidFill>
            <a:ln w="9525" cap="flat" cmpd="sng" algn="ctr">
              <a:noFill/>
              <a:prstDash val="solid"/>
              <a:round/>
              <a:headEnd type="none" w="med" len="med"/>
              <a:tailEnd type="none" w="med" len="med"/>
            </a:ln>
            <a:effectLst/>
          </p:spPr>
          <p:txBody>
            <a:bodyPr vert="horz" wrap="none" lIns="86414" tIns="43207" rIns="86414" bIns="43207" numCol="1" rtlCol="0" anchor="t" anchorCtr="0" compatLnSpc="1">
              <a:prstTxWarp prst="textNoShape">
                <a:avLst/>
              </a:prstTxWarp>
            </a:bodyPr>
            <a:lstStyle/>
            <a:p>
              <a:pPr defTabSz="864223"/>
              <a:endParaRPr lang="pt-BR" sz="1512" dirty="0">
                <a:latin typeface="Helvetica" charset="0"/>
              </a:endParaRPr>
            </a:p>
          </p:txBody>
        </p:sp>
        <p:sp>
          <p:nvSpPr>
            <p:cNvPr id="40" name="TextBox 39">
              <a:extLst>
                <a:ext uri="{FF2B5EF4-FFF2-40B4-BE49-F238E27FC236}">
                  <a16:creationId xmlns:a16="http://schemas.microsoft.com/office/drawing/2014/main" id="{529C2002-8ACE-DB42-A0E0-4E89576F389C}"/>
                </a:ext>
              </a:extLst>
            </p:cNvPr>
            <p:cNvSpPr txBox="1"/>
            <p:nvPr/>
          </p:nvSpPr>
          <p:spPr>
            <a:xfrm>
              <a:off x="2337418" y="5513314"/>
              <a:ext cx="1245704" cy="298133"/>
            </a:xfrm>
            <a:prstGeom prst="rect">
              <a:avLst/>
            </a:prstGeom>
            <a:solidFill>
              <a:schemeClr val="accent1"/>
            </a:solidFill>
          </p:spPr>
          <p:txBody>
            <a:bodyPr wrap="square" rtlCol="0">
              <a:spAutoFit/>
            </a:bodyPr>
            <a:lstStyle/>
            <a:p>
              <a:r>
                <a:rPr lang="pt-BR" sz="1231" dirty="0" err="1"/>
                <a:t>fk_nome_dept</a:t>
              </a:r>
              <a:endParaRPr lang="pt-BR" sz="1231" dirty="0"/>
            </a:p>
          </p:txBody>
        </p:sp>
        <p:sp>
          <p:nvSpPr>
            <p:cNvPr id="41" name="TextBox 40">
              <a:extLst>
                <a:ext uri="{FF2B5EF4-FFF2-40B4-BE49-F238E27FC236}">
                  <a16:creationId xmlns:a16="http://schemas.microsoft.com/office/drawing/2014/main" id="{CA704DE9-A554-DE4F-913B-8C5A4B132FBE}"/>
                </a:ext>
              </a:extLst>
            </p:cNvPr>
            <p:cNvSpPr txBox="1"/>
            <p:nvPr/>
          </p:nvSpPr>
          <p:spPr>
            <a:xfrm>
              <a:off x="2337418" y="4754759"/>
              <a:ext cx="457200" cy="298133"/>
            </a:xfrm>
            <a:prstGeom prst="rect">
              <a:avLst/>
            </a:prstGeom>
            <a:solidFill>
              <a:schemeClr val="accent1"/>
            </a:solidFill>
          </p:spPr>
          <p:txBody>
            <a:bodyPr wrap="square" rtlCol="0">
              <a:spAutoFit/>
            </a:bodyPr>
            <a:lstStyle/>
            <a:p>
              <a:r>
                <a:rPr lang="pt-BR" sz="1231" u="sng" dirty="0"/>
                <a:t>ID</a:t>
              </a:r>
            </a:p>
          </p:txBody>
        </p:sp>
        <p:cxnSp>
          <p:nvCxnSpPr>
            <p:cNvPr id="42" name="Straight Connector 41">
              <a:extLst>
                <a:ext uri="{FF2B5EF4-FFF2-40B4-BE49-F238E27FC236}">
                  <a16:creationId xmlns:a16="http://schemas.microsoft.com/office/drawing/2014/main" id="{8861B901-B766-2C48-87EA-A84E5F6B9D8E}"/>
                </a:ext>
              </a:extLst>
            </p:cNvPr>
            <p:cNvCxnSpPr/>
            <p:nvPr/>
          </p:nvCxnSpPr>
          <p:spPr bwMode="auto">
            <a:xfrm>
              <a:off x="3940931" y="5711688"/>
              <a:ext cx="1527315" cy="0"/>
            </a:xfrm>
            <a:prstGeom prst="line">
              <a:avLst/>
            </a:prstGeom>
            <a:solidFill>
              <a:schemeClr val="accent1"/>
            </a:solidFill>
            <a:ln w="31750" cap="flat" cmpd="sng" algn="ctr">
              <a:solidFill>
                <a:schemeClr val="tx1"/>
              </a:solidFill>
              <a:prstDash val="solid"/>
              <a:round/>
              <a:headEnd type="none" w="med" len="med"/>
              <a:tailEnd type="none" w="med" len="med"/>
            </a:ln>
            <a:effectLst/>
          </p:spPr>
        </p:cxnSp>
        <p:cxnSp>
          <p:nvCxnSpPr>
            <p:cNvPr id="43" name="Straight Connector 42">
              <a:extLst>
                <a:ext uri="{FF2B5EF4-FFF2-40B4-BE49-F238E27FC236}">
                  <a16:creationId xmlns:a16="http://schemas.microsoft.com/office/drawing/2014/main" id="{0AE28CED-D2ED-8E41-B5E3-7FA9788090BB}"/>
                </a:ext>
              </a:extLst>
            </p:cNvPr>
            <p:cNvCxnSpPr/>
            <p:nvPr/>
          </p:nvCxnSpPr>
          <p:spPr bwMode="auto">
            <a:xfrm flipV="1">
              <a:off x="5481497" y="4998398"/>
              <a:ext cx="0" cy="713289"/>
            </a:xfrm>
            <a:prstGeom prst="line">
              <a:avLst/>
            </a:prstGeom>
            <a:solidFill>
              <a:schemeClr val="accent1"/>
            </a:solidFill>
            <a:ln w="31750" cap="flat" cmpd="sng" algn="ctr">
              <a:solidFill>
                <a:schemeClr val="tx1"/>
              </a:solidFill>
              <a:prstDash val="solid"/>
              <a:round/>
              <a:headEnd type="none" w="med" len="med"/>
              <a:tailEnd type="none" w="med" len="med"/>
            </a:ln>
            <a:effectLst/>
          </p:spPr>
        </p:cxnSp>
        <p:cxnSp>
          <p:nvCxnSpPr>
            <p:cNvPr id="44" name="Straight Arrow Connector 43">
              <a:extLst>
                <a:ext uri="{FF2B5EF4-FFF2-40B4-BE49-F238E27FC236}">
                  <a16:creationId xmlns:a16="http://schemas.microsoft.com/office/drawing/2014/main" id="{42D12F79-2498-284B-BFB3-2D908BD9629C}"/>
                </a:ext>
              </a:extLst>
            </p:cNvPr>
            <p:cNvCxnSpPr>
              <a:cxnSpLocks/>
            </p:cNvCxnSpPr>
            <p:nvPr/>
          </p:nvCxnSpPr>
          <p:spPr bwMode="auto">
            <a:xfrm>
              <a:off x="5468246" y="4998398"/>
              <a:ext cx="2285989" cy="0"/>
            </a:xfrm>
            <a:prstGeom prst="straightConnector1">
              <a:avLst/>
            </a:prstGeom>
            <a:solidFill>
              <a:schemeClr val="accent1"/>
            </a:solidFill>
            <a:ln w="31750" cap="flat" cmpd="sng" algn="ctr">
              <a:solidFill>
                <a:schemeClr val="tx1"/>
              </a:solidFill>
              <a:prstDash val="solid"/>
              <a:round/>
              <a:headEnd type="none" w="med" len="med"/>
              <a:tailEnd type="triangle"/>
            </a:ln>
            <a:effectLst/>
          </p:spPr>
        </p:cxnSp>
      </p:grpSp>
      <p:sp>
        <p:nvSpPr>
          <p:cNvPr id="3" name="TextBox 2">
            <a:extLst>
              <a:ext uri="{FF2B5EF4-FFF2-40B4-BE49-F238E27FC236}">
                <a16:creationId xmlns:a16="http://schemas.microsoft.com/office/drawing/2014/main" id="{1A5043F2-84A5-6748-9CE3-9D16F218592A}"/>
              </a:ext>
            </a:extLst>
          </p:cNvPr>
          <p:cNvSpPr txBox="1"/>
          <p:nvPr/>
        </p:nvSpPr>
        <p:spPr>
          <a:xfrm>
            <a:off x="6326188" y="3429000"/>
            <a:ext cx="3545524" cy="235898"/>
          </a:xfrm>
          <a:prstGeom prst="rect">
            <a:avLst/>
          </a:prstGeom>
          <a:noFill/>
        </p:spPr>
        <p:txBody>
          <a:bodyPr wrap="square" rtlCol="0">
            <a:spAutoFit/>
          </a:bodyPr>
          <a:lstStyle/>
          <a:p>
            <a:r>
              <a:rPr lang="pt-BR" sz="933" dirty="0"/>
              <a:t>Mapeamento usando a abordagem 1</a:t>
            </a:r>
          </a:p>
        </p:txBody>
      </p:sp>
    </p:spTree>
    <p:extLst>
      <p:ext uri="{BB962C8B-B14F-4D97-AF65-F5344CB8AC3E}">
        <p14:creationId xmlns:p14="http://schemas.microsoft.com/office/powerpoint/2010/main" val="11597894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755F7536-BC6B-4913-B44A-500E76086342}"/>
              </a:ext>
            </a:extLst>
          </p:cNvPr>
          <p:cNvCxnSpPr/>
          <p:nvPr/>
        </p:nvCxnSpPr>
        <p:spPr bwMode="auto">
          <a:xfrm>
            <a:off x="1775339" y="188505"/>
            <a:ext cx="864132" cy="0"/>
          </a:xfrm>
          <a:prstGeom prst="line">
            <a:avLst/>
          </a:prstGeom>
          <a:solidFill>
            <a:schemeClr val="accent1"/>
          </a:solidFill>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cxnSp>
      <p:sp>
        <p:nvSpPr>
          <p:cNvPr id="662530" name="Rectangle 2"/>
          <p:cNvSpPr>
            <a:spLocks noGrp="1" noChangeArrowheads="1"/>
          </p:cNvSpPr>
          <p:nvPr>
            <p:ph type="title"/>
          </p:nvPr>
        </p:nvSpPr>
        <p:spPr>
          <a:xfrm>
            <a:off x="486187" y="375704"/>
            <a:ext cx="11219627" cy="570087"/>
          </a:xfrm>
        </p:spPr>
        <p:txBody>
          <a:bodyPr/>
          <a:lstStyle/>
          <a:p>
            <a:pPr algn="ctr">
              <a:defRPr/>
            </a:pPr>
            <a:r>
              <a:rPr lang="pt-BR" altLang="en-BR" sz="2708" dirty="0"/>
              <a:t>Passo 5: Mapeamento de  Conjuntos de Relacionamentos binários 1:N  (cont.)</a:t>
            </a:r>
            <a:endParaRPr lang="en-US" altLang="en-US" sz="2708" dirty="0">
              <a:effectLst>
                <a:outerShdw sx="1000" sy="1000" algn="tl">
                  <a:srgbClr val="C0C0C0"/>
                </a:outerShdw>
              </a:effectLst>
            </a:endParaRPr>
          </a:p>
        </p:txBody>
      </p:sp>
      <p:grpSp>
        <p:nvGrpSpPr>
          <p:cNvPr id="3" name="Group 2">
            <a:extLst>
              <a:ext uri="{FF2B5EF4-FFF2-40B4-BE49-F238E27FC236}">
                <a16:creationId xmlns:a16="http://schemas.microsoft.com/office/drawing/2014/main" id="{09BF29DE-7FCE-BA46-8DB8-65E074C767C5}"/>
              </a:ext>
            </a:extLst>
          </p:cNvPr>
          <p:cNvGrpSpPr/>
          <p:nvPr/>
        </p:nvGrpSpPr>
        <p:grpSpPr>
          <a:xfrm>
            <a:off x="2219930" y="1499257"/>
            <a:ext cx="7303240" cy="1494543"/>
            <a:chOff x="1994452" y="1188221"/>
            <a:chExt cx="7728080" cy="1581484"/>
          </a:xfrm>
        </p:grpSpPr>
        <p:pic>
          <p:nvPicPr>
            <p:cNvPr id="46" name="Picture 6">
              <a:extLst>
                <a:ext uri="{FF2B5EF4-FFF2-40B4-BE49-F238E27FC236}">
                  <a16:creationId xmlns:a16="http://schemas.microsoft.com/office/drawing/2014/main" id="{9DC0FC0F-B0EC-4946-A769-16275640B8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94452" y="1188221"/>
              <a:ext cx="7728080" cy="1581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 name="TextBox 46">
              <a:extLst>
                <a:ext uri="{FF2B5EF4-FFF2-40B4-BE49-F238E27FC236}">
                  <a16:creationId xmlns:a16="http://schemas.microsoft.com/office/drawing/2014/main" id="{23CF233B-9C1D-8845-8780-2337FB07DE8C}"/>
                </a:ext>
              </a:extLst>
            </p:cNvPr>
            <p:cNvSpPr txBox="1"/>
            <p:nvPr/>
          </p:nvSpPr>
          <p:spPr>
            <a:xfrm>
              <a:off x="2324164" y="1215646"/>
              <a:ext cx="1245704" cy="358248"/>
            </a:xfrm>
            <a:prstGeom prst="rect">
              <a:avLst/>
            </a:prstGeom>
            <a:solidFill>
              <a:srgbClr val="C6E7F1"/>
            </a:solidFill>
          </p:spPr>
          <p:txBody>
            <a:bodyPr wrap="square" rtlCol="0">
              <a:spAutoFit/>
            </a:bodyPr>
            <a:lstStyle/>
            <a:p>
              <a:pPr algn="ctr"/>
              <a:r>
                <a:rPr lang="pt-BR" i="1" dirty="0">
                  <a:latin typeface="Calibri Light" panose="020F0302020204030204" pitchFamily="34" charset="0"/>
                  <a:cs typeface="Calibri Light" panose="020F0302020204030204" pitchFamily="34" charset="0"/>
                </a:rPr>
                <a:t>professor</a:t>
              </a:r>
            </a:p>
          </p:txBody>
        </p:sp>
        <p:sp>
          <p:nvSpPr>
            <p:cNvPr id="48" name="TextBox 47">
              <a:extLst>
                <a:ext uri="{FF2B5EF4-FFF2-40B4-BE49-F238E27FC236}">
                  <a16:creationId xmlns:a16="http://schemas.microsoft.com/office/drawing/2014/main" id="{4DCBB3B9-1396-9643-B3CB-F392D14EA035}"/>
                </a:ext>
              </a:extLst>
            </p:cNvPr>
            <p:cNvSpPr txBox="1"/>
            <p:nvPr/>
          </p:nvSpPr>
          <p:spPr>
            <a:xfrm>
              <a:off x="8148496" y="1213556"/>
              <a:ext cx="1245704" cy="358248"/>
            </a:xfrm>
            <a:prstGeom prst="rect">
              <a:avLst/>
            </a:prstGeom>
            <a:solidFill>
              <a:srgbClr val="C6E7F1"/>
            </a:solidFill>
          </p:spPr>
          <p:txBody>
            <a:bodyPr wrap="square" rtlCol="0">
              <a:spAutoFit/>
            </a:bodyPr>
            <a:lstStyle/>
            <a:p>
              <a:pPr algn="ctr"/>
              <a:r>
                <a:rPr lang="pt-BR" i="1" dirty="0">
                  <a:latin typeface="Calibri Light" panose="020F0302020204030204" pitchFamily="34" charset="0"/>
                  <a:cs typeface="Calibri Light" panose="020F0302020204030204" pitchFamily="34" charset="0"/>
                </a:rPr>
                <a:t>aluno</a:t>
              </a:r>
            </a:p>
          </p:txBody>
        </p:sp>
        <p:sp>
          <p:nvSpPr>
            <p:cNvPr id="49" name="TextBox 48">
              <a:extLst>
                <a:ext uri="{FF2B5EF4-FFF2-40B4-BE49-F238E27FC236}">
                  <a16:creationId xmlns:a16="http://schemas.microsoft.com/office/drawing/2014/main" id="{925530E9-DB0A-7E49-8E3D-50C7A7C68ADF}"/>
                </a:ext>
              </a:extLst>
            </p:cNvPr>
            <p:cNvSpPr txBox="1"/>
            <p:nvPr/>
          </p:nvSpPr>
          <p:spPr>
            <a:xfrm>
              <a:off x="5466835" y="1714217"/>
              <a:ext cx="868018" cy="325672"/>
            </a:xfrm>
            <a:prstGeom prst="rect">
              <a:avLst/>
            </a:prstGeom>
            <a:solidFill>
              <a:srgbClr val="ECF6FA"/>
            </a:solidFill>
          </p:spPr>
          <p:txBody>
            <a:bodyPr wrap="square" rtlCol="0">
              <a:spAutoFit/>
            </a:bodyPr>
            <a:lstStyle/>
            <a:p>
              <a:pPr algn="ctr"/>
              <a:r>
                <a:rPr lang="pt-BR" sz="1400" i="1" dirty="0">
                  <a:latin typeface="Calibri Light" panose="020F0302020204030204" pitchFamily="34" charset="0"/>
                  <a:cs typeface="Calibri Light" panose="020F0302020204030204" pitchFamily="34" charset="0"/>
                </a:rPr>
                <a:t>orienta</a:t>
              </a:r>
            </a:p>
          </p:txBody>
        </p:sp>
        <p:sp>
          <p:nvSpPr>
            <p:cNvPr id="50" name="TextBox 49">
              <a:extLst>
                <a:ext uri="{FF2B5EF4-FFF2-40B4-BE49-F238E27FC236}">
                  <a16:creationId xmlns:a16="http://schemas.microsoft.com/office/drawing/2014/main" id="{6547381D-437B-AF4A-AE3A-B1C968456B70}"/>
                </a:ext>
              </a:extLst>
            </p:cNvPr>
            <p:cNvSpPr txBox="1"/>
            <p:nvPr/>
          </p:nvSpPr>
          <p:spPr>
            <a:xfrm>
              <a:off x="7986156" y="1639742"/>
              <a:ext cx="457200" cy="404794"/>
            </a:xfrm>
            <a:prstGeom prst="rect">
              <a:avLst/>
            </a:prstGeom>
            <a:solidFill>
              <a:schemeClr val="accent1"/>
            </a:solidFill>
          </p:spPr>
          <p:txBody>
            <a:bodyPr wrap="square" rtlCol="0">
              <a:spAutoFit/>
            </a:bodyPr>
            <a:lstStyle/>
            <a:p>
              <a:r>
                <a:rPr lang="pt-BR" sz="1886" u="sng" dirty="0"/>
                <a:t>ID</a:t>
              </a:r>
            </a:p>
          </p:txBody>
        </p:sp>
        <p:sp>
          <p:nvSpPr>
            <p:cNvPr id="51" name="TextBox 50">
              <a:extLst>
                <a:ext uri="{FF2B5EF4-FFF2-40B4-BE49-F238E27FC236}">
                  <a16:creationId xmlns:a16="http://schemas.microsoft.com/office/drawing/2014/main" id="{B58EC79D-5F40-5443-8CC0-B442803AEC1F}"/>
                </a:ext>
              </a:extLst>
            </p:cNvPr>
            <p:cNvSpPr txBox="1"/>
            <p:nvPr/>
          </p:nvSpPr>
          <p:spPr>
            <a:xfrm>
              <a:off x="7972902" y="1966453"/>
              <a:ext cx="868017" cy="404794"/>
            </a:xfrm>
            <a:prstGeom prst="rect">
              <a:avLst/>
            </a:prstGeom>
            <a:solidFill>
              <a:schemeClr val="accent1"/>
            </a:solidFill>
          </p:spPr>
          <p:txBody>
            <a:bodyPr wrap="square" rtlCol="0">
              <a:spAutoFit/>
            </a:bodyPr>
            <a:lstStyle/>
            <a:p>
              <a:r>
                <a:rPr lang="pt-BR" sz="1886" i="1" dirty="0"/>
                <a:t>nome</a:t>
              </a:r>
            </a:p>
          </p:txBody>
        </p:sp>
        <p:sp>
          <p:nvSpPr>
            <p:cNvPr id="52" name="TextBox 51">
              <a:extLst>
                <a:ext uri="{FF2B5EF4-FFF2-40B4-BE49-F238E27FC236}">
                  <a16:creationId xmlns:a16="http://schemas.microsoft.com/office/drawing/2014/main" id="{CE9E10B8-EDA9-DE43-8FF5-B35C48A595B1}"/>
                </a:ext>
              </a:extLst>
            </p:cNvPr>
            <p:cNvSpPr txBox="1"/>
            <p:nvPr/>
          </p:nvSpPr>
          <p:spPr>
            <a:xfrm>
              <a:off x="7969591" y="2263049"/>
              <a:ext cx="1424604" cy="404794"/>
            </a:xfrm>
            <a:prstGeom prst="rect">
              <a:avLst/>
            </a:prstGeom>
            <a:solidFill>
              <a:schemeClr val="accent1"/>
            </a:solidFill>
          </p:spPr>
          <p:txBody>
            <a:bodyPr wrap="square" rtlCol="0">
              <a:spAutoFit/>
            </a:bodyPr>
            <a:lstStyle/>
            <a:p>
              <a:r>
                <a:rPr lang="pt-BR" sz="1886" i="1" dirty="0" err="1"/>
                <a:t>tot_cred</a:t>
              </a:r>
              <a:endParaRPr lang="pt-BR" sz="1886" i="1" dirty="0"/>
            </a:p>
          </p:txBody>
        </p:sp>
        <p:sp>
          <p:nvSpPr>
            <p:cNvPr id="53" name="TextBox 52">
              <a:extLst>
                <a:ext uri="{FF2B5EF4-FFF2-40B4-BE49-F238E27FC236}">
                  <a16:creationId xmlns:a16="http://schemas.microsoft.com/office/drawing/2014/main" id="{92E5DABE-F334-B340-A4C9-062D492FBD33}"/>
                </a:ext>
              </a:extLst>
            </p:cNvPr>
            <p:cNvSpPr txBox="1"/>
            <p:nvPr/>
          </p:nvSpPr>
          <p:spPr>
            <a:xfrm>
              <a:off x="2356358" y="1615296"/>
              <a:ext cx="597677" cy="404794"/>
            </a:xfrm>
            <a:prstGeom prst="rect">
              <a:avLst/>
            </a:prstGeom>
            <a:solidFill>
              <a:schemeClr val="accent1"/>
            </a:solidFill>
          </p:spPr>
          <p:txBody>
            <a:bodyPr wrap="square" rtlCol="0">
              <a:spAutoFit/>
            </a:bodyPr>
            <a:lstStyle/>
            <a:p>
              <a:r>
                <a:rPr lang="pt-BR" sz="1886" u="sng" dirty="0"/>
                <a:t>ID</a:t>
              </a:r>
            </a:p>
          </p:txBody>
        </p:sp>
        <p:sp>
          <p:nvSpPr>
            <p:cNvPr id="54" name="TextBox 53">
              <a:extLst>
                <a:ext uri="{FF2B5EF4-FFF2-40B4-BE49-F238E27FC236}">
                  <a16:creationId xmlns:a16="http://schemas.microsoft.com/office/drawing/2014/main" id="{5894E87F-14E9-114D-B402-926A55298A25}"/>
                </a:ext>
              </a:extLst>
            </p:cNvPr>
            <p:cNvSpPr txBox="1"/>
            <p:nvPr/>
          </p:nvSpPr>
          <p:spPr>
            <a:xfrm>
              <a:off x="2320849" y="1964302"/>
              <a:ext cx="868017" cy="404794"/>
            </a:xfrm>
            <a:prstGeom prst="rect">
              <a:avLst/>
            </a:prstGeom>
            <a:solidFill>
              <a:schemeClr val="accent1"/>
            </a:solidFill>
          </p:spPr>
          <p:txBody>
            <a:bodyPr wrap="square" rtlCol="0">
              <a:spAutoFit/>
            </a:bodyPr>
            <a:lstStyle/>
            <a:p>
              <a:r>
                <a:rPr lang="pt-BR" sz="1886" i="1" dirty="0"/>
                <a:t>nome</a:t>
              </a:r>
            </a:p>
          </p:txBody>
        </p:sp>
        <p:sp>
          <p:nvSpPr>
            <p:cNvPr id="55" name="TextBox 54">
              <a:extLst>
                <a:ext uri="{FF2B5EF4-FFF2-40B4-BE49-F238E27FC236}">
                  <a16:creationId xmlns:a16="http://schemas.microsoft.com/office/drawing/2014/main" id="{5EA09958-5F7B-BB4B-A88A-C59DFF4CA45E}"/>
                </a:ext>
              </a:extLst>
            </p:cNvPr>
            <p:cNvSpPr txBox="1"/>
            <p:nvPr/>
          </p:nvSpPr>
          <p:spPr>
            <a:xfrm>
              <a:off x="2320848" y="2273534"/>
              <a:ext cx="1245697" cy="404794"/>
            </a:xfrm>
            <a:prstGeom prst="rect">
              <a:avLst/>
            </a:prstGeom>
            <a:solidFill>
              <a:schemeClr val="accent1"/>
            </a:solidFill>
          </p:spPr>
          <p:txBody>
            <a:bodyPr wrap="square" rtlCol="0">
              <a:spAutoFit/>
            </a:bodyPr>
            <a:lstStyle/>
            <a:p>
              <a:r>
                <a:rPr lang="pt-BR" sz="1886" i="1" dirty="0"/>
                <a:t>salário</a:t>
              </a:r>
            </a:p>
          </p:txBody>
        </p:sp>
        <p:cxnSp>
          <p:nvCxnSpPr>
            <p:cNvPr id="57" name="Straight Arrow Connector 56">
              <a:extLst>
                <a:ext uri="{FF2B5EF4-FFF2-40B4-BE49-F238E27FC236}">
                  <a16:creationId xmlns:a16="http://schemas.microsoft.com/office/drawing/2014/main" id="{045305A7-7B26-D14B-823F-1C3249E5CF68}"/>
                </a:ext>
              </a:extLst>
            </p:cNvPr>
            <p:cNvCxnSpPr/>
            <p:nvPr/>
          </p:nvCxnSpPr>
          <p:spPr bwMode="auto">
            <a:xfrm flipH="1">
              <a:off x="3940931" y="1875478"/>
              <a:ext cx="1232452" cy="0"/>
            </a:xfrm>
            <a:prstGeom prst="straightConnector1">
              <a:avLst/>
            </a:prstGeom>
            <a:solidFill>
              <a:schemeClr val="accent1"/>
            </a:solidFill>
            <a:ln w="22225" cap="flat" cmpd="sng" algn="ctr">
              <a:solidFill>
                <a:schemeClr val="tx1"/>
              </a:solidFill>
              <a:prstDash val="solid"/>
              <a:round/>
              <a:headEnd type="none" w="med" len="med"/>
              <a:tailEnd type="triangle"/>
            </a:ln>
            <a:effectLst/>
          </p:spPr>
        </p:cxnSp>
      </p:grpSp>
      <p:cxnSp>
        <p:nvCxnSpPr>
          <p:cNvPr id="58" name="Straight Arrow Connector 57">
            <a:extLst>
              <a:ext uri="{FF2B5EF4-FFF2-40B4-BE49-F238E27FC236}">
                <a16:creationId xmlns:a16="http://schemas.microsoft.com/office/drawing/2014/main" id="{2BB6BBF6-B772-A348-926E-A055A1AEDA80}"/>
              </a:ext>
            </a:extLst>
          </p:cNvPr>
          <p:cNvCxnSpPr/>
          <p:nvPr/>
        </p:nvCxnSpPr>
        <p:spPr bwMode="auto">
          <a:xfrm>
            <a:off x="5921642" y="3154832"/>
            <a:ext cx="0" cy="751420"/>
          </a:xfrm>
          <a:prstGeom prst="straightConnector1">
            <a:avLst/>
          </a:prstGeom>
          <a:solidFill>
            <a:schemeClr val="accent1"/>
          </a:solidFill>
          <a:ln w="57150" cap="flat" cmpd="sng" algn="ctr">
            <a:solidFill>
              <a:schemeClr val="tx1"/>
            </a:solidFill>
            <a:prstDash val="solid"/>
            <a:round/>
            <a:headEnd type="none" w="med" len="med"/>
            <a:tailEnd type="triangle"/>
          </a:ln>
          <a:effectLst/>
        </p:spPr>
      </p:cxnSp>
      <p:grpSp>
        <p:nvGrpSpPr>
          <p:cNvPr id="82" name="Group 81">
            <a:extLst>
              <a:ext uri="{FF2B5EF4-FFF2-40B4-BE49-F238E27FC236}">
                <a16:creationId xmlns:a16="http://schemas.microsoft.com/office/drawing/2014/main" id="{4B68D98A-4A13-684A-B725-C39F44EAC5F0}"/>
              </a:ext>
            </a:extLst>
          </p:cNvPr>
          <p:cNvGrpSpPr/>
          <p:nvPr/>
        </p:nvGrpSpPr>
        <p:grpSpPr>
          <a:xfrm>
            <a:off x="2219929" y="4290087"/>
            <a:ext cx="7303240" cy="1494545"/>
            <a:chOff x="1994452" y="4340176"/>
            <a:chExt cx="7728080" cy="1581484"/>
          </a:xfrm>
        </p:grpSpPr>
        <p:pic>
          <p:nvPicPr>
            <p:cNvPr id="60" name="Picture 6">
              <a:extLst>
                <a:ext uri="{FF2B5EF4-FFF2-40B4-BE49-F238E27FC236}">
                  <a16:creationId xmlns:a16="http://schemas.microsoft.com/office/drawing/2014/main" id="{0FF61E1E-5B22-D948-8FB0-A4E570967C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94452" y="4340176"/>
              <a:ext cx="7728080" cy="1581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 name="TextBox 60">
              <a:extLst>
                <a:ext uri="{FF2B5EF4-FFF2-40B4-BE49-F238E27FC236}">
                  <a16:creationId xmlns:a16="http://schemas.microsoft.com/office/drawing/2014/main" id="{EA76C814-F909-CD40-9EF2-709635E137CA}"/>
                </a:ext>
              </a:extLst>
            </p:cNvPr>
            <p:cNvSpPr txBox="1"/>
            <p:nvPr/>
          </p:nvSpPr>
          <p:spPr>
            <a:xfrm>
              <a:off x="2324166" y="4368021"/>
              <a:ext cx="1245704" cy="358248"/>
            </a:xfrm>
            <a:prstGeom prst="rect">
              <a:avLst/>
            </a:prstGeom>
            <a:solidFill>
              <a:srgbClr val="C6E7F1"/>
            </a:solidFill>
          </p:spPr>
          <p:txBody>
            <a:bodyPr wrap="square" rtlCol="0">
              <a:spAutoFit/>
            </a:bodyPr>
            <a:lstStyle/>
            <a:p>
              <a:pPr algn="ctr"/>
              <a:r>
                <a:rPr lang="pt-BR" i="1" dirty="0">
                  <a:latin typeface="Calibri Light" panose="020F0302020204030204" pitchFamily="34" charset="0"/>
                  <a:cs typeface="Calibri Light" panose="020F0302020204030204" pitchFamily="34" charset="0"/>
                </a:rPr>
                <a:t>professor</a:t>
              </a:r>
            </a:p>
          </p:txBody>
        </p:sp>
        <p:sp>
          <p:nvSpPr>
            <p:cNvPr id="62" name="TextBox 61">
              <a:extLst>
                <a:ext uri="{FF2B5EF4-FFF2-40B4-BE49-F238E27FC236}">
                  <a16:creationId xmlns:a16="http://schemas.microsoft.com/office/drawing/2014/main" id="{5329ACA9-6BCC-A649-AEC6-39729F405FD9}"/>
                </a:ext>
              </a:extLst>
            </p:cNvPr>
            <p:cNvSpPr txBox="1"/>
            <p:nvPr/>
          </p:nvSpPr>
          <p:spPr>
            <a:xfrm>
              <a:off x="8148496" y="4377422"/>
              <a:ext cx="1245704" cy="358248"/>
            </a:xfrm>
            <a:prstGeom prst="rect">
              <a:avLst/>
            </a:prstGeom>
            <a:solidFill>
              <a:srgbClr val="C6E7F1"/>
            </a:solidFill>
          </p:spPr>
          <p:txBody>
            <a:bodyPr wrap="square" rtlCol="0">
              <a:spAutoFit/>
            </a:bodyPr>
            <a:lstStyle/>
            <a:p>
              <a:pPr algn="ctr"/>
              <a:r>
                <a:rPr lang="pt-BR" i="1" dirty="0">
                  <a:latin typeface="Calibri Light" panose="020F0302020204030204" pitchFamily="34" charset="0"/>
                  <a:cs typeface="Calibri Light" panose="020F0302020204030204" pitchFamily="34" charset="0"/>
                </a:rPr>
                <a:t>aluno</a:t>
              </a:r>
            </a:p>
          </p:txBody>
        </p:sp>
        <p:sp>
          <p:nvSpPr>
            <p:cNvPr id="63" name="TextBox 62">
              <a:extLst>
                <a:ext uri="{FF2B5EF4-FFF2-40B4-BE49-F238E27FC236}">
                  <a16:creationId xmlns:a16="http://schemas.microsoft.com/office/drawing/2014/main" id="{9AF958BB-5C9B-E144-815A-239183B67353}"/>
                </a:ext>
              </a:extLst>
            </p:cNvPr>
            <p:cNvSpPr txBox="1"/>
            <p:nvPr/>
          </p:nvSpPr>
          <p:spPr>
            <a:xfrm>
              <a:off x="5481497" y="4847523"/>
              <a:ext cx="868017" cy="711882"/>
            </a:xfrm>
            <a:prstGeom prst="rect">
              <a:avLst/>
            </a:prstGeom>
            <a:solidFill>
              <a:srgbClr val="ECF6FA"/>
            </a:solidFill>
          </p:spPr>
          <p:txBody>
            <a:bodyPr wrap="square" rtlCol="0">
              <a:spAutoFit/>
            </a:bodyPr>
            <a:lstStyle/>
            <a:p>
              <a:pPr algn="ctr"/>
              <a:r>
                <a:rPr lang="pt-BR" sz="1886" i="1" dirty="0">
                  <a:latin typeface="Calibri Light" panose="020F0302020204030204" pitchFamily="34" charset="0"/>
                  <a:cs typeface="Calibri Light" panose="020F0302020204030204" pitchFamily="34" charset="0"/>
                </a:rPr>
                <a:t>orienta</a:t>
              </a:r>
            </a:p>
          </p:txBody>
        </p:sp>
        <p:sp>
          <p:nvSpPr>
            <p:cNvPr id="64" name="TextBox 63">
              <a:extLst>
                <a:ext uri="{FF2B5EF4-FFF2-40B4-BE49-F238E27FC236}">
                  <a16:creationId xmlns:a16="http://schemas.microsoft.com/office/drawing/2014/main" id="{912CDC51-32C7-8449-BF38-494DE0151899}"/>
                </a:ext>
              </a:extLst>
            </p:cNvPr>
            <p:cNvSpPr txBox="1"/>
            <p:nvPr/>
          </p:nvSpPr>
          <p:spPr>
            <a:xfrm>
              <a:off x="7986156" y="4777037"/>
              <a:ext cx="457200" cy="404794"/>
            </a:xfrm>
            <a:prstGeom prst="rect">
              <a:avLst/>
            </a:prstGeom>
            <a:solidFill>
              <a:schemeClr val="accent1"/>
            </a:solidFill>
          </p:spPr>
          <p:txBody>
            <a:bodyPr wrap="square" rtlCol="0">
              <a:spAutoFit/>
            </a:bodyPr>
            <a:lstStyle/>
            <a:p>
              <a:r>
                <a:rPr lang="pt-BR" sz="1886" u="sng" dirty="0"/>
                <a:t>ID</a:t>
              </a:r>
            </a:p>
          </p:txBody>
        </p:sp>
        <p:sp>
          <p:nvSpPr>
            <p:cNvPr id="65" name="TextBox 64">
              <a:extLst>
                <a:ext uri="{FF2B5EF4-FFF2-40B4-BE49-F238E27FC236}">
                  <a16:creationId xmlns:a16="http://schemas.microsoft.com/office/drawing/2014/main" id="{70511435-F54C-D440-BDD0-7DFB72ABAAE8}"/>
                </a:ext>
              </a:extLst>
            </p:cNvPr>
            <p:cNvSpPr txBox="1"/>
            <p:nvPr/>
          </p:nvSpPr>
          <p:spPr>
            <a:xfrm>
              <a:off x="7972902" y="5118408"/>
              <a:ext cx="868017" cy="404794"/>
            </a:xfrm>
            <a:prstGeom prst="rect">
              <a:avLst/>
            </a:prstGeom>
            <a:solidFill>
              <a:schemeClr val="accent1"/>
            </a:solidFill>
          </p:spPr>
          <p:txBody>
            <a:bodyPr wrap="square" rtlCol="0">
              <a:spAutoFit/>
            </a:bodyPr>
            <a:lstStyle/>
            <a:p>
              <a:r>
                <a:rPr lang="pt-BR" sz="1886" i="1" dirty="0"/>
                <a:t>nome</a:t>
              </a:r>
            </a:p>
          </p:txBody>
        </p:sp>
        <p:sp>
          <p:nvSpPr>
            <p:cNvPr id="66" name="TextBox 65">
              <a:extLst>
                <a:ext uri="{FF2B5EF4-FFF2-40B4-BE49-F238E27FC236}">
                  <a16:creationId xmlns:a16="http://schemas.microsoft.com/office/drawing/2014/main" id="{C0B72023-EE0D-7441-A836-65C0F1172AC0}"/>
                </a:ext>
              </a:extLst>
            </p:cNvPr>
            <p:cNvSpPr txBox="1"/>
            <p:nvPr/>
          </p:nvSpPr>
          <p:spPr>
            <a:xfrm>
              <a:off x="7969591" y="5415005"/>
              <a:ext cx="1459986" cy="404794"/>
            </a:xfrm>
            <a:prstGeom prst="rect">
              <a:avLst/>
            </a:prstGeom>
            <a:solidFill>
              <a:schemeClr val="accent1"/>
            </a:solidFill>
          </p:spPr>
          <p:txBody>
            <a:bodyPr wrap="square" rtlCol="0">
              <a:spAutoFit/>
            </a:bodyPr>
            <a:lstStyle/>
            <a:p>
              <a:r>
                <a:rPr lang="pt-BR" sz="1886" i="1" dirty="0" err="1"/>
                <a:t>tot_cred</a:t>
              </a:r>
              <a:endParaRPr lang="pt-BR" sz="1886" i="1" dirty="0"/>
            </a:p>
          </p:txBody>
        </p:sp>
        <p:sp>
          <p:nvSpPr>
            <p:cNvPr id="67" name="TextBox 66">
              <a:extLst>
                <a:ext uri="{FF2B5EF4-FFF2-40B4-BE49-F238E27FC236}">
                  <a16:creationId xmlns:a16="http://schemas.microsoft.com/office/drawing/2014/main" id="{7E0D1B38-33E0-734E-8800-E0352C110966}"/>
                </a:ext>
              </a:extLst>
            </p:cNvPr>
            <p:cNvSpPr txBox="1"/>
            <p:nvPr/>
          </p:nvSpPr>
          <p:spPr>
            <a:xfrm>
              <a:off x="2320847" y="5058167"/>
              <a:ext cx="868017" cy="404794"/>
            </a:xfrm>
            <a:prstGeom prst="rect">
              <a:avLst/>
            </a:prstGeom>
            <a:solidFill>
              <a:schemeClr val="accent1"/>
            </a:solidFill>
          </p:spPr>
          <p:txBody>
            <a:bodyPr wrap="square" rtlCol="0">
              <a:spAutoFit/>
            </a:bodyPr>
            <a:lstStyle/>
            <a:p>
              <a:r>
                <a:rPr lang="pt-BR" sz="1886" i="1" dirty="0"/>
                <a:t>nome</a:t>
              </a:r>
            </a:p>
          </p:txBody>
        </p:sp>
        <p:sp>
          <p:nvSpPr>
            <p:cNvPr id="68" name="TextBox 67">
              <a:extLst>
                <a:ext uri="{FF2B5EF4-FFF2-40B4-BE49-F238E27FC236}">
                  <a16:creationId xmlns:a16="http://schemas.microsoft.com/office/drawing/2014/main" id="{C6B65FBB-829D-8646-B2EC-4CEA63A45FA6}"/>
                </a:ext>
              </a:extLst>
            </p:cNvPr>
            <p:cNvSpPr txBox="1"/>
            <p:nvPr/>
          </p:nvSpPr>
          <p:spPr>
            <a:xfrm>
              <a:off x="2320847" y="5418265"/>
              <a:ext cx="1239075" cy="404794"/>
            </a:xfrm>
            <a:prstGeom prst="rect">
              <a:avLst/>
            </a:prstGeom>
            <a:solidFill>
              <a:schemeClr val="accent1"/>
            </a:solidFill>
          </p:spPr>
          <p:txBody>
            <a:bodyPr wrap="square" rtlCol="0">
              <a:spAutoFit/>
            </a:bodyPr>
            <a:lstStyle/>
            <a:p>
              <a:r>
                <a:rPr lang="pt-BR" sz="1886" i="1" dirty="0"/>
                <a:t>salário</a:t>
              </a:r>
            </a:p>
          </p:txBody>
        </p:sp>
        <p:sp>
          <p:nvSpPr>
            <p:cNvPr id="69" name="Rectangle 68">
              <a:extLst>
                <a:ext uri="{FF2B5EF4-FFF2-40B4-BE49-F238E27FC236}">
                  <a16:creationId xmlns:a16="http://schemas.microsoft.com/office/drawing/2014/main" id="{7599DEB8-AC4F-4846-9E7C-C04FECB00768}"/>
                </a:ext>
              </a:extLst>
            </p:cNvPr>
            <p:cNvSpPr/>
            <p:nvPr/>
          </p:nvSpPr>
          <p:spPr bwMode="auto">
            <a:xfrm>
              <a:off x="3954182" y="4340176"/>
              <a:ext cx="3800053" cy="1467850"/>
            </a:xfrm>
            <a:prstGeom prst="rect">
              <a:avLst/>
            </a:prstGeom>
            <a:solidFill>
              <a:schemeClr val="accent1"/>
            </a:solidFill>
            <a:ln w="9525" cap="flat" cmpd="sng" algn="ctr">
              <a:noFill/>
              <a:prstDash val="solid"/>
              <a:round/>
              <a:headEnd type="none" w="med" len="med"/>
              <a:tailEnd type="none" w="med" len="med"/>
            </a:ln>
            <a:effectLst/>
          </p:spPr>
          <p:txBody>
            <a:bodyPr vert="horz" wrap="none" lIns="86414" tIns="43207" rIns="86414" bIns="43207" numCol="1" rtlCol="0" anchor="t" anchorCtr="0" compatLnSpc="1">
              <a:prstTxWarp prst="textNoShape">
                <a:avLst/>
              </a:prstTxWarp>
            </a:bodyPr>
            <a:lstStyle/>
            <a:p>
              <a:pPr defTabSz="864223"/>
              <a:endParaRPr lang="pt-BR" sz="1512" dirty="0">
                <a:latin typeface="Helvetica" charset="0"/>
              </a:endParaRPr>
            </a:p>
          </p:txBody>
        </p:sp>
        <p:sp>
          <p:nvSpPr>
            <p:cNvPr id="71" name="TextBox 70">
              <a:extLst>
                <a:ext uri="{FF2B5EF4-FFF2-40B4-BE49-F238E27FC236}">
                  <a16:creationId xmlns:a16="http://schemas.microsoft.com/office/drawing/2014/main" id="{3B44EB23-A234-E64D-A031-4EAFEB213A74}"/>
                </a:ext>
              </a:extLst>
            </p:cNvPr>
            <p:cNvSpPr txBox="1"/>
            <p:nvPr/>
          </p:nvSpPr>
          <p:spPr>
            <a:xfrm>
              <a:off x="2337418" y="4754759"/>
              <a:ext cx="457200" cy="404794"/>
            </a:xfrm>
            <a:prstGeom prst="rect">
              <a:avLst/>
            </a:prstGeom>
            <a:solidFill>
              <a:schemeClr val="accent1"/>
            </a:solidFill>
          </p:spPr>
          <p:txBody>
            <a:bodyPr wrap="square" rtlCol="0">
              <a:spAutoFit/>
            </a:bodyPr>
            <a:lstStyle/>
            <a:p>
              <a:r>
                <a:rPr lang="pt-BR" sz="1886" u="sng" dirty="0"/>
                <a:t>ID</a:t>
              </a:r>
            </a:p>
          </p:txBody>
        </p:sp>
        <p:sp>
          <p:nvSpPr>
            <p:cNvPr id="78" name="Freeform 77">
              <a:extLst>
                <a:ext uri="{FF2B5EF4-FFF2-40B4-BE49-F238E27FC236}">
                  <a16:creationId xmlns:a16="http://schemas.microsoft.com/office/drawing/2014/main" id="{EBF29C70-F073-EB4F-897E-33FC1813FD2B}"/>
                </a:ext>
              </a:extLst>
            </p:cNvPr>
            <p:cNvSpPr/>
            <p:nvPr/>
          </p:nvSpPr>
          <p:spPr>
            <a:xfrm rot="10800000" flipV="1">
              <a:off x="5634139" y="4772254"/>
              <a:ext cx="995253" cy="223966"/>
            </a:xfrm>
            <a:custGeom>
              <a:avLst/>
              <a:gdLst>
                <a:gd name="connsiteX0" fmla="*/ 0 w 693946"/>
                <a:gd name="connsiteY0" fmla="*/ -70 h 231200"/>
                <a:gd name="connsiteX1" fmla="*/ 693946 w 693946"/>
                <a:gd name="connsiteY1" fmla="*/ -70 h 231200"/>
                <a:gd name="connsiteX2" fmla="*/ 693946 w 693946"/>
                <a:gd name="connsiteY2" fmla="*/ 231130 h 231200"/>
                <a:gd name="connsiteX3" fmla="*/ 0 w 693946"/>
                <a:gd name="connsiteY3" fmla="*/ 231130 h 231200"/>
              </a:gdLst>
              <a:ahLst/>
              <a:cxnLst>
                <a:cxn ang="0">
                  <a:pos x="connsiteX0" y="connsiteY0"/>
                </a:cxn>
                <a:cxn ang="0">
                  <a:pos x="connsiteX1" y="connsiteY1"/>
                </a:cxn>
                <a:cxn ang="0">
                  <a:pos x="connsiteX2" y="connsiteY2"/>
                </a:cxn>
                <a:cxn ang="0">
                  <a:pos x="connsiteX3" y="connsiteY3"/>
                </a:cxn>
              </a:cxnLst>
              <a:rect l="l" t="t" r="r" b="b"/>
              <a:pathLst>
                <a:path w="693946" h="231200">
                  <a:moveTo>
                    <a:pt x="0" y="-70"/>
                  </a:moveTo>
                  <a:lnTo>
                    <a:pt x="693946" y="-70"/>
                  </a:lnTo>
                  <a:lnTo>
                    <a:pt x="693946" y="231130"/>
                  </a:lnTo>
                  <a:lnTo>
                    <a:pt x="0" y="231130"/>
                  </a:lnTo>
                  <a:close/>
                </a:path>
              </a:pathLst>
            </a:custGeom>
            <a:solidFill>
              <a:srgbClr val="CCEEFB"/>
            </a:solidFill>
            <a:ln w="12055" cap="rnd">
              <a:solidFill>
                <a:srgbClr val="231F20"/>
              </a:solidFill>
              <a:prstDash val="solid"/>
              <a:miter/>
            </a:ln>
          </p:spPr>
          <p:txBody>
            <a:bodyPr rtlCol="0" anchor="ctr"/>
            <a:lstStyle/>
            <a:p>
              <a:pPr algn="ctr"/>
              <a:r>
                <a:rPr lang="pt-BR" sz="1477" dirty="0">
                  <a:latin typeface="Calibri Light" panose="020F0302020204030204" pitchFamily="34" charset="0"/>
                  <a:cs typeface="Calibri Light" panose="020F0302020204030204" pitchFamily="34" charset="0"/>
                </a:rPr>
                <a:t>orienta</a:t>
              </a:r>
            </a:p>
          </p:txBody>
        </p:sp>
        <p:sp>
          <p:nvSpPr>
            <p:cNvPr id="79" name="TextBox 78">
              <a:extLst>
                <a:ext uri="{FF2B5EF4-FFF2-40B4-BE49-F238E27FC236}">
                  <a16:creationId xmlns:a16="http://schemas.microsoft.com/office/drawing/2014/main" id="{8C73B842-9614-5948-BA09-65D6AB30506F}"/>
                </a:ext>
              </a:extLst>
            </p:cNvPr>
            <p:cNvSpPr txBox="1"/>
            <p:nvPr/>
          </p:nvSpPr>
          <p:spPr>
            <a:xfrm>
              <a:off x="5629523" y="4988785"/>
              <a:ext cx="999868" cy="578761"/>
            </a:xfrm>
            <a:prstGeom prst="rect">
              <a:avLst/>
            </a:prstGeom>
            <a:noFill/>
            <a:ln w="19050">
              <a:solidFill>
                <a:schemeClr val="tx1"/>
              </a:solidFill>
            </a:ln>
          </p:spPr>
          <p:txBody>
            <a:bodyPr wrap="square" rtlCol="0">
              <a:spAutoFit/>
            </a:bodyPr>
            <a:lstStyle/>
            <a:p>
              <a:r>
                <a:rPr lang="pt-BR" sz="1477" u="sng" dirty="0" err="1">
                  <a:latin typeface="Calibri Light" panose="020F0302020204030204" pitchFamily="34" charset="0"/>
                  <a:cs typeface="Calibri Light" panose="020F0302020204030204" pitchFamily="34" charset="0"/>
                </a:rPr>
                <a:t>a_id</a:t>
              </a:r>
              <a:endParaRPr lang="pt-BR" sz="1477" u="sng" dirty="0">
                <a:latin typeface="Calibri Light" panose="020F0302020204030204" pitchFamily="34" charset="0"/>
                <a:cs typeface="Calibri Light" panose="020F0302020204030204" pitchFamily="34" charset="0"/>
              </a:endParaRPr>
            </a:p>
            <a:p>
              <a:r>
                <a:rPr lang="pt-BR" sz="1477" dirty="0" err="1">
                  <a:latin typeface="Calibri Light" panose="020F0302020204030204" pitchFamily="34" charset="0"/>
                  <a:cs typeface="Calibri Light" panose="020F0302020204030204" pitchFamily="34" charset="0"/>
                </a:rPr>
                <a:t>p_id</a:t>
              </a:r>
              <a:endParaRPr lang="pt-BR" sz="1477" dirty="0">
                <a:latin typeface="Calibri Light" panose="020F0302020204030204" pitchFamily="34" charset="0"/>
                <a:cs typeface="Calibri Light" panose="020F0302020204030204" pitchFamily="34" charset="0"/>
              </a:endParaRPr>
            </a:p>
          </p:txBody>
        </p:sp>
        <p:cxnSp>
          <p:nvCxnSpPr>
            <p:cNvPr id="5" name="Straight Connector 4">
              <a:extLst>
                <a:ext uri="{FF2B5EF4-FFF2-40B4-BE49-F238E27FC236}">
                  <a16:creationId xmlns:a16="http://schemas.microsoft.com/office/drawing/2014/main" id="{2FDDA240-D8ED-8F47-9E2B-CD6B310E15DA}"/>
                </a:ext>
              </a:extLst>
            </p:cNvPr>
            <p:cNvCxnSpPr>
              <a:cxnSpLocks/>
            </p:cNvCxnSpPr>
            <p:nvPr/>
          </p:nvCxnSpPr>
          <p:spPr bwMode="auto">
            <a:xfrm>
              <a:off x="6629392" y="5184062"/>
              <a:ext cx="394261" cy="0"/>
            </a:xfrm>
            <a:prstGeom prst="line">
              <a:avLst/>
            </a:prstGeom>
            <a:solidFill>
              <a:schemeClr val="accent1"/>
            </a:solidFill>
            <a:ln w="22225" cap="flat" cmpd="sng" algn="ctr">
              <a:solidFill>
                <a:schemeClr val="tx1"/>
              </a:solidFill>
              <a:prstDash val="solid"/>
              <a:round/>
              <a:headEnd type="none" w="med" len="med"/>
              <a:tailEnd type="none" w="med" len="med"/>
            </a:ln>
            <a:effectLst/>
          </p:spPr>
        </p:cxnSp>
        <p:cxnSp>
          <p:nvCxnSpPr>
            <p:cNvPr id="7" name="Straight Connector 6">
              <a:extLst>
                <a:ext uri="{FF2B5EF4-FFF2-40B4-BE49-F238E27FC236}">
                  <a16:creationId xmlns:a16="http://schemas.microsoft.com/office/drawing/2014/main" id="{42F8C2E5-DDE3-764F-A231-38813B050F18}"/>
                </a:ext>
              </a:extLst>
            </p:cNvPr>
            <p:cNvCxnSpPr>
              <a:cxnSpLocks/>
            </p:cNvCxnSpPr>
            <p:nvPr/>
          </p:nvCxnSpPr>
          <p:spPr bwMode="auto">
            <a:xfrm flipH="1" flipV="1">
              <a:off x="7010400" y="4900532"/>
              <a:ext cx="13253" cy="287723"/>
            </a:xfrm>
            <a:prstGeom prst="line">
              <a:avLst/>
            </a:prstGeom>
            <a:solidFill>
              <a:schemeClr val="accent1"/>
            </a:solidFill>
            <a:ln w="22225" cap="flat" cmpd="sng" algn="ctr">
              <a:solidFill>
                <a:schemeClr val="tx1"/>
              </a:solidFill>
              <a:prstDash val="solid"/>
              <a:round/>
              <a:headEnd type="none" w="med" len="med"/>
              <a:tailEnd type="none" w="med" len="med"/>
            </a:ln>
            <a:effectLst/>
          </p:spPr>
        </p:cxnSp>
        <p:cxnSp>
          <p:nvCxnSpPr>
            <p:cNvPr id="9" name="Straight Arrow Connector 8">
              <a:extLst>
                <a:ext uri="{FF2B5EF4-FFF2-40B4-BE49-F238E27FC236}">
                  <a16:creationId xmlns:a16="http://schemas.microsoft.com/office/drawing/2014/main" id="{5CFB5A6F-331C-4548-B34E-25C286E33B7A}"/>
                </a:ext>
              </a:extLst>
            </p:cNvPr>
            <p:cNvCxnSpPr/>
            <p:nvPr/>
          </p:nvCxnSpPr>
          <p:spPr bwMode="auto">
            <a:xfrm>
              <a:off x="7010400" y="4900531"/>
              <a:ext cx="730583" cy="0"/>
            </a:xfrm>
            <a:prstGeom prst="straightConnector1">
              <a:avLst/>
            </a:prstGeom>
            <a:solidFill>
              <a:schemeClr val="accent1"/>
            </a:solidFill>
            <a:ln w="22225" cap="flat" cmpd="sng" algn="ctr">
              <a:solidFill>
                <a:schemeClr val="tx1"/>
              </a:solidFill>
              <a:prstDash val="solid"/>
              <a:round/>
              <a:headEnd type="none" w="med" len="med"/>
              <a:tailEnd type="triangle"/>
            </a:ln>
            <a:effectLst/>
          </p:spPr>
        </p:cxnSp>
        <p:cxnSp>
          <p:nvCxnSpPr>
            <p:cNvPr id="80" name="Straight Connector 79">
              <a:extLst>
                <a:ext uri="{FF2B5EF4-FFF2-40B4-BE49-F238E27FC236}">
                  <a16:creationId xmlns:a16="http://schemas.microsoft.com/office/drawing/2014/main" id="{6BE65DCE-7242-7442-96DF-34D03CB5A2BD}"/>
                </a:ext>
              </a:extLst>
            </p:cNvPr>
            <p:cNvCxnSpPr/>
            <p:nvPr/>
          </p:nvCxnSpPr>
          <p:spPr bwMode="auto">
            <a:xfrm>
              <a:off x="5083453" y="5392069"/>
              <a:ext cx="546070" cy="0"/>
            </a:xfrm>
            <a:prstGeom prst="line">
              <a:avLst/>
            </a:prstGeom>
            <a:solidFill>
              <a:schemeClr val="accent1"/>
            </a:solidFill>
            <a:ln w="22225" cap="flat" cmpd="sng" algn="ctr">
              <a:solidFill>
                <a:schemeClr val="tx1"/>
              </a:solidFill>
              <a:prstDash val="solid"/>
              <a:round/>
              <a:headEnd type="none" w="med" len="med"/>
              <a:tailEnd type="none" w="med" len="med"/>
            </a:ln>
            <a:effectLst/>
          </p:spPr>
        </p:cxnSp>
        <p:cxnSp>
          <p:nvCxnSpPr>
            <p:cNvPr id="81" name="Straight Connector 80">
              <a:extLst>
                <a:ext uri="{FF2B5EF4-FFF2-40B4-BE49-F238E27FC236}">
                  <a16:creationId xmlns:a16="http://schemas.microsoft.com/office/drawing/2014/main" id="{F05BD7BE-2ADD-3A46-8EF5-AD5CC9F1FC6F}"/>
                </a:ext>
              </a:extLst>
            </p:cNvPr>
            <p:cNvCxnSpPr>
              <a:cxnSpLocks/>
            </p:cNvCxnSpPr>
            <p:nvPr/>
          </p:nvCxnSpPr>
          <p:spPr bwMode="auto">
            <a:xfrm flipV="1">
              <a:off x="5083453" y="4880621"/>
              <a:ext cx="0" cy="511448"/>
            </a:xfrm>
            <a:prstGeom prst="line">
              <a:avLst/>
            </a:prstGeom>
            <a:solidFill>
              <a:schemeClr val="accent1"/>
            </a:solidFill>
            <a:ln w="22225" cap="flat" cmpd="sng" algn="ctr">
              <a:solidFill>
                <a:schemeClr val="tx1"/>
              </a:solidFill>
              <a:prstDash val="solid"/>
              <a:round/>
              <a:headEnd type="none" w="med" len="med"/>
              <a:tailEnd type="none" w="med" len="med"/>
            </a:ln>
            <a:effectLst/>
          </p:spPr>
        </p:cxnSp>
        <p:cxnSp>
          <p:nvCxnSpPr>
            <p:cNvPr id="27" name="Straight Arrow Connector 26">
              <a:extLst>
                <a:ext uri="{FF2B5EF4-FFF2-40B4-BE49-F238E27FC236}">
                  <a16:creationId xmlns:a16="http://schemas.microsoft.com/office/drawing/2014/main" id="{ADB8969E-1F03-F84E-B1BF-AC16F24766ED}"/>
                </a:ext>
              </a:extLst>
            </p:cNvPr>
            <p:cNvCxnSpPr/>
            <p:nvPr/>
          </p:nvCxnSpPr>
          <p:spPr bwMode="auto">
            <a:xfrm flipH="1">
              <a:off x="3949485" y="4874027"/>
              <a:ext cx="1143280" cy="0"/>
            </a:xfrm>
            <a:prstGeom prst="straightConnector1">
              <a:avLst/>
            </a:prstGeom>
            <a:solidFill>
              <a:schemeClr val="accent1"/>
            </a:solidFill>
            <a:ln w="22225" cap="flat" cmpd="sng" algn="ctr">
              <a:solidFill>
                <a:schemeClr val="tx1"/>
              </a:solidFill>
              <a:prstDash val="solid"/>
              <a:round/>
              <a:headEnd type="none" w="med" len="med"/>
              <a:tailEnd type="triangle"/>
            </a:ln>
            <a:effectLst/>
          </p:spPr>
        </p:cxnSp>
      </p:grpSp>
      <p:sp>
        <p:nvSpPr>
          <p:cNvPr id="4" name="TextBox 3">
            <a:extLst>
              <a:ext uri="{FF2B5EF4-FFF2-40B4-BE49-F238E27FC236}">
                <a16:creationId xmlns:a16="http://schemas.microsoft.com/office/drawing/2014/main" id="{01A386D3-229B-1940-BC50-8129B0A3E3D8}"/>
              </a:ext>
            </a:extLst>
          </p:cNvPr>
          <p:cNvSpPr txBox="1"/>
          <p:nvPr/>
        </p:nvSpPr>
        <p:spPr>
          <a:xfrm>
            <a:off x="6335578" y="3428999"/>
            <a:ext cx="3581765" cy="307777"/>
          </a:xfrm>
          <a:prstGeom prst="rect">
            <a:avLst/>
          </a:prstGeom>
          <a:noFill/>
        </p:spPr>
        <p:txBody>
          <a:bodyPr wrap="square" rtlCol="0">
            <a:spAutoFit/>
          </a:bodyPr>
          <a:lstStyle/>
          <a:p>
            <a:r>
              <a:rPr lang="pt-BR" sz="1400" dirty="0"/>
              <a:t>Mapeamento usando a abordagem 2</a:t>
            </a:r>
          </a:p>
        </p:txBody>
      </p:sp>
    </p:spTree>
    <p:extLst>
      <p:ext uri="{BB962C8B-B14F-4D97-AF65-F5344CB8AC3E}">
        <p14:creationId xmlns:p14="http://schemas.microsoft.com/office/powerpoint/2010/main" val="19877666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755F7536-BC6B-4913-B44A-500E76086342}"/>
              </a:ext>
            </a:extLst>
          </p:cNvPr>
          <p:cNvCxnSpPr/>
          <p:nvPr/>
        </p:nvCxnSpPr>
        <p:spPr bwMode="auto">
          <a:xfrm>
            <a:off x="1775339" y="188505"/>
            <a:ext cx="864132" cy="0"/>
          </a:xfrm>
          <a:prstGeom prst="line">
            <a:avLst/>
          </a:prstGeom>
          <a:solidFill>
            <a:schemeClr val="accent1"/>
          </a:solidFill>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cxnSp>
      <p:sp>
        <p:nvSpPr>
          <p:cNvPr id="662530" name="Rectangle 2"/>
          <p:cNvSpPr>
            <a:spLocks noGrp="1" noChangeArrowheads="1"/>
          </p:cNvSpPr>
          <p:nvPr>
            <p:ph type="title"/>
          </p:nvPr>
        </p:nvSpPr>
        <p:spPr>
          <a:xfrm>
            <a:off x="229400" y="215231"/>
            <a:ext cx="11021891" cy="570087"/>
          </a:xfrm>
        </p:spPr>
        <p:txBody>
          <a:bodyPr/>
          <a:lstStyle/>
          <a:p>
            <a:pPr>
              <a:defRPr/>
            </a:pPr>
            <a:r>
              <a:rPr lang="pt-BR" altLang="en-BR" sz="2708" dirty="0"/>
              <a:t>Passo 6: Mapeamento de  Conjuntos de Relacionamentos binários N:M</a:t>
            </a:r>
            <a:endParaRPr lang="en-US" altLang="en-US" sz="2708" dirty="0">
              <a:effectLst>
                <a:outerShdw sx="1000" sy="1000" algn="tl">
                  <a:srgbClr val="C0C0C0"/>
                </a:outerShdw>
              </a:effectLst>
            </a:endParaRPr>
          </a:p>
        </p:txBody>
      </p:sp>
      <p:sp>
        <p:nvSpPr>
          <p:cNvPr id="54275" name="Rectangle 3"/>
          <p:cNvSpPr>
            <a:spLocks noGrp="1" noChangeArrowheads="1"/>
          </p:cNvSpPr>
          <p:nvPr>
            <p:ph type="body" idx="1"/>
          </p:nvPr>
        </p:nvSpPr>
        <p:spPr>
          <a:xfrm>
            <a:off x="585054" y="1244371"/>
            <a:ext cx="11021891" cy="4645268"/>
          </a:xfrm>
        </p:spPr>
        <p:txBody>
          <a:bodyPr/>
          <a:lstStyle/>
          <a:p>
            <a:pPr eaLnBrk="1" hangingPunct="1">
              <a:lnSpc>
                <a:spcPct val="90000"/>
              </a:lnSpc>
              <a:spcBef>
                <a:spcPts val="567"/>
              </a:spcBef>
              <a:tabLst>
                <a:tab pos="315081" algn="l"/>
                <a:tab pos="421609" algn="l"/>
                <a:tab pos="853721" algn="l"/>
                <a:tab pos="1285832" algn="l"/>
                <a:tab pos="1717944" algn="l"/>
                <a:tab pos="2150055" algn="l"/>
                <a:tab pos="2582166" algn="l"/>
                <a:tab pos="3014278" algn="l"/>
                <a:tab pos="3446389" algn="l"/>
                <a:tab pos="3878500" algn="l"/>
                <a:tab pos="4310612" algn="l"/>
                <a:tab pos="4742723" algn="l"/>
                <a:tab pos="5174834" algn="l"/>
                <a:tab pos="5606946" algn="l"/>
                <a:tab pos="6039057" algn="l"/>
                <a:tab pos="6471168" algn="l"/>
                <a:tab pos="6903280" algn="l"/>
                <a:tab pos="7335391" algn="l"/>
                <a:tab pos="7767502" algn="l"/>
                <a:tab pos="8199613" algn="l"/>
                <a:tab pos="8631725" algn="l"/>
              </a:tabLst>
            </a:pPr>
            <a:r>
              <a:rPr lang="pt-BR" altLang="en-BR" sz="2000" dirty="0"/>
              <a:t>Para cada conjunto de relacionamentos binário </a:t>
            </a:r>
            <a:r>
              <a:rPr lang="pt-BR" altLang="en-BR" sz="2000" i="1" dirty="0" err="1"/>
              <a:t>R</a:t>
            </a:r>
            <a:r>
              <a:rPr lang="pt-BR" altLang="en-BR" sz="2000" dirty="0"/>
              <a:t> com cardinalidade N:M, identifique os conjuntos de entidades participantes </a:t>
            </a:r>
            <a:r>
              <a:rPr lang="pt-BR" altLang="en-BR" sz="2000" i="1" dirty="0" err="1"/>
              <a:t>S</a:t>
            </a:r>
            <a:r>
              <a:rPr lang="pt-BR" altLang="en-BR" sz="2000" dirty="0"/>
              <a:t> e </a:t>
            </a:r>
            <a:r>
              <a:rPr lang="pt-BR" altLang="en-BR" sz="2000" i="1" dirty="0"/>
              <a:t>T</a:t>
            </a:r>
            <a:r>
              <a:rPr lang="pt-BR" altLang="en-BR" sz="2000" dirty="0"/>
              <a:t>.  </a:t>
            </a:r>
          </a:p>
          <a:p>
            <a:pPr eaLnBrk="1" hangingPunct="1">
              <a:lnSpc>
                <a:spcPct val="90000"/>
              </a:lnSpc>
              <a:spcBef>
                <a:spcPts val="567"/>
              </a:spcBef>
              <a:tabLst>
                <a:tab pos="315081" algn="l"/>
                <a:tab pos="421609" algn="l"/>
                <a:tab pos="853721" algn="l"/>
                <a:tab pos="1285832" algn="l"/>
                <a:tab pos="1717944" algn="l"/>
                <a:tab pos="2150055" algn="l"/>
                <a:tab pos="2582166" algn="l"/>
                <a:tab pos="3014278" algn="l"/>
                <a:tab pos="3446389" algn="l"/>
                <a:tab pos="3878500" algn="l"/>
                <a:tab pos="4310612" algn="l"/>
                <a:tab pos="4742723" algn="l"/>
                <a:tab pos="5174834" algn="l"/>
                <a:tab pos="5606946" algn="l"/>
                <a:tab pos="6039057" algn="l"/>
                <a:tab pos="6471168" algn="l"/>
                <a:tab pos="6903280" algn="l"/>
                <a:tab pos="7335391" algn="l"/>
                <a:tab pos="7767502" algn="l"/>
                <a:tab pos="8199613" algn="l"/>
                <a:tab pos="8631725" algn="l"/>
              </a:tabLst>
            </a:pPr>
            <a:endParaRPr lang="pt-BR" altLang="en-BR" sz="2000" dirty="0"/>
          </a:p>
          <a:p>
            <a:pPr eaLnBrk="1" hangingPunct="1">
              <a:lnSpc>
                <a:spcPct val="90000"/>
              </a:lnSpc>
              <a:spcBef>
                <a:spcPts val="567"/>
              </a:spcBef>
              <a:tabLst>
                <a:tab pos="315081" algn="l"/>
                <a:tab pos="421609" algn="l"/>
                <a:tab pos="853721" algn="l"/>
                <a:tab pos="1285832" algn="l"/>
                <a:tab pos="1717944" algn="l"/>
                <a:tab pos="2150055" algn="l"/>
                <a:tab pos="2582166" algn="l"/>
                <a:tab pos="3014278" algn="l"/>
                <a:tab pos="3446389" algn="l"/>
                <a:tab pos="3878500" algn="l"/>
                <a:tab pos="4310612" algn="l"/>
                <a:tab pos="4742723" algn="l"/>
                <a:tab pos="5174834" algn="l"/>
                <a:tab pos="5606946" algn="l"/>
                <a:tab pos="6039057" algn="l"/>
                <a:tab pos="6471168" algn="l"/>
                <a:tab pos="6903280" algn="l"/>
                <a:tab pos="7335391" algn="l"/>
                <a:tab pos="7767502" algn="l"/>
                <a:tab pos="8199613" algn="l"/>
                <a:tab pos="8631725" algn="l"/>
              </a:tabLst>
            </a:pPr>
            <a:endParaRPr lang="pt-BR" altLang="en-BR" sz="2000" dirty="0"/>
          </a:p>
          <a:p>
            <a:pPr eaLnBrk="1" hangingPunct="1">
              <a:lnSpc>
                <a:spcPct val="90000"/>
              </a:lnSpc>
              <a:spcBef>
                <a:spcPts val="567"/>
              </a:spcBef>
              <a:tabLst>
                <a:tab pos="315081" algn="l"/>
                <a:tab pos="421609" algn="l"/>
                <a:tab pos="853721" algn="l"/>
                <a:tab pos="1285832" algn="l"/>
                <a:tab pos="1717944" algn="l"/>
                <a:tab pos="2150055" algn="l"/>
                <a:tab pos="2582166" algn="l"/>
                <a:tab pos="3014278" algn="l"/>
                <a:tab pos="3446389" algn="l"/>
                <a:tab pos="3878500" algn="l"/>
                <a:tab pos="4310612" algn="l"/>
                <a:tab pos="4742723" algn="l"/>
                <a:tab pos="5174834" algn="l"/>
                <a:tab pos="5606946" algn="l"/>
                <a:tab pos="6039057" algn="l"/>
                <a:tab pos="6471168" algn="l"/>
                <a:tab pos="6903280" algn="l"/>
                <a:tab pos="7335391" algn="l"/>
                <a:tab pos="7767502" algn="l"/>
                <a:tab pos="8199613" algn="l"/>
                <a:tab pos="8631725" algn="l"/>
              </a:tabLst>
            </a:pPr>
            <a:r>
              <a:rPr lang="pt-BR" altLang="en-BR" sz="2000" dirty="0"/>
              <a:t>Crie uma tabela correspondente a </a:t>
            </a:r>
            <a:r>
              <a:rPr lang="pt-BR" altLang="en-BR" sz="2000" i="1" dirty="0" err="1"/>
              <a:t>R</a:t>
            </a:r>
            <a:r>
              <a:rPr lang="pt-BR" altLang="en-BR" sz="2000" dirty="0"/>
              <a:t> formada com os atributos das chaves primárias de </a:t>
            </a:r>
            <a:r>
              <a:rPr lang="pt-BR" altLang="en-BR" sz="2000" i="1" dirty="0" err="1"/>
              <a:t>S</a:t>
            </a:r>
            <a:r>
              <a:rPr lang="pt-BR" altLang="en-BR" sz="2000" dirty="0"/>
              <a:t> e </a:t>
            </a:r>
            <a:r>
              <a:rPr lang="pt-BR" altLang="en-BR" sz="2000" i="1" dirty="0" err="1"/>
              <a:t>T</a:t>
            </a:r>
            <a:r>
              <a:rPr lang="pt-BR" altLang="en-BR" sz="2000" dirty="0"/>
              <a:t> e demais atributos de </a:t>
            </a:r>
            <a:r>
              <a:rPr lang="pt-BR" altLang="en-BR" sz="2000" i="1" dirty="0" err="1"/>
              <a:t>R</a:t>
            </a:r>
            <a:r>
              <a:rPr lang="pt-BR" altLang="en-BR" sz="2000" i="1" dirty="0"/>
              <a:t> </a:t>
            </a:r>
            <a:r>
              <a:rPr lang="pt-BR" altLang="en-BR" sz="2000" dirty="0"/>
              <a:t>(caso exista)</a:t>
            </a:r>
            <a:r>
              <a:rPr lang="pt-BR" altLang="en-BR" sz="2000" i="1" dirty="0"/>
              <a:t>. </a:t>
            </a:r>
          </a:p>
          <a:p>
            <a:pPr eaLnBrk="1" hangingPunct="1">
              <a:lnSpc>
                <a:spcPct val="90000"/>
              </a:lnSpc>
              <a:spcBef>
                <a:spcPts val="567"/>
              </a:spcBef>
              <a:tabLst>
                <a:tab pos="315081" algn="l"/>
                <a:tab pos="421609" algn="l"/>
                <a:tab pos="853721" algn="l"/>
                <a:tab pos="1285832" algn="l"/>
                <a:tab pos="1717944" algn="l"/>
                <a:tab pos="2150055" algn="l"/>
                <a:tab pos="2582166" algn="l"/>
                <a:tab pos="3014278" algn="l"/>
                <a:tab pos="3446389" algn="l"/>
                <a:tab pos="3878500" algn="l"/>
                <a:tab pos="4310612" algn="l"/>
                <a:tab pos="4742723" algn="l"/>
                <a:tab pos="5174834" algn="l"/>
                <a:tab pos="5606946" algn="l"/>
                <a:tab pos="6039057" algn="l"/>
                <a:tab pos="6471168" algn="l"/>
                <a:tab pos="6903280" algn="l"/>
                <a:tab pos="7335391" algn="l"/>
                <a:tab pos="7767502" algn="l"/>
                <a:tab pos="8199613" algn="l"/>
                <a:tab pos="8631725" algn="l"/>
              </a:tabLst>
            </a:pPr>
            <a:endParaRPr lang="pt-BR" altLang="en-BR" sz="2000" i="1" dirty="0"/>
          </a:p>
          <a:p>
            <a:pPr eaLnBrk="1" hangingPunct="1">
              <a:lnSpc>
                <a:spcPct val="90000"/>
              </a:lnSpc>
              <a:spcBef>
                <a:spcPts val="567"/>
              </a:spcBef>
              <a:tabLst>
                <a:tab pos="315081" algn="l"/>
                <a:tab pos="421609" algn="l"/>
                <a:tab pos="853721" algn="l"/>
                <a:tab pos="1285832" algn="l"/>
                <a:tab pos="1717944" algn="l"/>
                <a:tab pos="2150055" algn="l"/>
                <a:tab pos="2582166" algn="l"/>
                <a:tab pos="3014278" algn="l"/>
                <a:tab pos="3446389" algn="l"/>
                <a:tab pos="3878500" algn="l"/>
                <a:tab pos="4310612" algn="l"/>
                <a:tab pos="4742723" algn="l"/>
                <a:tab pos="5174834" algn="l"/>
                <a:tab pos="5606946" algn="l"/>
                <a:tab pos="6039057" algn="l"/>
                <a:tab pos="6471168" algn="l"/>
                <a:tab pos="6903280" algn="l"/>
                <a:tab pos="7335391" algn="l"/>
                <a:tab pos="7767502" algn="l"/>
                <a:tab pos="8199613" algn="l"/>
                <a:tab pos="8631725" algn="l"/>
              </a:tabLst>
            </a:pPr>
            <a:endParaRPr lang="pt-BR" altLang="en-BR" sz="2000" dirty="0"/>
          </a:p>
          <a:p>
            <a:pPr eaLnBrk="1" hangingPunct="1">
              <a:lnSpc>
                <a:spcPct val="90000"/>
              </a:lnSpc>
              <a:spcBef>
                <a:spcPts val="567"/>
              </a:spcBef>
              <a:tabLst>
                <a:tab pos="315081" algn="l"/>
                <a:tab pos="421609" algn="l"/>
                <a:tab pos="853721" algn="l"/>
                <a:tab pos="1285832" algn="l"/>
                <a:tab pos="1717944" algn="l"/>
                <a:tab pos="2150055" algn="l"/>
                <a:tab pos="2582166" algn="l"/>
                <a:tab pos="3014278" algn="l"/>
                <a:tab pos="3446389" algn="l"/>
                <a:tab pos="3878500" algn="l"/>
                <a:tab pos="4310612" algn="l"/>
                <a:tab pos="4742723" algn="l"/>
                <a:tab pos="5174834" algn="l"/>
                <a:tab pos="5606946" algn="l"/>
                <a:tab pos="6039057" algn="l"/>
                <a:tab pos="6471168" algn="l"/>
                <a:tab pos="6903280" algn="l"/>
                <a:tab pos="7335391" algn="l"/>
                <a:tab pos="7767502" algn="l"/>
                <a:tab pos="8199613" algn="l"/>
                <a:tab pos="8631725" algn="l"/>
              </a:tabLst>
            </a:pPr>
            <a:endParaRPr lang="pt-BR" altLang="en-BR" sz="2000" dirty="0"/>
          </a:p>
          <a:p>
            <a:pPr eaLnBrk="1" hangingPunct="1">
              <a:lnSpc>
                <a:spcPct val="90000"/>
              </a:lnSpc>
              <a:spcBef>
                <a:spcPts val="567"/>
              </a:spcBef>
              <a:tabLst>
                <a:tab pos="315081" algn="l"/>
                <a:tab pos="421609" algn="l"/>
                <a:tab pos="853721" algn="l"/>
                <a:tab pos="1285832" algn="l"/>
                <a:tab pos="1717944" algn="l"/>
                <a:tab pos="2150055" algn="l"/>
                <a:tab pos="2582166" algn="l"/>
                <a:tab pos="3014278" algn="l"/>
                <a:tab pos="3446389" algn="l"/>
                <a:tab pos="3878500" algn="l"/>
                <a:tab pos="4310612" algn="l"/>
                <a:tab pos="4742723" algn="l"/>
                <a:tab pos="5174834" algn="l"/>
                <a:tab pos="5606946" algn="l"/>
                <a:tab pos="6039057" algn="l"/>
                <a:tab pos="6471168" algn="l"/>
                <a:tab pos="6903280" algn="l"/>
                <a:tab pos="7335391" algn="l"/>
                <a:tab pos="7767502" algn="l"/>
                <a:tab pos="8199613" algn="l"/>
                <a:tab pos="8631725" algn="l"/>
              </a:tabLst>
            </a:pPr>
            <a:r>
              <a:rPr lang="pt-BR" altLang="en-BR" sz="2000" dirty="0"/>
              <a:t>A chave primária da nova tabela é a chave primária do relacionamento. Como a cardinalidade é N:M, a chave primária da tabela </a:t>
            </a:r>
            <a:r>
              <a:rPr lang="pt-BR" altLang="en-BR" sz="2000" i="1" dirty="0" err="1"/>
              <a:t>R</a:t>
            </a:r>
            <a:r>
              <a:rPr lang="pt-BR" altLang="en-BR" sz="2000" dirty="0"/>
              <a:t> deve ser escolhida para ser a combinação das chaves primárias dos conjuntos de entidades participantes do relacionamento </a:t>
            </a:r>
            <a:r>
              <a:rPr lang="pt-BR" altLang="en-BR" sz="2000" i="1" dirty="0"/>
              <a:t>R</a:t>
            </a:r>
            <a:r>
              <a:rPr lang="pt-BR" altLang="en-BR" sz="2000" dirty="0"/>
              <a:t>. Além disso, as chaves primárias de </a:t>
            </a:r>
            <a:r>
              <a:rPr lang="pt-BR" altLang="en-BR" sz="2000" i="1" dirty="0" err="1"/>
              <a:t>S</a:t>
            </a:r>
            <a:r>
              <a:rPr lang="pt-BR" altLang="en-BR" sz="2000" dirty="0"/>
              <a:t> e </a:t>
            </a:r>
            <a:r>
              <a:rPr lang="pt-BR" altLang="en-BR" sz="2000" i="1" dirty="0" err="1"/>
              <a:t>T</a:t>
            </a:r>
            <a:r>
              <a:rPr lang="pt-BR" altLang="en-BR" sz="2000" dirty="0"/>
              <a:t> são chaves estrangeiras de </a:t>
            </a:r>
            <a:r>
              <a:rPr lang="pt-BR" altLang="en-BR" sz="2000" i="1" dirty="0" err="1"/>
              <a:t>R</a:t>
            </a:r>
            <a:r>
              <a:rPr lang="pt-BR" altLang="en-BR" sz="2000" i="1" dirty="0"/>
              <a:t> </a:t>
            </a:r>
            <a:r>
              <a:rPr lang="pt-BR" altLang="en-BR" sz="2000" dirty="0"/>
              <a:t>para as tabelas oriundas de </a:t>
            </a:r>
            <a:r>
              <a:rPr lang="pt-BR" altLang="en-BR" sz="2000" i="1" dirty="0" err="1"/>
              <a:t>S</a:t>
            </a:r>
            <a:r>
              <a:rPr lang="pt-BR" altLang="en-BR" sz="2000" dirty="0"/>
              <a:t> e </a:t>
            </a:r>
            <a:r>
              <a:rPr lang="pt-BR" altLang="en-BR" sz="2000" i="1" dirty="0"/>
              <a:t>T.</a:t>
            </a:r>
            <a:r>
              <a:rPr lang="pt-BR" altLang="en-BR" sz="2000" dirty="0"/>
              <a:t> </a:t>
            </a:r>
          </a:p>
          <a:p>
            <a:pPr marL="35197" indent="0" eaLnBrk="1" hangingPunct="1">
              <a:lnSpc>
                <a:spcPct val="80000"/>
              </a:lnSpc>
              <a:spcBef>
                <a:spcPts val="473"/>
              </a:spcBef>
              <a:buNone/>
              <a:tabLst>
                <a:tab pos="315081" algn="l"/>
                <a:tab pos="421609" algn="l"/>
                <a:tab pos="853721" algn="l"/>
                <a:tab pos="1285832" algn="l"/>
                <a:tab pos="1717944" algn="l"/>
                <a:tab pos="2150055" algn="l"/>
                <a:tab pos="2582166" algn="l"/>
                <a:tab pos="3014278" algn="l"/>
                <a:tab pos="3446389" algn="l"/>
                <a:tab pos="3878500" algn="l"/>
                <a:tab pos="4310612" algn="l"/>
                <a:tab pos="4742723" algn="l"/>
                <a:tab pos="5174834" algn="l"/>
                <a:tab pos="5606946" algn="l"/>
                <a:tab pos="6039057" algn="l"/>
                <a:tab pos="6471168" algn="l"/>
                <a:tab pos="6903280" algn="l"/>
                <a:tab pos="7335391" algn="l"/>
                <a:tab pos="7767502" algn="l"/>
                <a:tab pos="8199613" algn="l"/>
                <a:tab pos="8631725" algn="l"/>
              </a:tabLst>
            </a:pPr>
            <a:endParaRPr lang="pt-BR" altLang="en-BR" sz="2000" dirty="0"/>
          </a:p>
          <a:p>
            <a:pPr marL="378097" eaLnBrk="1" hangingPunct="1">
              <a:lnSpc>
                <a:spcPct val="80000"/>
              </a:lnSpc>
              <a:spcBef>
                <a:spcPts val="473"/>
              </a:spcBef>
              <a:tabLst>
                <a:tab pos="315081" algn="l"/>
                <a:tab pos="421609" algn="l"/>
                <a:tab pos="853721" algn="l"/>
                <a:tab pos="1285832" algn="l"/>
                <a:tab pos="1717944" algn="l"/>
                <a:tab pos="2150055" algn="l"/>
                <a:tab pos="2582166" algn="l"/>
                <a:tab pos="3014278" algn="l"/>
                <a:tab pos="3446389" algn="l"/>
                <a:tab pos="3878500" algn="l"/>
                <a:tab pos="4310612" algn="l"/>
                <a:tab pos="4742723" algn="l"/>
                <a:tab pos="5174834" algn="l"/>
                <a:tab pos="5606946" algn="l"/>
                <a:tab pos="6039057" algn="l"/>
                <a:tab pos="6471168" algn="l"/>
                <a:tab pos="6903280" algn="l"/>
                <a:tab pos="7335391" algn="l"/>
                <a:tab pos="7767502" algn="l"/>
                <a:tab pos="8199613" algn="l"/>
                <a:tab pos="8631725" algn="l"/>
              </a:tabLst>
            </a:pPr>
            <a:endParaRPr lang="pt-BR" altLang="en-BR" sz="2000" dirty="0"/>
          </a:p>
          <a:p>
            <a:pPr marL="35197" indent="0" eaLnBrk="1" hangingPunct="1">
              <a:lnSpc>
                <a:spcPct val="80000"/>
              </a:lnSpc>
              <a:spcBef>
                <a:spcPts val="473"/>
              </a:spcBef>
              <a:buNone/>
              <a:tabLst>
                <a:tab pos="315081" algn="l"/>
                <a:tab pos="421609" algn="l"/>
                <a:tab pos="853721" algn="l"/>
                <a:tab pos="1285832" algn="l"/>
                <a:tab pos="1717944" algn="l"/>
                <a:tab pos="2150055" algn="l"/>
                <a:tab pos="2582166" algn="l"/>
                <a:tab pos="3014278" algn="l"/>
                <a:tab pos="3446389" algn="l"/>
                <a:tab pos="3878500" algn="l"/>
                <a:tab pos="4310612" algn="l"/>
                <a:tab pos="4742723" algn="l"/>
                <a:tab pos="5174834" algn="l"/>
                <a:tab pos="5606946" algn="l"/>
                <a:tab pos="6039057" algn="l"/>
                <a:tab pos="6471168" algn="l"/>
                <a:tab pos="6903280" algn="l"/>
                <a:tab pos="7335391" algn="l"/>
                <a:tab pos="7767502" algn="l"/>
                <a:tab pos="8199613" algn="l"/>
                <a:tab pos="8631725" algn="l"/>
              </a:tabLst>
            </a:pPr>
            <a:endParaRPr lang="pt-BR" altLang="en-BR" sz="2000" dirty="0"/>
          </a:p>
          <a:p>
            <a:pPr>
              <a:buFont typeface="Monotype Sorts" charset="2"/>
              <a:buNone/>
            </a:pPr>
            <a:r>
              <a:rPr lang="en-US" altLang="en-US" sz="2000" dirty="0"/>
              <a:t>	</a:t>
            </a:r>
          </a:p>
        </p:txBody>
      </p:sp>
    </p:spTree>
    <p:extLst>
      <p:ext uri="{BB962C8B-B14F-4D97-AF65-F5344CB8AC3E}">
        <p14:creationId xmlns:p14="http://schemas.microsoft.com/office/powerpoint/2010/main" val="10701758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755F7536-BC6B-4913-B44A-500E76086342}"/>
              </a:ext>
            </a:extLst>
          </p:cNvPr>
          <p:cNvCxnSpPr/>
          <p:nvPr/>
        </p:nvCxnSpPr>
        <p:spPr bwMode="auto">
          <a:xfrm>
            <a:off x="1775339" y="188505"/>
            <a:ext cx="864132" cy="0"/>
          </a:xfrm>
          <a:prstGeom prst="line">
            <a:avLst/>
          </a:prstGeom>
          <a:solidFill>
            <a:schemeClr val="accent1"/>
          </a:solidFill>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cxnSp>
      <p:sp>
        <p:nvSpPr>
          <p:cNvPr id="662530" name="Rectangle 2"/>
          <p:cNvSpPr>
            <a:spLocks noGrp="1" noChangeArrowheads="1"/>
          </p:cNvSpPr>
          <p:nvPr>
            <p:ph type="title"/>
          </p:nvPr>
        </p:nvSpPr>
        <p:spPr>
          <a:xfrm>
            <a:off x="522974" y="361352"/>
            <a:ext cx="11280469" cy="570087"/>
          </a:xfrm>
        </p:spPr>
        <p:txBody>
          <a:bodyPr/>
          <a:lstStyle/>
          <a:p>
            <a:pPr>
              <a:defRPr/>
            </a:pPr>
            <a:r>
              <a:rPr lang="pt-BR" altLang="en-BR" sz="2708" dirty="0"/>
              <a:t>Passo 6: Mapeamento de  Conjuntos de Relacionamentos binários M:N  (cont.)</a:t>
            </a:r>
            <a:endParaRPr lang="en-US" altLang="en-US" sz="2708" dirty="0">
              <a:effectLst>
                <a:outerShdw sx="1000" sy="1000" algn="tl">
                  <a:srgbClr val="C0C0C0"/>
                </a:outerShdw>
              </a:effectLst>
            </a:endParaRPr>
          </a:p>
        </p:txBody>
      </p:sp>
      <p:pic>
        <p:nvPicPr>
          <p:cNvPr id="46" name="Picture 6">
            <a:extLst>
              <a:ext uri="{FF2B5EF4-FFF2-40B4-BE49-F238E27FC236}">
                <a16:creationId xmlns:a16="http://schemas.microsoft.com/office/drawing/2014/main" id="{9DC0FC0F-B0EC-4946-A769-16275640B8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19929" y="1499257"/>
            <a:ext cx="7303240" cy="1494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 name="TextBox 46">
            <a:extLst>
              <a:ext uri="{FF2B5EF4-FFF2-40B4-BE49-F238E27FC236}">
                <a16:creationId xmlns:a16="http://schemas.microsoft.com/office/drawing/2014/main" id="{23CF233B-9C1D-8845-8780-2337FB07DE8C}"/>
              </a:ext>
            </a:extLst>
          </p:cNvPr>
          <p:cNvSpPr txBox="1"/>
          <p:nvPr/>
        </p:nvSpPr>
        <p:spPr>
          <a:xfrm>
            <a:off x="2531518" y="1517662"/>
            <a:ext cx="1177223" cy="338554"/>
          </a:xfrm>
          <a:prstGeom prst="rect">
            <a:avLst/>
          </a:prstGeom>
          <a:solidFill>
            <a:srgbClr val="C6E7F1"/>
          </a:solidFill>
        </p:spPr>
        <p:txBody>
          <a:bodyPr wrap="square" rtlCol="0">
            <a:spAutoFit/>
          </a:bodyPr>
          <a:lstStyle/>
          <a:p>
            <a:pPr algn="ctr"/>
            <a:r>
              <a:rPr lang="pt-BR" i="1" dirty="0">
                <a:latin typeface="Calibri Light" panose="020F0302020204030204" pitchFamily="34" charset="0"/>
                <a:cs typeface="Calibri Light" panose="020F0302020204030204" pitchFamily="34" charset="0"/>
              </a:rPr>
              <a:t>professor</a:t>
            </a:r>
          </a:p>
        </p:txBody>
      </p:sp>
      <p:sp>
        <p:nvSpPr>
          <p:cNvPr id="48" name="TextBox 47">
            <a:extLst>
              <a:ext uri="{FF2B5EF4-FFF2-40B4-BE49-F238E27FC236}">
                <a16:creationId xmlns:a16="http://schemas.microsoft.com/office/drawing/2014/main" id="{4DCBB3B9-1396-9643-B3CB-F392D14EA035}"/>
              </a:ext>
            </a:extLst>
          </p:cNvPr>
          <p:cNvSpPr txBox="1"/>
          <p:nvPr/>
        </p:nvSpPr>
        <p:spPr>
          <a:xfrm>
            <a:off x="8035664" y="1523199"/>
            <a:ext cx="1177223" cy="338554"/>
          </a:xfrm>
          <a:prstGeom prst="rect">
            <a:avLst/>
          </a:prstGeom>
          <a:solidFill>
            <a:srgbClr val="C6E7F1"/>
          </a:solidFill>
        </p:spPr>
        <p:txBody>
          <a:bodyPr wrap="square" rtlCol="0">
            <a:spAutoFit/>
          </a:bodyPr>
          <a:lstStyle/>
          <a:p>
            <a:pPr algn="ctr"/>
            <a:r>
              <a:rPr lang="pt-BR" i="1" dirty="0">
                <a:latin typeface="Calibri Light" panose="020F0302020204030204" pitchFamily="34" charset="0"/>
                <a:cs typeface="Calibri Light" panose="020F0302020204030204" pitchFamily="34" charset="0"/>
              </a:rPr>
              <a:t>aluno</a:t>
            </a:r>
          </a:p>
        </p:txBody>
      </p:sp>
      <p:sp>
        <p:nvSpPr>
          <p:cNvPr id="49" name="TextBox 48">
            <a:extLst>
              <a:ext uri="{FF2B5EF4-FFF2-40B4-BE49-F238E27FC236}">
                <a16:creationId xmlns:a16="http://schemas.microsoft.com/office/drawing/2014/main" id="{925530E9-DB0A-7E49-8E3D-50C7A7C68ADF}"/>
              </a:ext>
            </a:extLst>
          </p:cNvPr>
          <p:cNvSpPr txBox="1"/>
          <p:nvPr/>
        </p:nvSpPr>
        <p:spPr>
          <a:xfrm>
            <a:off x="5501423" y="1968427"/>
            <a:ext cx="820299" cy="338554"/>
          </a:xfrm>
          <a:prstGeom prst="rect">
            <a:avLst/>
          </a:prstGeom>
          <a:solidFill>
            <a:srgbClr val="ECF6FA"/>
          </a:solidFill>
        </p:spPr>
        <p:txBody>
          <a:bodyPr wrap="square" rtlCol="0">
            <a:spAutoFit/>
          </a:bodyPr>
          <a:lstStyle/>
          <a:p>
            <a:pPr algn="ctr"/>
            <a:r>
              <a:rPr lang="pt-BR" i="1" dirty="0">
                <a:latin typeface="Calibri Light" panose="020F0302020204030204" pitchFamily="34" charset="0"/>
                <a:cs typeface="Calibri Light" panose="020F0302020204030204" pitchFamily="34" charset="0"/>
              </a:rPr>
              <a:t>orienta</a:t>
            </a:r>
          </a:p>
        </p:txBody>
      </p:sp>
      <p:sp>
        <p:nvSpPr>
          <p:cNvPr id="50" name="TextBox 49">
            <a:extLst>
              <a:ext uri="{FF2B5EF4-FFF2-40B4-BE49-F238E27FC236}">
                <a16:creationId xmlns:a16="http://schemas.microsoft.com/office/drawing/2014/main" id="{6547381D-437B-AF4A-AE3A-B1C968456B70}"/>
              </a:ext>
            </a:extLst>
          </p:cNvPr>
          <p:cNvSpPr txBox="1"/>
          <p:nvPr/>
        </p:nvSpPr>
        <p:spPr>
          <a:xfrm>
            <a:off x="7882249" y="1898247"/>
            <a:ext cx="432066" cy="382541"/>
          </a:xfrm>
          <a:prstGeom prst="rect">
            <a:avLst/>
          </a:prstGeom>
          <a:solidFill>
            <a:schemeClr val="accent1"/>
          </a:solidFill>
        </p:spPr>
        <p:txBody>
          <a:bodyPr wrap="square" rtlCol="0">
            <a:spAutoFit/>
          </a:bodyPr>
          <a:lstStyle/>
          <a:p>
            <a:r>
              <a:rPr lang="pt-BR" sz="1886" u="sng" dirty="0"/>
              <a:t>ID</a:t>
            </a:r>
          </a:p>
        </p:txBody>
      </p:sp>
      <p:sp>
        <p:nvSpPr>
          <p:cNvPr id="51" name="TextBox 50">
            <a:extLst>
              <a:ext uri="{FF2B5EF4-FFF2-40B4-BE49-F238E27FC236}">
                <a16:creationId xmlns:a16="http://schemas.microsoft.com/office/drawing/2014/main" id="{B58EC79D-5F40-5443-8CC0-B442803AEC1F}"/>
              </a:ext>
            </a:extLst>
          </p:cNvPr>
          <p:cNvSpPr txBox="1"/>
          <p:nvPr/>
        </p:nvSpPr>
        <p:spPr>
          <a:xfrm>
            <a:off x="7869724" y="2220853"/>
            <a:ext cx="820299" cy="382541"/>
          </a:xfrm>
          <a:prstGeom prst="rect">
            <a:avLst/>
          </a:prstGeom>
          <a:solidFill>
            <a:schemeClr val="accent1"/>
          </a:solidFill>
        </p:spPr>
        <p:txBody>
          <a:bodyPr wrap="square" rtlCol="0">
            <a:spAutoFit/>
          </a:bodyPr>
          <a:lstStyle/>
          <a:p>
            <a:r>
              <a:rPr lang="pt-BR" sz="1886" i="1" dirty="0"/>
              <a:t>nome</a:t>
            </a:r>
          </a:p>
        </p:txBody>
      </p:sp>
      <p:sp>
        <p:nvSpPr>
          <p:cNvPr id="52" name="TextBox 51">
            <a:extLst>
              <a:ext uri="{FF2B5EF4-FFF2-40B4-BE49-F238E27FC236}">
                <a16:creationId xmlns:a16="http://schemas.microsoft.com/office/drawing/2014/main" id="{CE9E10B8-EDA9-DE43-8FF5-B35C48A595B1}"/>
              </a:ext>
            </a:extLst>
          </p:cNvPr>
          <p:cNvSpPr txBox="1"/>
          <p:nvPr/>
        </p:nvSpPr>
        <p:spPr>
          <a:xfrm>
            <a:off x="7866593" y="2514999"/>
            <a:ext cx="1346289" cy="382541"/>
          </a:xfrm>
          <a:prstGeom prst="rect">
            <a:avLst/>
          </a:prstGeom>
          <a:solidFill>
            <a:schemeClr val="accent1"/>
          </a:solidFill>
        </p:spPr>
        <p:txBody>
          <a:bodyPr wrap="square" rtlCol="0">
            <a:spAutoFit/>
          </a:bodyPr>
          <a:lstStyle/>
          <a:p>
            <a:r>
              <a:rPr lang="pt-BR" sz="1886" i="1" dirty="0" err="1"/>
              <a:t>tot_cred</a:t>
            </a:r>
            <a:endParaRPr lang="pt-BR" sz="1886" i="1" dirty="0"/>
          </a:p>
        </p:txBody>
      </p:sp>
      <p:sp>
        <p:nvSpPr>
          <p:cNvPr id="53" name="TextBox 52">
            <a:extLst>
              <a:ext uri="{FF2B5EF4-FFF2-40B4-BE49-F238E27FC236}">
                <a16:creationId xmlns:a16="http://schemas.microsoft.com/office/drawing/2014/main" id="{92E5DABE-F334-B340-A4C9-062D492FBD33}"/>
              </a:ext>
            </a:extLst>
          </p:cNvPr>
          <p:cNvSpPr txBox="1"/>
          <p:nvPr/>
        </p:nvSpPr>
        <p:spPr>
          <a:xfrm>
            <a:off x="2544041" y="1910771"/>
            <a:ext cx="432066" cy="382541"/>
          </a:xfrm>
          <a:prstGeom prst="rect">
            <a:avLst/>
          </a:prstGeom>
          <a:solidFill>
            <a:schemeClr val="accent1"/>
          </a:solidFill>
        </p:spPr>
        <p:txBody>
          <a:bodyPr wrap="square" rtlCol="0">
            <a:spAutoFit/>
          </a:bodyPr>
          <a:lstStyle/>
          <a:p>
            <a:r>
              <a:rPr lang="pt-BR" sz="1886" u="sng" dirty="0"/>
              <a:t>ID</a:t>
            </a:r>
          </a:p>
        </p:txBody>
      </p:sp>
      <p:sp>
        <p:nvSpPr>
          <p:cNvPr id="54" name="TextBox 53">
            <a:extLst>
              <a:ext uri="{FF2B5EF4-FFF2-40B4-BE49-F238E27FC236}">
                <a16:creationId xmlns:a16="http://schemas.microsoft.com/office/drawing/2014/main" id="{5894E87F-14E9-114D-B402-926A55298A25}"/>
              </a:ext>
            </a:extLst>
          </p:cNvPr>
          <p:cNvSpPr txBox="1"/>
          <p:nvPr/>
        </p:nvSpPr>
        <p:spPr>
          <a:xfrm>
            <a:off x="2528384" y="2232675"/>
            <a:ext cx="820299" cy="382541"/>
          </a:xfrm>
          <a:prstGeom prst="rect">
            <a:avLst/>
          </a:prstGeom>
          <a:solidFill>
            <a:schemeClr val="accent1"/>
          </a:solidFill>
        </p:spPr>
        <p:txBody>
          <a:bodyPr wrap="square" rtlCol="0">
            <a:spAutoFit/>
          </a:bodyPr>
          <a:lstStyle/>
          <a:p>
            <a:r>
              <a:rPr lang="pt-BR" sz="1886" i="1" dirty="0"/>
              <a:t>nome</a:t>
            </a:r>
          </a:p>
        </p:txBody>
      </p:sp>
      <p:sp>
        <p:nvSpPr>
          <p:cNvPr id="55" name="TextBox 54">
            <a:extLst>
              <a:ext uri="{FF2B5EF4-FFF2-40B4-BE49-F238E27FC236}">
                <a16:creationId xmlns:a16="http://schemas.microsoft.com/office/drawing/2014/main" id="{5EA09958-5F7B-BB4B-A88A-C59DFF4CA45E}"/>
              </a:ext>
            </a:extLst>
          </p:cNvPr>
          <p:cNvSpPr txBox="1"/>
          <p:nvPr/>
        </p:nvSpPr>
        <p:spPr>
          <a:xfrm>
            <a:off x="2528383" y="2524907"/>
            <a:ext cx="1128747" cy="382541"/>
          </a:xfrm>
          <a:prstGeom prst="rect">
            <a:avLst/>
          </a:prstGeom>
          <a:solidFill>
            <a:schemeClr val="accent1"/>
          </a:solidFill>
        </p:spPr>
        <p:txBody>
          <a:bodyPr wrap="square" rtlCol="0">
            <a:spAutoFit/>
          </a:bodyPr>
          <a:lstStyle/>
          <a:p>
            <a:r>
              <a:rPr lang="pt-BR" sz="1886" i="1" dirty="0"/>
              <a:t>salário</a:t>
            </a:r>
          </a:p>
        </p:txBody>
      </p:sp>
      <p:cxnSp>
        <p:nvCxnSpPr>
          <p:cNvPr id="58" name="Straight Arrow Connector 57">
            <a:extLst>
              <a:ext uri="{FF2B5EF4-FFF2-40B4-BE49-F238E27FC236}">
                <a16:creationId xmlns:a16="http://schemas.microsoft.com/office/drawing/2014/main" id="{2BB6BBF6-B772-A348-926E-A055A1AEDA80}"/>
              </a:ext>
            </a:extLst>
          </p:cNvPr>
          <p:cNvCxnSpPr/>
          <p:nvPr/>
        </p:nvCxnSpPr>
        <p:spPr bwMode="auto">
          <a:xfrm>
            <a:off x="5921642" y="3093989"/>
            <a:ext cx="0" cy="751420"/>
          </a:xfrm>
          <a:prstGeom prst="straightConnector1">
            <a:avLst/>
          </a:prstGeom>
          <a:solidFill>
            <a:schemeClr val="accent1"/>
          </a:solidFill>
          <a:ln w="57150" cap="flat" cmpd="sng" algn="ctr">
            <a:solidFill>
              <a:schemeClr val="tx1"/>
            </a:solidFill>
            <a:prstDash val="solid"/>
            <a:round/>
            <a:headEnd type="none" w="med" len="med"/>
            <a:tailEnd type="triangle"/>
          </a:ln>
          <a:effectLst/>
        </p:spPr>
      </p:cxnSp>
      <p:grpSp>
        <p:nvGrpSpPr>
          <p:cNvPr id="82" name="Group 81">
            <a:extLst>
              <a:ext uri="{FF2B5EF4-FFF2-40B4-BE49-F238E27FC236}">
                <a16:creationId xmlns:a16="http://schemas.microsoft.com/office/drawing/2014/main" id="{4B68D98A-4A13-684A-B725-C39F44EAC5F0}"/>
              </a:ext>
            </a:extLst>
          </p:cNvPr>
          <p:cNvGrpSpPr/>
          <p:nvPr/>
        </p:nvGrpSpPr>
        <p:grpSpPr>
          <a:xfrm>
            <a:off x="2219929" y="4290087"/>
            <a:ext cx="7303240" cy="1494545"/>
            <a:chOff x="1994452" y="4340176"/>
            <a:chExt cx="7728080" cy="1581484"/>
          </a:xfrm>
        </p:grpSpPr>
        <p:pic>
          <p:nvPicPr>
            <p:cNvPr id="60" name="Picture 6">
              <a:extLst>
                <a:ext uri="{FF2B5EF4-FFF2-40B4-BE49-F238E27FC236}">
                  <a16:creationId xmlns:a16="http://schemas.microsoft.com/office/drawing/2014/main" id="{0FF61E1E-5B22-D948-8FB0-A4E570967C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94452" y="4340176"/>
              <a:ext cx="7728080" cy="1581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 name="TextBox 60">
              <a:extLst>
                <a:ext uri="{FF2B5EF4-FFF2-40B4-BE49-F238E27FC236}">
                  <a16:creationId xmlns:a16="http://schemas.microsoft.com/office/drawing/2014/main" id="{EA76C814-F909-CD40-9EF2-709635E137CA}"/>
                </a:ext>
              </a:extLst>
            </p:cNvPr>
            <p:cNvSpPr txBox="1"/>
            <p:nvPr/>
          </p:nvSpPr>
          <p:spPr>
            <a:xfrm>
              <a:off x="2324166" y="4368021"/>
              <a:ext cx="1245704" cy="358248"/>
            </a:xfrm>
            <a:prstGeom prst="rect">
              <a:avLst/>
            </a:prstGeom>
            <a:solidFill>
              <a:srgbClr val="C6E7F1"/>
            </a:solidFill>
          </p:spPr>
          <p:txBody>
            <a:bodyPr wrap="square" rtlCol="0">
              <a:spAutoFit/>
            </a:bodyPr>
            <a:lstStyle/>
            <a:p>
              <a:pPr algn="ctr"/>
              <a:r>
                <a:rPr lang="pt-BR" i="1" dirty="0">
                  <a:latin typeface="Calibri Light" panose="020F0302020204030204" pitchFamily="34" charset="0"/>
                  <a:cs typeface="Calibri Light" panose="020F0302020204030204" pitchFamily="34" charset="0"/>
                </a:rPr>
                <a:t>professor</a:t>
              </a:r>
            </a:p>
          </p:txBody>
        </p:sp>
        <p:sp>
          <p:nvSpPr>
            <p:cNvPr id="62" name="TextBox 61">
              <a:extLst>
                <a:ext uri="{FF2B5EF4-FFF2-40B4-BE49-F238E27FC236}">
                  <a16:creationId xmlns:a16="http://schemas.microsoft.com/office/drawing/2014/main" id="{5329ACA9-6BCC-A649-AEC6-39729F405FD9}"/>
                </a:ext>
              </a:extLst>
            </p:cNvPr>
            <p:cNvSpPr txBox="1"/>
            <p:nvPr/>
          </p:nvSpPr>
          <p:spPr>
            <a:xfrm>
              <a:off x="8148496" y="4377421"/>
              <a:ext cx="1245704" cy="358248"/>
            </a:xfrm>
            <a:prstGeom prst="rect">
              <a:avLst/>
            </a:prstGeom>
            <a:solidFill>
              <a:srgbClr val="C6E7F1"/>
            </a:solidFill>
          </p:spPr>
          <p:txBody>
            <a:bodyPr wrap="square" rtlCol="0">
              <a:spAutoFit/>
            </a:bodyPr>
            <a:lstStyle/>
            <a:p>
              <a:pPr algn="ctr"/>
              <a:r>
                <a:rPr lang="pt-BR" i="1" dirty="0">
                  <a:latin typeface="Calibri Light" panose="020F0302020204030204" pitchFamily="34" charset="0"/>
                  <a:cs typeface="Calibri Light" panose="020F0302020204030204" pitchFamily="34" charset="0"/>
                </a:rPr>
                <a:t>aluno</a:t>
              </a:r>
            </a:p>
          </p:txBody>
        </p:sp>
        <p:sp>
          <p:nvSpPr>
            <p:cNvPr id="63" name="TextBox 62">
              <a:extLst>
                <a:ext uri="{FF2B5EF4-FFF2-40B4-BE49-F238E27FC236}">
                  <a16:creationId xmlns:a16="http://schemas.microsoft.com/office/drawing/2014/main" id="{9AF958BB-5C9B-E144-815A-239183B67353}"/>
                </a:ext>
              </a:extLst>
            </p:cNvPr>
            <p:cNvSpPr txBox="1"/>
            <p:nvPr/>
          </p:nvSpPr>
          <p:spPr>
            <a:xfrm>
              <a:off x="5481497" y="4847523"/>
              <a:ext cx="868017" cy="711882"/>
            </a:xfrm>
            <a:prstGeom prst="rect">
              <a:avLst/>
            </a:prstGeom>
            <a:solidFill>
              <a:srgbClr val="ECF6FA"/>
            </a:solidFill>
          </p:spPr>
          <p:txBody>
            <a:bodyPr wrap="square" rtlCol="0">
              <a:spAutoFit/>
            </a:bodyPr>
            <a:lstStyle/>
            <a:p>
              <a:pPr algn="ctr"/>
              <a:r>
                <a:rPr lang="pt-BR" sz="1886" i="1" dirty="0">
                  <a:latin typeface="Calibri Light" panose="020F0302020204030204" pitchFamily="34" charset="0"/>
                  <a:cs typeface="Calibri Light" panose="020F0302020204030204" pitchFamily="34" charset="0"/>
                </a:rPr>
                <a:t>orienta</a:t>
              </a:r>
            </a:p>
          </p:txBody>
        </p:sp>
        <p:sp>
          <p:nvSpPr>
            <p:cNvPr id="64" name="TextBox 63">
              <a:extLst>
                <a:ext uri="{FF2B5EF4-FFF2-40B4-BE49-F238E27FC236}">
                  <a16:creationId xmlns:a16="http://schemas.microsoft.com/office/drawing/2014/main" id="{912CDC51-32C7-8449-BF38-494DE0151899}"/>
                </a:ext>
              </a:extLst>
            </p:cNvPr>
            <p:cNvSpPr txBox="1"/>
            <p:nvPr/>
          </p:nvSpPr>
          <p:spPr>
            <a:xfrm>
              <a:off x="7986156" y="4791698"/>
              <a:ext cx="457200" cy="404794"/>
            </a:xfrm>
            <a:prstGeom prst="rect">
              <a:avLst/>
            </a:prstGeom>
            <a:solidFill>
              <a:schemeClr val="accent1"/>
            </a:solidFill>
          </p:spPr>
          <p:txBody>
            <a:bodyPr wrap="square" rtlCol="0">
              <a:spAutoFit/>
            </a:bodyPr>
            <a:lstStyle/>
            <a:p>
              <a:r>
                <a:rPr lang="pt-BR" sz="1886" u="sng" dirty="0"/>
                <a:t>ID</a:t>
              </a:r>
            </a:p>
          </p:txBody>
        </p:sp>
        <p:sp>
          <p:nvSpPr>
            <p:cNvPr id="65" name="TextBox 64">
              <a:extLst>
                <a:ext uri="{FF2B5EF4-FFF2-40B4-BE49-F238E27FC236}">
                  <a16:creationId xmlns:a16="http://schemas.microsoft.com/office/drawing/2014/main" id="{70511435-F54C-D440-BDD0-7DFB72ABAAE8}"/>
                </a:ext>
              </a:extLst>
            </p:cNvPr>
            <p:cNvSpPr txBox="1"/>
            <p:nvPr/>
          </p:nvSpPr>
          <p:spPr>
            <a:xfrm>
              <a:off x="7972902" y="5118408"/>
              <a:ext cx="868017" cy="404794"/>
            </a:xfrm>
            <a:prstGeom prst="rect">
              <a:avLst/>
            </a:prstGeom>
            <a:solidFill>
              <a:schemeClr val="accent1"/>
            </a:solidFill>
          </p:spPr>
          <p:txBody>
            <a:bodyPr wrap="square" rtlCol="0">
              <a:spAutoFit/>
            </a:bodyPr>
            <a:lstStyle/>
            <a:p>
              <a:r>
                <a:rPr lang="pt-BR" sz="1886" i="1" dirty="0"/>
                <a:t>nome</a:t>
              </a:r>
            </a:p>
          </p:txBody>
        </p:sp>
        <p:sp>
          <p:nvSpPr>
            <p:cNvPr id="66" name="TextBox 65">
              <a:extLst>
                <a:ext uri="{FF2B5EF4-FFF2-40B4-BE49-F238E27FC236}">
                  <a16:creationId xmlns:a16="http://schemas.microsoft.com/office/drawing/2014/main" id="{C0B72023-EE0D-7441-A836-65C0F1172AC0}"/>
                </a:ext>
              </a:extLst>
            </p:cNvPr>
            <p:cNvSpPr txBox="1"/>
            <p:nvPr/>
          </p:nvSpPr>
          <p:spPr>
            <a:xfrm>
              <a:off x="7969591" y="5415005"/>
              <a:ext cx="1459986" cy="404794"/>
            </a:xfrm>
            <a:prstGeom prst="rect">
              <a:avLst/>
            </a:prstGeom>
            <a:solidFill>
              <a:schemeClr val="accent1"/>
            </a:solidFill>
          </p:spPr>
          <p:txBody>
            <a:bodyPr wrap="square" rtlCol="0">
              <a:spAutoFit/>
            </a:bodyPr>
            <a:lstStyle/>
            <a:p>
              <a:r>
                <a:rPr lang="pt-BR" sz="1886" i="1" dirty="0" err="1"/>
                <a:t>tot_cred</a:t>
              </a:r>
              <a:endParaRPr lang="pt-BR" sz="1886" i="1" dirty="0"/>
            </a:p>
          </p:txBody>
        </p:sp>
        <p:sp>
          <p:nvSpPr>
            <p:cNvPr id="67" name="TextBox 66">
              <a:extLst>
                <a:ext uri="{FF2B5EF4-FFF2-40B4-BE49-F238E27FC236}">
                  <a16:creationId xmlns:a16="http://schemas.microsoft.com/office/drawing/2014/main" id="{7E0D1B38-33E0-734E-8800-E0352C110966}"/>
                </a:ext>
              </a:extLst>
            </p:cNvPr>
            <p:cNvSpPr txBox="1"/>
            <p:nvPr/>
          </p:nvSpPr>
          <p:spPr>
            <a:xfrm>
              <a:off x="2320847" y="5087489"/>
              <a:ext cx="868017" cy="404794"/>
            </a:xfrm>
            <a:prstGeom prst="rect">
              <a:avLst/>
            </a:prstGeom>
            <a:solidFill>
              <a:schemeClr val="accent1"/>
            </a:solidFill>
          </p:spPr>
          <p:txBody>
            <a:bodyPr wrap="square" rtlCol="0">
              <a:spAutoFit/>
            </a:bodyPr>
            <a:lstStyle/>
            <a:p>
              <a:r>
                <a:rPr lang="pt-BR" sz="1886" i="1" dirty="0"/>
                <a:t>nome</a:t>
              </a:r>
            </a:p>
          </p:txBody>
        </p:sp>
        <p:sp>
          <p:nvSpPr>
            <p:cNvPr id="68" name="TextBox 67">
              <a:extLst>
                <a:ext uri="{FF2B5EF4-FFF2-40B4-BE49-F238E27FC236}">
                  <a16:creationId xmlns:a16="http://schemas.microsoft.com/office/drawing/2014/main" id="{C6B65FBB-829D-8646-B2EC-4CEA63A45FA6}"/>
                </a:ext>
              </a:extLst>
            </p:cNvPr>
            <p:cNvSpPr txBox="1"/>
            <p:nvPr/>
          </p:nvSpPr>
          <p:spPr>
            <a:xfrm>
              <a:off x="2320847" y="5434686"/>
              <a:ext cx="1220450" cy="404794"/>
            </a:xfrm>
            <a:prstGeom prst="rect">
              <a:avLst/>
            </a:prstGeom>
            <a:solidFill>
              <a:schemeClr val="accent1"/>
            </a:solidFill>
          </p:spPr>
          <p:txBody>
            <a:bodyPr wrap="square" rtlCol="0">
              <a:spAutoFit/>
            </a:bodyPr>
            <a:lstStyle/>
            <a:p>
              <a:r>
                <a:rPr lang="pt-BR" sz="1886" i="1" dirty="0"/>
                <a:t>salário</a:t>
              </a:r>
            </a:p>
          </p:txBody>
        </p:sp>
        <p:sp>
          <p:nvSpPr>
            <p:cNvPr id="69" name="Rectangle 68">
              <a:extLst>
                <a:ext uri="{FF2B5EF4-FFF2-40B4-BE49-F238E27FC236}">
                  <a16:creationId xmlns:a16="http://schemas.microsoft.com/office/drawing/2014/main" id="{7599DEB8-AC4F-4846-9E7C-C04FECB00768}"/>
                </a:ext>
              </a:extLst>
            </p:cNvPr>
            <p:cNvSpPr/>
            <p:nvPr/>
          </p:nvSpPr>
          <p:spPr bwMode="auto">
            <a:xfrm>
              <a:off x="3954182" y="4340176"/>
              <a:ext cx="3800053" cy="1467850"/>
            </a:xfrm>
            <a:prstGeom prst="rect">
              <a:avLst/>
            </a:prstGeom>
            <a:solidFill>
              <a:schemeClr val="accent1"/>
            </a:solidFill>
            <a:ln w="9525" cap="flat" cmpd="sng" algn="ctr">
              <a:noFill/>
              <a:prstDash val="solid"/>
              <a:round/>
              <a:headEnd type="none" w="med" len="med"/>
              <a:tailEnd type="none" w="med" len="med"/>
            </a:ln>
            <a:effectLst/>
          </p:spPr>
          <p:txBody>
            <a:bodyPr vert="horz" wrap="none" lIns="86414" tIns="43207" rIns="86414" bIns="43207" numCol="1" rtlCol="0" anchor="t" anchorCtr="0" compatLnSpc="1">
              <a:prstTxWarp prst="textNoShape">
                <a:avLst/>
              </a:prstTxWarp>
            </a:bodyPr>
            <a:lstStyle/>
            <a:p>
              <a:pPr defTabSz="864223"/>
              <a:endParaRPr lang="pt-BR" sz="1512" dirty="0">
                <a:latin typeface="Helvetica" charset="0"/>
              </a:endParaRPr>
            </a:p>
          </p:txBody>
        </p:sp>
        <p:sp>
          <p:nvSpPr>
            <p:cNvPr id="71" name="TextBox 70">
              <a:extLst>
                <a:ext uri="{FF2B5EF4-FFF2-40B4-BE49-F238E27FC236}">
                  <a16:creationId xmlns:a16="http://schemas.microsoft.com/office/drawing/2014/main" id="{3B44EB23-A234-E64D-A031-4EAFEB213A74}"/>
                </a:ext>
              </a:extLst>
            </p:cNvPr>
            <p:cNvSpPr txBox="1"/>
            <p:nvPr/>
          </p:nvSpPr>
          <p:spPr>
            <a:xfrm>
              <a:off x="2337418" y="4767660"/>
              <a:ext cx="457200" cy="404794"/>
            </a:xfrm>
            <a:prstGeom prst="rect">
              <a:avLst/>
            </a:prstGeom>
            <a:solidFill>
              <a:schemeClr val="accent1"/>
            </a:solidFill>
          </p:spPr>
          <p:txBody>
            <a:bodyPr wrap="square" rtlCol="0">
              <a:spAutoFit/>
            </a:bodyPr>
            <a:lstStyle/>
            <a:p>
              <a:r>
                <a:rPr lang="pt-BR" sz="1886" u="sng" dirty="0"/>
                <a:t>ID</a:t>
              </a:r>
            </a:p>
          </p:txBody>
        </p:sp>
        <p:sp>
          <p:nvSpPr>
            <p:cNvPr id="78" name="Freeform 77">
              <a:extLst>
                <a:ext uri="{FF2B5EF4-FFF2-40B4-BE49-F238E27FC236}">
                  <a16:creationId xmlns:a16="http://schemas.microsoft.com/office/drawing/2014/main" id="{EBF29C70-F073-EB4F-897E-33FC1813FD2B}"/>
                </a:ext>
              </a:extLst>
            </p:cNvPr>
            <p:cNvSpPr/>
            <p:nvPr/>
          </p:nvSpPr>
          <p:spPr>
            <a:xfrm rot="10800000" flipV="1">
              <a:off x="5634139" y="4772253"/>
              <a:ext cx="991468" cy="223968"/>
            </a:xfrm>
            <a:custGeom>
              <a:avLst/>
              <a:gdLst>
                <a:gd name="connsiteX0" fmla="*/ 0 w 693946"/>
                <a:gd name="connsiteY0" fmla="*/ -70 h 231200"/>
                <a:gd name="connsiteX1" fmla="*/ 693946 w 693946"/>
                <a:gd name="connsiteY1" fmla="*/ -70 h 231200"/>
                <a:gd name="connsiteX2" fmla="*/ 693946 w 693946"/>
                <a:gd name="connsiteY2" fmla="*/ 231130 h 231200"/>
                <a:gd name="connsiteX3" fmla="*/ 0 w 693946"/>
                <a:gd name="connsiteY3" fmla="*/ 231130 h 231200"/>
              </a:gdLst>
              <a:ahLst/>
              <a:cxnLst>
                <a:cxn ang="0">
                  <a:pos x="connsiteX0" y="connsiteY0"/>
                </a:cxn>
                <a:cxn ang="0">
                  <a:pos x="connsiteX1" y="connsiteY1"/>
                </a:cxn>
                <a:cxn ang="0">
                  <a:pos x="connsiteX2" y="connsiteY2"/>
                </a:cxn>
                <a:cxn ang="0">
                  <a:pos x="connsiteX3" y="connsiteY3"/>
                </a:cxn>
              </a:cxnLst>
              <a:rect l="l" t="t" r="r" b="b"/>
              <a:pathLst>
                <a:path w="693946" h="231200">
                  <a:moveTo>
                    <a:pt x="0" y="-70"/>
                  </a:moveTo>
                  <a:lnTo>
                    <a:pt x="693946" y="-70"/>
                  </a:lnTo>
                  <a:lnTo>
                    <a:pt x="693946" y="231130"/>
                  </a:lnTo>
                  <a:lnTo>
                    <a:pt x="0" y="231130"/>
                  </a:lnTo>
                  <a:close/>
                </a:path>
              </a:pathLst>
            </a:custGeom>
            <a:solidFill>
              <a:srgbClr val="CCEEFB"/>
            </a:solidFill>
            <a:ln w="12055" cap="rnd">
              <a:solidFill>
                <a:srgbClr val="231F20"/>
              </a:solidFill>
              <a:prstDash val="solid"/>
              <a:miter/>
            </a:ln>
          </p:spPr>
          <p:txBody>
            <a:bodyPr rtlCol="0" anchor="ctr"/>
            <a:lstStyle/>
            <a:p>
              <a:pPr algn="ctr"/>
              <a:r>
                <a:rPr lang="pt-BR" sz="1477" dirty="0">
                  <a:latin typeface="Calibri Light" panose="020F0302020204030204" pitchFamily="34" charset="0"/>
                  <a:cs typeface="Calibri Light" panose="020F0302020204030204" pitchFamily="34" charset="0"/>
                </a:rPr>
                <a:t>orienta</a:t>
              </a:r>
            </a:p>
          </p:txBody>
        </p:sp>
        <p:sp>
          <p:nvSpPr>
            <p:cNvPr id="79" name="TextBox 78">
              <a:extLst>
                <a:ext uri="{FF2B5EF4-FFF2-40B4-BE49-F238E27FC236}">
                  <a16:creationId xmlns:a16="http://schemas.microsoft.com/office/drawing/2014/main" id="{8C73B842-9614-5948-BA09-65D6AB30506F}"/>
                </a:ext>
              </a:extLst>
            </p:cNvPr>
            <p:cNvSpPr txBox="1"/>
            <p:nvPr/>
          </p:nvSpPr>
          <p:spPr>
            <a:xfrm>
              <a:off x="5629523" y="4988786"/>
              <a:ext cx="981244" cy="578761"/>
            </a:xfrm>
            <a:prstGeom prst="rect">
              <a:avLst/>
            </a:prstGeom>
            <a:noFill/>
            <a:ln w="19050">
              <a:solidFill>
                <a:schemeClr val="tx1"/>
              </a:solidFill>
            </a:ln>
          </p:spPr>
          <p:txBody>
            <a:bodyPr wrap="square" rtlCol="0">
              <a:spAutoFit/>
            </a:bodyPr>
            <a:lstStyle/>
            <a:p>
              <a:r>
                <a:rPr lang="pt-BR" sz="1477" u="sng" dirty="0" err="1">
                  <a:latin typeface="Calibri Light" panose="020F0302020204030204" pitchFamily="34" charset="0"/>
                  <a:cs typeface="Calibri Light" panose="020F0302020204030204" pitchFamily="34" charset="0"/>
                </a:rPr>
                <a:t>a_id</a:t>
              </a:r>
              <a:endParaRPr lang="pt-BR" sz="1477" u="sng" dirty="0">
                <a:latin typeface="Calibri Light" panose="020F0302020204030204" pitchFamily="34" charset="0"/>
                <a:cs typeface="Calibri Light" panose="020F0302020204030204" pitchFamily="34" charset="0"/>
              </a:endParaRPr>
            </a:p>
            <a:p>
              <a:r>
                <a:rPr lang="pt-BR" sz="1477" u="sng" dirty="0" err="1">
                  <a:latin typeface="Calibri Light" panose="020F0302020204030204" pitchFamily="34" charset="0"/>
                  <a:cs typeface="Calibri Light" panose="020F0302020204030204" pitchFamily="34" charset="0"/>
                </a:rPr>
                <a:t>p_id</a:t>
              </a:r>
              <a:endParaRPr lang="pt-BR" sz="1477" u="sng" dirty="0">
                <a:latin typeface="Calibri Light" panose="020F0302020204030204" pitchFamily="34" charset="0"/>
                <a:cs typeface="Calibri Light" panose="020F0302020204030204" pitchFamily="34" charset="0"/>
              </a:endParaRPr>
            </a:p>
          </p:txBody>
        </p:sp>
        <p:cxnSp>
          <p:nvCxnSpPr>
            <p:cNvPr id="5" name="Straight Connector 4">
              <a:extLst>
                <a:ext uri="{FF2B5EF4-FFF2-40B4-BE49-F238E27FC236}">
                  <a16:creationId xmlns:a16="http://schemas.microsoft.com/office/drawing/2014/main" id="{2FDDA240-D8ED-8F47-9E2B-CD6B310E15DA}"/>
                </a:ext>
              </a:extLst>
            </p:cNvPr>
            <p:cNvCxnSpPr>
              <a:cxnSpLocks/>
            </p:cNvCxnSpPr>
            <p:nvPr/>
          </p:nvCxnSpPr>
          <p:spPr bwMode="auto">
            <a:xfrm>
              <a:off x="6610767" y="5151872"/>
              <a:ext cx="412885" cy="0"/>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7" name="Straight Connector 6">
              <a:extLst>
                <a:ext uri="{FF2B5EF4-FFF2-40B4-BE49-F238E27FC236}">
                  <a16:creationId xmlns:a16="http://schemas.microsoft.com/office/drawing/2014/main" id="{42F8C2E5-DDE3-764F-A231-38813B050F18}"/>
                </a:ext>
              </a:extLst>
            </p:cNvPr>
            <p:cNvCxnSpPr>
              <a:cxnSpLocks/>
            </p:cNvCxnSpPr>
            <p:nvPr/>
          </p:nvCxnSpPr>
          <p:spPr bwMode="auto">
            <a:xfrm flipH="1" flipV="1">
              <a:off x="7010400" y="4900532"/>
              <a:ext cx="13252" cy="251340"/>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9" name="Straight Arrow Connector 8">
              <a:extLst>
                <a:ext uri="{FF2B5EF4-FFF2-40B4-BE49-F238E27FC236}">
                  <a16:creationId xmlns:a16="http://schemas.microsoft.com/office/drawing/2014/main" id="{5CFB5A6F-331C-4548-B34E-25C286E33B7A}"/>
                </a:ext>
              </a:extLst>
            </p:cNvPr>
            <p:cNvCxnSpPr/>
            <p:nvPr/>
          </p:nvCxnSpPr>
          <p:spPr bwMode="auto">
            <a:xfrm>
              <a:off x="7010400" y="4900531"/>
              <a:ext cx="730583" cy="0"/>
            </a:xfrm>
            <a:prstGeom prst="straightConnector1">
              <a:avLst/>
            </a:prstGeom>
            <a:solidFill>
              <a:schemeClr val="accent1"/>
            </a:solidFill>
            <a:ln w="25400" cap="flat" cmpd="sng" algn="ctr">
              <a:solidFill>
                <a:schemeClr val="tx1"/>
              </a:solidFill>
              <a:prstDash val="solid"/>
              <a:round/>
              <a:headEnd type="none" w="med" len="med"/>
              <a:tailEnd type="triangle"/>
            </a:ln>
            <a:effectLst/>
          </p:spPr>
        </p:cxnSp>
        <p:cxnSp>
          <p:nvCxnSpPr>
            <p:cNvPr id="80" name="Straight Connector 79">
              <a:extLst>
                <a:ext uri="{FF2B5EF4-FFF2-40B4-BE49-F238E27FC236}">
                  <a16:creationId xmlns:a16="http://schemas.microsoft.com/office/drawing/2014/main" id="{6BE65DCE-7242-7442-96DF-34D03CB5A2BD}"/>
                </a:ext>
              </a:extLst>
            </p:cNvPr>
            <p:cNvCxnSpPr/>
            <p:nvPr/>
          </p:nvCxnSpPr>
          <p:spPr bwMode="auto">
            <a:xfrm>
              <a:off x="5083453" y="5408165"/>
              <a:ext cx="546070" cy="0"/>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81" name="Straight Connector 80">
              <a:extLst>
                <a:ext uri="{FF2B5EF4-FFF2-40B4-BE49-F238E27FC236}">
                  <a16:creationId xmlns:a16="http://schemas.microsoft.com/office/drawing/2014/main" id="{F05BD7BE-2ADD-3A46-8EF5-AD5CC9F1FC6F}"/>
                </a:ext>
              </a:extLst>
            </p:cNvPr>
            <p:cNvCxnSpPr>
              <a:cxnSpLocks/>
            </p:cNvCxnSpPr>
            <p:nvPr/>
          </p:nvCxnSpPr>
          <p:spPr bwMode="auto">
            <a:xfrm flipH="1" flipV="1">
              <a:off x="5083453" y="4880621"/>
              <a:ext cx="9312" cy="541208"/>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27" name="Straight Arrow Connector 26">
              <a:extLst>
                <a:ext uri="{FF2B5EF4-FFF2-40B4-BE49-F238E27FC236}">
                  <a16:creationId xmlns:a16="http://schemas.microsoft.com/office/drawing/2014/main" id="{ADB8969E-1F03-F84E-B1BF-AC16F24766ED}"/>
                </a:ext>
              </a:extLst>
            </p:cNvPr>
            <p:cNvCxnSpPr/>
            <p:nvPr/>
          </p:nvCxnSpPr>
          <p:spPr bwMode="auto">
            <a:xfrm flipH="1">
              <a:off x="3949485" y="4874027"/>
              <a:ext cx="1143280" cy="0"/>
            </a:xfrm>
            <a:prstGeom prst="straightConnector1">
              <a:avLst/>
            </a:prstGeom>
            <a:solidFill>
              <a:schemeClr val="accent1"/>
            </a:solidFill>
            <a:ln w="25400" cap="flat" cmpd="sng" algn="ctr">
              <a:solidFill>
                <a:schemeClr val="tx1"/>
              </a:solidFill>
              <a:prstDash val="solid"/>
              <a:round/>
              <a:headEnd type="none" w="med" len="med"/>
              <a:tailEnd type="triangle"/>
            </a:ln>
            <a:effectLst/>
          </p:spPr>
        </p:cxnSp>
      </p:grpSp>
      <p:sp>
        <p:nvSpPr>
          <p:cNvPr id="3" name="TextBox 2">
            <a:extLst>
              <a:ext uri="{FF2B5EF4-FFF2-40B4-BE49-F238E27FC236}">
                <a16:creationId xmlns:a16="http://schemas.microsoft.com/office/drawing/2014/main" id="{D9111305-B64A-F94C-86F0-EA3BBC284EFB}"/>
              </a:ext>
            </a:extLst>
          </p:cNvPr>
          <p:cNvSpPr txBox="1"/>
          <p:nvPr/>
        </p:nvSpPr>
        <p:spPr>
          <a:xfrm>
            <a:off x="6335578" y="3429000"/>
            <a:ext cx="1546670" cy="338554"/>
          </a:xfrm>
          <a:prstGeom prst="rect">
            <a:avLst/>
          </a:prstGeom>
          <a:noFill/>
        </p:spPr>
        <p:txBody>
          <a:bodyPr wrap="square" rtlCol="0">
            <a:spAutoFit/>
          </a:bodyPr>
          <a:lstStyle/>
          <a:p>
            <a:r>
              <a:rPr lang="pt-BR" dirty="0"/>
              <a:t>Mapeamento</a:t>
            </a:r>
          </a:p>
        </p:txBody>
      </p:sp>
    </p:spTree>
    <p:extLst>
      <p:ext uri="{BB962C8B-B14F-4D97-AF65-F5344CB8AC3E}">
        <p14:creationId xmlns:p14="http://schemas.microsoft.com/office/powerpoint/2010/main" val="34174504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9CE7CD-DDF1-9445-822D-C6C693B4B828}"/>
              </a:ext>
            </a:extLst>
          </p:cNvPr>
          <p:cNvSpPr>
            <a:spLocks noGrp="1"/>
          </p:cNvSpPr>
          <p:nvPr>
            <p:ph type="title"/>
          </p:nvPr>
        </p:nvSpPr>
        <p:spPr>
          <a:xfrm>
            <a:off x="346364" y="117475"/>
            <a:ext cx="11447703" cy="609600"/>
          </a:xfrm>
        </p:spPr>
        <p:txBody>
          <a:bodyPr/>
          <a:lstStyle/>
          <a:p>
            <a:r>
              <a:rPr lang="pt-BR" altLang="en-BR" sz="3200" dirty="0"/>
              <a:t>Passo 7: Mapeamento de  Conjuntos de Relacionamentos </a:t>
            </a:r>
            <a:r>
              <a:rPr lang="pt-BR" altLang="en-BR" sz="3200" dirty="0" err="1"/>
              <a:t>n-ários</a:t>
            </a:r>
            <a:endParaRPr lang="pt-BR" sz="3200" dirty="0"/>
          </a:p>
        </p:txBody>
      </p:sp>
      <p:sp>
        <p:nvSpPr>
          <p:cNvPr id="3" name="Content Placeholder 2">
            <a:extLst>
              <a:ext uri="{FF2B5EF4-FFF2-40B4-BE49-F238E27FC236}">
                <a16:creationId xmlns:a16="http://schemas.microsoft.com/office/drawing/2014/main" id="{00D7AD27-5988-9B4E-98F0-4DCDD1DB8F9D}"/>
              </a:ext>
            </a:extLst>
          </p:cNvPr>
          <p:cNvSpPr>
            <a:spLocks noGrp="1"/>
          </p:cNvSpPr>
          <p:nvPr>
            <p:ph idx="1"/>
          </p:nvPr>
        </p:nvSpPr>
        <p:spPr>
          <a:xfrm>
            <a:off x="346364" y="1093789"/>
            <a:ext cx="10954521" cy="4903787"/>
          </a:xfrm>
        </p:spPr>
        <p:txBody>
          <a:bodyPr/>
          <a:lstStyle/>
          <a:p>
            <a:r>
              <a:rPr lang="pt-BR" sz="2000" dirty="0"/>
              <a:t>O mapeamento de conjuntos de relacionamentos </a:t>
            </a:r>
            <a:r>
              <a:rPr lang="pt-BR" sz="2000" dirty="0" err="1"/>
              <a:t>n-ários</a:t>
            </a:r>
            <a:r>
              <a:rPr lang="pt-BR" sz="2000" dirty="0"/>
              <a:t> segue a mesma lógica do mapeamento de conjuntos de relacionamentos N:M.</a:t>
            </a:r>
          </a:p>
          <a:p>
            <a:endParaRPr lang="pt-BR" sz="2000" dirty="0"/>
          </a:p>
          <a:p>
            <a:endParaRPr lang="pt-BR" sz="2000" dirty="0"/>
          </a:p>
          <a:p>
            <a:r>
              <a:rPr lang="pt-BR" sz="2000" dirty="0"/>
              <a:t>Criamos uma nova tabela na qual incluímos as chaves primárias dos conjuntos de entidades participantes. A chave primária da tabela é a chave primária do relacionamento.</a:t>
            </a:r>
          </a:p>
          <a:p>
            <a:endParaRPr lang="pt-BR" sz="2000" dirty="0"/>
          </a:p>
          <a:p>
            <a:endParaRPr lang="pt-BR" sz="2000" dirty="0"/>
          </a:p>
          <a:p>
            <a:r>
              <a:rPr lang="pt-BR" sz="2000" dirty="0"/>
              <a:t>Além disso, as chaves primárias incluídas na tabela que representa o relacionamento </a:t>
            </a:r>
            <a:r>
              <a:rPr lang="pt-BR" sz="2000" dirty="0" err="1"/>
              <a:t>n-ário</a:t>
            </a:r>
            <a:r>
              <a:rPr lang="pt-BR" sz="2000" dirty="0"/>
              <a:t> são também chaves estrangeiras para as entidades participantes.</a:t>
            </a:r>
            <a:endParaRPr lang="pt-BR" dirty="0"/>
          </a:p>
        </p:txBody>
      </p:sp>
    </p:spTree>
    <p:extLst>
      <p:ext uri="{BB962C8B-B14F-4D97-AF65-F5344CB8AC3E}">
        <p14:creationId xmlns:p14="http://schemas.microsoft.com/office/powerpoint/2010/main" val="6906048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76D2863-08C6-F74F-8FD0-0F9F853C93DD}"/>
              </a:ext>
            </a:extLst>
          </p:cNvPr>
          <p:cNvSpPr>
            <a:spLocks noGrp="1"/>
          </p:cNvSpPr>
          <p:nvPr>
            <p:ph type="ctrTitle"/>
          </p:nvPr>
        </p:nvSpPr>
        <p:spPr/>
        <p:txBody>
          <a:bodyPr/>
          <a:lstStyle/>
          <a:p>
            <a:pPr algn="ctr"/>
            <a:r>
              <a:rPr lang="pt-BR" dirty="0"/>
              <a:t>Retomando o estudo de caso UNIVERSIDADE</a:t>
            </a:r>
          </a:p>
        </p:txBody>
      </p:sp>
    </p:spTree>
    <p:extLst>
      <p:ext uri="{BB962C8B-B14F-4D97-AF65-F5344CB8AC3E}">
        <p14:creationId xmlns:p14="http://schemas.microsoft.com/office/powerpoint/2010/main" val="33109848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Title 1">
            <a:extLst>
              <a:ext uri="{FF2B5EF4-FFF2-40B4-BE49-F238E27FC236}">
                <a16:creationId xmlns:a16="http://schemas.microsoft.com/office/drawing/2014/main" id="{3D151ED9-7259-684C-ADBD-E7CCD6B34AEC}"/>
              </a:ext>
            </a:extLst>
          </p:cNvPr>
          <p:cNvSpPr>
            <a:spLocks noGrp="1"/>
          </p:cNvSpPr>
          <p:nvPr>
            <p:ph type="title"/>
          </p:nvPr>
        </p:nvSpPr>
        <p:spPr/>
        <p:txBody>
          <a:bodyPr/>
          <a:lstStyle/>
          <a:p>
            <a:pPr algn="ctr"/>
            <a:r>
              <a:rPr lang="pt-BR" altLang="en-BR" dirty="0">
                <a:ea typeface="ＭＳ Ｐゴシック" panose="020B0600070205080204" pitchFamily="34" charset="-128"/>
              </a:rPr>
              <a:t>Requisitos do sistema Universidade</a:t>
            </a:r>
          </a:p>
        </p:txBody>
      </p:sp>
      <p:sp>
        <p:nvSpPr>
          <p:cNvPr id="38914" name="Content Placeholder 3">
            <a:extLst>
              <a:ext uri="{FF2B5EF4-FFF2-40B4-BE49-F238E27FC236}">
                <a16:creationId xmlns:a16="http://schemas.microsoft.com/office/drawing/2014/main" id="{9EF3F42B-19EA-7948-B84C-94AD6EDA49C6}"/>
              </a:ext>
            </a:extLst>
          </p:cNvPr>
          <p:cNvSpPr>
            <a:spLocks noGrp="1"/>
          </p:cNvSpPr>
          <p:nvPr>
            <p:ph idx="1"/>
          </p:nvPr>
        </p:nvSpPr>
        <p:spPr>
          <a:xfrm>
            <a:off x="287383" y="727076"/>
            <a:ext cx="11617234" cy="4976750"/>
          </a:xfrm>
        </p:spPr>
        <p:txBody>
          <a:bodyPr/>
          <a:lstStyle/>
          <a:p>
            <a:r>
              <a:rPr lang="pt-BR" altLang="en-BR" sz="1900" i="1" dirty="0">
                <a:ea typeface="ＭＳ Ｐゴシック" panose="020B0600070205080204" pitchFamily="34" charset="-128"/>
              </a:rPr>
              <a:t>A universidade é organizada em departamentos. Cada departamento tem um nome único, um orçamento anual, e está localizado em um determinado prédio. </a:t>
            </a:r>
          </a:p>
          <a:p>
            <a:r>
              <a:rPr lang="pt-BR" altLang="en-BR" sz="1900" i="1" dirty="0">
                <a:ea typeface="ＭＳ Ｐゴシック" panose="020B0600070205080204" pitchFamily="34" charset="-128"/>
              </a:rPr>
              <a:t>Os departamentos são as unidades acadêmicas que ofertam as disciplinas. Cada disciplina tem um título, um código de identificação e o número de créditos contabilizados aos alunos que por ventura cursá-la. Além disso, cada disciplina pode (ou não) ter pré-requisitos, isto é, outras disciplinas que precisam ter sido cursadas para que o aluno esteja apto a cursá-la.</a:t>
            </a:r>
          </a:p>
          <a:p>
            <a:r>
              <a:rPr lang="pt-BR" altLang="en-BR" sz="1900" i="1" dirty="0">
                <a:ea typeface="ＭＳ Ｐゴシック" panose="020B0600070205080204" pitchFamily="34" charset="-128"/>
              </a:rPr>
              <a:t>Sobre os professores da universidade as informações relevantes são o seu nome, número de identificação e salário. Adicionalmente, cada professor está lotado em um departamento específico.</a:t>
            </a:r>
          </a:p>
          <a:p>
            <a:r>
              <a:rPr lang="pt-BR" altLang="en-BR" sz="1900" i="1" dirty="0">
                <a:ea typeface="ＭＳ Ｐゴシック" panose="020B0600070205080204" pitchFamily="34" charset="-128"/>
              </a:rPr>
              <a:t>Sobre os alunos da universidade as informações relevantes são seu nome, </a:t>
            </a:r>
            <a:r>
              <a:rPr lang="pt-BR" altLang="en-BR" sz="1900" i="1" dirty="0" err="1">
                <a:ea typeface="ＭＳ Ｐゴシック" panose="020B0600070205080204" pitchFamily="34" charset="-128"/>
              </a:rPr>
              <a:t>rga</a:t>
            </a:r>
            <a:r>
              <a:rPr lang="pt-BR" altLang="en-BR" sz="1900" i="1" dirty="0">
                <a:ea typeface="ＭＳ Ｐゴシック" panose="020B0600070205080204" pitchFamily="34" charset="-128"/>
              </a:rPr>
              <a:t>, os créditos cumpridos e o seu departamento. É importante saber também as notas obtidas em cada oferta de disciplina cursada pelos alunos.</a:t>
            </a:r>
          </a:p>
          <a:p>
            <a:r>
              <a:rPr lang="pt-BR" altLang="en-BR" sz="1900" i="1" dirty="0">
                <a:ea typeface="ＭＳ Ｐゴシック" panose="020B0600070205080204" pitchFamily="34" charset="-128"/>
              </a:rPr>
              <a:t>Disciplinas são ofertadas em turmas. Cada turma está relacionada a uma única disciplina e pode ser ministrada por um ou mais professores. Além disso, é preciso manter as informações sobre onde e quando a disciplina será ofertada, isto é, o semestre, o ano, a sala (prédio, número e capacidade) e horário (dia da semana, hora de início, hora de término). O banco deve manter um histórico de turmas. Há situações onde onde é necessário ofertar mais de uma turma de uma mesma disciplina num mesmo ano e semestre por conta do número excessivo de alunos precisando cursá-la.</a:t>
            </a:r>
          </a:p>
          <a:p>
            <a:r>
              <a:rPr lang="pt-BR" altLang="en-BR" sz="1900" i="1" dirty="0">
                <a:ea typeface="ＭＳ Ｐゴシック" panose="020B0600070205080204" pitchFamily="34" charset="-128"/>
              </a:rPr>
              <a:t>Finalmente, nessa universidade alguns alunos podem estar envolvidos em um projeto de pesquisa. Neste caso, é preciso saber quem é o seu orientador. Nessa universidade um mesmo professor pode orientar vários alunos.</a:t>
            </a:r>
          </a:p>
          <a:p>
            <a:endParaRPr lang="pt-BR" altLang="en-BR" sz="1900" i="1" dirty="0">
              <a:ea typeface="ＭＳ Ｐゴシック" panose="020B0600070205080204" pitchFamily="34" charset="-128"/>
            </a:endParaRPr>
          </a:p>
        </p:txBody>
      </p:sp>
      <p:sp>
        <p:nvSpPr>
          <p:cNvPr id="3" name="Slide Number Placeholder 2">
            <a:extLst>
              <a:ext uri="{FF2B5EF4-FFF2-40B4-BE49-F238E27FC236}">
                <a16:creationId xmlns:a16="http://schemas.microsoft.com/office/drawing/2014/main" id="{320FA5FE-90CA-9C40-94BC-7B9F8E0FE99B}"/>
              </a:ext>
            </a:extLst>
          </p:cNvPr>
          <p:cNvSpPr>
            <a:spLocks noGrp="1"/>
          </p:cNvSpPr>
          <p:nvPr>
            <p:ph type="sldNum" sz="quarter" idx="10"/>
          </p:nvPr>
        </p:nvSpPr>
        <p:spPr bwMode="auto">
          <a:xfrm>
            <a:off x="6888122" y="6237430"/>
            <a:ext cx="1800276" cy="432066"/>
          </a:xfrm>
          <a:prstGeom prst="rect">
            <a:avLst/>
          </a:prstGeom>
          <a:noFill/>
          <a:ln w="9525">
            <a:noFill/>
            <a:miter lim="800000"/>
            <a:headEnd/>
            <a:tailEnd/>
          </a:ln>
          <a:effectLst/>
        </p:spPr>
        <p:txBody>
          <a:bodyPr vert="horz" wrap="square" lIns="86414" tIns="43207" rIns="86414" bIns="43207" numCol="1" anchor="b" anchorCtr="0" compatLnSpc="1">
            <a:prstTxWarp prst="textNoShape">
              <a:avLst/>
            </a:prstTxWarp>
          </a:bodyPr>
          <a:lstStyle>
            <a:defPPr>
              <a:defRPr lang="en-CA"/>
            </a:defPPr>
            <a:lvl1pPr algn="r" rtl="0" fontAlgn="base">
              <a:spcBef>
                <a:spcPct val="0"/>
              </a:spcBef>
              <a:spcAft>
                <a:spcPct val="0"/>
              </a:spcAft>
              <a:defRPr sz="1323" b="1" kern="1200">
                <a:solidFill>
                  <a:srgbClr val="990033"/>
                </a:solidFill>
                <a:latin typeface="Arial" panose="020B0604020202020204" pitchFamily="34" charset="0"/>
                <a:ea typeface="ＭＳ Ｐゴシック" panose="020B0600070205080204" pitchFamily="34" charset="-128"/>
                <a:cs typeface="+mn-cs"/>
              </a:defRPr>
            </a:lvl1pPr>
            <a:lvl2pPr marL="432111" algn="l" rtl="0" fontAlgn="base">
              <a:spcBef>
                <a:spcPct val="0"/>
              </a:spcBef>
              <a:spcAft>
                <a:spcPct val="0"/>
              </a:spcAft>
              <a:defRPr sz="2268" kern="1200">
                <a:solidFill>
                  <a:schemeClr val="tx1"/>
                </a:solidFill>
                <a:latin typeface="Arial" panose="020B0604020202020204" pitchFamily="34" charset="0"/>
                <a:ea typeface="ＭＳ Ｐゴシック" panose="020B0600070205080204" pitchFamily="34" charset="-128"/>
                <a:cs typeface="+mn-cs"/>
              </a:defRPr>
            </a:lvl2pPr>
            <a:lvl3pPr marL="864223" algn="l" rtl="0" fontAlgn="base">
              <a:spcBef>
                <a:spcPct val="0"/>
              </a:spcBef>
              <a:spcAft>
                <a:spcPct val="0"/>
              </a:spcAft>
              <a:defRPr sz="2268" kern="1200">
                <a:solidFill>
                  <a:schemeClr val="tx1"/>
                </a:solidFill>
                <a:latin typeface="Arial" panose="020B0604020202020204" pitchFamily="34" charset="0"/>
                <a:ea typeface="ＭＳ Ｐゴシック" panose="020B0600070205080204" pitchFamily="34" charset="-128"/>
                <a:cs typeface="+mn-cs"/>
              </a:defRPr>
            </a:lvl3pPr>
            <a:lvl4pPr marL="1296334" algn="l" rtl="0" fontAlgn="base">
              <a:spcBef>
                <a:spcPct val="0"/>
              </a:spcBef>
              <a:spcAft>
                <a:spcPct val="0"/>
              </a:spcAft>
              <a:defRPr sz="2268" kern="1200">
                <a:solidFill>
                  <a:schemeClr val="tx1"/>
                </a:solidFill>
                <a:latin typeface="Arial" panose="020B0604020202020204" pitchFamily="34" charset="0"/>
                <a:ea typeface="ＭＳ Ｐゴシック" panose="020B0600070205080204" pitchFamily="34" charset="-128"/>
                <a:cs typeface="+mn-cs"/>
              </a:defRPr>
            </a:lvl4pPr>
            <a:lvl5pPr marL="1728445" algn="l" rtl="0" fontAlgn="base">
              <a:spcBef>
                <a:spcPct val="0"/>
              </a:spcBef>
              <a:spcAft>
                <a:spcPct val="0"/>
              </a:spcAft>
              <a:defRPr sz="2268" kern="1200">
                <a:solidFill>
                  <a:schemeClr val="tx1"/>
                </a:solidFill>
                <a:latin typeface="Arial" panose="020B0604020202020204" pitchFamily="34" charset="0"/>
                <a:ea typeface="ＭＳ Ｐゴシック" panose="020B0600070205080204" pitchFamily="34" charset="-128"/>
                <a:cs typeface="+mn-cs"/>
              </a:defRPr>
            </a:lvl5pPr>
            <a:lvl6pPr marL="2160557" algn="l" defTabSz="864223" rtl="0" eaLnBrk="1" latinLnBrk="0" hangingPunct="1">
              <a:defRPr sz="2268" kern="1200">
                <a:solidFill>
                  <a:schemeClr val="tx1"/>
                </a:solidFill>
                <a:latin typeface="Arial" panose="020B0604020202020204" pitchFamily="34" charset="0"/>
                <a:ea typeface="ＭＳ Ｐゴシック" panose="020B0600070205080204" pitchFamily="34" charset="-128"/>
                <a:cs typeface="+mn-cs"/>
              </a:defRPr>
            </a:lvl6pPr>
            <a:lvl7pPr marL="2592668" algn="l" defTabSz="864223" rtl="0" eaLnBrk="1" latinLnBrk="0" hangingPunct="1">
              <a:defRPr sz="2268" kern="1200">
                <a:solidFill>
                  <a:schemeClr val="tx1"/>
                </a:solidFill>
                <a:latin typeface="Arial" panose="020B0604020202020204" pitchFamily="34" charset="0"/>
                <a:ea typeface="ＭＳ Ｐゴシック" panose="020B0600070205080204" pitchFamily="34" charset="-128"/>
                <a:cs typeface="+mn-cs"/>
              </a:defRPr>
            </a:lvl7pPr>
            <a:lvl8pPr marL="3024779" algn="l" defTabSz="864223" rtl="0" eaLnBrk="1" latinLnBrk="0" hangingPunct="1">
              <a:defRPr sz="2268" kern="1200">
                <a:solidFill>
                  <a:schemeClr val="tx1"/>
                </a:solidFill>
                <a:latin typeface="Arial" panose="020B0604020202020204" pitchFamily="34" charset="0"/>
                <a:ea typeface="ＭＳ Ｐゴシック" panose="020B0600070205080204" pitchFamily="34" charset="-128"/>
                <a:cs typeface="+mn-cs"/>
              </a:defRPr>
            </a:lvl8pPr>
            <a:lvl9pPr marL="3456891" algn="l" defTabSz="864223" rtl="0" eaLnBrk="1" latinLnBrk="0" hangingPunct="1">
              <a:defRPr sz="2268"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r>
              <a:rPr lang="en-US" altLang="en-BR"/>
              <a:t>Slide 3- </a:t>
            </a:r>
            <a:fld id="{C053C886-D580-B945-B5E7-121789E1AF27}" type="slidenum">
              <a:rPr lang="en-US" altLang="en-BR" smtClean="0"/>
              <a:pPr eaLnBrk="1" hangingPunct="1"/>
              <a:t>40</a:t>
            </a:fld>
            <a:endParaRPr lang="en-CA" altLang="en-B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858EDC11-8E88-5A4C-B310-9F8C826FFE02}"/>
                  </a:ext>
                </a:extLst>
              </p14:cNvPr>
              <p14:cNvContentPartPr/>
              <p14:nvPr/>
            </p14:nvContentPartPr>
            <p14:xfrm>
              <a:off x="6839018" y="4590514"/>
              <a:ext cx="340" cy="340"/>
            </p14:xfrm>
          </p:contentPart>
        </mc:Choice>
        <mc:Fallback xmlns="">
          <p:pic>
            <p:nvPicPr>
              <p:cNvPr id="4" name="Ink 3">
                <a:extLst>
                  <a:ext uri="{FF2B5EF4-FFF2-40B4-BE49-F238E27FC236}">
                    <a16:creationId xmlns:a16="http://schemas.microsoft.com/office/drawing/2014/main" id="{858EDC11-8E88-5A4C-B310-9F8C826FFE02}"/>
                  </a:ext>
                </a:extLst>
              </p:cNvPr>
              <p:cNvPicPr/>
              <p:nvPr/>
            </p:nvPicPr>
            <p:blipFill>
              <a:blip r:embed="rId3"/>
              <a:stretch>
                <a:fillRect/>
              </a:stretch>
            </p:blipFill>
            <p:spPr>
              <a:xfrm>
                <a:off x="6830518" y="4582014"/>
                <a:ext cx="17000" cy="17000"/>
              </a:xfrm>
              <a:prstGeom prst="rect">
                <a:avLst/>
              </a:prstGeom>
            </p:spPr>
          </p:pic>
        </mc:Fallback>
      </mc:AlternateContent>
    </p:spTree>
    <p:extLst>
      <p:ext uri="{BB962C8B-B14F-4D97-AF65-F5344CB8AC3E}">
        <p14:creationId xmlns:p14="http://schemas.microsoft.com/office/powerpoint/2010/main" val="338108794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CB404ED-98D6-6645-A375-D315D3F8D6F7}"/>
              </a:ext>
            </a:extLst>
          </p:cNvPr>
          <p:cNvPicPr>
            <a:picLocks noChangeAspect="1"/>
          </p:cNvPicPr>
          <p:nvPr/>
        </p:nvPicPr>
        <p:blipFill>
          <a:blip r:embed="rId2"/>
          <a:stretch>
            <a:fillRect/>
          </a:stretch>
        </p:blipFill>
        <p:spPr>
          <a:xfrm>
            <a:off x="1900255" y="0"/>
            <a:ext cx="9057503" cy="6858000"/>
          </a:xfrm>
          <a:prstGeom prst="rect">
            <a:avLst/>
          </a:prstGeom>
          <a:ln w="12700">
            <a:noFill/>
          </a:ln>
        </p:spPr>
      </p:pic>
      <p:sp>
        <p:nvSpPr>
          <p:cNvPr id="6" name="Rectangle 5">
            <a:extLst>
              <a:ext uri="{FF2B5EF4-FFF2-40B4-BE49-F238E27FC236}">
                <a16:creationId xmlns:a16="http://schemas.microsoft.com/office/drawing/2014/main" id="{098C1859-E7F9-FE43-A0B9-DB457AF4965D}"/>
              </a:ext>
            </a:extLst>
          </p:cNvPr>
          <p:cNvSpPr/>
          <p:nvPr/>
        </p:nvSpPr>
        <p:spPr bwMode="auto">
          <a:xfrm>
            <a:off x="6247549" y="135924"/>
            <a:ext cx="1027670" cy="222421"/>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pt-BR" sz="1200" i="1" u="none" strike="noStrike" cap="none" normalizeH="0" baseline="0" dirty="0">
                <a:ln>
                  <a:noFill/>
                </a:ln>
                <a:solidFill>
                  <a:schemeClr val="tx1"/>
                </a:solidFill>
                <a:effectLst/>
                <a:latin typeface="Calibri Light" panose="020F0302020204030204" pitchFamily="34" charset="0"/>
                <a:cs typeface="Calibri Light" panose="020F0302020204030204" pitchFamily="34" charset="0"/>
              </a:rPr>
              <a:t>departamento</a:t>
            </a:r>
          </a:p>
        </p:txBody>
      </p:sp>
      <p:sp>
        <p:nvSpPr>
          <p:cNvPr id="7" name="Rectangle 6">
            <a:extLst>
              <a:ext uri="{FF2B5EF4-FFF2-40B4-BE49-F238E27FC236}">
                <a16:creationId xmlns:a16="http://schemas.microsoft.com/office/drawing/2014/main" id="{253CBDDC-248C-BD41-9BFF-0CD0B2ABAD2B}"/>
              </a:ext>
            </a:extLst>
          </p:cNvPr>
          <p:cNvSpPr/>
          <p:nvPr/>
        </p:nvSpPr>
        <p:spPr bwMode="auto">
          <a:xfrm>
            <a:off x="8896013" y="1878227"/>
            <a:ext cx="1033849" cy="214183"/>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pt-BR" sz="1200" i="1" dirty="0">
                <a:latin typeface="Calibri Light" panose="020F0302020204030204" pitchFamily="34" charset="0"/>
                <a:cs typeface="Calibri Light" panose="020F0302020204030204" pitchFamily="34" charset="0"/>
              </a:rPr>
              <a:t>aluno</a:t>
            </a:r>
            <a:endParaRPr kumimoji="0" lang="pt-BR" sz="1200" i="1" u="none" strike="noStrike" cap="none" normalizeH="0" baseline="0" dirty="0">
              <a:ln>
                <a:noFill/>
              </a:ln>
              <a:solidFill>
                <a:schemeClr val="tx1"/>
              </a:solidFill>
              <a:effectLst/>
              <a:latin typeface="Calibri Light" panose="020F0302020204030204" pitchFamily="34" charset="0"/>
              <a:cs typeface="Calibri Light" panose="020F0302020204030204" pitchFamily="34" charset="0"/>
            </a:endParaRPr>
          </a:p>
        </p:txBody>
      </p:sp>
      <p:sp>
        <p:nvSpPr>
          <p:cNvPr id="9" name="Rectangle 8">
            <a:extLst>
              <a:ext uri="{FF2B5EF4-FFF2-40B4-BE49-F238E27FC236}">
                <a16:creationId xmlns:a16="http://schemas.microsoft.com/office/drawing/2014/main" id="{890C3872-CD6E-D947-9DA1-0DE88B94C138}"/>
              </a:ext>
            </a:extLst>
          </p:cNvPr>
          <p:cNvSpPr/>
          <p:nvPr/>
        </p:nvSpPr>
        <p:spPr bwMode="auto">
          <a:xfrm>
            <a:off x="3712567" y="1878227"/>
            <a:ext cx="963827" cy="214183"/>
          </a:xfrm>
          <a:prstGeom prst="rect">
            <a:avLst/>
          </a:prstGeom>
          <a:ln w="9525">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pt-BR" sz="1200" i="1" dirty="0">
                <a:solidFill>
                  <a:schemeClr val="tx1"/>
                </a:solidFill>
                <a:latin typeface="Calibri Light" panose="020F0302020204030204" pitchFamily="34" charset="0"/>
                <a:cs typeface="Calibri Light" panose="020F0302020204030204" pitchFamily="34" charset="0"/>
              </a:rPr>
              <a:t>professor</a:t>
            </a:r>
            <a:endParaRPr kumimoji="0" lang="pt-BR" sz="1200" i="1" u="none" strike="noStrike" cap="none" normalizeH="0" baseline="0" dirty="0">
              <a:ln>
                <a:noFill/>
              </a:ln>
              <a:solidFill>
                <a:schemeClr val="tx1"/>
              </a:solidFill>
              <a:effectLst/>
              <a:latin typeface="Calibri Light" panose="020F0302020204030204" pitchFamily="34" charset="0"/>
              <a:cs typeface="Calibri Light" panose="020F0302020204030204" pitchFamily="34" charset="0"/>
            </a:endParaRPr>
          </a:p>
        </p:txBody>
      </p:sp>
      <p:sp>
        <p:nvSpPr>
          <p:cNvPr id="12" name="Rectangle 11">
            <a:extLst>
              <a:ext uri="{FF2B5EF4-FFF2-40B4-BE49-F238E27FC236}">
                <a16:creationId xmlns:a16="http://schemas.microsoft.com/office/drawing/2014/main" id="{5A71C8DA-68B6-F746-972C-42F1FA9071F5}"/>
              </a:ext>
            </a:extLst>
          </p:cNvPr>
          <p:cNvSpPr/>
          <p:nvPr/>
        </p:nvSpPr>
        <p:spPr bwMode="auto">
          <a:xfrm>
            <a:off x="2612816" y="4312508"/>
            <a:ext cx="976183" cy="222422"/>
          </a:xfrm>
          <a:prstGeom prst="rect">
            <a:avLst/>
          </a:prstGeom>
          <a:ln w="3175">
            <a:solidFill>
              <a:schemeClr val="tx1"/>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pt-BR" sz="1200" i="1" dirty="0">
                <a:solidFill>
                  <a:schemeClr val="tx1"/>
                </a:solidFill>
                <a:latin typeface="Calibri Light" panose="020F0302020204030204" pitchFamily="34" charset="0"/>
                <a:cs typeface="Calibri Light" panose="020F0302020204030204" pitchFamily="34" charset="0"/>
              </a:rPr>
              <a:t>disciplina</a:t>
            </a:r>
            <a:endParaRPr kumimoji="0" lang="pt-BR" sz="1200" i="1" u="none" strike="noStrike" cap="none" normalizeH="0" baseline="0" dirty="0">
              <a:ln>
                <a:noFill/>
              </a:ln>
              <a:solidFill>
                <a:schemeClr val="tx1"/>
              </a:solidFill>
              <a:effectLst/>
              <a:latin typeface="Calibri Light" panose="020F0302020204030204" pitchFamily="34" charset="0"/>
              <a:cs typeface="Calibri Light" panose="020F0302020204030204" pitchFamily="34" charset="0"/>
            </a:endParaRPr>
          </a:p>
        </p:txBody>
      </p:sp>
      <p:sp>
        <p:nvSpPr>
          <p:cNvPr id="13" name="Rectangle 12">
            <a:extLst>
              <a:ext uri="{FF2B5EF4-FFF2-40B4-BE49-F238E27FC236}">
                <a16:creationId xmlns:a16="http://schemas.microsoft.com/office/drawing/2014/main" id="{FCF15B9C-951C-9044-AC1A-EAE7FB7BBB78}"/>
              </a:ext>
            </a:extLst>
          </p:cNvPr>
          <p:cNvSpPr/>
          <p:nvPr/>
        </p:nvSpPr>
        <p:spPr bwMode="auto">
          <a:xfrm>
            <a:off x="6300072" y="4181526"/>
            <a:ext cx="985657" cy="202651"/>
          </a:xfrm>
          <a:prstGeom prst="rect">
            <a:avLst/>
          </a:prstGeom>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pt-BR" sz="1200" i="1" dirty="0">
                <a:solidFill>
                  <a:schemeClr val="tx1"/>
                </a:solidFill>
                <a:latin typeface="Calibri Light" panose="020F0302020204030204" pitchFamily="34" charset="0"/>
                <a:cs typeface="Calibri Light" panose="020F0302020204030204" pitchFamily="34" charset="0"/>
              </a:rPr>
              <a:t>turma</a:t>
            </a:r>
            <a:endParaRPr kumimoji="0" lang="pt-BR" sz="1200" i="1" u="none" strike="noStrike" cap="none" normalizeH="0" baseline="0" dirty="0">
              <a:ln>
                <a:noFill/>
              </a:ln>
              <a:solidFill>
                <a:schemeClr val="tx1"/>
              </a:solidFill>
              <a:effectLst/>
              <a:latin typeface="Calibri Light" panose="020F0302020204030204" pitchFamily="34" charset="0"/>
              <a:cs typeface="Calibri Light" panose="020F0302020204030204" pitchFamily="34" charset="0"/>
            </a:endParaRPr>
          </a:p>
        </p:txBody>
      </p:sp>
      <p:sp>
        <p:nvSpPr>
          <p:cNvPr id="14" name="Rectangle 13">
            <a:extLst>
              <a:ext uri="{FF2B5EF4-FFF2-40B4-BE49-F238E27FC236}">
                <a16:creationId xmlns:a16="http://schemas.microsoft.com/office/drawing/2014/main" id="{4720D1F6-7955-2749-8F4C-EBAD6038E797}"/>
              </a:ext>
            </a:extLst>
          </p:cNvPr>
          <p:cNvSpPr/>
          <p:nvPr/>
        </p:nvSpPr>
        <p:spPr bwMode="auto">
          <a:xfrm>
            <a:off x="6324161" y="6119066"/>
            <a:ext cx="985657" cy="202651"/>
          </a:xfrm>
          <a:prstGeom prst="rect">
            <a:avLst/>
          </a:prstGeom>
          <a:ln>
            <a:no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pt-BR" sz="1200" i="1" u="none" strike="noStrike" cap="none" normalizeH="0" baseline="0" dirty="0" err="1">
                <a:ln>
                  <a:noFill/>
                </a:ln>
                <a:solidFill>
                  <a:schemeClr val="tx1"/>
                </a:solidFill>
                <a:effectLst/>
                <a:latin typeface="Calibri Light" panose="020F0302020204030204" pitchFamily="34" charset="0"/>
                <a:cs typeface="Calibri Light" panose="020F0302020204030204" pitchFamily="34" charset="0"/>
              </a:rPr>
              <a:t>SalaDeAula</a:t>
            </a:r>
            <a:endParaRPr kumimoji="0" lang="pt-BR" sz="1200" i="1" u="none" strike="noStrike" cap="none" normalizeH="0" baseline="0" dirty="0">
              <a:ln>
                <a:noFill/>
              </a:ln>
              <a:solidFill>
                <a:schemeClr val="tx1"/>
              </a:solidFill>
              <a:effectLst/>
              <a:latin typeface="Calibri Light" panose="020F0302020204030204" pitchFamily="34" charset="0"/>
              <a:cs typeface="Calibri Light" panose="020F0302020204030204" pitchFamily="34" charset="0"/>
            </a:endParaRPr>
          </a:p>
        </p:txBody>
      </p:sp>
      <p:sp>
        <p:nvSpPr>
          <p:cNvPr id="15" name="Rectangle 14">
            <a:extLst>
              <a:ext uri="{FF2B5EF4-FFF2-40B4-BE49-F238E27FC236}">
                <a16:creationId xmlns:a16="http://schemas.microsoft.com/office/drawing/2014/main" id="{A90B1893-544A-E145-B2C1-9B8188A3C277}"/>
              </a:ext>
            </a:extLst>
          </p:cNvPr>
          <p:cNvSpPr/>
          <p:nvPr/>
        </p:nvSpPr>
        <p:spPr bwMode="auto">
          <a:xfrm>
            <a:off x="9967144" y="4332280"/>
            <a:ext cx="870327" cy="222422"/>
          </a:xfrm>
          <a:prstGeom prst="rect">
            <a:avLst/>
          </a:prstGeom>
          <a:ln>
            <a:noFill/>
            <a:headEnd type="none" w="med" len="med"/>
            <a:tailEnd type="none" w="med" len="med"/>
          </a:ln>
        </p:spPr>
        <p:style>
          <a:lnRef idx="2">
            <a:schemeClr val="accent3"/>
          </a:lnRef>
          <a:fillRef idx="1">
            <a:schemeClr val="lt1"/>
          </a:fillRef>
          <a:effectRef idx="0">
            <a:schemeClr val="accent3"/>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pt-BR" sz="1200" i="1" u="none" strike="noStrike" cap="none" normalizeH="0" baseline="0" dirty="0">
                <a:ln>
                  <a:noFill/>
                </a:ln>
                <a:solidFill>
                  <a:schemeClr val="tx1"/>
                </a:solidFill>
                <a:effectLst/>
                <a:latin typeface="Calibri Light" panose="020F0302020204030204" pitchFamily="34" charset="0"/>
                <a:cs typeface="Calibri Light" panose="020F0302020204030204" pitchFamily="34" charset="0"/>
              </a:rPr>
              <a:t>horário</a:t>
            </a:r>
          </a:p>
        </p:txBody>
      </p:sp>
      <p:sp>
        <p:nvSpPr>
          <p:cNvPr id="16" name="Rectangle 15">
            <a:extLst>
              <a:ext uri="{FF2B5EF4-FFF2-40B4-BE49-F238E27FC236}">
                <a16:creationId xmlns:a16="http://schemas.microsoft.com/office/drawing/2014/main" id="{87EFE7B4-6B27-B945-91B6-6561927CE972}"/>
              </a:ext>
            </a:extLst>
          </p:cNvPr>
          <p:cNvSpPr/>
          <p:nvPr/>
        </p:nvSpPr>
        <p:spPr bwMode="auto">
          <a:xfrm>
            <a:off x="4634354" y="1052406"/>
            <a:ext cx="725467" cy="218661"/>
          </a:xfrm>
          <a:prstGeom prst="rect">
            <a:avLst/>
          </a:prstGeom>
          <a:solidFill>
            <a:srgbClr val="EDF9FE"/>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pt-BR" sz="1200" i="1" dirty="0" err="1">
                <a:latin typeface="Calibri Light" panose="020F0302020204030204" pitchFamily="34" charset="0"/>
                <a:cs typeface="Calibri Light" panose="020F0302020204030204" pitchFamily="34" charset="0"/>
              </a:rPr>
              <a:t>p</a:t>
            </a:r>
            <a:r>
              <a:rPr kumimoji="0" lang="pt-BR" sz="1200" i="1" u="none" strike="noStrike" cap="none" normalizeH="0" baseline="0" dirty="0" err="1">
                <a:ln>
                  <a:noFill/>
                </a:ln>
                <a:solidFill>
                  <a:schemeClr val="tx1"/>
                </a:solidFill>
                <a:effectLst/>
                <a:latin typeface="Calibri Light" panose="020F0302020204030204" pitchFamily="34" charset="0"/>
                <a:cs typeface="Calibri Light" panose="020F0302020204030204" pitchFamily="34" charset="0"/>
              </a:rPr>
              <a:t>rof-dept</a:t>
            </a:r>
            <a:endParaRPr kumimoji="0" lang="pt-BR" sz="1200" i="1" u="none" strike="noStrike" cap="none" normalizeH="0" baseline="0" dirty="0">
              <a:ln>
                <a:noFill/>
              </a:ln>
              <a:solidFill>
                <a:schemeClr val="tx1"/>
              </a:solidFill>
              <a:effectLst/>
              <a:latin typeface="Calibri Light" panose="020F0302020204030204" pitchFamily="34" charset="0"/>
              <a:cs typeface="Calibri Light" panose="020F0302020204030204" pitchFamily="34" charset="0"/>
            </a:endParaRPr>
          </a:p>
        </p:txBody>
      </p:sp>
      <p:sp>
        <p:nvSpPr>
          <p:cNvPr id="17" name="Rectangle 16">
            <a:extLst>
              <a:ext uri="{FF2B5EF4-FFF2-40B4-BE49-F238E27FC236}">
                <a16:creationId xmlns:a16="http://schemas.microsoft.com/office/drawing/2014/main" id="{DB6484E6-9E2F-E944-B4DB-FDA12EE09A73}"/>
              </a:ext>
            </a:extLst>
          </p:cNvPr>
          <p:cNvSpPr/>
          <p:nvPr/>
        </p:nvSpPr>
        <p:spPr bwMode="auto">
          <a:xfrm>
            <a:off x="8277584" y="1053548"/>
            <a:ext cx="788504" cy="218661"/>
          </a:xfrm>
          <a:prstGeom prst="rect">
            <a:avLst/>
          </a:prstGeom>
          <a:solidFill>
            <a:srgbClr val="EDF9FE"/>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pt-BR" sz="1200" i="1" u="none" strike="noStrike" cap="none" normalizeH="0" baseline="0" dirty="0">
                <a:ln>
                  <a:noFill/>
                </a:ln>
                <a:solidFill>
                  <a:schemeClr val="tx1"/>
                </a:solidFill>
                <a:effectLst/>
                <a:latin typeface="Calibri Light" panose="020F0302020204030204" pitchFamily="34" charset="0"/>
                <a:cs typeface="Calibri Light" panose="020F0302020204030204" pitchFamily="34" charset="0"/>
              </a:rPr>
              <a:t>aluno-</a:t>
            </a:r>
            <a:r>
              <a:rPr kumimoji="0" lang="pt-BR" sz="1200" i="1" u="none" strike="noStrike" cap="none" normalizeH="0" baseline="0" dirty="0" err="1">
                <a:ln>
                  <a:noFill/>
                </a:ln>
                <a:solidFill>
                  <a:schemeClr val="tx1"/>
                </a:solidFill>
                <a:effectLst/>
                <a:latin typeface="Calibri Light" panose="020F0302020204030204" pitchFamily="34" charset="0"/>
                <a:cs typeface="Calibri Light" panose="020F0302020204030204" pitchFamily="34" charset="0"/>
              </a:rPr>
              <a:t>dept</a:t>
            </a:r>
            <a:endParaRPr kumimoji="0" lang="pt-BR" sz="1200" i="1" u="none" strike="noStrike" cap="none" normalizeH="0" baseline="0" dirty="0">
              <a:ln>
                <a:noFill/>
              </a:ln>
              <a:solidFill>
                <a:schemeClr val="tx1"/>
              </a:solidFill>
              <a:effectLst/>
              <a:latin typeface="Calibri Light" panose="020F0302020204030204" pitchFamily="34" charset="0"/>
              <a:cs typeface="Calibri Light" panose="020F0302020204030204" pitchFamily="34" charset="0"/>
            </a:endParaRPr>
          </a:p>
        </p:txBody>
      </p:sp>
      <p:sp>
        <p:nvSpPr>
          <p:cNvPr id="18" name="Rectangle 17">
            <a:extLst>
              <a:ext uri="{FF2B5EF4-FFF2-40B4-BE49-F238E27FC236}">
                <a16:creationId xmlns:a16="http://schemas.microsoft.com/office/drawing/2014/main" id="{E628C1AB-615D-9741-A581-DB158111CC45}"/>
              </a:ext>
            </a:extLst>
          </p:cNvPr>
          <p:cNvSpPr/>
          <p:nvPr/>
        </p:nvSpPr>
        <p:spPr bwMode="auto">
          <a:xfrm>
            <a:off x="6508518" y="2105662"/>
            <a:ext cx="725467" cy="218661"/>
          </a:xfrm>
          <a:prstGeom prst="rect">
            <a:avLst/>
          </a:prstGeom>
          <a:solidFill>
            <a:srgbClr val="EDF9FE"/>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pt-BR" sz="1200" i="1" dirty="0" err="1">
                <a:latin typeface="Calibri Light" panose="020F0302020204030204" pitchFamily="34" charset="0"/>
                <a:cs typeface="Calibri Light" panose="020F0302020204030204" pitchFamily="34" charset="0"/>
              </a:rPr>
              <a:t>p</a:t>
            </a:r>
            <a:r>
              <a:rPr kumimoji="0" lang="pt-BR" sz="1200" i="1" u="none" strike="noStrike" cap="none" normalizeH="0" baseline="0" dirty="0" err="1">
                <a:ln>
                  <a:noFill/>
                </a:ln>
                <a:solidFill>
                  <a:schemeClr val="tx1"/>
                </a:solidFill>
                <a:effectLst/>
                <a:latin typeface="Calibri Light" panose="020F0302020204030204" pitchFamily="34" charset="0"/>
                <a:cs typeface="Calibri Light" panose="020F0302020204030204" pitchFamily="34" charset="0"/>
              </a:rPr>
              <a:t>rof</a:t>
            </a:r>
            <a:r>
              <a:rPr kumimoji="0" lang="pt-BR" sz="1200" i="1" u="none" strike="noStrike" cap="none" normalizeH="0" baseline="0" dirty="0">
                <a:ln>
                  <a:noFill/>
                </a:ln>
                <a:solidFill>
                  <a:schemeClr val="tx1"/>
                </a:solidFill>
                <a:effectLst/>
                <a:latin typeface="Calibri Light" panose="020F0302020204030204" pitchFamily="34" charset="0"/>
                <a:cs typeface="Calibri Light" panose="020F0302020204030204" pitchFamily="34" charset="0"/>
              </a:rPr>
              <a:t>-orienta</a:t>
            </a:r>
          </a:p>
        </p:txBody>
      </p:sp>
      <p:sp>
        <p:nvSpPr>
          <p:cNvPr id="19" name="Rectangle 18">
            <a:extLst>
              <a:ext uri="{FF2B5EF4-FFF2-40B4-BE49-F238E27FC236}">
                <a16:creationId xmlns:a16="http://schemas.microsoft.com/office/drawing/2014/main" id="{16E0337A-A1D0-9648-BED9-E874C94306EA}"/>
              </a:ext>
            </a:extLst>
          </p:cNvPr>
          <p:cNvSpPr/>
          <p:nvPr/>
        </p:nvSpPr>
        <p:spPr bwMode="auto">
          <a:xfrm>
            <a:off x="4502872" y="3223591"/>
            <a:ext cx="725467" cy="218661"/>
          </a:xfrm>
          <a:prstGeom prst="rect">
            <a:avLst/>
          </a:prstGeom>
          <a:solidFill>
            <a:srgbClr val="EDF9FE"/>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pt-BR" sz="1200" i="1" u="none" strike="noStrike" cap="none" normalizeH="0" baseline="0" dirty="0">
                <a:ln>
                  <a:noFill/>
                </a:ln>
                <a:solidFill>
                  <a:schemeClr val="tx1"/>
                </a:solidFill>
                <a:effectLst/>
                <a:latin typeface="Calibri Light" panose="020F0302020204030204" pitchFamily="34" charset="0"/>
                <a:cs typeface="Calibri Light" panose="020F0302020204030204" pitchFamily="34" charset="0"/>
              </a:rPr>
              <a:t>ensina</a:t>
            </a:r>
          </a:p>
        </p:txBody>
      </p:sp>
      <p:sp>
        <p:nvSpPr>
          <p:cNvPr id="20" name="Rectangle 19">
            <a:extLst>
              <a:ext uri="{FF2B5EF4-FFF2-40B4-BE49-F238E27FC236}">
                <a16:creationId xmlns:a16="http://schemas.microsoft.com/office/drawing/2014/main" id="{E3DC7470-25BD-E94A-9BE1-6AB999176991}"/>
              </a:ext>
            </a:extLst>
          </p:cNvPr>
          <p:cNvSpPr/>
          <p:nvPr/>
        </p:nvSpPr>
        <p:spPr bwMode="auto">
          <a:xfrm>
            <a:off x="8448819" y="3210339"/>
            <a:ext cx="725467" cy="218661"/>
          </a:xfrm>
          <a:prstGeom prst="rect">
            <a:avLst/>
          </a:prstGeom>
          <a:solidFill>
            <a:srgbClr val="EDF9FE"/>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pt-BR" sz="1200" i="1" dirty="0">
                <a:latin typeface="Calibri Light" panose="020F0302020204030204" pitchFamily="34" charset="0"/>
                <a:cs typeface="Calibri Light" panose="020F0302020204030204" pitchFamily="34" charset="0"/>
              </a:rPr>
              <a:t>aluno-cursa</a:t>
            </a:r>
            <a:endParaRPr kumimoji="0" lang="pt-BR" sz="1200" i="1" u="none" strike="noStrike" cap="none" normalizeH="0" baseline="0" dirty="0">
              <a:ln>
                <a:noFill/>
              </a:ln>
              <a:solidFill>
                <a:schemeClr val="tx1"/>
              </a:solidFill>
              <a:effectLst/>
              <a:latin typeface="Calibri Light" panose="020F0302020204030204" pitchFamily="34" charset="0"/>
              <a:cs typeface="Calibri Light" panose="020F0302020204030204" pitchFamily="34" charset="0"/>
            </a:endParaRPr>
          </a:p>
        </p:txBody>
      </p:sp>
      <p:sp>
        <p:nvSpPr>
          <p:cNvPr id="22" name="Rectangle 21">
            <a:extLst>
              <a:ext uri="{FF2B5EF4-FFF2-40B4-BE49-F238E27FC236}">
                <a16:creationId xmlns:a16="http://schemas.microsoft.com/office/drawing/2014/main" id="{AA034B2D-81FE-854D-A065-20AAA892FC9B}"/>
              </a:ext>
            </a:extLst>
          </p:cNvPr>
          <p:cNvSpPr/>
          <p:nvPr/>
        </p:nvSpPr>
        <p:spPr bwMode="auto">
          <a:xfrm>
            <a:off x="2612816" y="345093"/>
            <a:ext cx="976183" cy="138612"/>
          </a:xfrm>
          <a:prstGeom prst="rect">
            <a:avLst/>
          </a:prstGeom>
          <a:solidFill>
            <a:srgbClr val="EDF9FE"/>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pt-BR" sz="1200" i="1" dirty="0" err="1">
                <a:latin typeface="Calibri Light" panose="020F0302020204030204" pitchFamily="34" charset="0"/>
                <a:cs typeface="Calibri Light" panose="020F0302020204030204" pitchFamily="34" charset="0"/>
              </a:rPr>
              <a:t>disciplina_dept</a:t>
            </a:r>
            <a:endParaRPr kumimoji="0" lang="pt-BR" sz="1200" i="1" u="none" strike="noStrike" cap="none" normalizeH="0" baseline="0" dirty="0">
              <a:ln>
                <a:noFill/>
              </a:ln>
              <a:solidFill>
                <a:schemeClr val="tx1"/>
              </a:solidFill>
              <a:effectLst/>
              <a:latin typeface="Calibri Light" panose="020F0302020204030204" pitchFamily="34" charset="0"/>
              <a:cs typeface="Calibri Light" panose="020F0302020204030204" pitchFamily="34" charset="0"/>
            </a:endParaRPr>
          </a:p>
        </p:txBody>
      </p:sp>
      <p:sp>
        <p:nvSpPr>
          <p:cNvPr id="23" name="Rectangle 22">
            <a:extLst>
              <a:ext uri="{FF2B5EF4-FFF2-40B4-BE49-F238E27FC236}">
                <a16:creationId xmlns:a16="http://schemas.microsoft.com/office/drawing/2014/main" id="{8C6F6845-E94B-4543-A288-BA6339DFD5A7}"/>
              </a:ext>
            </a:extLst>
          </p:cNvPr>
          <p:cNvSpPr/>
          <p:nvPr/>
        </p:nvSpPr>
        <p:spPr bwMode="auto">
          <a:xfrm>
            <a:off x="6451344" y="5473148"/>
            <a:ext cx="713916" cy="165652"/>
          </a:xfrm>
          <a:prstGeom prst="rect">
            <a:avLst/>
          </a:prstGeom>
          <a:solidFill>
            <a:srgbClr val="EDF9FE"/>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pt-BR" sz="1200" i="1" dirty="0" err="1">
                <a:latin typeface="Calibri Light" panose="020F0302020204030204" pitchFamily="34" charset="0"/>
                <a:cs typeface="Calibri Light" panose="020F0302020204030204" pitchFamily="34" charset="0"/>
              </a:rPr>
              <a:t>turma_sala</a:t>
            </a:r>
            <a:endParaRPr kumimoji="0" lang="pt-BR" sz="1200" i="1" u="none" strike="noStrike" cap="none" normalizeH="0" baseline="0" dirty="0">
              <a:ln>
                <a:noFill/>
              </a:ln>
              <a:solidFill>
                <a:schemeClr val="tx1"/>
              </a:solidFill>
              <a:effectLst/>
              <a:latin typeface="Calibri Light" panose="020F0302020204030204" pitchFamily="34" charset="0"/>
              <a:cs typeface="Calibri Light" panose="020F0302020204030204" pitchFamily="34" charset="0"/>
            </a:endParaRPr>
          </a:p>
        </p:txBody>
      </p:sp>
      <p:sp>
        <p:nvSpPr>
          <p:cNvPr id="27" name="Rectangle 26">
            <a:extLst>
              <a:ext uri="{FF2B5EF4-FFF2-40B4-BE49-F238E27FC236}">
                <a16:creationId xmlns:a16="http://schemas.microsoft.com/office/drawing/2014/main" id="{1BF6C833-E4F8-9A4D-B48D-47A9ADE22A4F}"/>
              </a:ext>
            </a:extLst>
          </p:cNvPr>
          <p:cNvSpPr/>
          <p:nvPr/>
        </p:nvSpPr>
        <p:spPr bwMode="auto">
          <a:xfrm>
            <a:off x="4392513" y="4614499"/>
            <a:ext cx="884492" cy="165652"/>
          </a:xfrm>
          <a:prstGeom prst="rect">
            <a:avLst/>
          </a:prstGeom>
          <a:solidFill>
            <a:srgbClr val="EDF9FE"/>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pt-BR" sz="1200" i="1" dirty="0" err="1">
                <a:latin typeface="Calibri Light" panose="020F0302020204030204" pitchFamily="34" charset="0"/>
                <a:cs typeface="Calibri Light" panose="020F0302020204030204" pitchFamily="34" charset="0"/>
              </a:rPr>
              <a:t>turma_disciplina</a:t>
            </a:r>
            <a:endParaRPr kumimoji="0" lang="pt-BR" sz="1200" i="1" u="none" strike="noStrike" cap="none" normalizeH="0" baseline="0" dirty="0">
              <a:ln>
                <a:noFill/>
              </a:ln>
              <a:solidFill>
                <a:schemeClr val="tx1"/>
              </a:solidFill>
              <a:effectLst/>
              <a:latin typeface="Calibri Light" panose="020F0302020204030204" pitchFamily="34" charset="0"/>
              <a:cs typeface="Calibri Light" panose="020F0302020204030204" pitchFamily="34" charset="0"/>
            </a:endParaRPr>
          </a:p>
        </p:txBody>
      </p:sp>
      <p:grpSp>
        <p:nvGrpSpPr>
          <p:cNvPr id="30" name="Group 29">
            <a:extLst>
              <a:ext uri="{FF2B5EF4-FFF2-40B4-BE49-F238E27FC236}">
                <a16:creationId xmlns:a16="http://schemas.microsoft.com/office/drawing/2014/main" id="{1678D350-9335-0C4F-9C83-4861BD35539F}"/>
              </a:ext>
            </a:extLst>
          </p:cNvPr>
          <p:cNvGrpSpPr/>
          <p:nvPr/>
        </p:nvGrpSpPr>
        <p:grpSpPr>
          <a:xfrm>
            <a:off x="8123583" y="4594458"/>
            <a:ext cx="1031967" cy="165652"/>
            <a:chOff x="8123583" y="4594458"/>
            <a:chExt cx="1031967" cy="165652"/>
          </a:xfrm>
        </p:grpSpPr>
        <p:sp>
          <p:nvSpPr>
            <p:cNvPr id="28" name="Rectangle 27">
              <a:extLst>
                <a:ext uri="{FF2B5EF4-FFF2-40B4-BE49-F238E27FC236}">
                  <a16:creationId xmlns:a16="http://schemas.microsoft.com/office/drawing/2014/main" id="{EA28BEF8-7EF9-3C48-B9E6-5C7E0268DB16}"/>
                </a:ext>
              </a:extLst>
            </p:cNvPr>
            <p:cNvSpPr/>
            <p:nvPr/>
          </p:nvSpPr>
          <p:spPr bwMode="auto">
            <a:xfrm>
              <a:off x="8196470" y="4594458"/>
              <a:ext cx="959080" cy="165652"/>
            </a:xfrm>
            <a:prstGeom prst="rect">
              <a:avLst/>
            </a:prstGeom>
            <a:solidFill>
              <a:srgbClr val="EDF9FE"/>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pt-BR" sz="1200" i="1" dirty="0" err="1">
                  <a:latin typeface="Calibri Light" panose="020F0302020204030204" pitchFamily="34" charset="0"/>
                  <a:cs typeface="Calibri Light" panose="020F0302020204030204" pitchFamily="34" charset="0"/>
                </a:rPr>
                <a:t>turma_horário</a:t>
              </a:r>
              <a:endParaRPr kumimoji="0" lang="pt-BR" sz="1200" i="1" u="none" strike="noStrike" cap="none" normalizeH="0" baseline="0" dirty="0">
                <a:ln>
                  <a:noFill/>
                </a:ln>
                <a:solidFill>
                  <a:schemeClr val="tx1"/>
                </a:solidFill>
                <a:effectLst/>
                <a:latin typeface="Calibri Light" panose="020F0302020204030204" pitchFamily="34" charset="0"/>
                <a:cs typeface="Calibri Light" panose="020F0302020204030204" pitchFamily="34" charset="0"/>
              </a:endParaRPr>
            </a:p>
          </p:txBody>
        </p:sp>
        <p:sp>
          <p:nvSpPr>
            <p:cNvPr id="29" name="Rectangle 28">
              <a:extLst>
                <a:ext uri="{FF2B5EF4-FFF2-40B4-BE49-F238E27FC236}">
                  <a16:creationId xmlns:a16="http://schemas.microsoft.com/office/drawing/2014/main" id="{ED7C5DCD-1437-4244-90CA-25006A7EB79A}"/>
                </a:ext>
              </a:extLst>
            </p:cNvPr>
            <p:cNvSpPr/>
            <p:nvPr/>
          </p:nvSpPr>
          <p:spPr bwMode="auto">
            <a:xfrm>
              <a:off x="8123583" y="4638261"/>
              <a:ext cx="72887" cy="86139"/>
            </a:xfrm>
            <a:prstGeom prst="rect">
              <a:avLst/>
            </a:prstGeom>
            <a:solidFill>
              <a:srgbClr val="EDF9FE"/>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pt-BR" sz="1600" b="0" i="0" u="none" strike="noStrike" cap="none" normalizeH="0" baseline="0">
                <a:ln>
                  <a:noFill/>
                </a:ln>
                <a:solidFill>
                  <a:schemeClr val="tx1"/>
                </a:solidFill>
                <a:effectLst/>
                <a:latin typeface="Helvetica" charset="0"/>
              </a:endParaRPr>
            </a:p>
          </p:txBody>
        </p:sp>
      </p:grpSp>
      <p:sp>
        <p:nvSpPr>
          <p:cNvPr id="31" name="Rectangle 30">
            <a:extLst>
              <a:ext uri="{FF2B5EF4-FFF2-40B4-BE49-F238E27FC236}">
                <a16:creationId xmlns:a16="http://schemas.microsoft.com/office/drawing/2014/main" id="{6BDB4C3D-F0E2-AF47-A16A-5F767E4646B6}"/>
              </a:ext>
            </a:extLst>
          </p:cNvPr>
          <p:cNvSpPr/>
          <p:nvPr/>
        </p:nvSpPr>
        <p:spPr bwMode="auto">
          <a:xfrm>
            <a:off x="6279079" y="368111"/>
            <a:ext cx="976183" cy="503503"/>
          </a:xfrm>
          <a:prstGeom prst="rect">
            <a:avLst/>
          </a:prstGeom>
          <a:solidFill>
            <a:schemeClr val="accent1"/>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pt-BR" sz="1050" i="1" u="sng" dirty="0" err="1">
                <a:latin typeface="Helvetica" charset="0"/>
              </a:rPr>
              <a:t>n</a:t>
            </a:r>
            <a:r>
              <a:rPr kumimoji="0" lang="pt-BR" sz="1050" b="0" i="1" u="sng" strike="noStrike" cap="none" normalizeH="0" baseline="0" dirty="0" err="1">
                <a:ln>
                  <a:noFill/>
                </a:ln>
                <a:solidFill>
                  <a:schemeClr val="tx1"/>
                </a:solidFill>
                <a:effectLst/>
                <a:latin typeface="Helvetica" charset="0"/>
              </a:rPr>
              <a:t>ome_dept</a:t>
            </a:r>
            <a:endParaRPr kumimoji="0" lang="pt-BR" sz="1050" b="0" i="1" u="sng" strike="noStrike" cap="none" normalizeH="0" baseline="0" dirty="0">
              <a:ln>
                <a:noFill/>
              </a:ln>
              <a:solidFill>
                <a:schemeClr val="tx1"/>
              </a:solidFill>
              <a:effectLst/>
              <a:latin typeface="Helvetica" charset="0"/>
            </a:endParaRPr>
          </a:p>
          <a:p>
            <a:pPr marL="0" marR="0" indent="0" algn="l" defTabSz="914400" rtl="0" eaLnBrk="0" fontAlgn="base" latinLnBrk="0" hangingPunct="0">
              <a:lnSpc>
                <a:spcPct val="100000"/>
              </a:lnSpc>
              <a:spcBef>
                <a:spcPct val="0"/>
              </a:spcBef>
              <a:spcAft>
                <a:spcPct val="0"/>
              </a:spcAft>
              <a:buClrTx/>
              <a:buSzTx/>
              <a:buFontTx/>
              <a:buNone/>
              <a:tabLst/>
            </a:pPr>
            <a:r>
              <a:rPr lang="pt-BR" sz="1050" i="1" dirty="0">
                <a:latin typeface="Helvetica" charset="0"/>
              </a:rPr>
              <a:t>p</a:t>
            </a:r>
            <a:r>
              <a:rPr kumimoji="0" lang="pt-BR" sz="1050" b="0" i="1" strike="noStrike" cap="none" normalizeH="0" baseline="0" dirty="0">
                <a:ln>
                  <a:noFill/>
                </a:ln>
                <a:solidFill>
                  <a:schemeClr val="tx1"/>
                </a:solidFill>
                <a:effectLst/>
                <a:latin typeface="Helvetica" charset="0"/>
              </a:rPr>
              <a:t>rédio</a:t>
            </a:r>
          </a:p>
          <a:p>
            <a:pPr marL="0" marR="0" indent="0" algn="l" defTabSz="914400" rtl="0" eaLnBrk="0" fontAlgn="base" latinLnBrk="0" hangingPunct="0">
              <a:lnSpc>
                <a:spcPct val="100000"/>
              </a:lnSpc>
              <a:spcBef>
                <a:spcPct val="0"/>
              </a:spcBef>
              <a:spcAft>
                <a:spcPct val="0"/>
              </a:spcAft>
              <a:buClrTx/>
              <a:buSzTx/>
              <a:buFontTx/>
              <a:buNone/>
              <a:tabLst/>
            </a:pPr>
            <a:r>
              <a:rPr lang="pt-BR" sz="1050" i="1" dirty="0">
                <a:latin typeface="Helvetica" charset="0"/>
              </a:rPr>
              <a:t>orçamento</a:t>
            </a:r>
            <a:endParaRPr kumimoji="0" lang="pt-BR" sz="1050" b="0" i="1" strike="noStrike" cap="none" normalizeH="0" baseline="0" dirty="0">
              <a:ln>
                <a:noFill/>
              </a:ln>
              <a:solidFill>
                <a:schemeClr val="tx1"/>
              </a:solidFill>
              <a:effectLst/>
              <a:latin typeface="Helvetica" charset="0"/>
            </a:endParaRPr>
          </a:p>
          <a:p>
            <a:pPr marL="0" marR="0" indent="0" algn="l" defTabSz="914400" rtl="0" eaLnBrk="0" fontAlgn="base" latinLnBrk="0" hangingPunct="0">
              <a:lnSpc>
                <a:spcPct val="100000"/>
              </a:lnSpc>
              <a:spcBef>
                <a:spcPct val="0"/>
              </a:spcBef>
              <a:spcAft>
                <a:spcPct val="0"/>
              </a:spcAft>
              <a:buClrTx/>
              <a:buSzTx/>
              <a:buFontTx/>
              <a:buNone/>
              <a:tabLst/>
            </a:pPr>
            <a:endParaRPr kumimoji="0" lang="pt-BR" sz="1100" b="0" i="1" strike="noStrike" cap="none" normalizeH="0" baseline="0" dirty="0">
              <a:ln>
                <a:noFill/>
              </a:ln>
              <a:solidFill>
                <a:schemeClr val="tx1"/>
              </a:solidFill>
              <a:effectLst/>
              <a:latin typeface="Helvetica" charset="0"/>
            </a:endParaRPr>
          </a:p>
        </p:txBody>
      </p:sp>
      <p:sp>
        <p:nvSpPr>
          <p:cNvPr id="32" name="Rectangle 31">
            <a:extLst>
              <a:ext uri="{FF2B5EF4-FFF2-40B4-BE49-F238E27FC236}">
                <a16:creationId xmlns:a16="http://schemas.microsoft.com/office/drawing/2014/main" id="{DD9B2FBB-2446-9043-84BD-9A3FCBCC094C}"/>
              </a:ext>
            </a:extLst>
          </p:cNvPr>
          <p:cNvSpPr/>
          <p:nvPr/>
        </p:nvSpPr>
        <p:spPr bwMode="auto">
          <a:xfrm>
            <a:off x="3722581" y="2105662"/>
            <a:ext cx="884493" cy="503503"/>
          </a:xfrm>
          <a:prstGeom prst="rect">
            <a:avLst/>
          </a:prstGeom>
          <a:solidFill>
            <a:schemeClr val="accent1"/>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pt-BR" sz="1050" b="0" i="1" u="sng" strike="noStrike" cap="none" normalizeH="0" baseline="0" dirty="0">
                <a:ln>
                  <a:noFill/>
                </a:ln>
                <a:solidFill>
                  <a:schemeClr val="tx1"/>
                </a:solidFill>
                <a:effectLst/>
                <a:latin typeface="Helvetica" charset="0"/>
              </a:rPr>
              <a:t>ID</a:t>
            </a:r>
          </a:p>
          <a:p>
            <a:pPr marL="0" marR="0" indent="0" algn="l" defTabSz="914400" rtl="0" eaLnBrk="0" fontAlgn="base" latinLnBrk="0" hangingPunct="0">
              <a:lnSpc>
                <a:spcPct val="100000"/>
              </a:lnSpc>
              <a:spcBef>
                <a:spcPct val="0"/>
              </a:spcBef>
              <a:spcAft>
                <a:spcPct val="0"/>
              </a:spcAft>
              <a:buClrTx/>
              <a:buSzTx/>
              <a:buFontTx/>
              <a:buNone/>
              <a:tabLst/>
            </a:pPr>
            <a:r>
              <a:rPr kumimoji="0" lang="pt-BR" sz="1050" b="0" i="1" strike="noStrike" cap="none" normalizeH="0" baseline="0" dirty="0">
                <a:ln>
                  <a:noFill/>
                </a:ln>
                <a:solidFill>
                  <a:schemeClr val="tx1"/>
                </a:solidFill>
                <a:effectLst/>
                <a:latin typeface="Helvetica" charset="0"/>
              </a:rPr>
              <a:t>nome</a:t>
            </a:r>
          </a:p>
          <a:p>
            <a:pPr marL="0" marR="0" indent="0" algn="l" defTabSz="914400" rtl="0" eaLnBrk="0" fontAlgn="base" latinLnBrk="0" hangingPunct="0">
              <a:lnSpc>
                <a:spcPct val="100000"/>
              </a:lnSpc>
              <a:spcBef>
                <a:spcPct val="0"/>
              </a:spcBef>
              <a:spcAft>
                <a:spcPct val="0"/>
              </a:spcAft>
              <a:buClrTx/>
              <a:buSzTx/>
              <a:buFontTx/>
              <a:buNone/>
              <a:tabLst/>
            </a:pPr>
            <a:r>
              <a:rPr kumimoji="0" lang="pt-BR" sz="1050" b="0" i="1" strike="noStrike" cap="none" normalizeH="0" baseline="0" dirty="0">
                <a:ln>
                  <a:noFill/>
                </a:ln>
                <a:solidFill>
                  <a:schemeClr val="tx1"/>
                </a:solidFill>
                <a:effectLst/>
                <a:latin typeface="Helvetica" charset="0"/>
              </a:rPr>
              <a:t>salário</a:t>
            </a:r>
          </a:p>
          <a:p>
            <a:pPr marL="0" marR="0" indent="0" algn="l" defTabSz="914400" rtl="0" eaLnBrk="0" fontAlgn="base" latinLnBrk="0" hangingPunct="0">
              <a:lnSpc>
                <a:spcPct val="100000"/>
              </a:lnSpc>
              <a:spcBef>
                <a:spcPct val="0"/>
              </a:spcBef>
              <a:spcAft>
                <a:spcPct val="0"/>
              </a:spcAft>
              <a:buClrTx/>
              <a:buSzTx/>
              <a:buFontTx/>
              <a:buNone/>
              <a:tabLst/>
            </a:pPr>
            <a:endParaRPr kumimoji="0" lang="pt-BR" sz="1100" b="0" i="1" strike="noStrike" cap="none" normalizeH="0" baseline="0" dirty="0">
              <a:ln>
                <a:noFill/>
              </a:ln>
              <a:solidFill>
                <a:schemeClr val="tx1"/>
              </a:solidFill>
              <a:effectLst/>
              <a:latin typeface="Helvetica" charset="0"/>
            </a:endParaRPr>
          </a:p>
        </p:txBody>
      </p:sp>
      <p:sp>
        <p:nvSpPr>
          <p:cNvPr id="33" name="Rectangle 32">
            <a:extLst>
              <a:ext uri="{FF2B5EF4-FFF2-40B4-BE49-F238E27FC236}">
                <a16:creationId xmlns:a16="http://schemas.microsoft.com/office/drawing/2014/main" id="{D9652145-E067-DB44-BCDF-73CA8C3EF8E8}"/>
              </a:ext>
            </a:extLst>
          </p:cNvPr>
          <p:cNvSpPr/>
          <p:nvPr/>
        </p:nvSpPr>
        <p:spPr bwMode="auto">
          <a:xfrm>
            <a:off x="8938053" y="2105599"/>
            <a:ext cx="884493" cy="503503"/>
          </a:xfrm>
          <a:prstGeom prst="rect">
            <a:avLst/>
          </a:prstGeom>
          <a:solidFill>
            <a:schemeClr val="accent1"/>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pt-BR" sz="1050" b="0" i="1" u="sng" strike="noStrike" cap="none" normalizeH="0" baseline="0" dirty="0">
                <a:ln>
                  <a:noFill/>
                </a:ln>
                <a:solidFill>
                  <a:schemeClr val="tx1"/>
                </a:solidFill>
                <a:effectLst/>
                <a:latin typeface="Helvetica" charset="0"/>
              </a:rPr>
              <a:t>ID</a:t>
            </a:r>
          </a:p>
          <a:p>
            <a:pPr marL="0" marR="0" indent="0" algn="l" defTabSz="914400" rtl="0" eaLnBrk="0" fontAlgn="base" latinLnBrk="0" hangingPunct="0">
              <a:lnSpc>
                <a:spcPct val="100000"/>
              </a:lnSpc>
              <a:spcBef>
                <a:spcPct val="0"/>
              </a:spcBef>
              <a:spcAft>
                <a:spcPct val="0"/>
              </a:spcAft>
              <a:buClrTx/>
              <a:buSzTx/>
              <a:buFontTx/>
              <a:buNone/>
              <a:tabLst/>
            </a:pPr>
            <a:r>
              <a:rPr kumimoji="0" lang="pt-BR" sz="1050" b="0" i="1" strike="noStrike" cap="none" normalizeH="0" baseline="0" dirty="0">
                <a:ln>
                  <a:noFill/>
                </a:ln>
                <a:solidFill>
                  <a:schemeClr val="tx1"/>
                </a:solidFill>
                <a:effectLst/>
                <a:latin typeface="Helvetica" charset="0"/>
              </a:rPr>
              <a:t>nome</a:t>
            </a:r>
          </a:p>
          <a:p>
            <a:pPr marL="0" marR="0" indent="0" algn="l" defTabSz="914400" rtl="0" eaLnBrk="0" fontAlgn="base" latinLnBrk="0" hangingPunct="0">
              <a:lnSpc>
                <a:spcPct val="100000"/>
              </a:lnSpc>
              <a:spcBef>
                <a:spcPct val="0"/>
              </a:spcBef>
              <a:spcAft>
                <a:spcPct val="0"/>
              </a:spcAft>
              <a:buClrTx/>
              <a:buSzTx/>
              <a:buFontTx/>
              <a:buNone/>
              <a:tabLst/>
            </a:pPr>
            <a:r>
              <a:rPr lang="pt-BR" sz="1050" i="1" dirty="0" err="1">
                <a:latin typeface="Helvetica" charset="0"/>
              </a:rPr>
              <a:t>tot_cred</a:t>
            </a:r>
            <a:endParaRPr kumimoji="0" lang="pt-BR" sz="1050" b="0" i="1" strike="noStrike" cap="none" normalizeH="0" baseline="0" dirty="0">
              <a:ln>
                <a:noFill/>
              </a:ln>
              <a:solidFill>
                <a:schemeClr val="tx1"/>
              </a:solidFill>
              <a:effectLst/>
              <a:latin typeface="Helvetica" charset="0"/>
            </a:endParaRPr>
          </a:p>
          <a:p>
            <a:pPr marL="0" marR="0" indent="0" algn="l" defTabSz="914400" rtl="0" eaLnBrk="0" fontAlgn="base" latinLnBrk="0" hangingPunct="0">
              <a:lnSpc>
                <a:spcPct val="100000"/>
              </a:lnSpc>
              <a:spcBef>
                <a:spcPct val="0"/>
              </a:spcBef>
              <a:spcAft>
                <a:spcPct val="0"/>
              </a:spcAft>
              <a:buClrTx/>
              <a:buSzTx/>
              <a:buFontTx/>
              <a:buNone/>
              <a:tabLst/>
            </a:pPr>
            <a:endParaRPr kumimoji="0" lang="pt-BR" sz="1100" b="0" i="1" strike="noStrike" cap="none" normalizeH="0" baseline="0" dirty="0">
              <a:ln>
                <a:noFill/>
              </a:ln>
              <a:solidFill>
                <a:schemeClr val="tx1"/>
              </a:solidFill>
              <a:effectLst/>
              <a:latin typeface="Helvetica" charset="0"/>
            </a:endParaRPr>
          </a:p>
        </p:txBody>
      </p:sp>
      <p:sp>
        <p:nvSpPr>
          <p:cNvPr id="34" name="Rectangle 33">
            <a:extLst>
              <a:ext uri="{FF2B5EF4-FFF2-40B4-BE49-F238E27FC236}">
                <a16:creationId xmlns:a16="http://schemas.microsoft.com/office/drawing/2014/main" id="{F2242E68-88BD-2E44-A1B0-4120317C6666}"/>
              </a:ext>
            </a:extLst>
          </p:cNvPr>
          <p:cNvSpPr/>
          <p:nvPr/>
        </p:nvSpPr>
        <p:spPr bwMode="auto">
          <a:xfrm>
            <a:off x="2643231" y="4543816"/>
            <a:ext cx="884493" cy="503503"/>
          </a:xfrm>
          <a:prstGeom prst="rect">
            <a:avLst/>
          </a:prstGeom>
          <a:solidFill>
            <a:schemeClr val="accent1"/>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pt-BR" sz="1050" b="0" i="1" u="sng" strike="noStrike" cap="none" normalizeH="0" baseline="0" dirty="0" err="1">
                <a:ln>
                  <a:noFill/>
                </a:ln>
                <a:solidFill>
                  <a:schemeClr val="tx1"/>
                </a:solidFill>
                <a:effectLst/>
                <a:latin typeface="Helvetica" charset="0"/>
              </a:rPr>
              <a:t>ID_disciplina</a:t>
            </a:r>
            <a:endParaRPr kumimoji="0" lang="pt-BR" sz="1050" b="0" i="1" u="sng" strike="noStrike" cap="none" normalizeH="0" baseline="0" dirty="0">
              <a:ln>
                <a:noFill/>
              </a:ln>
              <a:solidFill>
                <a:schemeClr val="tx1"/>
              </a:solidFill>
              <a:effectLst/>
              <a:latin typeface="Helvetica" charset="0"/>
            </a:endParaRPr>
          </a:p>
          <a:p>
            <a:pPr marL="0" marR="0" indent="0" algn="l" defTabSz="914400" rtl="0" eaLnBrk="0" fontAlgn="base" latinLnBrk="0" hangingPunct="0">
              <a:lnSpc>
                <a:spcPct val="100000"/>
              </a:lnSpc>
              <a:spcBef>
                <a:spcPct val="0"/>
              </a:spcBef>
              <a:spcAft>
                <a:spcPct val="0"/>
              </a:spcAft>
              <a:buClrTx/>
              <a:buSzTx/>
              <a:buFontTx/>
              <a:buNone/>
              <a:tabLst/>
            </a:pPr>
            <a:r>
              <a:rPr lang="pt-BR" sz="1050" i="1" dirty="0">
                <a:latin typeface="Helvetica" charset="0"/>
              </a:rPr>
              <a:t>título</a:t>
            </a:r>
            <a:endParaRPr kumimoji="0" lang="pt-BR" sz="1050" b="0" i="1" strike="noStrike" cap="none" normalizeH="0" baseline="0" dirty="0">
              <a:ln>
                <a:noFill/>
              </a:ln>
              <a:solidFill>
                <a:schemeClr val="tx1"/>
              </a:solidFill>
              <a:effectLst/>
              <a:latin typeface="Helvetica" charset="0"/>
            </a:endParaRPr>
          </a:p>
          <a:p>
            <a:pPr marL="0" marR="0" indent="0" algn="l" defTabSz="914400" rtl="0" eaLnBrk="0" fontAlgn="base" latinLnBrk="0" hangingPunct="0">
              <a:lnSpc>
                <a:spcPct val="100000"/>
              </a:lnSpc>
              <a:spcBef>
                <a:spcPct val="0"/>
              </a:spcBef>
              <a:spcAft>
                <a:spcPct val="0"/>
              </a:spcAft>
              <a:buClrTx/>
              <a:buSzTx/>
              <a:buFontTx/>
              <a:buNone/>
              <a:tabLst/>
            </a:pPr>
            <a:r>
              <a:rPr lang="pt-BR" sz="1050" i="1" dirty="0">
                <a:latin typeface="Helvetica" charset="0"/>
              </a:rPr>
              <a:t>créditos</a:t>
            </a:r>
            <a:endParaRPr kumimoji="0" lang="pt-BR" sz="1050" b="0" i="1" strike="noStrike" cap="none" normalizeH="0" baseline="0" dirty="0">
              <a:ln>
                <a:noFill/>
              </a:ln>
              <a:solidFill>
                <a:schemeClr val="tx1"/>
              </a:solidFill>
              <a:effectLst/>
              <a:latin typeface="Helvetica" charset="0"/>
            </a:endParaRPr>
          </a:p>
          <a:p>
            <a:pPr marL="0" marR="0" indent="0" algn="l" defTabSz="914400" rtl="0" eaLnBrk="0" fontAlgn="base" latinLnBrk="0" hangingPunct="0">
              <a:lnSpc>
                <a:spcPct val="100000"/>
              </a:lnSpc>
              <a:spcBef>
                <a:spcPct val="0"/>
              </a:spcBef>
              <a:spcAft>
                <a:spcPct val="0"/>
              </a:spcAft>
              <a:buClrTx/>
              <a:buSzTx/>
              <a:buFontTx/>
              <a:buNone/>
              <a:tabLst/>
            </a:pPr>
            <a:endParaRPr kumimoji="0" lang="pt-BR" sz="1100" b="0" i="1" strike="noStrike" cap="none" normalizeH="0" baseline="0" dirty="0">
              <a:ln>
                <a:noFill/>
              </a:ln>
              <a:solidFill>
                <a:schemeClr val="tx1"/>
              </a:solidFill>
              <a:effectLst/>
              <a:latin typeface="Helvetica" charset="0"/>
            </a:endParaRPr>
          </a:p>
        </p:txBody>
      </p:sp>
      <p:sp>
        <p:nvSpPr>
          <p:cNvPr id="35" name="Rectangle 34">
            <a:extLst>
              <a:ext uri="{FF2B5EF4-FFF2-40B4-BE49-F238E27FC236}">
                <a16:creationId xmlns:a16="http://schemas.microsoft.com/office/drawing/2014/main" id="{A831DF98-2D33-3646-BAE2-B9641CE15A02}"/>
              </a:ext>
            </a:extLst>
          </p:cNvPr>
          <p:cNvSpPr/>
          <p:nvPr/>
        </p:nvSpPr>
        <p:spPr bwMode="auto">
          <a:xfrm>
            <a:off x="6321844" y="6341724"/>
            <a:ext cx="985657" cy="503503"/>
          </a:xfrm>
          <a:prstGeom prst="rect">
            <a:avLst/>
          </a:prstGeom>
          <a:solidFill>
            <a:schemeClr val="accent1"/>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pt-BR" sz="1000" i="1" u="sng" dirty="0">
                <a:latin typeface="Helvetica" charset="0"/>
              </a:rPr>
              <a:t>prédio</a:t>
            </a:r>
            <a:endParaRPr kumimoji="0" lang="pt-BR" sz="1000" b="0" i="1" u="sng" strike="noStrike" cap="none" normalizeH="0" baseline="0" dirty="0">
              <a:ln>
                <a:noFill/>
              </a:ln>
              <a:solidFill>
                <a:schemeClr val="tx1"/>
              </a:solidFill>
              <a:effectLst/>
              <a:latin typeface="Helvetica" charset="0"/>
            </a:endParaRPr>
          </a:p>
          <a:p>
            <a:pPr marL="0" marR="0" indent="0" algn="l" defTabSz="914400" rtl="0" eaLnBrk="0" fontAlgn="base" latinLnBrk="0" hangingPunct="0">
              <a:lnSpc>
                <a:spcPct val="100000"/>
              </a:lnSpc>
              <a:spcBef>
                <a:spcPct val="0"/>
              </a:spcBef>
              <a:spcAft>
                <a:spcPct val="0"/>
              </a:spcAft>
              <a:buClrTx/>
              <a:buSzTx/>
              <a:buFontTx/>
              <a:buNone/>
              <a:tabLst/>
            </a:pPr>
            <a:r>
              <a:rPr lang="pt-BR" sz="1000" i="1" u="sng" dirty="0" err="1">
                <a:latin typeface="Helvetica" charset="0"/>
              </a:rPr>
              <a:t>número_sala</a:t>
            </a:r>
            <a:endParaRPr kumimoji="0" lang="pt-BR" sz="1000" b="0" i="1" u="sng" strike="noStrike" cap="none" normalizeH="0" baseline="0" dirty="0">
              <a:ln>
                <a:noFill/>
              </a:ln>
              <a:solidFill>
                <a:schemeClr val="tx1"/>
              </a:solidFill>
              <a:effectLst/>
              <a:latin typeface="Helvetica" charset="0"/>
            </a:endParaRPr>
          </a:p>
          <a:p>
            <a:pPr marL="0" marR="0" indent="0" algn="l" defTabSz="914400" rtl="0" eaLnBrk="0" fontAlgn="base" latinLnBrk="0" hangingPunct="0">
              <a:lnSpc>
                <a:spcPct val="100000"/>
              </a:lnSpc>
              <a:spcBef>
                <a:spcPct val="0"/>
              </a:spcBef>
              <a:spcAft>
                <a:spcPct val="0"/>
              </a:spcAft>
              <a:buClrTx/>
              <a:buSzTx/>
              <a:buFontTx/>
              <a:buNone/>
              <a:tabLst/>
            </a:pPr>
            <a:r>
              <a:rPr lang="pt-BR" sz="1000" i="1" dirty="0">
                <a:latin typeface="Helvetica" charset="0"/>
              </a:rPr>
              <a:t>capacidade</a:t>
            </a:r>
            <a:endParaRPr kumimoji="0" lang="pt-BR" sz="1000" b="0" i="1" strike="noStrike" cap="none" normalizeH="0" baseline="0" dirty="0">
              <a:ln>
                <a:noFill/>
              </a:ln>
              <a:solidFill>
                <a:schemeClr val="tx1"/>
              </a:solidFill>
              <a:effectLst/>
              <a:latin typeface="Helvetica" charset="0"/>
            </a:endParaRPr>
          </a:p>
          <a:p>
            <a:pPr marL="0" marR="0" indent="0" algn="l" defTabSz="914400" rtl="0" eaLnBrk="0" fontAlgn="base" latinLnBrk="0" hangingPunct="0">
              <a:lnSpc>
                <a:spcPct val="100000"/>
              </a:lnSpc>
              <a:spcBef>
                <a:spcPct val="0"/>
              </a:spcBef>
              <a:spcAft>
                <a:spcPct val="0"/>
              </a:spcAft>
              <a:buClrTx/>
              <a:buSzTx/>
              <a:buFontTx/>
              <a:buNone/>
              <a:tabLst/>
            </a:pPr>
            <a:endParaRPr kumimoji="0" lang="pt-BR" sz="1100" b="0" i="1" strike="noStrike" cap="none" normalizeH="0" baseline="0" dirty="0">
              <a:ln>
                <a:noFill/>
              </a:ln>
              <a:solidFill>
                <a:schemeClr val="tx1"/>
              </a:solidFill>
              <a:effectLst/>
              <a:latin typeface="Helvetica" charset="0"/>
            </a:endParaRPr>
          </a:p>
        </p:txBody>
      </p:sp>
      <p:sp>
        <p:nvSpPr>
          <p:cNvPr id="36" name="Rectangle 35">
            <a:extLst>
              <a:ext uri="{FF2B5EF4-FFF2-40B4-BE49-F238E27FC236}">
                <a16:creationId xmlns:a16="http://schemas.microsoft.com/office/drawing/2014/main" id="{7F064C0E-EDFA-D847-8C3F-2659457B49EF}"/>
              </a:ext>
            </a:extLst>
          </p:cNvPr>
          <p:cNvSpPr/>
          <p:nvPr/>
        </p:nvSpPr>
        <p:spPr bwMode="auto">
          <a:xfrm>
            <a:off x="6289562" y="4396744"/>
            <a:ext cx="985657" cy="503503"/>
          </a:xfrm>
          <a:prstGeom prst="rect">
            <a:avLst/>
          </a:prstGeom>
          <a:solidFill>
            <a:schemeClr val="accent1"/>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pt-BR" sz="1000" i="1" dirty="0" err="1">
                <a:latin typeface="Helvetica" charset="0"/>
              </a:rPr>
              <a:t>id_turma</a:t>
            </a:r>
            <a:endParaRPr kumimoji="0" lang="pt-BR" sz="1000" b="0" i="1" strike="noStrike" cap="none" normalizeH="0" baseline="0" dirty="0">
              <a:ln>
                <a:noFill/>
              </a:ln>
              <a:solidFill>
                <a:schemeClr val="tx1"/>
              </a:solidFill>
              <a:effectLst/>
              <a:latin typeface="Helvetica" charset="0"/>
            </a:endParaRPr>
          </a:p>
          <a:p>
            <a:pPr marL="0" marR="0" indent="0" algn="l" defTabSz="914400" rtl="0" eaLnBrk="0" fontAlgn="base" latinLnBrk="0" hangingPunct="0">
              <a:lnSpc>
                <a:spcPct val="100000"/>
              </a:lnSpc>
              <a:spcBef>
                <a:spcPct val="0"/>
              </a:spcBef>
              <a:spcAft>
                <a:spcPct val="0"/>
              </a:spcAft>
              <a:buClrTx/>
              <a:buSzTx/>
              <a:buFontTx/>
              <a:buNone/>
              <a:tabLst/>
            </a:pPr>
            <a:r>
              <a:rPr kumimoji="0" lang="pt-BR" sz="1000" b="0" i="1" strike="noStrike" cap="none" normalizeH="0" baseline="0" dirty="0">
                <a:ln>
                  <a:noFill/>
                </a:ln>
                <a:solidFill>
                  <a:schemeClr val="tx1"/>
                </a:solidFill>
                <a:effectLst/>
                <a:latin typeface="Helvetica" charset="0"/>
              </a:rPr>
              <a:t>semestre</a:t>
            </a:r>
          </a:p>
          <a:p>
            <a:pPr marL="0" marR="0" indent="0" algn="l" defTabSz="914400" rtl="0" eaLnBrk="0" fontAlgn="base" latinLnBrk="0" hangingPunct="0">
              <a:lnSpc>
                <a:spcPct val="100000"/>
              </a:lnSpc>
              <a:spcBef>
                <a:spcPct val="0"/>
              </a:spcBef>
              <a:spcAft>
                <a:spcPct val="0"/>
              </a:spcAft>
              <a:buClrTx/>
              <a:buSzTx/>
              <a:buFontTx/>
              <a:buNone/>
              <a:tabLst/>
            </a:pPr>
            <a:r>
              <a:rPr kumimoji="0" lang="pt-BR" sz="1000" b="0" i="1" strike="noStrike" cap="none" normalizeH="0" baseline="0" dirty="0">
                <a:ln>
                  <a:noFill/>
                </a:ln>
                <a:solidFill>
                  <a:schemeClr val="tx1"/>
                </a:solidFill>
                <a:effectLst/>
                <a:latin typeface="Helvetica" charset="0"/>
              </a:rPr>
              <a:t>ano</a:t>
            </a:r>
          </a:p>
          <a:p>
            <a:pPr marL="0" marR="0" indent="0" algn="l" defTabSz="914400" rtl="0" eaLnBrk="0" fontAlgn="base" latinLnBrk="0" hangingPunct="0">
              <a:lnSpc>
                <a:spcPct val="100000"/>
              </a:lnSpc>
              <a:spcBef>
                <a:spcPct val="0"/>
              </a:spcBef>
              <a:spcAft>
                <a:spcPct val="0"/>
              </a:spcAft>
              <a:buClrTx/>
              <a:buSzTx/>
              <a:buFontTx/>
              <a:buNone/>
              <a:tabLst/>
            </a:pPr>
            <a:endParaRPr kumimoji="0" lang="pt-BR" sz="1100" b="0" i="1" strike="noStrike" cap="none" normalizeH="0" baseline="0" dirty="0">
              <a:ln>
                <a:noFill/>
              </a:ln>
              <a:solidFill>
                <a:schemeClr val="tx1"/>
              </a:solidFill>
              <a:effectLst/>
              <a:latin typeface="Helvetica" charset="0"/>
            </a:endParaRPr>
          </a:p>
        </p:txBody>
      </p:sp>
      <p:cxnSp>
        <p:nvCxnSpPr>
          <p:cNvPr id="38" name="Straight Connector 37">
            <a:extLst>
              <a:ext uri="{FF2B5EF4-FFF2-40B4-BE49-F238E27FC236}">
                <a16:creationId xmlns:a16="http://schemas.microsoft.com/office/drawing/2014/main" id="{20C7247C-067E-2941-93E7-93128306AC90}"/>
              </a:ext>
            </a:extLst>
          </p:cNvPr>
          <p:cNvCxnSpPr>
            <a:cxnSpLocks/>
          </p:cNvCxnSpPr>
          <p:nvPr/>
        </p:nvCxnSpPr>
        <p:spPr bwMode="auto">
          <a:xfrm flipV="1">
            <a:off x="6351554" y="4591767"/>
            <a:ext cx="581689" cy="10235"/>
          </a:xfrm>
          <a:prstGeom prst="line">
            <a:avLst/>
          </a:prstGeom>
          <a:ln w="12700">
            <a:prstDash val="dash"/>
            <a:headEnd type="none" w="med" len="med"/>
            <a:tailEnd type="none" w="med" len="med"/>
          </a:ln>
        </p:spPr>
        <p:style>
          <a:lnRef idx="1">
            <a:schemeClr val="accent4"/>
          </a:lnRef>
          <a:fillRef idx="0">
            <a:schemeClr val="accent4"/>
          </a:fillRef>
          <a:effectRef idx="0">
            <a:schemeClr val="accent4"/>
          </a:effectRef>
          <a:fontRef idx="minor">
            <a:schemeClr val="tx1"/>
          </a:fontRef>
        </p:style>
      </p:cxnSp>
      <p:cxnSp>
        <p:nvCxnSpPr>
          <p:cNvPr id="39" name="Straight Connector 38">
            <a:extLst>
              <a:ext uri="{FF2B5EF4-FFF2-40B4-BE49-F238E27FC236}">
                <a16:creationId xmlns:a16="http://schemas.microsoft.com/office/drawing/2014/main" id="{474B7235-EE5F-5B4E-9EFF-892AC5F44B7D}"/>
              </a:ext>
            </a:extLst>
          </p:cNvPr>
          <p:cNvCxnSpPr>
            <a:cxnSpLocks/>
          </p:cNvCxnSpPr>
          <p:nvPr/>
        </p:nvCxnSpPr>
        <p:spPr bwMode="auto">
          <a:xfrm flipV="1">
            <a:off x="6356723" y="4744167"/>
            <a:ext cx="581689" cy="10235"/>
          </a:xfrm>
          <a:prstGeom prst="line">
            <a:avLst/>
          </a:prstGeom>
          <a:ln w="12700">
            <a:prstDash val="dash"/>
            <a:headEnd type="none" w="med" len="med"/>
            <a:tailEnd type="none" w="med" len="med"/>
          </a:ln>
        </p:spPr>
        <p:style>
          <a:lnRef idx="1">
            <a:schemeClr val="accent4"/>
          </a:lnRef>
          <a:fillRef idx="0">
            <a:schemeClr val="accent4"/>
          </a:fillRef>
          <a:effectRef idx="0">
            <a:schemeClr val="accent4"/>
          </a:effectRef>
          <a:fontRef idx="minor">
            <a:schemeClr val="tx1"/>
          </a:fontRef>
        </p:style>
      </p:cxnSp>
      <p:cxnSp>
        <p:nvCxnSpPr>
          <p:cNvPr id="40" name="Straight Connector 39">
            <a:extLst>
              <a:ext uri="{FF2B5EF4-FFF2-40B4-BE49-F238E27FC236}">
                <a16:creationId xmlns:a16="http://schemas.microsoft.com/office/drawing/2014/main" id="{D9707E35-F5BE-A745-B9F3-4ED89FEF770E}"/>
              </a:ext>
            </a:extLst>
          </p:cNvPr>
          <p:cNvCxnSpPr>
            <a:cxnSpLocks/>
          </p:cNvCxnSpPr>
          <p:nvPr/>
        </p:nvCxnSpPr>
        <p:spPr bwMode="auto">
          <a:xfrm flipV="1">
            <a:off x="6361381" y="4874614"/>
            <a:ext cx="273268" cy="6556"/>
          </a:xfrm>
          <a:prstGeom prst="line">
            <a:avLst/>
          </a:prstGeom>
          <a:ln w="12700">
            <a:prstDash val="dash"/>
            <a:headEnd type="none" w="med" len="med"/>
            <a:tailEnd type="none" w="med" len="med"/>
          </a:ln>
        </p:spPr>
        <p:style>
          <a:lnRef idx="1">
            <a:schemeClr val="accent4"/>
          </a:lnRef>
          <a:fillRef idx="0">
            <a:schemeClr val="accent4"/>
          </a:fillRef>
          <a:effectRef idx="0">
            <a:schemeClr val="accent4"/>
          </a:effectRef>
          <a:fontRef idx="minor">
            <a:schemeClr val="tx1"/>
          </a:fontRef>
        </p:style>
      </p:cxnSp>
      <p:cxnSp>
        <p:nvCxnSpPr>
          <p:cNvPr id="43" name="Straight Connector 42">
            <a:extLst>
              <a:ext uri="{FF2B5EF4-FFF2-40B4-BE49-F238E27FC236}">
                <a16:creationId xmlns:a16="http://schemas.microsoft.com/office/drawing/2014/main" id="{22A51441-A712-7E49-A8A7-E21EDFE7921B}"/>
              </a:ext>
            </a:extLst>
          </p:cNvPr>
          <p:cNvCxnSpPr/>
          <p:nvPr/>
        </p:nvCxnSpPr>
        <p:spPr bwMode="auto">
          <a:xfrm>
            <a:off x="6300072" y="6845227"/>
            <a:ext cx="1007429" cy="0"/>
          </a:xfrm>
          <a:prstGeom prst="line">
            <a:avLst/>
          </a:prstGeom>
          <a:solidFill>
            <a:schemeClr val="accent1"/>
          </a:solidFill>
          <a:ln w="12700" cap="flat" cmpd="sng" algn="ctr">
            <a:solidFill>
              <a:schemeClr val="tx1"/>
            </a:solidFill>
            <a:prstDash val="solid"/>
            <a:round/>
            <a:headEnd type="none" w="med" len="med"/>
            <a:tailEnd type="none" w="med" len="med"/>
          </a:ln>
          <a:effectLst/>
        </p:spPr>
      </p:cxnSp>
      <p:sp>
        <p:nvSpPr>
          <p:cNvPr id="44" name="Rectangle 43">
            <a:extLst>
              <a:ext uri="{FF2B5EF4-FFF2-40B4-BE49-F238E27FC236}">
                <a16:creationId xmlns:a16="http://schemas.microsoft.com/office/drawing/2014/main" id="{12F779EA-0148-C244-B06E-EAE0E71B4CB0}"/>
              </a:ext>
            </a:extLst>
          </p:cNvPr>
          <p:cNvSpPr/>
          <p:nvPr/>
        </p:nvSpPr>
        <p:spPr bwMode="auto">
          <a:xfrm>
            <a:off x="10096500" y="3191289"/>
            <a:ext cx="657225" cy="218661"/>
          </a:xfrm>
          <a:prstGeom prst="rect">
            <a:avLst/>
          </a:prstGeom>
          <a:solidFill>
            <a:schemeClr val="accent1"/>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pt-BR" sz="1200" i="1" dirty="0">
                <a:latin typeface="Helvetica" charset="0"/>
              </a:rPr>
              <a:t>nota</a:t>
            </a:r>
            <a:endParaRPr kumimoji="0" lang="pt-BR" sz="1200" b="0" i="1" u="none" strike="noStrike" cap="none" normalizeH="0" baseline="0" dirty="0">
              <a:ln>
                <a:noFill/>
              </a:ln>
              <a:solidFill>
                <a:schemeClr val="tx1"/>
              </a:solidFill>
              <a:effectLst/>
              <a:latin typeface="Helvetica" charset="0"/>
            </a:endParaRPr>
          </a:p>
        </p:txBody>
      </p:sp>
      <p:sp>
        <p:nvSpPr>
          <p:cNvPr id="45" name="Rectangle 44">
            <a:extLst>
              <a:ext uri="{FF2B5EF4-FFF2-40B4-BE49-F238E27FC236}">
                <a16:creationId xmlns:a16="http://schemas.microsoft.com/office/drawing/2014/main" id="{454882E2-22ED-6145-8116-7D322431075D}"/>
              </a:ext>
            </a:extLst>
          </p:cNvPr>
          <p:cNvSpPr/>
          <p:nvPr/>
        </p:nvSpPr>
        <p:spPr bwMode="auto">
          <a:xfrm>
            <a:off x="10060111" y="4773499"/>
            <a:ext cx="725468" cy="503503"/>
          </a:xfrm>
          <a:prstGeom prst="rect">
            <a:avLst/>
          </a:prstGeom>
          <a:solidFill>
            <a:schemeClr val="accent1"/>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pt-BR" sz="1000" i="1" dirty="0">
                <a:latin typeface="+mj-lt"/>
                <a:cs typeface="Calibri Light" panose="020F0302020204030204" pitchFamily="34" charset="0"/>
              </a:rPr>
              <a:t>dia</a:t>
            </a:r>
            <a:endParaRPr kumimoji="0" lang="pt-BR" sz="1000" i="1" strike="noStrike" cap="none" normalizeH="0" baseline="0" dirty="0">
              <a:ln>
                <a:noFill/>
              </a:ln>
              <a:solidFill>
                <a:schemeClr val="tx1"/>
              </a:solidFill>
              <a:effectLst/>
              <a:latin typeface="+mj-lt"/>
              <a:cs typeface="Calibri Light" panose="020F0302020204030204" pitchFamily="34" charset="0"/>
            </a:endParaRPr>
          </a:p>
          <a:p>
            <a:pPr marL="0" marR="0" indent="0" algn="l" defTabSz="914400" rtl="0" eaLnBrk="0" fontAlgn="base" latinLnBrk="0" hangingPunct="0">
              <a:lnSpc>
                <a:spcPct val="100000"/>
              </a:lnSpc>
              <a:spcBef>
                <a:spcPct val="0"/>
              </a:spcBef>
              <a:spcAft>
                <a:spcPct val="0"/>
              </a:spcAft>
              <a:buClrTx/>
              <a:buSzTx/>
              <a:buFontTx/>
              <a:buNone/>
              <a:tabLst/>
            </a:pPr>
            <a:r>
              <a:rPr lang="pt-BR" sz="1000" i="1" dirty="0" err="1">
                <a:latin typeface="Helvetica" charset="0"/>
              </a:rPr>
              <a:t>h</a:t>
            </a:r>
            <a:r>
              <a:rPr kumimoji="0" lang="pt-BR" sz="1000" b="0" i="1" strike="noStrike" cap="none" normalizeH="0" baseline="0" dirty="0" err="1">
                <a:ln>
                  <a:noFill/>
                </a:ln>
                <a:solidFill>
                  <a:schemeClr val="tx1"/>
                </a:solidFill>
                <a:effectLst/>
                <a:latin typeface="Helvetica" charset="0"/>
              </a:rPr>
              <a:t>ora_início</a:t>
            </a:r>
            <a:endParaRPr kumimoji="0" lang="pt-BR" sz="1000" b="0" i="1" strike="noStrike" cap="none" normalizeH="0" baseline="0" dirty="0">
              <a:ln>
                <a:noFill/>
              </a:ln>
              <a:solidFill>
                <a:schemeClr val="tx1"/>
              </a:solidFill>
              <a:effectLst/>
              <a:latin typeface="Helvetica" charset="0"/>
            </a:endParaRPr>
          </a:p>
          <a:p>
            <a:pPr marL="0" marR="0" indent="0" algn="l" defTabSz="914400" rtl="0" eaLnBrk="0" fontAlgn="base" latinLnBrk="0" hangingPunct="0">
              <a:lnSpc>
                <a:spcPct val="100000"/>
              </a:lnSpc>
              <a:spcBef>
                <a:spcPct val="0"/>
              </a:spcBef>
              <a:spcAft>
                <a:spcPct val="0"/>
              </a:spcAft>
              <a:buClrTx/>
              <a:buSzTx/>
              <a:buFontTx/>
              <a:buNone/>
              <a:tabLst/>
            </a:pPr>
            <a:r>
              <a:rPr lang="pt-BR" sz="1000" i="1" dirty="0" err="1">
                <a:latin typeface="Helvetica" charset="0"/>
              </a:rPr>
              <a:t>h</a:t>
            </a:r>
            <a:r>
              <a:rPr kumimoji="0" lang="pt-BR" sz="1000" b="0" i="1" strike="noStrike" cap="none" normalizeH="0" baseline="0" dirty="0" err="1">
                <a:ln>
                  <a:noFill/>
                </a:ln>
                <a:solidFill>
                  <a:schemeClr val="tx1"/>
                </a:solidFill>
                <a:effectLst/>
                <a:latin typeface="Helvetica" charset="0"/>
              </a:rPr>
              <a:t>ora_fim</a:t>
            </a:r>
            <a:endParaRPr kumimoji="0" lang="pt-BR" sz="1000" b="0" i="1" strike="noStrike" cap="none" normalizeH="0" baseline="0" dirty="0">
              <a:ln>
                <a:noFill/>
              </a:ln>
              <a:solidFill>
                <a:schemeClr val="tx1"/>
              </a:solidFill>
              <a:effectLst/>
              <a:latin typeface="Helvetica" charset="0"/>
            </a:endParaRPr>
          </a:p>
          <a:p>
            <a:pPr marL="0" marR="0" indent="0" algn="l" defTabSz="914400" rtl="0" eaLnBrk="0" fontAlgn="base" latinLnBrk="0" hangingPunct="0">
              <a:lnSpc>
                <a:spcPct val="100000"/>
              </a:lnSpc>
              <a:spcBef>
                <a:spcPct val="0"/>
              </a:spcBef>
              <a:spcAft>
                <a:spcPct val="0"/>
              </a:spcAft>
              <a:buClrTx/>
              <a:buSzTx/>
              <a:buFontTx/>
              <a:buNone/>
              <a:tabLst/>
            </a:pPr>
            <a:endParaRPr kumimoji="0" lang="pt-BR" sz="1100" b="0" i="1" strike="noStrike" cap="none" normalizeH="0" baseline="0" dirty="0">
              <a:ln>
                <a:noFill/>
              </a:ln>
              <a:solidFill>
                <a:schemeClr val="tx1"/>
              </a:solidFill>
              <a:effectLst/>
              <a:latin typeface="Helvetica" charset="0"/>
            </a:endParaRPr>
          </a:p>
        </p:txBody>
      </p:sp>
      <p:sp>
        <p:nvSpPr>
          <p:cNvPr id="2" name="TextBox 1">
            <a:extLst>
              <a:ext uri="{FF2B5EF4-FFF2-40B4-BE49-F238E27FC236}">
                <a16:creationId xmlns:a16="http://schemas.microsoft.com/office/drawing/2014/main" id="{206C96C5-AA77-C240-8A1D-A9EF6FDCDD1F}"/>
              </a:ext>
            </a:extLst>
          </p:cNvPr>
          <p:cNvSpPr txBox="1"/>
          <p:nvPr/>
        </p:nvSpPr>
        <p:spPr>
          <a:xfrm>
            <a:off x="8430737" y="198834"/>
            <a:ext cx="3401765" cy="338554"/>
          </a:xfrm>
          <a:prstGeom prst="rect">
            <a:avLst/>
          </a:prstGeom>
          <a:noFill/>
        </p:spPr>
        <p:txBody>
          <a:bodyPr wrap="square" rtlCol="0">
            <a:spAutoFit/>
          </a:bodyPr>
          <a:lstStyle/>
          <a:p>
            <a:r>
              <a:rPr lang="pt-BR" dirty="0"/>
              <a:t>Modelo Entidade Relacionamento</a:t>
            </a:r>
          </a:p>
        </p:txBody>
      </p:sp>
    </p:spTree>
    <p:extLst>
      <p:ext uri="{BB962C8B-B14F-4D97-AF65-F5344CB8AC3E}">
        <p14:creationId xmlns:p14="http://schemas.microsoft.com/office/powerpoint/2010/main" val="425810213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0AC2A1-A0F4-C04C-99C6-9FDE7599FE50}"/>
              </a:ext>
            </a:extLst>
          </p:cNvPr>
          <p:cNvSpPr>
            <a:spLocks noGrp="1"/>
          </p:cNvSpPr>
          <p:nvPr>
            <p:ph type="title"/>
          </p:nvPr>
        </p:nvSpPr>
        <p:spPr>
          <a:xfrm>
            <a:off x="544286" y="117475"/>
            <a:ext cx="11249781" cy="609600"/>
          </a:xfrm>
        </p:spPr>
        <p:txBody>
          <a:bodyPr/>
          <a:lstStyle/>
          <a:p>
            <a:r>
              <a:rPr lang="pt-BR" dirty="0"/>
              <a:t>Esquema de Banco de Dados UNIVERSIDADE (cont.)</a:t>
            </a:r>
          </a:p>
        </p:txBody>
      </p:sp>
      <p:sp>
        <p:nvSpPr>
          <p:cNvPr id="4" name="Content Placeholder 3">
            <a:extLst>
              <a:ext uri="{FF2B5EF4-FFF2-40B4-BE49-F238E27FC236}">
                <a16:creationId xmlns:a16="http://schemas.microsoft.com/office/drawing/2014/main" id="{2752DF88-5C5B-994A-9304-5D48077E937C}"/>
              </a:ext>
            </a:extLst>
          </p:cNvPr>
          <p:cNvSpPr txBox="1">
            <a:spLocks noGrp="1"/>
          </p:cNvSpPr>
          <p:nvPr>
            <p:ph idx="1"/>
          </p:nvPr>
        </p:nvSpPr>
        <p:spPr>
          <a:xfrm>
            <a:off x="544286" y="1048504"/>
            <a:ext cx="10989345" cy="5032147"/>
          </a:xfrm>
          <a:prstGeom prst="rect">
            <a:avLst/>
          </a:prstGeom>
          <a:noFill/>
        </p:spPr>
        <p:txBody>
          <a:bodyPr wrap="square" rtlCol="0">
            <a:spAutoFit/>
          </a:bodyPr>
          <a:lstStyle/>
          <a:p>
            <a:r>
              <a:rPr lang="pt-BR" sz="2400" dirty="0"/>
              <a:t>A seguir a lista das tabelas mapeadas a partir do diagrama Entidade-Relacionamento:</a:t>
            </a:r>
          </a:p>
          <a:p>
            <a:pPr lvl="1"/>
            <a:r>
              <a:rPr lang="pt-BR" sz="2000" dirty="0"/>
              <a:t>pré-requisito(</a:t>
            </a:r>
            <a:r>
              <a:rPr lang="pt-BR" sz="2000" u="sng" dirty="0" err="1"/>
              <a:t>disciplina_id</a:t>
            </a:r>
            <a:r>
              <a:rPr lang="pt-BR" sz="2000" dirty="0"/>
              <a:t>, </a:t>
            </a:r>
            <a:r>
              <a:rPr lang="pt-BR" sz="2000" u="sng" dirty="0" err="1"/>
              <a:t>prereq_id</a:t>
            </a:r>
            <a:r>
              <a:rPr lang="pt-BR" sz="2000" dirty="0"/>
              <a:t>)</a:t>
            </a:r>
          </a:p>
          <a:p>
            <a:pPr lvl="1"/>
            <a:r>
              <a:rPr lang="pt-BR" sz="2000" dirty="0"/>
              <a:t>sala(</a:t>
            </a:r>
            <a:r>
              <a:rPr lang="pt-BR" sz="2000" u="sng" dirty="0"/>
              <a:t>prédio</a:t>
            </a:r>
            <a:r>
              <a:rPr lang="pt-BR" sz="2000" dirty="0"/>
              <a:t>, </a:t>
            </a:r>
            <a:r>
              <a:rPr lang="pt-BR" sz="2000" u="sng" dirty="0" err="1"/>
              <a:t>número_sala</a:t>
            </a:r>
            <a:r>
              <a:rPr lang="pt-BR" sz="2000" dirty="0"/>
              <a:t>, capacidade)</a:t>
            </a:r>
          </a:p>
          <a:p>
            <a:pPr lvl="1"/>
            <a:r>
              <a:rPr lang="pt-BR" sz="2000" dirty="0"/>
              <a:t>ensina(</a:t>
            </a:r>
            <a:r>
              <a:rPr lang="pt-BR" sz="2000" u="sng" dirty="0"/>
              <a:t>ID</a:t>
            </a:r>
            <a:r>
              <a:rPr lang="pt-BR" sz="2000" dirty="0"/>
              <a:t>, </a:t>
            </a:r>
            <a:r>
              <a:rPr lang="pt-BR" sz="2000" u="sng" dirty="0" err="1"/>
              <a:t>disciplina_id</a:t>
            </a:r>
            <a:r>
              <a:rPr lang="pt-BR" sz="2000" dirty="0"/>
              <a:t>, </a:t>
            </a:r>
            <a:r>
              <a:rPr lang="pt-BR" sz="2000" u="sng" dirty="0" err="1"/>
              <a:t>oferta_id</a:t>
            </a:r>
            <a:r>
              <a:rPr lang="pt-BR" sz="2000" dirty="0"/>
              <a:t>, </a:t>
            </a:r>
            <a:r>
              <a:rPr lang="pt-BR" sz="2000" u="sng" dirty="0"/>
              <a:t>semestre</a:t>
            </a:r>
            <a:r>
              <a:rPr lang="pt-BR" sz="2000" dirty="0"/>
              <a:t>, </a:t>
            </a:r>
            <a:r>
              <a:rPr lang="pt-BR" sz="2000" u="sng" dirty="0"/>
              <a:t>ano</a:t>
            </a:r>
            <a:r>
              <a:rPr lang="pt-BR" sz="2000" dirty="0"/>
              <a:t>)</a:t>
            </a:r>
          </a:p>
          <a:p>
            <a:pPr lvl="1"/>
            <a:r>
              <a:rPr lang="pt-BR" sz="2000" dirty="0"/>
              <a:t>horário(</a:t>
            </a:r>
            <a:r>
              <a:rPr lang="pt-BR" sz="2000" u="sng" dirty="0" err="1"/>
              <a:t>horário_id</a:t>
            </a:r>
            <a:r>
              <a:rPr lang="pt-BR" sz="2000" dirty="0"/>
              <a:t>, </a:t>
            </a:r>
            <a:r>
              <a:rPr lang="pt-BR" sz="2000" u="sng" dirty="0"/>
              <a:t>dia</a:t>
            </a:r>
            <a:r>
              <a:rPr lang="pt-BR" sz="2000" dirty="0"/>
              <a:t>, </a:t>
            </a:r>
            <a:r>
              <a:rPr lang="pt-BR" sz="2000" u="sng" dirty="0" err="1"/>
              <a:t>hora_início</a:t>
            </a:r>
            <a:r>
              <a:rPr lang="pt-BR" sz="2000" dirty="0"/>
              <a:t>, </a:t>
            </a:r>
            <a:r>
              <a:rPr lang="pt-BR" sz="2000" dirty="0" err="1"/>
              <a:t>hora_fim</a:t>
            </a:r>
            <a:r>
              <a:rPr lang="pt-BR" sz="2000" dirty="0"/>
              <a:t>) </a:t>
            </a:r>
            <a:endParaRPr lang="pt-BR" sz="2000" u="sng" dirty="0"/>
          </a:p>
          <a:p>
            <a:pPr lvl="1"/>
            <a:r>
              <a:rPr lang="pt-BR" sz="2000" dirty="0"/>
              <a:t>aluno(</a:t>
            </a:r>
            <a:r>
              <a:rPr lang="pt-BR" sz="2000" u="sng" dirty="0"/>
              <a:t>ID</a:t>
            </a:r>
            <a:r>
              <a:rPr lang="pt-BR" sz="2000" dirty="0"/>
              <a:t>, nome, </a:t>
            </a:r>
            <a:r>
              <a:rPr lang="pt-BR" sz="2000" dirty="0" err="1"/>
              <a:t>nome_dept</a:t>
            </a:r>
            <a:r>
              <a:rPr lang="pt-BR" sz="2000" dirty="0"/>
              <a:t>, </a:t>
            </a:r>
            <a:r>
              <a:rPr lang="pt-BR" sz="2000" dirty="0" err="1"/>
              <a:t>tot_cred</a:t>
            </a:r>
            <a:r>
              <a:rPr lang="pt-BR" sz="2000" dirty="0"/>
              <a:t>)</a:t>
            </a:r>
          </a:p>
          <a:p>
            <a:pPr lvl="1"/>
            <a:r>
              <a:rPr lang="pt-BR" sz="2000" dirty="0"/>
              <a:t>disciplina(</a:t>
            </a:r>
            <a:r>
              <a:rPr lang="pt-BR" sz="2000" u="sng" dirty="0" err="1"/>
              <a:t>disciplina_id</a:t>
            </a:r>
            <a:r>
              <a:rPr lang="pt-BR" sz="2000" dirty="0"/>
              <a:t>, título, </a:t>
            </a:r>
            <a:r>
              <a:rPr lang="pt-BR" sz="2000" dirty="0" err="1"/>
              <a:t>nome_dept</a:t>
            </a:r>
            <a:r>
              <a:rPr lang="pt-BR" sz="2000" dirty="0"/>
              <a:t>, créditos)</a:t>
            </a:r>
          </a:p>
          <a:p>
            <a:pPr lvl="1"/>
            <a:r>
              <a:rPr lang="pt-BR" sz="2000" dirty="0"/>
              <a:t>matrícula(</a:t>
            </a:r>
            <a:r>
              <a:rPr lang="pt-BR" sz="2000" u="sng" dirty="0"/>
              <a:t>ID</a:t>
            </a:r>
            <a:r>
              <a:rPr lang="pt-BR" sz="2000" dirty="0"/>
              <a:t>, </a:t>
            </a:r>
            <a:r>
              <a:rPr lang="pt-BR" sz="2000" u="sng" dirty="0" err="1"/>
              <a:t>disciplina_id</a:t>
            </a:r>
            <a:r>
              <a:rPr lang="pt-BR" sz="2000" dirty="0"/>
              <a:t>, </a:t>
            </a:r>
            <a:r>
              <a:rPr lang="pt-BR" sz="2000" u="sng" dirty="0" err="1"/>
              <a:t>turma_id</a:t>
            </a:r>
            <a:r>
              <a:rPr lang="pt-BR" sz="2000" dirty="0"/>
              <a:t>, </a:t>
            </a:r>
            <a:r>
              <a:rPr lang="pt-BR" sz="2000" u="sng" dirty="0"/>
              <a:t>semestre</a:t>
            </a:r>
            <a:r>
              <a:rPr lang="pt-BR" sz="2000" dirty="0"/>
              <a:t>, </a:t>
            </a:r>
            <a:r>
              <a:rPr lang="pt-BR" sz="2000" u="sng" dirty="0"/>
              <a:t>ano</a:t>
            </a:r>
            <a:r>
              <a:rPr lang="pt-BR" sz="2000" dirty="0"/>
              <a:t>, nota)</a:t>
            </a:r>
          </a:p>
          <a:p>
            <a:pPr lvl="1"/>
            <a:r>
              <a:rPr lang="pt-BR" sz="2000" dirty="0"/>
              <a:t>turma(</a:t>
            </a:r>
            <a:r>
              <a:rPr lang="pt-BR" sz="2000" u="sng" dirty="0" err="1"/>
              <a:t>disciplina_id</a:t>
            </a:r>
            <a:r>
              <a:rPr lang="pt-BR" sz="2000" dirty="0"/>
              <a:t>, </a:t>
            </a:r>
            <a:r>
              <a:rPr lang="pt-BR" sz="2000" u="sng" dirty="0" err="1"/>
              <a:t>turma_id</a:t>
            </a:r>
            <a:r>
              <a:rPr lang="pt-BR" sz="2000" dirty="0"/>
              <a:t>, </a:t>
            </a:r>
            <a:r>
              <a:rPr lang="pt-BR" sz="2000" u="sng" dirty="0"/>
              <a:t>semestre</a:t>
            </a:r>
            <a:r>
              <a:rPr lang="pt-BR" sz="2000" dirty="0"/>
              <a:t>, </a:t>
            </a:r>
            <a:r>
              <a:rPr lang="pt-BR" sz="2000" u="sng" dirty="0"/>
              <a:t>ano</a:t>
            </a:r>
            <a:r>
              <a:rPr lang="pt-BR" sz="2000" dirty="0"/>
              <a:t>, prédio, </a:t>
            </a:r>
            <a:r>
              <a:rPr lang="pt-BR" sz="2000" dirty="0" err="1"/>
              <a:t>número_sala</a:t>
            </a:r>
            <a:r>
              <a:rPr lang="pt-BR" sz="2000" dirty="0"/>
              <a:t>, horário)</a:t>
            </a:r>
          </a:p>
          <a:p>
            <a:pPr lvl="1"/>
            <a:r>
              <a:rPr lang="pt-BR" sz="2000" dirty="0"/>
              <a:t>professor(</a:t>
            </a:r>
            <a:r>
              <a:rPr lang="pt-BR" sz="2000" u="sng" dirty="0"/>
              <a:t>ID</a:t>
            </a:r>
            <a:r>
              <a:rPr lang="pt-BR" sz="2000" dirty="0"/>
              <a:t>, nome, </a:t>
            </a:r>
            <a:r>
              <a:rPr lang="pt-BR" sz="2000" dirty="0" err="1"/>
              <a:t>nome_dept</a:t>
            </a:r>
            <a:r>
              <a:rPr lang="pt-BR" sz="2000" dirty="0"/>
              <a:t>, salário)</a:t>
            </a:r>
          </a:p>
          <a:p>
            <a:pPr lvl="1"/>
            <a:r>
              <a:rPr lang="pt-BR" sz="2000" dirty="0"/>
              <a:t>orientador(</a:t>
            </a:r>
            <a:r>
              <a:rPr lang="pt-BR" sz="2000" u="sng" dirty="0" err="1"/>
              <a:t>e_id</a:t>
            </a:r>
            <a:r>
              <a:rPr lang="pt-BR" sz="2000" dirty="0"/>
              <a:t>, </a:t>
            </a:r>
            <a:r>
              <a:rPr lang="pt-BR" sz="2000" dirty="0" err="1"/>
              <a:t>p_id</a:t>
            </a:r>
            <a:r>
              <a:rPr lang="pt-BR" sz="2000" dirty="0"/>
              <a:t>)</a:t>
            </a:r>
          </a:p>
          <a:p>
            <a:pPr lvl="1"/>
            <a:r>
              <a:rPr lang="pt-BR" sz="2000" dirty="0"/>
              <a:t>departamento(</a:t>
            </a:r>
            <a:r>
              <a:rPr lang="pt-BR" sz="2000" u="sng" dirty="0" err="1"/>
              <a:t>nome_dept</a:t>
            </a:r>
            <a:r>
              <a:rPr lang="pt-BR" sz="2000" dirty="0"/>
              <a:t>, prédio, orçamento)</a:t>
            </a:r>
          </a:p>
        </p:txBody>
      </p:sp>
    </p:spTree>
    <p:extLst>
      <p:ext uri="{BB962C8B-B14F-4D97-AF65-F5344CB8AC3E}">
        <p14:creationId xmlns:p14="http://schemas.microsoft.com/office/powerpoint/2010/main" val="370568343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0" name="Rectangle 2"/>
          <p:cNvSpPr>
            <a:spLocks noGrp="1" noChangeArrowheads="1"/>
          </p:cNvSpPr>
          <p:nvPr>
            <p:ph type="title"/>
          </p:nvPr>
        </p:nvSpPr>
        <p:spPr>
          <a:xfrm>
            <a:off x="649509" y="117475"/>
            <a:ext cx="11144558" cy="609600"/>
          </a:xfrm>
        </p:spPr>
        <p:txBody>
          <a:bodyPr/>
          <a:lstStyle/>
          <a:p>
            <a:r>
              <a:rPr lang="pt-BR" altLang="en-US" dirty="0">
                <a:effectLst>
                  <a:outerShdw dist="38100" sx="1000" sy="1000" algn="tl">
                    <a:srgbClr val="C0C0C0"/>
                  </a:outerShdw>
                </a:effectLst>
              </a:rPr>
              <a:t>Diagrama relacional do Esquema do BD UNIVERSIDADE</a:t>
            </a:r>
          </a:p>
        </p:txBody>
      </p:sp>
      <p:sp>
        <p:nvSpPr>
          <p:cNvPr id="258542" name="Freeform 258541">
            <a:extLst>
              <a:ext uri="{FF2B5EF4-FFF2-40B4-BE49-F238E27FC236}">
                <a16:creationId xmlns:a16="http://schemas.microsoft.com/office/drawing/2014/main" id="{77CF03F9-1E34-2247-BBF8-0C5270B4971E}"/>
              </a:ext>
            </a:extLst>
          </p:cNvPr>
          <p:cNvSpPr/>
          <p:nvPr/>
        </p:nvSpPr>
        <p:spPr>
          <a:xfrm flipV="1">
            <a:off x="4309740" y="1696274"/>
            <a:ext cx="924410" cy="1001861"/>
          </a:xfrm>
          <a:custGeom>
            <a:avLst/>
            <a:gdLst>
              <a:gd name="connsiteX0" fmla="*/ 0 w 771048"/>
              <a:gd name="connsiteY0" fmla="*/ -134 h 1001861"/>
              <a:gd name="connsiteX1" fmla="*/ 771048 w 771048"/>
              <a:gd name="connsiteY1" fmla="*/ -134 h 1001861"/>
              <a:gd name="connsiteX2" fmla="*/ 771048 w 771048"/>
              <a:gd name="connsiteY2" fmla="*/ 1001728 h 1001861"/>
              <a:gd name="connsiteX3" fmla="*/ 0 w 771048"/>
              <a:gd name="connsiteY3" fmla="*/ 1001728 h 1001861"/>
            </a:gdLst>
            <a:ahLst/>
            <a:cxnLst>
              <a:cxn ang="0">
                <a:pos x="connsiteX0" y="connsiteY0"/>
              </a:cxn>
              <a:cxn ang="0">
                <a:pos x="connsiteX1" y="connsiteY1"/>
              </a:cxn>
              <a:cxn ang="0">
                <a:pos x="connsiteX2" y="connsiteY2"/>
              </a:cxn>
              <a:cxn ang="0">
                <a:pos x="connsiteX3" y="connsiteY3"/>
              </a:cxn>
            </a:cxnLst>
            <a:rect l="l" t="t" r="r" b="b"/>
            <a:pathLst>
              <a:path w="771048" h="1001861">
                <a:moveTo>
                  <a:pt x="0" y="-134"/>
                </a:moveTo>
                <a:lnTo>
                  <a:pt x="771048" y="-134"/>
                </a:lnTo>
                <a:lnTo>
                  <a:pt x="771048" y="1001728"/>
                </a:lnTo>
                <a:lnTo>
                  <a:pt x="0" y="1001728"/>
                </a:lnTo>
                <a:close/>
              </a:path>
            </a:pathLst>
          </a:custGeom>
          <a:noFill/>
          <a:ln w="12055" cap="rnd">
            <a:solidFill>
              <a:srgbClr val="231F20"/>
            </a:solidFill>
            <a:prstDash val="solid"/>
            <a:miter/>
          </a:ln>
        </p:spPr>
        <p:txBody>
          <a:bodyPr rtlCol="0" anchor="ctr"/>
          <a:lstStyle/>
          <a:p>
            <a:endParaRPr lang="pt-BR"/>
          </a:p>
        </p:txBody>
      </p:sp>
      <p:sp>
        <p:nvSpPr>
          <p:cNvPr id="258611" name="Freeform 258610">
            <a:extLst>
              <a:ext uri="{FF2B5EF4-FFF2-40B4-BE49-F238E27FC236}">
                <a16:creationId xmlns:a16="http://schemas.microsoft.com/office/drawing/2014/main" id="{AC102782-E352-ED4D-AB53-7DA0164464CB}"/>
              </a:ext>
            </a:extLst>
          </p:cNvPr>
          <p:cNvSpPr/>
          <p:nvPr/>
        </p:nvSpPr>
        <p:spPr>
          <a:xfrm>
            <a:off x="8007556" y="2259466"/>
            <a:ext cx="58818" cy="5652"/>
          </a:xfrm>
          <a:custGeom>
            <a:avLst/>
            <a:gdLst>
              <a:gd name="connsiteX0" fmla="*/ 243 w 58818"/>
              <a:gd name="connsiteY0" fmla="*/ 36 h 5652"/>
              <a:gd name="connsiteX1" fmla="*/ 243 w 58818"/>
              <a:gd name="connsiteY1" fmla="*/ 5689 h 5652"/>
              <a:gd name="connsiteX2" fmla="*/ 59061 w 58818"/>
              <a:gd name="connsiteY2" fmla="*/ 5689 h 5652"/>
              <a:gd name="connsiteX3" fmla="*/ 59061 w 58818"/>
              <a:gd name="connsiteY3" fmla="*/ 36 h 5652"/>
            </a:gdLst>
            <a:ahLst/>
            <a:cxnLst>
              <a:cxn ang="0">
                <a:pos x="connsiteX0" y="connsiteY0"/>
              </a:cxn>
              <a:cxn ang="0">
                <a:pos x="connsiteX1" y="connsiteY1"/>
              </a:cxn>
              <a:cxn ang="0">
                <a:pos x="connsiteX2" y="connsiteY2"/>
              </a:cxn>
              <a:cxn ang="0">
                <a:pos x="connsiteX3" y="connsiteY3"/>
              </a:cxn>
            </a:cxnLst>
            <a:rect l="l" t="t" r="r" b="b"/>
            <a:pathLst>
              <a:path w="58818" h="5652">
                <a:moveTo>
                  <a:pt x="243" y="36"/>
                </a:moveTo>
                <a:lnTo>
                  <a:pt x="243" y="5689"/>
                </a:lnTo>
                <a:lnTo>
                  <a:pt x="59061" y="5689"/>
                </a:lnTo>
                <a:lnTo>
                  <a:pt x="59061" y="36"/>
                </a:lnTo>
                <a:close/>
              </a:path>
            </a:pathLst>
          </a:custGeom>
          <a:solidFill>
            <a:srgbClr val="000000"/>
          </a:solidFill>
          <a:ln w="24109" cap="flat">
            <a:noFill/>
            <a:prstDash val="solid"/>
            <a:miter/>
          </a:ln>
        </p:spPr>
        <p:txBody>
          <a:bodyPr rtlCol="0" anchor="ctr"/>
          <a:lstStyle/>
          <a:p>
            <a:endParaRPr lang="pt-BR"/>
          </a:p>
        </p:txBody>
      </p:sp>
      <p:sp>
        <p:nvSpPr>
          <p:cNvPr id="258616" name="Freeform 258615">
            <a:extLst>
              <a:ext uri="{FF2B5EF4-FFF2-40B4-BE49-F238E27FC236}">
                <a16:creationId xmlns:a16="http://schemas.microsoft.com/office/drawing/2014/main" id="{22B529D6-AAB7-124F-8E2D-6DD74E269D00}"/>
              </a:ext>
            </a:extLst>
          </p:cNvPr>
          <p:cNvSpPr/>
          <p:nvPr/>
        </p:nvSpPr>
        <p:spPr>
          <a:xfrm flipV="1">
            <a:off x="2536331" y="4855910"/>
            <a:ext cx="925255" cy="539463"/>
          </a:xfrm>
          <a:custGeom>
            <a:avLst/>
            <a:gdLst>
              <a:gd name="connsiteX0" fmla="*/ 16 w 925255"/>
              <a:gd name="connsiteY0" fmla="*/ 144 h 539463"/>
              <a:gd name="connsiteX1" fmla="*/ 925272 w 925255"/>
              <a:gd name="connsiteY1" fmla="*/ 144 h 539463"/>
              <a:gd name="connsiteX2" fmla="*/ 925272 w 925255"/>
              <a:gd name="connsiteY2" fmla="*/ 539608 h 539463"/>
              <a:gd name="connsiteX3" fmla="*/ 16 w 925255"/>
              <a:gd name="connsiteY3" fmla="*/ 539608 h 539463"/>
            </a:gdLst>
            <a:ahLst/>
            <a:cxnLst>
              <a:cxn ang="0">
                <a:pos x="connsiteX0" y="connsiteY0"/>
              </a:cxn>
              <a:cxn ang="0">
                <a:pos x="connsiteX1" y="connsiteY1"/>
              </a:cxn>
              <a:cxn ang="0">
                <a:pos x="connsiteX2" y="connsiteY2"/>
              </a:cxn>
              <a:cxn ang="0">
                <a:pos x="connsiteX3" y="connsiteY3"/>
              </a:cxn>
            </a:cxnLst>
            <a:rect l="l" t="t" r="r" b="b"/>
            <a:pathLst>
              <a:path w="925255" h="539463">
                <a:moveTo>
                  <a:pt x="16" y="144"/>
                </a:moveTo>
                <a:lnTo>
                  <a:pt x="925272" y="144"/>
                </a:lnTo>
                <a:lnTo>
                  <a:pt x="925272" y="539608"/>
                </a:lnTo>
                <a:lnTo>
                  <a:pt x="16" y="539608"/>
                </a:lnTo>
                <a:close/>
              </a:path>
            </a:pathLst>
          </a:custGeom>
          <a:noFill/>
          <a:ln w="12055" cap="rnd">
            <a:solidFill>
              <a:srgbClr val="231F20"/>
            </a:solidFill>
            <a:prstDash val="solid"/>
            <a:miter/>
          </a:ln>
        </p:spPr>
        <p:txBody>
          <a:bodyPr rtlCol="0" anchor="ctr"/>
          <a:lstStyle/>
          <a:p>
            <a:endParaRPr lang="pt-BR"/>
          </a:p>
        </p:txBody>
      </p:sp>
      <p:sp>
        <p:nvSpPr>
          <p:cNvPr id="258617" name="Freeform 258616">
            <a:extLst>
              <a:ext uri="{FF2B5EF4-FFF2-40B4-BE49-F238E27FC236}">
                <a16:creationId xmlns:a16="http://schemas.microsoft.com/office/drawing/2014/main" id="{FCB08026-CC56-494C-97C5-25681C9B3B1E}"/>
              </a:ext>
            </a:extLst>
          </p:cNvPr>
          <p:cNvSpPr/>
          <p:nvPr/>
        </p:nvSpPr>
        <p:spPr>
          <a:xfrm flipV="1">
            <a:off x="2459227" y="2852276"/>
            <a:ext cx="1002360" cy="1155996"/>
          </a:xfrm>
          <a:custGeom>
            <a:avLst/>
            <a:gdLst>
              <a:gd name="connsiteX0" fmla="*/ 13 w 1002360"/>
              <a:gd name="connsiteY0" fmla="*/ 61 h 1155996"/>
              <a:gd name="connsiteX1" fmla="*/ 1002373 w 1002360"/>
              <a:gd name="connsiteY1" fmla="*/ 61 h 1155996"/>
              <a:gd name="connsiteX2" fmla="*/ 1002373 w 1002360"/>
              <a:gd name="connsiteY2" fmla="*/ 1156058 h 1155996"/>
              <a:gd name="connsiteX3" fmla="*/ 13 w 1002360"/>
              <a:gd name="connsiteY3" fmla="*/ 1156058 h 1155996"/>
            </a:gdLst>
            <a:ahLst/>
            <a:cxnLst>
              <a:cxn ang="0">
                <a:pos x="connsiteX0" y="connsiteY0"/>
              </a:cxn>
              <a:cxn ang="0">
                <a:pos x="connsiteX1" y="connsiteY1"/>
              </a:cxn>
              <a:cxn ang="0">
                <a:pos x="connsiteX2" y="connsiteY2"/>
              </a:cxn>
              <a:cxn ang="0">
                <a:pos x="connsiteX3" y="connsiteY3"/>
              </a:cxn>
            </a:cxnLst>
            <a:rect l="l" t="t" r="r" b="b"/>
            <a:pathLst>
              <a:path w="1002360" h="1155996">
                <a:moveTo>
                  <a:pt x="13" y="61"/>
                </a:moveTo>
                <a:lnTo>
                  <a:pt x="1002373" y="61"/>
                </a:lnTo>
                <a:lnTo>
                  <a:pt x="1002373" y="1156058"/>
                </a:lnTo>
                <a:lnTo>
                  <a:pt x="13" y="1156058"/>
                </a:lnTo>
                <a:close/>
              </a:path>
            </a:pathLst>
          </a:custGeom>
          <a:noFill/>
          <a:ln w="12055" cap="rnd">
            <a:solidFill>
              <a:srgbClr val="231F20"/>
            </a:solidFill>
            <a:prstDash val="solid"/>
            <a:miter/>
          </a:ln>
        </p:spPr>
        <p:txBody>
          <a:bodyPr rtlCol="0" anchor="ctr"/>
          <a:lstStyle/>
          <a:p>
            <a:endParaRPr lang="pt-BR"/>
          </a:p>
        </p:txBody>
      </p:sp>
      <p:sp>
        <p:nvSpPr>
          <p:cNvPr id="258654" name="Freeform 258653">
            <a:extLst>
              <a:ext uri="{FF2B5EF4-FFF2-40B4-BE49-F238E27FC236}">
                <a16:creationId xmlns:a16="http://schemas.microsoft.com/office/drawing/2014/main" id="{5AFF1F4D-2981-AC48-8779-51EB706731A4}"/>
              </a:ext>
            </a:extLst>
          </p:cNvPr>
          <p:cNvSpPr/>
          <p:nvPr/>
        </p:nvSpPr>
        <p:spPr>
          <a:xfrm rot="10800000" flipV="1">
            <a:off x="9171759" y="3083479"/>
            <a:ext cx="997742" cy="385318"/>
          </a:xfrm>
          <a:custGeom>
            <a:avLst/>
            <a:gdLst>
              <a:gd name="connsiteX0" fmla="*/ 0 w 693946"/>
              <a:gd name="connsiteY0" fmla="*/ -45 h 385318"/>
              <a:gd name="connsiteX1" fmla="*/ 693946 w 693946"/>
              <a:gd name="connsiteY1" fmla="*/ -45 h 385318"/>
              <a:gd name="connsiteX2" fmla="*/ 693946 w 693946"/>
              <a:gd name="connsiteY2" fmla="*/ 385274 h 385318"/>
              <a:gd name="connsiteX3" fmla="*/ 0 w 693946"/>
              <a:gd name="connsiteY3" fmla="*/ 385274 h 385318"/>
            </a:gdLst>
            <a:ahLst/>
            <a:cxnLst>
              <a:cxn ang="0">
                <a:pos x="connsiteX0" y="connsiteY0"/>
              </a:cxn>
              <a:cxn ang="0">
                <a:pos x="connsiteX1" y="connsiteY1"/>
              </a:cxn>
              <a:cxn ang="0">
                <a:pos x="connsiteX2" y="connsiteY2"/>
              </a:cxn>
              <a:cxn ang="0">
                <a:pos x="connsiteX3" y="connsiteY3"/>
              </a:cxn>
            </a:cxnLst>
            <a:rect l="l" t="t" r="r" b="b"/>
            <a:pathLst>
              <a:path w="693946" h="385318">
                <a:moveTo>
                  <a:pt x="0" y="-45"/>
                </a:moveTo>
                <a:lnTo>
                  <a:pt x="693946" y="-45"/>
                </a:lnTo>
                <a:lnTo>
                  <a:pt x="693946" y="385274"/>
                </a:lnTo>
                <a:lnTo>
                  <a:pt x="0" y="385274"/>
                </a:lnTo>
                <a:close/>
              </a:path>
            </a:pathLst>
          </a:custGeom>
          <a:noFill/>
          <a:ln w="12055" cap="rnd">
            <a:solidFill>
              <a:srgbClr val="231F20"/>
            </a:solidFill>
            <a:prstDash val="solid"/>
            <a:miter/>
          </a:ln>
        </p:spPr>
        <p:txBody>
          <a:bodyPr rtlCol="0" anchor="ctr"/>
          <a:lstStyle/>
          <a:p>
            <a:endParaRPr lang="pt-BR" sz="900">
              <a:latin typeface="Calibri Light" panose="020F0302020204030204" pitchFamily="34" charset="0"/>
              <a:cs typeface="Calibri Light" panose="020F0302020204030204" pitchFamily="34" charset="0"/>
            </a:endParaRPr>
          </a:p>
        </p:txBody>
      </p:sp>
      <p:sp>
        <p:nvSpPr>
          <p:cNvPr id="258666" name="Freeform 258665">
            <a:extLst>
              <a:ext uri="{FF2B5EF4-FFF2-40B4-BE49-F238E27FC236}">
                <a16:creationId xmlns:a16="http://schemas.microsoft.com/office/drawing/2014/main" id="{5B919E57-62EC-CE45-B2BD-25BD7BF8BDD0}"/>
              </a:ext>
            </a:extLst>
          </p:cNvPr>
          <p:cNvSpPr/>
          <p:nvPr/>
        </p:nvSpPr>
        <p:spPr>
          <a:xfrm flipV="1">
            <a:off x="4155529" y="5395373"/>
            <a:ext cx="925259" cy="847731"/>
          </a:xfrm>
          <a:custGeom>
            <a:avLst/>
            <a:gdLst>
              <a:gd name="connsiteX0" fmla="*/ 0 w 925259"/>
              <a:gd name="connsiteY0" fmla="*/ 166 h 847731"/>
              <a:gd name="connsiteX1" fmla="*/ 925259 w 925259"/>
              <a:gd name="connsiteY1" fmla="*/ 166 h 847731"/>
              <a:gd name="connsiteX2" fmla="*/ 925259 w 925259"/>
              <a:gd name="connsiteY2" fmla="*/ 847898 h 847731"/>
              <a:gd name="connsiteX3" fmla="*/ 0 w 925259"/>
              <a:gd name="connsiteY3" fmla="*/ 847898 h 847731"/>
            </a:gdLst>
            <a:ahLst/>
            <a:cxnLst>
              <a:cxn ang="0">
                <a:pos x="connsiteX0" y="connsiteY0"/>
              </a:cxn>
              <a:cxn ang="0">
                <a:pos x="connsiteX1" y="connsiteY1"/>
              </a:cxn>
              <a:cxn ang="0">
                <a:pos x="connsiteX2" y="connsiteY2"/>
              </a:cxn>
              <a:cxn ang="0">
                <a:pos x="connsiteX3" y="connsiteY3"/>
              </a:cxn>
            </a:cxnLst>
            <a:rect l="l" t="t" r="r" b="b"/>
            <a:pathLst>
              <a:path w="925259" h="847731">
                <a:moveTo>
                  <a:pt x="0" y="166"/>
                </a:moveTo>
                <a:lnTo>
                  <a:pt x="925259" y="166"/>
                </a:lnTo>
                <a:lnTo>
                  <a:pt x="925259" y="847898"/>
                </a:lnTo>
                <a:lnTo>
                  <a:pt x="0" y="847898"/>
                </a:lnTo>
                <a:close/>
              </a:path>
            </a:pathLst>
          </a:custGeom>
          <a:noFill/>
          <a:ln w="12055" cap="rnd">
            <a:solidFill>
              <a:srgbClr val="231F20"/>
            </a:solidFill>
            <a:prstDash val="solid"/>
            <a:miter/>
          </a:ln>
        </p:spPr>
        <p:txBody>
          <a:bodyPr rtlCol="0" anchor="ctr"/>
          <a:lstStyle/>
          <a:p>
            <a:endParaRPr lang="pt-BR"/>
          </a:p>
        </p:txBody>
      </p:sp>
      <p:sp>
        <p:nvSpPr>
          <p:cNvPr id="258705" name="Freeform 258704">
            <a:extLst>
              <a:ext uri="{FF2B5EF4-FFF2-40B4-BE49-F238E27FC236}">
                <a16:creationId xmlns:a16="http://schemas.microsoft.com/office/drawing/2014/main" id="{2ADAEEB9-D968-0C46-9F79-85F1C9B67506}"/>
              </a:ext>
            </a:extLst>
          </p:cNvPr>
          <p:cNvSpPr/>
          <p:nvPr/>
        </p:nvSpPr>
        <p:spPr>
          <a:xfrm flipV="1">
            <a:off x="7470936" y="5083964"/>
            <a:ext cx="539731" cy="24118"/>
          </a:xfrm>
          <a:custGeom>
            <a:avLst/>
            <a:gdLst>
              <a:gd name="connsiteX0" fmla="*/ 539975 w 539731"/>
              <a:gd name="connsiteY0" fmla="*/ 157 h 24118"/>
              <a:gd name="connsiteX1" fmla="*/ 243 w 539731"/>
              <a:gd name="connsiteY1" fmla="*/ 157 h 24118"/>
            </a:gdLst>
            <a:ahLst/>
            <a:cxnLst>
              <a:cxn ang="0">
                <a:pos x="connsiteX0" y="connsiteY0"/>
              </a:cxn>
              <a:cxn ang="0">
                <a:pos x="connsiteX1" y="connsiteY1"/>
              </a:cxn>
            </a:cxnLst>
            <a:rect l="l" t="t" r="r" b="b"/>
            <a:pathLst>
              <a:path w="539731" h="24118">
                <a:moveTo>
                  <a:pt x="539975" y="157"/>
                </a:moveTo>
                <a:lnTo>
                  <a:pt x="243" y="157"/>
                </a:lnTo>
              </a:path>
            </a:pathLst>
          </a:custGeom>
          <a:noFill/>
          <a:ln w="12055" cap="rnd">
            <a:solidFill>
              <a:srgbClr val="231F20"/>
            </a:solidFill>
            <a:prstDash val="solid"/>
            <a:round/>
          </a:ln>
        </p:spPr>
        <p:txBody>
          <a:bodyPr rtlCol="0" anchor="ctr"/>
          <a:lstStyle/>
          <a:p>
            <a:endParaRPr lang="pt-BR"/>
          </a:p>
        </p:txBody>
      </p:sp>
      <p:sp>
        <p:nvSpPr>
          <p:cNvPr id="258706" name="Freeform 258705">
            <a:extLst>
              <a:ext uri="{FF2B5EF4-FFF2-40B4-BE49-F238E27FC236}">
                <a16:creationId xmlns:a16="http://schemas.microsoft.com/office/drawing/2014/main" id="{C2E0E4FB-E1DE-8548-BD89-1A565936315D}"/>
              </a:ext>
            </a:extLst>
          </p:cNvPr>
          <p:cNvSpPr/>
          <p:nvPr/>
        </p:nvSpPr>
        <p:spPr>
          <a:xfrm flipV="1">
            <a:off x="7457367" y="3329278"/>
            <a:ext cx="45719" cy="1772434"/>
          </a:xfrm>
          <a:custGeom>
            <a:avLst/>
            <a:gdLst>
              <a:gd name="connsiteX0" fmla="*/ 221 w 24130"/>
              <a:gd name="connsiteY0" fmla="*/ 1835053 h 1834896"/>
              <a:gd name="connsiteX1" fmla="*/ 221 w 24130"/>
              <a:gd name="connsiteY1" fmla="*/ 157 h 1834896"/>
            </a:gdLst>
            <a:ahLst/>
            <a:cxnLst>
              <a:cxn ang="0">
                <a:pos x="connsiteX0" y="connsiteY0"/>
              </a:cxn>
              <a:cxn ang="0">
                <a:pos x="connsiteX1" y="connsiteY1"/>
              </a:cxn>
            </a:cxnLst>
            <a:rect l="l" t="t" r="r" b="b"/>
            <a:pathLst>
              <a:path w="24130" h="1834896">
                <a:moveTo>
                  <a:pt x="221" y="1835053"/>
                </a:moveTo>
                <a:lnTo>
                  <a:pt x="221" y="157"/>
                </a:lnTo>
              </a:path>
            </a:pathLst>
          </a:custGeom>
          <a:noFill/>
          <a:ln w="12055" cap="rnd">
            <a:solidFill>
              <a:srgbClr val="231F20"/>
            </a:solidFill>
            <a:prstDash val="solid"/>
            <a:round/>
          </a:ln>
        </p:spPr>
        <p:txBody>
          <a:bodyPr rtlCol="0" anchor="ctr"/>
          <a:lstStyle/>
          <a:p>
            <a:endParaRPr lang="pt-BR"/>
          </a:p>
        </p:txBody>
      </p:sp>
      <p:sp>
        <p:nvSpPr>
          <p:cNvPr id="258707" name="Freeform 258706">
            <a:extLst>
              <a:ext uri="{FF2B5EF4-FFF2-40B4-BE49-F238E27FC236}">
                <a16:creationId xmlns:a16="http://schemas.microsoft.com/office/drawing/2014/main" id="{31EDC2BD-A835-6147-BC89-02A6772CE6E8}"/>
              </a:ext>
            </a:extLst>
          </p:cNvPr>
          <p:cNvSpPr/>
          <p:nvPr/>
        </p:nvSpPr>
        <p:spPr>
          <a:xfrm>
            <a:off x="7466310" y="3290744"/>
            <a:ext cx="313045" cy="77066"/>
          </a:xfrm>
          <a:custGeom>
            <a:avLst/>
            <a:gdLst>
              <a:gd name="connsiteX0" fmla="*/ 4633 w 313045"/>
              <a:gd name="connsiteY0" fmla="*/ 33163 h 77066"/>
              <a:gd name="connsiteX1" fmla="*/ 249051 w 313045"/>
              <a:gd name="connsiteY1" fmla="*/ 33163 h 77066"/>
              <a:gd name="connsiteX2" fmla="*/ 252140 w 313045"/>
              <a:gd name="connsiteY2" fmla="*/ 34670 h 77066"/>
              <a:gd name="connsiteX3" fmla="*/ 253757 w 313045"/>
              <a:gd name="connsiteY3" fmla="*/ 38534 h 77066"/>
              <a:gd name="connsiteX4" fmla="*/ 252140 w 313045"/>
              <a:gd name="connsiteY4" fmla="*/ 41643 h 77066"/>
              <a:gd name="connsiteX5" fmla="*/ 249051 w 313045"/>
              <a:gd name="connsiteY5" fmla="*/ 43151 h 77066"/>
              <a:gd name="connsiteX6" fmla="*/ 4633 w 313045"/>
              <a:gd name="connsiteY6" fmla="*/ 43151 h 77066"/>
              <a:gd name="connsiteX7" fmla="*/ 1617 w 313045"/>
              <a:gd name="connsiteY7" fmla="*/ 41643 h 77066"/>
              <a:gd name="connsiteX8" fmla="*/ 0 w 313045"/>
              <a:gd name="connsiteY8" fmla="*/ 38534 h 77066"/>
              <a:gd name="connsiteX9" fmla="*/ 1617 w 313045"/>
              <a:gd name="connsiteY9" fmla="*/ 34670 h 77066"/>
              <a:gd name="connsiteX10" fmla="*/ 235949 w 313045"/>
              <a:gd name="connsiteY10" fmla="*/ 0 h 77066"/>
              <a:gd name="connsiteX11" fmla="*/ 313045 w 313045"/>
              <a:gd name="connsiteY11" fmla="*/ 38534 h 77066"/>
              <a:gd name="connsiteX12" fmla="*/ 235949 w 313045"/>
              <a:gd name="connsiteY12" fmla="*/ 77066 h 77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3045" h="77066">
                <a:moveTo>
                  <a:pt x="4633" y="33163"/>
                </a:moveTo>
                <a:lnTo>
                  <a:pt x="249051" y="33163"/>
                </a:lnTo>
                <a:lnTo>
                  <a:pt x="252140" y="34670"/>
                </a:lnTo>
                <a:lnTo>
                  <a:pt x="253757" y="38534"/>
                </a:lnTo>
                <a:lnTo>
                  <a:pt x="252140" y="41643"/>
                </a:lnTo>
                <a:lnTo>
                  <a:pt x="249051" y="43151"/>
                </a:lnTo>
                <a:lnTo>
                  <a:pt x="4633" y="43151"/>
                </a:lnTo>
                <a:lnTo>
                  <a:pt x="1617" y="41643"/>
                </a:lnTo>
                <a:lnTo>
                  <a:pt x="0" y="38534"/>
                </a:lnTo>
                <a:lnTo>
                  <a:pt x="1617" y="34670"/>
                </a:lnTo>
                <a:close/>
                <a:moveTo>
                  <a:pt x="235949" y="0"/>
                </a:moveTo>
                <a:lnTo>
                  <a:pt x="313045" y="38534"/>
                </a:lnTo>
                <a:lnTo>
                  <a:pt x="235949" y="77066"/>
                </a:lnTo>
              </a:path>
            </a:pathLst>
          </a:custGeom>
          <a:solidFill>
            <a:srgbClr val="231F20"/>
          </a:solidFill>
          <a:ln w="24109" cap="flat">
            <a:noFill/>
            <a:prstDash val="solid"/>
            <a:miter/>
          </a:ln>
        </p:spPr>
        <p:txBody>
          <a:bodyPr rtlCol="0" anchor="ctr"/>
          <a:lstStyle/>
          <a:p>
            <a:endParaRPr lang="pt-BR"/>
          </a:p>
        </p:txBody>
      </p:sp>
      <p:sp>
        <p:nvSpPr>
          <p:cNvPr id="258708" name="Freeform 258707">
            <a:extLst>
              <a:ext uri="{FF2B5EF4-FFF2-40B4-BE49-F238E27FC236}">
                <a16:creationId xmlns:a16="http://schemas.microsoft.com/office/drawing/2014/main" id="{FFFC2FC6-B6DE-B24B-8D93-B5D4BF9BA336}"/>
              </a:ext>
            </a:extLst>
          </p:cNvPr>
          <p:cNvSpPr/>
          <p:nvPr/>
        </p:nvSpPr>
        <p:spPr>
          <a:xfrm>
            <a:off x="7234995" y="3199074"/>
            <a:ext cx="544360" cy="77068"/>
          </a:xfrm>
          <a:custGeom>
            <a:avLst/>
            <a:gdLst>
              <a:gd name="connsiteX0" fmla="*/ 4633 w 544360"/>
              <a:gd name="connsiteY0" fmla="*/ 33918 h 77068"/>
              <a:gd name="connsiteX1" fmla="*/ 480367 w 544360"/>
              <a:gd name="connsiteY1" fmla="*/ 33918 h 77068"/>
              <a:gd name="connsiteX2" fmla="*/ 483455 w 544360"/>
              <a:gd name="connsiteY2" fmla="*/ 35425 h 77068"/>
              <a:gd name="connsiteX3" fmla="*/ 485072 w 544360"/>
              <a:gd name="connsiteY3" fmla="*/ 38440 h 77068"/>
              <a:gd name="connsiteX4" fmla="*/ 483455 w 544360"/>
              <a:gd name="connsiteY4" fmla="*/ 41549 h 77068"/>
              <a:gd name="connsiteX5" fmla="*/ 480367 w 544360"/>
              <a:gd name="connsiteY5" fmla="*/ 43151 h 77068"/>
              <a:gd name="connsiteX6" fmla="*/ 4633 w 544360"/>
              <a:gd name="connsiteY6" fmla="*/ 43151 h 77068"/>
              <a:gd name="connsiteX7" fmla="*/ 1616 w 544360"/>
              <a:gd name="connsiteY7" fmla="*/ 41549 h 77068"/>
              <a:gd name="connsiteX8" fmla="*/ 0 w 544360"/>
              <a:gd name="connsiteY8" fmla="*/ 38440 h 77068"/>
              <a:gd name="connsiteX9" fmla="*/ 1616 w 544360"/>
              <a:gd name="connsiteY9" fmla="*/ 35425 h 77068"/>
              <a:gd name="connsiteX10" fmla="*/ 467264 w 544360"/>
              <a:gd name="connsiteY10" fmla="*/ 0 h 77068"/>
              <a:gd name="connsiteX11" fmla="*/ 544361 w 544360"/>
              <a:gd name="connsiteY11" fmla="*/ 38440 h 77068"/>
              <a:gd name="connsiteX12" fmla="*/ 467264 w 544360"/>
              <a:gd name="connsiteY12" fmla="*/ 77069 h 77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44360" h="77068">
                <a:moveTo>
                  <a:pt x="4633" y="33918"/>
                </a:moveTo>
                <a:lnTo>
                  <a:pt x="480367" y="33918"/>
                </a:lnTo>
                <a:lnTo>
                  <a:pt x="483455" y="35425"/>
                </a:lnTo>
                <a:lnTo>
                  <a:pt x="485072" y="38440"/>
                </a:lnTo>
                <a:lnTo>
                  <a:pt x="483455" y="41549"/>
                </a:lnTo>
                <a:lnTo>
                  <a:pt x="480367" y="43151"/>
                </a:lnTo>
                <a:lnTo>
                  <a:pt x="4633" y="43151"/>
                </a:lnTo>
                <a:lnTo>
                  <a:pt x="1616" y="41549"/>
                </a:lnTo>
                <a:lnTo>
                  <a:pt x="0" y="38440"/>
                </a:lnTo>
                <a:lnTo>
                  <a:pt x="1616" y="35425"/>
                </a:lnTo>
                <a:close/>
                <a:moveTo>
                  <a:pt x="467264" y="0"/>
                </a:moveTo>
                <a:lnTo>
                  <a:pt x="544361" y="38440"/>
                </a:lnTo>
                <a:lnTo>
                  <a:pt x="467264" y="77069"/>
                </a:lnTo>
              </a:path>
            </a:pathLst>
          </a:custGeom>
          <a:solidFill>
            <a:srgbClr val="231F20"/>
          </a:solidFill>
          <a:ln w="24109" cap="flat">
            <a:noFill/>
            <a:prstDash val="solid"/>
            <a:miter/>
          </a:ln>
        </p:spPr>
        <p:txBody>
          <a:bodyPr rtlCol="0" anchor="ctr"/>
          <a:lstStyle/>
          <a:p>
            <a:endParaRPr lang="pt-BR"/>
          </a:p>
        </p:txBody>
      </p:sp>
      <p:sp>
        <p:nvSpPr>
          <p:cNvPr id="258709" name="Freeform 258708">
            <a:extLst>
              <a:ext uri="{FF2B5EF4-FFF2-40B4-BE49-F238E27FC236}">
                <a16:creationId xmlns:a16="http://schemas.microsoft.com/office/drawing/2014/main" id="{2E25EEE1-67AE-8844-A955-ABE122C20940}"/>
              </a:ext>
            </a:extLst>
          </p:cNvPr>
          <p:cNvSpPr/>
          <p:nvPr/>
        </p:nvSpPr>
        <p:spPr>
          <a:xfrm flipV="1">
            <a:off x="7239621" y="3237609"/>
            <a:ext cx="24130" cy="154132"/>
          </a:xfrm>
          <a:custGeom>
            <a:avLst/>
            <a:gdLst>
              <a:gd name="connsiteX0" fmla="*/ 211 w 24130"/>
              <a:gd name="connsiteY0" fmla="*/ 154216 h 154132"/>
              <a:gd name="connsiteX1" fmla="*/ 211 w 24130"/>
              <a:gd name="connsiteY1" fmla="*/ 83 h 154132"/>
            </a:gdLst>
            <a:ahLst/>
            <a:cxnLst>
              <a:cxn ang="0">
                <a:pos x="connsiteX0" y="connsiteY0"/>
              </a:cxn>
              <a:cxn ang="0">
                <a:pos x="connsiteX1" y="connsiteY1"/>
              </a:cxn>
            </a:cxnLst>
            <a:rect l="l" t="t" r="r" b="b"/>
            <a:pathLst>
              <a:path w="24130" h="154132">
                <a:moveTo>
                  <a:pt x="211" y="154216"/>
                </a:moveTo>
                <a:lnTo>
                  <a:pt x="211" y="83"/>
                </a:lnTo>
              </a:path>
            </a:pathLst>
          </a:custGeom>
          <a:noFill/>
          <a:ln w="12055" cap="rnd">
            <a:solidFill>
              <a:srgbClr val="231F20"/>
            </a:solidFill>
            <a:prstDash val="solid"/>
            <a:round/>
          </a:ln>
        </p:spPr>
        <p:txBody>
          <a:bodyPr rtlCol="0" anchor="ctr"/>
          <a:lstStyle/>
          <a:p>
            <a:endParaRPr lang="pt-BR"/>
          </a:p>
        </p:txBody>
      </p:sp>
      <p:sp>
        <p:nvSpPr>
          <p:cNvPr id="258710" name="Freeform 258709">
            <a:extLst>
              <a:ext uri="{FF2B5EF4-FFF2-40B4-BE49-F238E27FC236}">
                <a16:creationId xmlns:a16="http://schemas.microsoft.com/office/drawing/2014/main" id="{166F993F-2FB7-9244-BBCF-7DD1649C25E6}"/>
              </a:ext>
            </a:extLst>
          </p:cNvPr>
          <p:cNvSpPr/>
          <p:nvPr/>
        </p:nvSpPr>
        <p:spPr>
          <a:xfrm>
            <a:off x="10164886" y="3188751"/>
            <a:ext cx="77303" cy="45719"/>
          </a:xfrm>
          <a:custGeom>
            <a:avLst/>
            <a:gdLst>
              <a:gd name="connsiteX0" fmla="*/ 326 w 231313"/>
              <a:gd name="connsiteY0" fmla="*/ 74 h 24118"/>
              <a:gd name="connsiteX1" fmla="*/ 231640 w 231313"/>
              <a:gd name="connsiteY1" fmla="*/ 74 h 24118"/>
            </a:gdLst>
            <a:ahLst/>
            <a:cxnLst>
              <a:cxn ang="0">
                <a:pos x="connsiteX0" y="connsiteY0"/>
              </a:cxn>
              <a:cxn ang="0">
                <a:pos x="connsiteX1" y="connsiteY1"/>
              </a:cxn>
            </a:cxnLst>
            <a:rect l="l" t="t" r="r" b="b"/>
            <a:pathLst>
              <a:path w="231313" h="24118">
                <a:moveTo>
                  <a:pt x="326" y="74"/>
                </a:moveTo>
                <a:lnTo>
                  <a:pt x="231640" y="74"/>
                </a:lnTo>
              </a:path>
            </a:pathLst>
          </a:custGeom>
          <a:noFill/>
          <a:ln w="12055" cap="rnd">
            <a:solidFill>
              <a:srgbClr val="231F20"/>
            </a:solidFill>
            <a:prstDash val="solid"/>
            <a:round/>
          </a:ln>
        </p:spPr>
        <p:txBody>
          <a:bodyPr rtlCol="0" anchor="ctr"/>
          <a:lstStyle/>
          <a:p>
            <a:endParaRPr lang="pt-BR"/>
          </a:p>
        </p:txBody>
      </p:sp>
      <p:sp>
        <p:nvSpPr>
          <p:cNvPr id="258711" name="Freeform 258710">
            <a:extLst>
              <a:ext uri="{FF2B5EF4-FFF2-40B4-BE49-F238E27FC236}">
                <a16:creationId xmlns:a16="http://schemas.microsoft.com/office/drawing/2014/main" id="{E5E39352-2AE7-9A43-B7E7-8F0630929E32}"/>
              </a:ext>
            </a:extLst>
          </p:cNvPr>
          <p:cNvSpPr/>
          <p:nvPr/>
        </p:nvSpPr>
        <p:spPr>
          <a:xfrm flipV="1">
            <a:off x="10239818" y="1773347"/>
            <a:ext cx="45719" cy="1408205"/>
          </a:xfrm>
          <a:custGeom>
            <a:avLst/>
            <a:gdLst>
              <a:gd name="connsiteX0" fmla="*/ 336 w 24130"/>
              <a:gd name="connsiteY0" fmla="*/ 16 h 1387194"/>
              <a:gd name="connsiteX1" fmla="*/ 336 w 24130"/>
              <a:gd name="connsiteY1" fmla="*/ 1387211 h 1387194"/>
            </a:gdLst>
            <a:ahLst/>
            <a:cxnLst>
              <a:cxn ang="0">
                <a:pos x="connsiteX0" y="connsiteY0"/>
              </a:cxn>
              <a:cxn ang="0">
                <a:pos x="connsiteX1" y="connsiteY1"/>
              </a:cxn>
            </a:cxnLst>
            <a:rect l="l" t="t" r="r" b="b"/>
            <a:pathLst>
              <a:path w="24130" h="1387194">
                <a:moveTo>
                  <a:pt x="336" y="16"/>
                </a:moveTo>
                <a:lnTo>
                  <a:pt x="336" y="1387211"/>
                </a:lnTo>
              </a:path>
            </a:pathLst>
          </a:custGeom>
          <a:noFill/>
          <a:ln w="12055" cap="rnd">
            <a:solidFill>
              <a:srgbClr val="231F20"/>
            </a:solidFill>
            <a:prstDash val="solid"/>
            <a:round/>
          </a:ln>
        </p:spPr>
        <p:txBody>
          <a:bodyPr rtlCol="0" anchor="ctr"/>
          <a:lstStyle/>
          <a:p>
            <a:endParaRPr lang="pt-BR"/>
          </a:p>
        </p:txBody>
      </p:sp>
      <p:sp>
        <p:nvSpPr>
          <p:cNvPr id="258712" name="Freeform 258711">
            <a:extLst>
              <a:ext uri="{FF2B5EF4-FFF2-40B4-BE49-F238E27FC236}">
                <a16:creationId xmlns:a16="http://schemas.microsoft.com/office/drawing/2014/main" id="{31079981-9F06-C747-A964-8EA5E5DB8853}"/>
              </a:ext>
            </a:extLst>
          </p:cNvPr>
          <p:cNvSpPr/>
          <p:nvPr/>
        </p:nvSpPr>
        <p:spPr>
          <a:xfrm>
            <a:off x="8627497" y="1734814"/>
            <a:ext cx="1623817" cy="77066"/>
          </a:xfrm>
          <a:custGeom>
            <a:avLst/>
            <a:gdLst>
              <a:gd name="connsiteX0" fmla="*/ 1619208 w 1623817"/>
              <a:gd name="connsiteY0" fmla="*/ 43151 h 77066"/>
              <a:gd name="connsiteX1" fmla="*/ 64018 w 1623817"/>
              <a:gd name="connsiteY1" fmla="*/ 43151 h 77066"/>
              <a:gd name="connsiteX2" fmla="*/ 61002 w 1623817"/>
              <a:gd name="connsiteY2" fmla="*/ 41643 h 77066"/>
              <a:gd name="connsiteX3" fmla="*/ 59385 w 1623817"/>
              <a:gd name="connsiteY3" fmla="*/ 38534 h 77066"/>
              <a:gd name="connsiteX4" fmla="*/ 61002 w 1623817"/>
              <a:gd name="connsiteY4" fmla="*/ 35425 h 77066"/>
              <a:gd name="connsiteX5" fmla="*/ 64018 w 1623817"/>
              <a:gd name="connsiteY5" fmla="*/ 33918 h 77066"/>
              <a:gd name="connsiteX6" fmla="*/ 1619208 w 1623817"/>
              <a:gd name="connsiteY6" fmla="*/ 33918 h 77066"/>
              <a:gd name="connsiteX7" fmla="*/ 1622321 w 1623817"/>
              <a:gd name="connsiteY7" fmla="*/ 35425 h 77066"/>
              <a:gd name="connsiteX8" fmla="*/ 1623817 w 1623817"/>
              <a:gd name="connsiteY8" fmla="*/ 38534 h 77066"/>
              <a:gd name="connsiteX9" fmla="*/ 1622321 w 1623817"/>
              <a:gd name="connsiteY9" fmla="*/ 41643 h 77066"/>
              <a:gd name="connsiteX10" fmla="*/ 77121 w 1623817"/>
              <a:gd name="connsiteY10" fmla="*/ 77066 h 77066"/>
              <a:gd name="connsiteX11" fmla="*/ 0 w 1623817"/>
              <a:gd name="connsiteY11" fmla="*/ 38534 h 77066"/>
              <a:gd name="connsiteX12" fmla="*/ 77121 w 1623817"/>
              <a:gd name="connsiteY12" fmla="*/ 0 h 77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23817" h="77066">
                <a:moveTo>
                  <a:pt x="1619208" y="43151"/>
                </a:moveTo>
                <a:lnTo>
                  <a:pt x="64018" y="43151"/>
                </a:lnTo>
                <a:lnTo>
                  <a:pt x="61002" y="41643"/>
                </a:lnTo>
                <a:lnTo>
                  <a:pt x="59385" y="38534"/>
                </a:lnTo>
                <a:lnTo>
                  <a:pt x="61002" y="35425"/>
                </a:lnTo>
                <a:lnTo>
                  <a:pt x="64018" y="33918"/>
                </a:lnTo>
                <a:lnTo>
                  <a:pt x="1619208" y="33918"/>
                </a:lnTo>
                <a:lnTo>
                  <a:pt x="1622321" y="35425"/>
                </a:lnTo>
                <a:lnTo>
                  <a:pt x="1623817" y="38534"/>
                </a:lnTo>
                <a:lnTo>
                  <a:pt x="1622321" y="41643"/>
                </a:lnTo>
                <a:close/>
                <a:moveTo>
                  <a:pt x="77121" y="77066"/>
                </a:moveTo>
                <a:lnTo>
                  <a:pt x="0" y="38534"/>
                </a:lnTo>
                <a:lnTo>
                  <a:pt x="77121" y="0"/>
                </a:lnTo>
              </a:path>
            </a:pathLst>
          </a:custGeom>
          <a:solidFill>
            <a:srgbClr val="231F20"/>
          </a:solidFill>
          <a:ln w="24109" cap="flat">
            <a:noFill/>
            <a:prstDash val="solid"/>
            <a:miter/>
          </a:ln>
        </p:spPr>
        <p:txBody>
          <a:bodyPr rtlCol="0" anchor="ctr"/>
          <a:lstStyle/>
          <a:p>
            <a:endParaRPr lang="pt-BR"/>
          </a:p>
        </p:txBody>
      </p:sp>
      <p:sp>
        <p:nvSpPr>
          <p:cNvPr id="258713" name="Freeform 258712">
            <a:extLst>
              <a:ext uri="{FF2B5EF4-FFF2-40B4-BE49-F238E27FC236}">
                <a16:creationId xmlns:a16="http://schemas.microsoft.com/office/drawing/2014/main" id="{4E0A900B-1008-744F-9A36-EC08DEF68BA2}"/>
              </a:ext>
            </a:extLst>
          </p:cNvPr>
          <p:cNvSpPr/>
          <p:nvPr/>
        </p:nvSpPr>
        <p:spPr>
          <a:xfrm flipV="1">
            <a:off x="5080785" y="4855910"/>
            <a:ext cx="4009342" cy="693690"/>
          </a:xfrm>
          <a:custGeom>
            <a:avLst/>
            <a:gdLst>
              <a:gd name="connsiteX0" fmla="*/ 122 w 4009342"/>
              <a:gd name="connsiteY0" fmla="*/ 144 h 693690"/>
              <a:gd name="connsiteX1" fmla="*/ 4009464 w 4009342"/>
              <a:gd name="connsiteY1" fmla="*/ 144 h 693690"/>
              <a:gd name="connsiteX2" fmla="*/ 4009464 w 4009342"/>
              <a:gd name="connsiteY2" fmla="*/ 693835 h 693690"/>
            </a:gdLst>
            <a:ahLst/>
            <a:cxnLst>
              <a:cxn ang="0">
                <a:pos x="connsiteX0" y="connsiteY0"/>
              </a:cxn>
              <a:cxn ang="0">
                <a:pos x="connsiteX1" y="connsiteY1"/>
              </a:cxn>
              <a:cxn ang="0">
                <a:pos x="connsiteX2" y="connsiteY2"/>
              </a:cxn>
            </a:cxnLst>
            <a:rect l="l" t="t" r="r" b="b"/>
            <a:pathLst>
              <a:path w="4009342" h="693690">
                <a:moveTo>
                  <a:pt x="122" y="144"/>
                </a:moveTo>
                <a:lnTo>
                  <a:pt x="4009464" y="144"/>
                </a:lnTo>
                <a:lnTo>
                  <a:pt x="4009464" y="693835"/>
                </a:lnTo>
              </a:path>
            </a:pathLst>
          </a:custGeom>
          <a:noFill/>
          <a:ln w="12055" cap="rnd">
            <a:solidFill>
              <a:srgbClr val="231F20"/>
            </a:solidFill>
            <a:prstDash val="solid"/>
            <a:round/>
          </a:ln>
        </p:spPr>
        <p:txBody>
          <a:bodyPr rtlCol="0" anchor="ctr"/>
          <a:lstStyle/>
          <a:p>
            <a:endParaRPr lang="pt-BR"/>
          </a:p>
        </p:txBody>
      </p:sp>
      <p:sp>
        <p:nvSpPr>
          <p:cNvPr id="258714" name="Freeform 258713">
            <a:extLst>
              <a:ext uri="{FF2B5EF4-FFF2-40B4-BE49-F238E27FC236}">
                <a16:creationId xmlns:a16="http://schemas.microsoft.com/office/drawing/2014/main" id="{28DED638-E460-7E4E-8C2F-8BFFCFFFE496}"/>
              </a:ext>
            </a:extLst>
          </p:cNvPr>
          <p:cNvSpPr/>
          <p:nvPr/>
        </p:nvSpPr>
        <p:spPr>
          <a:xfrm>
            <a:off x="8781715" y="4817388"/>
            <a:ext cx="313045" cy="77155"/>
          </a:xfrm>
          <a:custGeom>
            <a:avLst/>
            <a:gdLst>
              <a:gd name="connsiteX0" fmla="*/ 308413 w 313045"/>
              <a:gd name="connsiteY0" fmla="*/ 43148 h 77155"/>
              <a:gd name="connsiteX1" fmla="*/ 63994 w 313045"/>
              <a:gd name="connsiteY1" fmla="*/ 43148 h 77155"/>
              <a:gd name="connsiteX2" fmla="*/ 60882 w 313045"/>
              <a:gd name="connsiteY2" fmla="*/ 41629 h 77155"/>
              <a:gd name="connsiteX3" fmla="*/ 59385 w 313045"/>
              <a:gd name="connsiteY3" fmla="*/ 38517 h 77155"/>
              <a:gd name="connsiteX4" fmla="*/ 60882 w 313045"/>
              <a:gd name="connsiteY4" fmla="*/ 35503 h 77155"/>
              <a:gd name="connsiteX5" fmla="*/ 63994 w 313045"/>
              <a:gd name="connsiteY5" fmla="*/ 34007 h 77155"/>
              <a:gd name="connsiteX6" fmla="*/ 308413 w 313045"/>
              <a:gd name="connsiteY6" fmla="*/ 34007 h 77155"/>
              <a:gd name="connsiteX7" fmla="*/ 311526 w 313045"/>
              <a:gd name="connsiteY7" fmla="*/ 35503 h 77155"/>
              <a:gd name="connsiteX8" fmla="*/ 313045 w 313045"/>
              <a:gd name="connsiteY8" fmla="*/ 38517 h 77155"/>
              <a:gd name="connsiteX9" fmla="*/ 311526 w 313045"/>
              <a:gd name="connsiteY9" fmla="*/ 41629 h 77155"/>
              <a:gd name="connsiteX10" fmla="*/ 77097 w 313045"/>
              <a:gd name="connsiteY10" fmla="*/ 77155 h 77155"/>
              <a:gd name="connsiteX11" fmla="*/ 0 w 313045"/>
              <a:gd name="connsiteY11" fmla="*/ 38517 h 77155"/>
              <a:gd name="connsiteX12" fmla="*/ 77097 w 313045"/>
              <a:gd name="connsiteY12" fmla="*/ 0 h 77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3045" h="77155">
                <a:moveTo>
                  <a:pt x="308413" y="43148"/>
                </a:moveTo>
                <a:lnTo>
                  <a:pt x="63994" y="43148"/>
                </a:lnTo>
                <a:lnTo>
                  <a:pt x="60882" y="41629"/>
                </a:lnTo>
                <a:lnTo>
                  <a:pt x="59385" y="38517"/>
                </a:lnTo>
                <a:lnTo>
                  <a:pt x="60882" y="35503"/>
                </a:lnTo>
                <a:lnTo>
                  <a:pt x="63994" y="34007"/>
                </a:lnTo>
                <a:lnTo>
                  <a:pt x="308413" y="34007"/>
                </a:lnTo>
                <a:lnTo>
                  <a:pt x="311526" y="35503"/>
                </a:lnTo>
                <a:lnTo>
                  <a:pt x="313045" y="38517"/>
                </a:lnTo>
                <a:lnTo>
                  <a:pt x="311526" y="41629"/>
                </a:lnTo>
                <a:close/>
                <a:moveTo>
                  <a:pt x="77097" y="77155"/>
                </a:moveTo>
                <a:lnTo>
                  <a:pt x="0" y="38517"/>
                </a:lnTo>
                <a:lnTo>
                  <a:pt x="77097" y="0"/>
                </a:lnTo>
              </a:path>
            </a:pathLst>
          </a:custGeom>
          <a:solidFill>
            <a:srgbClr val="231F20"/>
          </a:solidFill>
          <a:ln w="24109" cap="flat">
            <a:noFill/>
            <a:prstDash val="solid"/>
            <a:miter/>
          </a:ln>
        </p:spPr>
        <p:txBody>
          <a:bodyPr rtlCol="0" anchor="ctr"/>
          <a:lstStyle/>
          <a:p>
            <a:endParaRPr lang="pt-BR"/>
          </a:p>
        </p:txBody>
      </p:sp>
      <p:sp>
        <p:nvSpPr>
          <p:cNvPr id="258715" name="Freeform 258714">
            <a:extLst>
              <a:ext uri="{FF2B5EF4-FFF2-40B4-BE49-F238E27FC236}">
                <a16:creationId xmlns:a16="http://schemas.microsoft.com/office/drawing/2014/main" id="{6536716F-CAAB-484D-B52D-19BF102143EE}"/>
              </a:ext>
            </a:extLst>
          </p:cNvPr>
          <p:cNvSpPr/>
          <p:nvPr/>
        </p:nvSpPr>
        <p:spPr>
          <a:xfrm flipV="1">
            <a:off x="6006041" y="3083477"/>
            <a:ext cx="154114" cy="1695460"/>
          </a:xfrm>
          <a:custGeom>
            <a:avLst/>
            <a:gdLst>
              <a:gd name="connsiteX0" fmla="*/ 154281 w 154114"/>
              <a:gd name="connsiteY0" fmla="*/ 71 h 1695460"/>
              <a:gd name="connsiteX1" fmla="*/ 166 w 154114"/>
              <a:gd name="connsiteY1" fmla="*/ 71 h 1695460"/>
              <a:gd name="connsiteX2" fmla="*/ 166 w 154114"/>
              <a:gd name="connsiteY2" fmla="*/ 1695531 h 1695460"/>
            </a:gdLst>
            <a:ahLst/>
            <a:cxnLst>
              <a:cxn ang="0">
                <a:pos x="connsiteX0" y="connsiteY0"/>
              </a:cxn>
              <a:cxn ang="0">
                <a:pos x="connsiteX1" y="connsiteY1"/>
              </a:cxn>
              <a:cxn ang="0">
                <a:pos x="connsiteX2" y="connsiteY2"/>
              </a:cxn>
            </a:cxnLst>
            <a:rect l="l" t="t" r="r" b="b"/>
            <a:pathLst>
              <a:path w="154114" h="1695460">
                <a:moveTo>
                  <a:pt x="154281" y="71"/>
                </a:moveTo>
                <a:lnTo>
                  <a:pt x="166" y="71"/>
                </a:lnTo>
                <a:lnTo>
                  <a:pt x="166" y="1695531"/>
                </a:lnTo>
              </a:path>
            </a:pathLst>
          </a:custGeom>
          <a:noFill/>
          <a:ln w="12055" cap="rnd">
            <a:solidFill>
              <a:srgbClr val="231F20"/>
            </a:solidFill>
            <a:prstDash val="solid"/>
            <a:round/>
          </a:ln>
        </p:spPr>
        <p:txBody>
          <a:bodyPr rtlCol="0" anchor="ctr"/>
          <a:lstStyle/>
          <a:p>
            <a:endParaRPr lang="pt-BR"/>
          </a:p>
        </p:txBody>
      </p:sp>
      <p:sp>
        <p:nvSpPr>
          <p:cNvPr id="258716" name="Freeform 258715">
            <a:extLst>
              <a:ext uri="{FF2B5EF4-FFF2-40B4-BE49-F238E27FC236}">
                <a16:creationId xmlns:a16="http://schemas.microsoft.com/office/drawing/2014/main" id="{C55BCE17-6164-B545-9A54-4ACB868B7AB2}"/>
              </a:ext>
            </a:extLst>
          </p:cNvPr>
          <p:cNvSpPr/>
          <p:nvPr/>
        </p:nvSpPr>
        <p:spPr>
          <a:xfrm>
            <a:off x="6001320" y="3044942"/>
            <a:ext cx="158826" cy="77066"/>
          </a:xfrm>
          <a:custGeom>
            <a:avLst/>
            <a:gdLst>
              <a:gd name="connsiteX0" fmla="*/ 4730 w 158826"/>
              <a:gd name="connsiteY0" fmla="*/ 33918 h 77066"/>
              <a:gd name="connsiteX1" fmla="*/ 94929 w 158826"/>
              <a:gd name="connsiteY1" fmla="*/ 33918 h 77066"/>
              <a:gd name="connsiteX2" fmla="*/ 97946 w 158826"/>
              <a:gd name="connsiteY2" fmla="*/ 35425 h 77066"/>
              <a:gd name="connsiteX3" fmla="*/ 99539 w 158826"/>
              <a:gd name="connsiteY3" fmla="*/ 38534 h 77066"/>
              <a:gd name="connsiteX4" fmla="*/ 97946 w 158826"/>
              <a:gd name="connsiteY4" fmla="*/ 41643 h 77066"/>
              <a:gd name="connsiteX5" fmla="*/ 94929 w 158826"/>
              <a:gd name="connsiteY5" fmla="*/ 43150 h 77066"/>
              <a:gd name="connsiteX6" fmla="*/ 4730 w 158826"/>
              <a:gd name="connsiteY6" fmla="*/ 43150 h 77066"/>
              <a:gd name="connsiteX7" fmla="*/ 1616 w 158826"/>
              <a:gd name="connsiteY7" fmla="*/ 41643 h 77066"/>
              <a:gd name="connsiteX8" fmla="*/ 0 w 158826"/>
              <a:gd name="connsiteY8" fmla="*/ 38534 h 77066"/>
              <a:gd name="connsiteX9" fmla="*/ 1616 w 158826"/>
              <a:gd name="connsiteY9" fmla="*/ 35425 h 77066"/>
              <a:gd name="connsiteX10" fmla="*/ 81826 w 158826"/>
              <a:gd name="connsiteY10" fmla="*/ 0 h 77066"/>
              <a:gd name="connsiteX11" fmla="*/ 158827 w 158826"/>
              <a:gd name="connsiteY11" fmla="*/ 38534 h 77066"/>
              <a:gd name="connsiteX12" fmla="*/ 81826 w 158826"/>
              <a:gd name="connsiteY12" fmla="*/ 77066 h 77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58826" h="77066">
                <a:moveTo>
                  <a:pt x="4730" y="33918"/>
                </a:moveTo>
                <a:lnTo>
                  <a:pt x="94929" y="33918"/>
                </a:lnTo>
                <a:lnTo>
                  <a:pt x="97946" y="35425"/>
                </a:lnTo>
                <a:lnTo>
                  <a:pt x="99539" y="38534"/>
                </a:lnTo>
                <a:lnTo>
                  <a:pt x="97946" y="41643"/>
                </a:lnTo>
                <a:lnTo>
                  <a:pt x="94929" y="43150"/>
                </a:lnTo>
                <a:lnTo>
                  <a:pt x="4730" y="43150"/>
                </a:lnTo>
                <a:lnTo>
                  <a:pt x="1616" y="41643"/>
                </a:lnTo>
                <a:lnTo>
                  <a:pt x="0" y="38534"/>
                </a:lnTo>
                <a:lnTo>
                  <a:pt x="1616" y="35425"/>
                </a:lnTo>
                <a:close/>
                <a:moveTo>
                  <a:pt x="81826" y="0"/>
                </a:moveTo>
                <a:lnTo>
                  <a:pt x="158827" y="38534"/>
                </a:lnTo>
                <a:lnTo>
                  <a:pt x="81826" y="77066"/>
                </a:lnTo>
              </a:path>
            </a:pathLst>
          </a:custGeom>
          <a:solidFill>
            <a:srgbClr val="231F20"/>
          </a:solidFill>
          <a:ln w="24109" cap="flat">
            <a:noFill/>
            <a:prstDash val="solid"/>
            <a:miter/>
          </a:ln>
        </p:spPr>
        <p:txBody>
          <a:bodyPr rtlCol="0" anchor="ctr"/>
          <a:lstStyle/>
          <a:p>
            <a:endParaRPr lang="pt-BR"/>
          </a:p>
        </p:txBody>
      </p:sp>
      <p:sp>
        <p:nvSpPr>
          <p:cNvPr id="258717" name="Freeform 258716">
            <a:extLst>
              <a:ext uri="{FF2B5EF4-FFF2-40B4-BE49-F238E27FC236}">
                <a16:creationId xmlns:a16="http://schemas.microsoft.com/office/drawing/2014/main" id="{EE905FD8-88B4-1F4D-A7B2-7A312877C0CF}"/>
              </a:ext>
            </a:extLst>
          </p:cNvPr>
          <p:cNvSpPr/>
          <p:nvPr/>
        </p:nvSpPr>
        <p:spPr>
          <a:xfrm flipV="1">
            <a:off x="5928936" y="3006410"/>
            <a:ext cx="231219" cy="1926659"/>
          </a:xfrm>
          <a:custGeom>
            <a:avLst/>
            <a:gdLst>
              <a:gd name="connsiteX0" fmla="*/ 231386 w 231219"/>
              <a:gd name="connsiteY0" fmla="*/ 67 h 1926659"/>
              <a:gd name="connsiteX1" fmla="*/ 166 w 231219"/>
              <a:gd name="connsiteY1" fmla="*/ 67 h 1926659"/>
              <a:gd name="connsiteX2" fmla="*/ 166 w 231219"/>
              <a:gd name="connsiteY2" fmla="*/ 1926726 h 1926659"/>
            </a:gdLst>
            <a:ahLst/>
            <a:cxnLst>
              <a:cxn ang="0">
                <a:pos x="connsiteX0" y="connsiteY0"/>
              </a:cxn>
              <a:cxn ang="0">
                <a:pos x="connsiteX1" y="connsiteY1"/>
              </a:cxn>
              <a:cxn ang="0">
                <a:pos x="connsiteX2" y="connsiteY2"/>
              </a:cxn>
            </a:cxnLst>
            <a:rect l="l" t="t" r="r" b="b"/>
            <a:pathLst>
              <a:path w="231219" h="1926659">
                <a:moveTo>
                  <a:pt x="231386" y="67"/>
                </a:moveTo>
                <a:lnTo>
                  <a:pt x="166" y="67"/>
                </a:lnTo>
                <a:lnTo>
                  <a:pt x="166" y="1926726"/>
                </a:lnTo>
              </a:path>
            </a:pathLst>
          </a:custGeom>
          <a:noFill/>
          <a:ln w="12055" cap="rnd">
            <a:solidFill>
              <a:srgbClr val="231F20"/>
            </a:solidFill>
            <a:prstDash val="solid"/>
            <a:round/>
          </a:ln>
        </p:spPr>
        <p:txBody>
          <a:bodyPr rtlCol="0" anchor="ctr"/>
          <a:lstStyle/>
          <a:p>
            <a:endParaRPr lang="pt-BR"/>
          </a:p>
        </p:txBody>
      </p:sp>
      <p:sp>
        <p:nvSpPr>
          <p:cNvPr id="258718" name="Freeform 258717">
            <a:extLst>
              <a:ext uri="{FF2B5EF4-FFF2-40B4-BE49-F238E27FC236}">
                <a16:creationId xmlns:a16="http://schemas.microsoft.com/office/drawing/2014/main" id="{2BA063D1-A3B5-2D48-A052-AFC1A6EED9F8}"/>
              </a:ext>
            </a:extLst>
          </p:cNvPr>
          <p:cNvSpPr/>
          <p:nvPr/>
        </p:nvSpPr>
        <p:spPr>
          <a:xfrm>
            <a:off x="5924320" y="2967876"/>
            <a:ext cx="235827" cy="77066"/>
          </a:xfrm>
          <a:custGeom>
            <a:avLst/>
            <a:gdLst>
              <a:gd name="connsiteX0" fmla="*/ 4609 w 235827"/>
              <a:gd name="connsiteY0" fmla="*/ 33918 h 77066"/>
              <a:gd name="connsiteX1" fmla="*/ 171930 w 235827"/>
              <a:gd name="connsiteY1" fmla="*/ 33918 h 77066"/>
              <a:gd name="connsiteX2" fmla="*/ 174947 w 235827"/>
              <a:gd name="connsiteY2" fmla="*/ 35425 h 77066"/>
              <a:gd name="connsiteX3" fmla="*/ 176539 w 235827"/>
              <a:gd name="connsiteY3" fmla="*/ 38440 h 77066"/>
              <a:gd name="connsiteX4" fmla="*/ 174947 w 235827"/>
              <a:gd name="connsiteY4" fmla="*/ 41549 h 77066"/>
              <a:gd name="connsiteX5" fmla="*/ 171930 w 235827"/>
              <a:gd name="connsiteY5" fmla="*/ 43151 h 77066"/>
              <a:gd name="connsiteX6" fmla="*/ 4609 w 235827"/>
              <a:gd name="connsiteY6" fmla="*/ 43151 h 77066"/>
              <a:gd name="connsiteX7" fmla="*/ 1496 w 235827"/>
              <a:gd name="connsiteY7" fmla="*/ 41549 h 77066"/>
              <a:gd name="connsiteX8" fmla="*/ 0 w 235827"/>
              <a:gd name="connsiteY8" fmla="*/ 38440 h 77066"/>
              <a:gd name="connsiteX9" fmla="*/ 1496 w 235827"/>
              <a:gd name="connsiteY9" fmla="*/ 35425 h 77066"/>
              <a:gd name="connsiteX10" fmla="*/ 158827 w 235827"/>
              <a:gd name="connsiteY10" fmla="*/ 0 h 77066"/>
              <a:gd name="connsiteX11" fmla="*/ 235828 w 235827"/>
              <a:gd name="connsiteY11" fmla="*/ 38440 h 77066"/>
              <a:gd name="connsiteX12" fmla="*/ 158827 w 235827"/>
              <a:gd name="connsiteY12" fmla="*/ 77066 h 77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5827" h="77066">
                <a:moveTo>
                  <a:pt x="4609" y="33918"/>
                </a:moveTo>
                <a:lnTo>
                  <a:pt x="171930" y="33918"/>
                </a:lnTo>
                <a:lnTo>
                  <a:pt x="174947" y="35425"/>
                </a:lnTo>
                <a:lnTo>
                  <a:pt x="176539" y="38440"/>
                </a:lnTo>
                <a:lnTo>
                  <a:pt x="174947" y="41549"/>
                </a:lnTo>
                <a:lnTo>
                  <a:pt x="171930" y="43151"/>
                </a:lnTo>
                <a:lnTo>
                  <a:pt x="4609" y="43151"/>
                </a:lnTo>
                <a:lnTo>
                  <a:pt x="1496" y="41549"/>
                </a:lnTo>
                <a:lnTo>
                  <a:pt x="0" y="38440"/>
                </a:lnTo>
                <a:lnTo>
                  <a:pt x="1496" y="35425"/>
                </a:lnTo>
                <a:close/>
                <a:moveTo>
                  <a:pt x="158827" y="0"/>
                </a:moveTo>
                <a:lnTo>
                  <a:pt x="235828" y="38440"/>
                </a:lnTo>
                <a:lnTo>
                  <a:pt x="158827" y="77066"/>
                </a:lnTo>
              </a:path>
            </a:pathLst>
          </a:custGeom>
          <a:solidFill>
            <a:srgbClr val="231F20"/>
          </a:solidFill>
          <a:ln w="24109" cap="flat">
            <a:noFill/>
            <a:prstDash val="solid"/>
            <a:miter/>
          </a:ln>
        </p:spPr>
        <p:txBody>
          <a:bodyPr rtlCol="0" anchor="ctr"/>
          <a:lstStyle/>
          <a:p>
            <a:endParaRPr lang="pt-BR"/>
          </a:p>
        </p:txBody>
      </p:sp>
      <p:sp>
        <p:nvSpPr>
          <p:cNvPr id="258719" name="Freeform 258718">
            <a:extLst>
              <a:ext uri="{FF2B5EF4-FFF2-40B4-BE49-F238E27FC236}">
                <a16:creationId xmlns:a16="http://schemas.microsoft.com/office/drawing/2014/main" id="{CB0DEB24-26FA-454A-9B73-ABA529E5C308}"/>
              </a:ext>
            </a:extLst>
          </p:cNvPr>
          <p:cNvSpPr/>
          <p:nvPr/>
        </p:nvSpPr>
        <p:spPr>
          <a:xfrm flipV="1">
            <a:off x="7548040" y="2028664"/>
            <a:ext cx="231313" cy="1131878"/>
          </a:xfrm>
          <a:custGeom>
            <a:avLst/>
            <a:gdLst>
              <a:gd name="connsiteX0" fmla="*/ 231547 w 231313"/>
              <a:gd name="connsiteY0" fmla="*/ 1079004 h 1078929"/>
              <a:gd name="connsiteX1" fmla="*/ 234 w 231313"/>
              <a:gd name="connsiteY1" fmla="*/ 1079004 h 1078929"/>
              <a:gd name="connsiteX2" fmla="*/ 234 w 231313"/>
              <a:gd name="connsiteY2" fmla="*/ 74 h 1078929"/>
            </a:gdLst>
            <a:ahLst/>
            <a:cxnLst>
              <a:cxn ang="0">
                <a:pos x="connsiteX0" y="connsiteY0"/>
              </a:cxn>
              <a:cxn ang="0">
                <a:pos x="connsiteX1" y="connsiteY1"/>
              </a:cxn>
              <a:cxn ang="0">
                <a:pos x="connsiteX2" y="connsiteY2"/>
              </a:cxn>
            </a:cxnLst>
            <a:rect l="l" t="t" r="r" b="b"/>
            <a:pathLst>
              <a:path w="231313" h="1078929">
                <a:moveTo>
                  <a:pt x="231547" y="1079004"/>
                </a:moveTo>
                <a:lnTo>
                  <a:pt x="234" y="1079004"/>
                </a:lnTo>
                <a:lnTo>
                  <a:pt x="234" y="74"/>
                </a:lnTo>
              </a:path>
            </a:pathLst>
          </a:custGeom>
          <a:noFill/>
          <a:ln w="12055" cap="rnd">
            <a:solidFill>
              <a:srgbClr val="231F20"/>
            </a:solidFill>
            <a:prstDash val="solid"/>
            <a:round/>
          </a:ln>
        </p:spPr>
        <p:txBody>
          <a:bodyPr rtlCol="0" anchor="ctr"/>
          <a:lstStyle/>
          <a:p>
            <a:endParaRPr lang="pt-BR"/>
          </a:p>
        </p:txBody>
      </p:sp>
      <p:sp>
        <p:nvSpPr>
          <p:cNvPr id="258720" name="Freeform 258719">
            <a:extLst>
              <a:ext uri="{FF2B5EF4-FFF2-40B4-BE49-F238E27FC236}">
                <a16:creationId xmlns:a16="http://schemas.microsoft.com/office/drawing/2014/main" id="{820DB88E-6DC6-3A4D-80C3-261E4DB3F56E}"/>
              </a:ext>
            </a:extLst>
          </p:cNvPr>
          <p:cNvSpPr/>
          <p:nvPr/>
        </p:nvSpPr>
        <p:spPr>
          <a:xfrm>
            <a:off x="7543432" y="3122008"/>
            <a:ext cx="235924" cy="77066"/>
          </a:xfrm>
          <a:custGeom>
            <a:avLst/>
            <a:gdLst>
              <a:gd name="connsiteX0" fmla="*/ 4609 w 235924"/>
              <a:gd name="connsiteY0" fmla="*/ 33918 h 77066"/>
              <a:gd name="connsiteX1" fmla="*/ 171930 w 235924"/>
              <a:gd name="connsiteY1" fmla="*/ 33918 h 77066"/>
              <a:gd name="connsiteX2" fmla="*/ 175019 w 235924"/>
              <a:gd name="connsiteY2" fmla="*/ 35425 h 77066"/>
              <a:gd name="connsiteX3" fmla="*/ 176635 w 235924"/>
              <a:gd name="connsiteY3" fmla="*/ 38534 h 77066"/>
              <a:gd name="connsiteX4" fmla="*/ 175019 w 235924"/>
              <a:gd name="connsiteY4" fmla="*/ 41549 h 77066"/>
              <a:gd name="connsiteX5" fmla="*/ 171930 w 235924"/>
              <a:gd name="connsiteY5" fmla="*/ 43151 h 77066"/>
              <a:gd name="connsiteX6" fmla="*/ 4609 w 235924"/>
              <a:gd name="connsiteY6" fmla="*/ 43151 h 77066"/>
              <a:gd name="connsiteX7" fmla="*/ 1592 w 235924"/>
              <a:gd name="connsiteY7" fmla="*/ 41549 h 77066"/>
              <a:gd name="connsiteX8" fmla="*/ 0 w 235924"/>
              <a:gd name="connsiteY8" fmla="*/ 38534 h 77066"/>
              <a:gd name="connsiteX9" fmla="*/ 1592 w 235924"/>
              <a:gd name="connsiteY9" fmla="*/ 35425 h 77066"/>
              <a:gd name="connsiteX10" fmla="*/ 158827 w 235924"/>
              <a:gd name="connsiteY10" fmla="*/ 0 h 77066"/>
              <a:gd name="connsiteX11" fmla="*/ 235924 w 235924"/>
              <a:gd name="connsiteY11" fmla="*/ 38534 h 77066"/>
              <a:gd name="connsiteX12" fmla="*/ 158827 w 235924"/>
              <a:gd name="connsiteY12" fmla="*/ 77066 h 77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5924" h="77066">
                <a:moveTo>
                  <a:pt x="4609" y="33918"/>
                </a:moveTo>
                <a:lnTo>
                  <a:pt x="171930" y="33918"/>
                </a:lnTo>
                <a:lnTo>
                  <a:pt x="175019" y="35425"/>
                </a:lnTo>
                <a:lnTo>
                  <a:pt x="176635" y="38534"/>
                </a:lnTo>
                <a:lnTo>
                  <a:pt x="175019" y="41549"/>
                </a:lnTo>
                <a:lnTo>
                  <a:pt x="171930" y="43151"/>
                </a:lnTo>
                <a:lnTo>
                  <a:pt x="4609" y="43151"/>
                </a:lnTo>
                <a:lnTo>
                  <a:pt x="1592" y="41549"/>
                </a:lnTo>
                <a:lnTo>
                  <a:pt x="0" y="38534"/>
                </a:lnTo>
                <a:lnTo>
                  <a:pt x="1592" y="35425"/>
                </a:lnTo>
                <a:close/>
                <a:moveTo>
                  <a:pt x="158827" y="0"/>
                </a:moveTo>
                <a:lnTo>
                  <a:pt x="235924" y="38534"/>
                </a:lnTo>
                <a:lnTo>
                  <a:pt x="158827" y="77066"/>
                </a:lnTo>
              </a:path>
            </a:pathLst>
          </a:custGeom>
          <a:solidFill>
            <a:srgbClr val="231F20"/>
          </a:solidFill>
          <a:ln w="24109" cap="flat">
            <a:noFill/>
            <a:prstDash val="solid"/>
            <a:miter/>
          </a:ln>
        </p:spPr>
        <p:txBody>
          <a:bodyPr rtlCol="0" anchor="ctr"/>
          <a:lstStyle/>
          <a:p>
            <a:endParaRPr lang="pt-BR"/>
          </a:p>
        </p:txBody>
      </p:sp>
      <p:sp>
        <p:nvSpPr>
          <p:cNvPr id="258721" name="Freeform 258720">
            <a:extLst>
              <a:ext uri="{FF2B5EF4-FFF2-40B4-BE49-F238E27FC236}">
                <a16:creationId xmlns:a16="http://schemas.microsoft.com/office/drawing/2014/main" id="{4A6164C5-7B2B-9949-8D77-7D2561BCE1F7}"/>
              </a:ext>
            </a:extLst>
          </p:cNvPr>
          <p:cNvSpPr/>
          <p:nvPr/>
        </p:nvSpPr>
        <p:spPr>
          <a:xfrm flipV="1">
            <a:off x="9009587" y="3341620"/>
            <a:ext cx="149590" cy="24118"/>
          </a:xfrm>
          <a:custGeom>
            <a:avLst/>
            <a:gdLst>
              <a:gd name="connsiteX0" fmla="*/ 149888 w 149590"/>
              <a:gd name="connsiteY0" fmla="*/ 81 h 24118"/>
              <a:gd name="connsiteX1" fmla="*/ 297 w 149590"/>
              <a:gd name="connsiteY1" fmla="*/ 81 h 24118"/>
            </a:gdLst>
            <a:ahLst/>
            <a:cxnLst>
              <a:cxn ang="0">
                <a:pos x="connsiteX0" y="connsiteY0"/>
              </a:cxn>
              <a:cxn ang="0">
                <a:pos x="connsiteX1" y="connsiteY1"/>
              </a:cxn>
            </a:cxnLst>
            <a:rect l="l" t="t" r="r" b="b"/>
            <a:pathLst>
              <a:path w="149590" h="24118">
                <a:moveTo>
                  <a:pt x="149888" y="81"/>
                </a:moveTo>
                <a:lnTo>
                  <a:pt x="297" y="81"/>
                </a:lnTo>
              </a:path>
            </a:pathLst>
          </a:custGeom>
          <a:noFill/>
          <a:ln w="12055" cap="rnd">
            <a:solidFill>
              <a:srgbClr val="231F20"/>
            </a:solidFill>
            <a:prstDash val="solid"/>
            <a:round/>
          </a:ln>
        </p:spPr>
        <p:txBody>
          <a:bodyPr rtlCol="0" anchor="ctr"/>
          <a:lstStyle/>
          <a:p>
            <a:endParaRPr lang="pt-BR"/>
          </a:p>
        </p:txBody>
      </p:sp>
      <p:sp>
        <p:nvSpPr>
          <p:cNvPr id="258722" name="Freeform 258721">
            <a:extLst>
              <a:ext uri="{FF2B5EF4-FFF2-40B4-BE49-F238E27FC236}">
                <a16:creationId xmlns:a16="http://schemas.microsoft.com/office/drawing/2014/main" id="{3395EF90-A88D-9340-9E75-E7C36ED3F8C0}"/>
              </a:ext>
            </a:extLst>
          </p:cNvPr>
          <p:cNvSpPr/>
          <p:nvPr/>
        </p:nvSpPr>
        <p:spPr>
          <a:xfrm flipV="1">
            <a:off x="9001507" y="3367673"/>
            <a:ext cx="216067" cy="1395219"/>
          </a:xfrm>
          <a:custGeom>
            <a:avLst/>
            <a:gdLst>
              <a:gd name="connsiteX0" fmla="*/ 291 w 24130"/>
              <a:gd name="connsiteY0" fmla="*/ 1437459 h 1437317"/>
              <a:gd name="connsiteX1" fmla="*/ 291 w 24130"/>
              <a:gd name="connsiteY1" fmla="*/ 141 h 1437317"/>
            </a:gdLst>
            <a:ahLst/>
            <a:cxnLst>
              <a:cxn ang="0">
                <a:pos x="connsiteX0" y="connsiteY0"/>
              </a:cxn>
              <a:cxn ang="0">
                <a:pos x="connsiteX1" y="connsiteY1"/>
              </a:cxn>
            </a:cxnLst>
            <a:rect l="l" t="t" r="r" b="b"/>
            <a:pathLst>
              <a:path w="24130" h="1437317">
                <a:moveTo>
                  <a:pt x="291" y="1437459"/>
                </a:moveTo>
                <a:lnTo>
                  <a:pt x="291" y="141"/>
                </a:lnTo>
              </a:path>
            </a:pathLst>
          </a:custGeom>
          <a:noFill/>
          <a:ln w="12055" cap="rnd">
            <a:solidFill>
              <a:srgbClr val="231F20"/>
            </a:solidFill>
            <a:prstDash val="solid"/>
            <a:round/>
          </a:ln>
        </p:spPr>
        <p:txBody>
          <a:bodyPr rtlCol="0" anchor="ctr"/>
          <a:lstStyle/>
          <a:p>
            <a:endParaRPr lang="pt-BR"/>
          </a:p>
        </p:txBody>
      </p:sp>
      <p:sp>
        <p:nvSpPr>
          <p:cNvPr id="258723" name="Freeform 258722">
            <a:extLst>
              <a:ext uri="{FF2B5EF4-FFF2-40B4-BE49-F238E27FC236}">
                <a16:creationId xmlns:a16="http://schemas.microsoft.com/office/drawing/2014/main" id="{EE89BC57-29FC-4A4E-8114-0567FBF3D046}"/>
              </a:ext>
            </a:extLst>
          </p:cNvPr>
          <p:cNvSpPr/>
          <p:nvPr/>
        </p:nvSpPr>
        <p:spPr>
          <a:xfrm>
            <a:off x="8781715" y="4732501"/>
            <a:ext cx="222908" cy="63865"/>
          </a:xfrm>
          <a:custGeom>
            <a:avLst/>
            <a:gdLst>
              <a:gd name="connsiteX0" fmla="*/ 385534 w 390142"/>
              <a:gd name="connsiteY0" fmla="*/ 43245 h 77082"/>
              <a:gd name="connsiteX1" fmla="*/ 63994 w 390142"/>
              <a:gd name="connsiteY1" fmla="*/ 43245 h 77082"/>
              <a:gd name="connsiteX2" fmla="*/ 60882 w 390142"/>
              <a:gd name="connsiteY2" fmla="*/ 41653 h 77082"/>
              <a:gd name="connsiteX3" fmla="*/ 59385 w 390142"/>
              <a:gd name="connsiteY3" fmla="*/ 38638 h 77082"/>
              <a:gd name="connsiteX4" fmla="*/ 60882 w 390142"/>
              <a:gd name="connsiteY4" fmla="*/ 35526 h 77082"/>
              <a:gd name="connsiteX5" fmla="*/ 63994 w 390142"/>
              <a:gd name="connsiteY5" fmla="*/ 33910 h 77082"/>
              <a:gd name="connsiteX6" fmla="*/ 385534 w 390142"/>
              <a:gd name="connsiteY6" fmla="*/ 33910 h 77082"/>
              <a:gd name="connsiteX7" fmla="*/ 388623 w 390142"/>
              <a:gd name="connsiteY7" fmla="*/ 35526 h 77082"/>
              <a:gd name="connsiteX8" fmla="*/ 390143 w 390142"/>
              <a:gd name="connsiteY8" fmla="*/ 38638 h 77082"/>
              <a:gd name="connsiteX9" fmla="*/ 388623 w 390142"/>
              <a:gd name="connsiteY9" fmla="*/ 41653 h 77082"/>
              <a:gd name="connsiteX10" fmla="*/ 77097 w 390142"/>
              <a:gd name="connsiteY10" fmla="*/ 77083 h 77082"/>
              <a:gd name="connsiteX11" fmla="*/ 0 w 390142"/>
              <a:gd name="connsiteY11" fmla="*/ 38638 h 77082"/>
              <a:gd name="connsiteX12" fmla="*/ 77097 w 390142"/>
              <a:gd name="connsiteY12" fmla="*/ 0 h 77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0142" h="77082">
                <a:moveTo>
                  <a:pt x="385534" y="43245"/>
                </a:moveTo>
                <a:lnTo>
                  <a:pt x="63994" y="43245"/>
                </a:lnTo>
                <a:lnTo>
                  <a:pt x="60882" y="41653"/>
                </a:lnTo>
                <a:lnTo>
                  <a:pt x="59385" y="38638"/>
                </a:lnTo>
                <a:lnTo>
                  <a:pt x="60882" y="35526"/>
                </a:lnTo>
                <a:lnTo>
                  <a:pt x="63994" y="33910"/>
                </a:lnTo>
                <a:lnTo>
                  <a:pt x="385534" y="33910"/>
                </a:lnTo>
                <a:lnTo>
                  <a:pt x="388623" y="35526"/>
                </a:lnTo>
                <a:lnTo>
                  <a:pt x="390143" y="38638"/>
                </a:lnTo>
                <a:lnTo>
                  <a:pt x="388623" y="41653"/>
                </a:lnTo>
                <a:close/>
                <a:moveTo>
                  <a:pt x="77097" y="77083"/>
                </a:moveTo>
                <a:lnTo>
                  <a:pt x="0" y="38638"/>
                </a:lnTo>
                <a:lnTo>
                  <a:pt x="77097" y="0"/>
                </a:lnTo>
              </a:path>
            </a:pathLst>
          </a:custGeom>
          <a:solidFill>
            <a:srgbClr val="231F20"/>
          </a:solidFill>
          <a:ln w="12700" cap="flat">
            <a:solidFill>
              <a:schemeClr val="tx1"/>
            </a:solidFill>
            <a:prstDash val="solid"/>
            <a:miter/>
            <a:headEnd type="triangle"/>
          </a:ln>
        </p:spPr>
        <p:txBody>
          <a:bodyPr rtlCol="0" anchor="ctr"/>
          <a:lstStyle/>
          <a:p>
            <a:endParaRPr lang="pt-BR"/>
          </a:p>
        </p:txBody>
      </p:sp>
      <p:sp>
        <p:nvSpPr>
          <p:cNvPr id="258724" name="Freeform 258723">
            <a:extLst>
              <a:ext uri="{FF2B5EF4-FFF2-40B4-BE49-F238E27FC236}">
                <a16:creationId xmlns:a16="http://schemas.microsoft.com/office/drawing/2014/main" id="{9EAF1AF3-AFF2-764B-93F0-6648AFC0CB49}"/>
              </a:ext>
            </a:extLst>
          </p:cNvPr>
          <p:cNvSpPr/>
          <p:nvPr/>
        </p:nvSpPr>
        <p:spPr>
          <a:xfrm flipV="1">
            <a:off x="4001320" y="3006420"/>
            <a:ext cx="24130" cy="2697219"/>
          </a:xfrm>
          <a:custGeom>
            <a:avLst/>
            <a:gdLst>
              <a:gd name="connsiteX0" fmla="*/ 77 w 24130"/>
              <a:gd name="connsiteY0" fmla="*/ 67 h 2697219"/>
              <a:gd name="connsiteX1" fmla="*/ 77 w 24130"/>
              <a:gd name="connsiteY1" fmla="*/ 2697287 h 2697219"/>
            </a:gdLst>
            <a:ahLst/>
            <a:cxnLst>
              <a:cxn ang="0">
                <a:pos x="connsiteX0" y="connsiteY0"/>
              </a:cxn>
              <a:cxn ang="0">
                <a:pos x="connsiteX1" y="connsiteY1"/>
              </a:cxn>
            </a:cxnLst>
            <a:rect l="l" t="t" r="r" b="b"/>
            <a:pathLst>
              <a:path w="24130" h="2697219">
                <a:moveTo>
                  <a:pt x="77" y="67"/>
                </a:moveTo>
                <a:lnTo>
                  <a:pt x="77" y="2697287"/>
                </a:lnTo>
              </a:path>
            </a:pathLst>
          </a:custGeom>
          <a:noFill/>
          <a:ln w="12055" cap="rnd">
            <a:solidFill>
              <a:srgbClr val="231F20"/>
            </a:solidFill>
            <a:prstDash val="solid"/>
            <a:round/>
          </a:ln>
        </p:spPr>
        <p:txBody>
          <a:bodyPr rtlCol="0" anchor="ctr"/>
          <a:lstStyle/>
          <a:p>
            <a:endParaRPr lang="pt-BR"/>
          </a:p>
        </p:txBody>
      </p:sp>
      <p:sp>
        <p:nvSpPr>
          <p:cNvPr id="258725" name="Freeform 258724">
            <a:extLst>
              <a:ext uri="{FF2B5EF4-FFF2-40B4-BE49-F238E27FC236}">
                <a16:creationId xmlns:a16="http://schemas.microsoft.com/office/drawing/2014/main" id="{0AFBCF0F-EDD9-A248-8853-39D9DEC9ABE5}"/>
              </a:ext>
            </a:extLst>
          </p:cNvPr>
          <p:cNvSpPr/>
          <p:nvPr/>
        </p:nvSpPr>
        <p:spPr>
          <a:xfrm flipV="1">
            <a:off x="3924215" y="3160538"/>
            <a:ext cx="231313" cy="2697234"/>
          </a:xfrm>
          <a:custGeom>
            <a:avLst/>
            <a:gdLst>
              <a:gd name="connsiteX0" fmla="*/ 231397 w 231313"/>
              <a:gd name="connsiteY0" fmla="*/ 74 h 2697234"/>
              <a:gd name="connsiteX1" fmla="*/ 83 w 231313"/>
              <a:gd name="connsiteY1" fmla="*/ 74 h 2697234"/>
              <a:gd name="connsiteX2" fmla="*/ 83 w 231313"/>
              <a:gd name="connsiteY2" fmla="*/ 2697308 h 2697234"/>
            </a:gdLst>
            <a:ahLst/>
            <a:cxnLst>
              <a:cxn ang="0">
                <a:pos x="connsiteX0" y="connsiteY0"/>
              </a:cxn>
              <a:cxn ang="0">
                <a:pos x="connsiteX1" y="connsiteY1"/>
              </a:cxn>
              <a:cxn ang="0">
                <a:pos x="connsiteX2" y="connsiteY2"/>
              </a:cxn>
            </a:cxnLst>
            <a:rect l="l" t="t" r="r" b="b"/>
            <a:pathLst>
              <a:path w="231313" h="2697234">
                <a:moveTo>
                  <a:pt x="231397" y="74"/>
                </a:moveTo>
                <a:lnTo>
                  <a:pt x="83" y="74"/>
                </a:lnTo>
                <a:lnTo>
                  <a:pt x="83" y="2697308"/>
                </a:lnTo>
              </a:path>
            </a:pathLst>
          </a:custGeom>
          <a:noFill/>
          <a:ln w="12055" cap="rnd">
            <a:solidFill>
              <a:srgbClr val="231F20"/>
            </a:solidFill>
            <a:prstDash val="solid"/>
            <a:round/>
          </a:ln>
        </p:spPr>
        <p:txBody>
          <a:bodyPr rtlCol="0" anchor="ctr"/>
          <a:lstStyle/>
          <a:p>
            <a:endParaRPr lang="pt-BR"/>
          </a:p>
        </p:txBody>
      </p:sp>
      <p:sp>
        <p:nvSpPr>
          <p:cNvPr id="258726" name="Freeform 258725">
            <a:extLst>
              <a:ext uri="{FF2B5EF4-FFF2-40B4-BE49-F238E27FC236}">
                <a16:creationId xmlns:a16="http://schemas.microsoft.com/office/drawing/2014/main" id="{25113BA6-1E11-414B-A278-3E1A96B4A28D}"/>
              </a:ext>
            </a:extLst>
          </p:cNvPr>
          <p:cNvSpPr/>
          <p:nvPr/>
        </p:nvSpPr>
        <p:spPr>
          <a:xfrm>
            <a:off x="3461587" y="3122008"/>
            <a:ext cx="467247" cy="77066"/>
          </a:xfrm>
          <a:custGeom>
            <a:avLst/>
            <a:gdLst>
              <a:gd name="connsiteX0" fmla="*/ 462629 w 467247"/>
              <a:gd name="connsiteY0" fmla="*/ 43151 h 77066"/>
              <a:gd name="connsiteX1" fmla="*/ 64004 w 467247"/>
              <a:gd name="connsiteY1" fmla="*/ 43151 h 77066"/>
              <a:gd name="connsiteX2" fmla="*/ 60893 w 467247"/>
              <a:gd name="connsiteY2" fmla="*/ 41643 h 77066"/>
              <a:gd name="connsiteX3" fmla="*/ 59385 w 467247"/>
              <a:gd name="connsiteY3" fmla="*/ 38534 h 77066"/>
              <a:gd name="connsiteX4" fmla="*/ 60893 w 467247"/>
              <a:gd name="connsiteY4" fmla="*/ 35425 h 77066"/>
              <a:gd name="connsiteX5" fmla="*/ 64004 w 467247"/>
              <a:gd name="connsiteY5" fmla="*/ 33918 h 77066"/>
              <a:gd name="connsiteX6" fmla="*/ 462629 w 467247"/>
              <a:gd name="connsiteY6" fmla="*/ 33918 h 77066"/>
              <a:gd name="connsiteX7" fmla="*/ 465645 w 467247"/>
              <a:gd name="connsiteY7" fmla="*/ 35425 h 77066"/>
              <a:gd name="connsiteX8" fmla="*/ 467247 w 467247"/>
              <a:gd name="connsiteY8" fmla="*/ 38534 h 77066"/>
              <a:gd name="connsiteX9" fmla="*/ 465645 w 467247"/>
              <a:gd name="connsiteY9" fmla="*/ 41643 h 77066"/>
              <a:gd name="connsiteX10" fmla="*/ 77104 w 467247"/>
              <a:gd name="connsiteY10" fmla="*/ 77066 h 77066"/>
              <a:gd name="connsiteX11" fmla="*/ 0 w 467247"/>
              <a:gd name="connsiteY11" fmla="*/ 38534 h 77066"/>
              <a:gd name="connsiteX12" fmla="*/ 77104 w 467247"/>
              <a:gd name="connsiteY12" fmla="*/ 0 h 77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67247" h="77066">
                <a:moveTo>
                  <a:pt x="462629" y="43151"/>
                </a:moveTo>
                <a:lnTo>
                  <a:pt x="64004" y="43151"/>
                </a:lnTo>
                <a:lnTo>
                  <a:pt x="60893" y="41643"/>
                </a:lnTo>
                <a:lnTo>
                  <a:pt x="59385" y="38534"/>
                </a:lnTo>
                <a:lnTo>
                  <a:pt x="60893" y="35425"/>
                </a:lnTo>
                <a:lnTo>
                  <a:pt x="64004" y="33918"/>
                </a:lnTo>
                <a:lnTo>
                  <a:pt x="462629" y="33918"/>
                </a:lnTo>
                <a:lnTo>
                  <a:pt x="465645" y="35425"/>
                </a:lnTo>
                <a:lnTo>
                  <a:pt x="467247" y="38534"/>
                </a:lnTo>
                <a:lnTo>
                  <a:pt x="465645" y="41643"/>
                </a:lnTo>
                <a:close/>
                <a:moveTo>
                  <a:pt x="77104" y="77066"/>
                </a:moveTo>
                <a:lnTo>
                  <a:pt x="0" y="38534"/>
                </a:lnTo>
                <a:lnTo>
                  <a:pt x="77104" y="0"/>
                </a:lnTo>
              </a:path>
            </a:pathLst>
          </a:custGeom>
          <a:solidFill>
            <a:srgbClr val="231F20"/>
          </a:solidFill>
          <a:ln w="24109" cap="flat">
            <a:noFill/>
            <a:prstDash val="solid"/>
            <a:miter/>
          </a:ln>
        </p:spPr>
        <p:txBody>
          <a:bodyPr rtlCol="0" anchor="ctr"/>
          <a:lstStyle/>
          <a:p>
            <a:endParaRPr lang="pt-BR"/>
          </a:p>
        </p:txBody>
      </p:sp>
      <p:sp>
        <p:nvSpPr>
          <p:cNvPr id="258727" name="Freeform 258726">
            <a:extLst>
              <a:ext uri="{FF2B5EF4-FFF2-40B4-BE49-F238E27FC236}">
                <a16:creationId xmlns:a16="http://schemas.microsoft.com/office/drawing/2014/main" id="{C4AAFE34-4B07-D943-8F55-37FABEC329C5}"/>
              </a:ext>
            </a:extLst>
          </p:cNvPr>
          <p:cNvSpPr/>
          <p:nvPr/>
        </p:nvSpPr>
        <p:spPr>
          <a:xfrm flipV="1">
            <a:off x="2305017" y="2158679"/>
            <a:ext cx="2004722" cy="1001863"/>
          </a:xfrm>
          <a:custGeom>
            <a:avLst/>
            <a:gdLst>
              <a:gd name="connsiteX0" fmla="*/ 7 w 2004722"/>
              <a:gd name="connsiteY0" fmla="*/ 32 h 1001863"/>
              <a:gd name="connsiteX1" fmla="*/ 7 w 2004722"/>
              <a:gd name="connsiteY1" fmla="*/ 1001896 h 1001863"/>
              <a:gd name="connsiteX2" fmla="*/ 2004729 w 2004722"/>
              <a:gd name="connsiteY2" fmla="*/ 1001896 h 1001863"/>
            </a:gdLst>
            <a:ahLst/>
            <a:cxnLst>
              <a:cxn ang="0">
                <a:pos x="connsiteX0" y="connsiteY0"/>
              </a:cxn>
              <a:cxn ang="0">
                <a:pos x="connsiteX1" y="connsiteY1"/>
              </a:cxn>
              <a:cxn ang="0">
                <a:pos x="connsiteX2" y="connsiteY2"/>
              </a:cxn>
            </a:cxnLst>
            <a:rect l="l" t="t" r="r" b="b"/>
            <a:pathLst>
              <a:path w="2004722" h="1001863">
                <a:moveTo>
                  <a:pt x="7" y="32"/>
                </a:moveTo>
                <a:lnTo>
                  <a:pt x="7" y="1001896"/>
                </a:lnTo>
                <a:lnTo>
                  <a:pt x="2004729" y="1001896"/>
                </a:lnTo>
              </a:path>
            </a:pathLst>
          </a:custGeom>
          <a:noFill/>
          <a:ln w="12055" cap="rnd">
            <a:solidFill>
              <a:srgbClr val="231F20"/>
            </a:solidFill>
            <a:prstDash val="solid"/>
            <a:round/>
          </a:ln>
        </p:spPr>
        <p:txBody>
          <a:bodyPr rtlCol="0" anchor="ctr"/>
          <a:lstStyle/>
          <a:p>
            <a:endParaRPr lang="pt-BR"/>
          </a:p>
        </p:txBody>
      </p:sp>
      <p:sp>
        <p:nvSpPr>
          <p:cNvPr id="258728" name="Freeform 258727">
            <a:extLst>
              <a:ext uri="{FF2B5EF4-FFF2-40B4-BE49-F238E27FC236}">
                <a16:creationId xmlns:a16="http://schemas.microsoft.com/office/drawing/2014/main" id="{2A5A36AD-3DD3-424D-BC0C-42FEB32E1B00}"/>
              </a:ext>
            </a:extLst>
          </p:cNvPr>
          <p:cNvSpPr/>
          <p:nvPr/>
        </p:nvSpPr>
        <p:spPr>
          <a:xfrm>
            <a:off x="2382122" y="2967876"/>
            <a:ext cx="77105" cy="77066"/>
          </a:xfrm>
          <a:custGeom>
            <a:avLst/>
            <a:gdLst>
              <a:gd name="connsiteX0" fmla="*/ 0 w 77105"/>
              <a:gd name="connsiteY0" fmla="*/ 0 h 77066"/>
              <a:gd name="connsiteX1" fmla="*/ 77106 w 77105"/>
              <a:gd name="connsiteY1" fmla="*/ 38534 h 77066"/>
              <a:gd name="connsiteX2" fmla="*/ 0 w 77105"/>
              <a:gd name="connsiteY2" fmla="*/ 77066 h 77066"/>
            </a:gdLst>
            <a:ahLst/>
            <a:cxnLst>
              <a:cxn ang="0">
                <a:pos x="connsiteX0" y="connsiteY0"/>
              </a:cxn>
              <a:cxn ang="0">
                <a:pos x="connsiteX1" y="connsiteY1"/>
              </a:cxn>
              <a:cxn ang="0">
                <a:pos x="connsiteX2" y="connsiteY2"/>
              </a:cxn>
            </a:cxnLst>
            <a:rect l="l" t="t" r="r" b="b"/>
            <a:pathLst>
              <a:path w="77105" h="77066">
                <a:moveTo>
                  <a:pt x="0" y="0"/>
                </a:moveTo>
                <a:lnTo>
                  <a:pt x="77106" y="38534"/>
                </a:lnTo>
                <a:lnTo>
                  <a:pt x="0" y="77066"/>
                </a:lnTo>
              </a:path>
            </a:pathLst>
          </a:custGeom>
          <a:solidFill>
            <a:srgbClr val="231F20"/>
          </a:solidFill>
          <a:ln w="24109" cap="flat">
            <a:noFill/>
            <a:prstDash val="solid"/>
            <a:miter/>
          </a:ln>
        </p:spPr>
        <p:txBody>
          <a:bodyPr rtlCol="0" anchor="ctr"/>
          <a:lstStyle/>
          <a:p>
            <a:endParaRPr lang="pt-BR"/>
          </a:p>
        </p:txBody>
      </p:sp>
      <p:sp>
        <p:nvSpPr>
          <p:cNvPr id="258729" name="Freeform 258728">
            <a:extLst>
              <a:ext uri="{FF2B5EF4-FFF2-40B4-BE49-F238E27FC236}">
                <a16:creationId xmlns:a16="http://schemas.microsoft.com/office/drawing/2014/main" id="{1FDB674E-DCAD-7041-B039-D0376664F313}"/>
              </a:ext>
            </a:extLst>
          </p:cNvPr>
          <p:cNvSpPr/>
          <p:nvPr/>
        </p:nvSpPr>
        <p:spPr>
          <a:xfrm flipV="1">
            <a:off x="2227913" y="3762205"/>
            <a:ext cx="24130" cy="1387100"/>
          </a:xfrm>
          <a:custGeom>
            <a:avLst/>
            <a:gdLst>
              <a:gd name="connsiteX0" fmla="*/ 3 w 24130"/>
              <a:gd name="connsiteY0" fmla="*/ 1387258 h 1387100"/>
              <a:gd name="connsiteX1" fmla="*/ 3 w 24130"/>
              <a:gd name="connsiteY1" fmla="*/ 157 h 1387100"/>
            </a:gdLst>
            <a:ahLst/>
            <a:cxnLst>
              <a:cxn ang="0">
                <a:pos x="connsiteX0" y="connsiteY0"/>
              </a:cxn>
              <a:cxn ang="0">
                <a:pos x="connsiteX1" y="connsiteY1"/>
              </a:cxn>
            </a:cxnLst>
            <a:rect l="l" t="t" r="r" b="b"/>
            <a:pathLst>
              <a:path w="24130" h="1387100">
                <a:moveTo>
                  <a:pt x="3" y="1387258"/>
                </a:moveTo>
                <a:lnTo>
                  <a:pt x="3" y="157"/>
                </a:lnTo>
              </a:path>
            </a:pathLst>
          </a:custGeom>
          <a:noFill/>
          <a:ln w="12055" cap="rnd">
            <a:solidFill>
              <a:srgbClr val="231F20"/>
            </a:solidFill>
            <a:prstDash val="solid"/>
            <a:round/>
          </a:ln>
        </p:spPr>
        <p:txBody>
          <a:bodyPr rtlCol="0" anchor="ctr"/>
          <a:lstStyle/>
          <a:p>
            <a:endParaRPr lang="pt-BR"/>
          </a:p>
        </p:txBody>
      </p:sp>
      <p:sp>
        <p:nvSpPr>
          <p:cNvPr id="258730" name="Freeform 258729">
            <a:extLst>
              <a:ext uri="{FF2B5EF4-FFF2-40B4-BE49-F238E27FC236}">
                <a16:creationId xmlns:a16="http://schemas.microsoft.com/office/drawing/2014/main" id="{9071CCC1-FC95-8344-8DF0-04B139E37C52}"/>
              </a:ext>
            </a:extLst>
          </p:cNvPr>
          <p:cNvSpPr/>
          <p:nvPr/>
        </p:nvSpPr>
        <p:spPr>
          <a:xfrm flipV="1">
            <a:off x="2305017" y="3615507"/>
            <a:ext cx="24130" cy="1387195"/>
          </a:xfrm>
          <a:custGeom>
            <a:avLst/>
            <a:gdLst>
              <a:gd name="connsiteX0" fmla="*/ 7 w 24130"/>
              <a:gd name="connsiteY0" fmla="*/ 1387346 h 1387195"/>
              <a:gd name="connsiteX1" fmla="*/ 7 w 24130"/>
              <a:gd name="connsiteY1" fmla="*/ 150 h 1387195"/>
            </a:gdLst>
            <a:ahLst/>
            <a:cxnLst>
              <a:cxn ang="0">
                <a:pos x="connsiteX0" y="connsiteY0"/>
              </a:cxn>
              <a:cxn ang="0">
                <a:pos x="connsiteX1" y="connsiteY1"/>
              </a:cxn>
            </a:cxnLst>
            <a:rect l="l" t="t" r="r" b="b"/>
            <a:pathLst>
              <a:path w="24130" h="1387195">
                <a:moveTo>
                  <a:pt x="7" y="1387346"/>
                </a:moveTo>
                <a:lnTo>
                  <a:pt x="7" y="150"/>
                </a:lnTo>
              </a:path>
            </a:pathLst>
          </a:custGeom>
          <a:noFill/>
          <a:ln w="12055" cap="rnd">
            <a:solidFill>
              <a:srgbClr val="231F20"/>
            </a:solidFill>
            <a:prstDash val="solid"/>
            <a:round/>
          </a:ln>
        </p:spPr>
        <p:txBody>
          <a:bodyPr rtlCol="0" anchor="ctr"/>
          <a:lstStyle/>
          <a:p>
            <a:endParaRPr lang="pt-BR"/>
          </a:p>
        </p:txBody>
      </p:sp>
      <p:sp>
        <p:nvSpPr>
          <p:cNvPr id="258731" name="Freeform 258730">
            <a:extLst>
              <a:ext uri="{FF2B5EF4-FFF2-40B4-BE49-F238E27FC236}">
                <a16:creationId xmlns:a16="http://schemas.microsoft.com/office/drawing/2014/main" id="{F9D37BFD-5B26-C74D-BDAD-D97EC32EA064}"/>
              </a:ext>
            </a:extLst>
          </p:cNvPr>
          <p:cNvSpPr/>
          <p:nvPr/>
        </p:nvSpPr>
        <p:spPr>
          <a:xfrm flipV="1">
            <a:off x="2382122" y="1982244"/>
            <a:ext cx="1927617" cy="24118"/>
          </a:xfrm>
          <a:custGeom>
            <a:avLst/>
            <a:gdLst>
              <a:gd name="connsiteX0" fmla="*/ 10 w 1927617"/>
              <a:gd name="connsiteY0" fmla="*/ 26 h 24118"/>
              <a:gd name="connsiteX1" fmla="*/ 1927628 w 1927617"/>
              <a:gd name="connsiteY1" fmla="*/ 26 h 24118"/>
            </a:gdLst>
            <a:ahLst/>
            <a:cxnLst>
              <a:cxn ang="0">
                <a:pos x="connsiteX0" y="connsiteY0"/>
              </a:cxn>
              <a:cxn ang="0">
                <a:pos x="connsiteX1" y="connsiteY1"/>
              </a:cxn>
            </a:cxnLst>
            <a:rect l="l" t="t" r="r" b="b"/>
            <a:pathLst>
              <a:path w="1927617" h="24118">
                <a:moveTo>
                  <a:pt x="10" y="26"/>
                </a:moveTo>
                <a:lnTo>
                  <a:pt x="1927628" y="26"/>
                </a:lnTo>
              </a:path>
            </a:pathLst>
          </a:custGeom>
          <a:noFill/>
          <a:ln w="12055" cap="rnd">
            <a:solidFill>
              <a:srgbClr val="231F20"/>
            </a:solidFill>
            <a:prstDash val="solid"/>
            <a:round/>
          </a:ln>
        </p:spPr>
        <p:txBody>
          <a:bodyPr rtlCol="0" anchor="ctr"/>
          <a:lstStyle/>
          <a:p>
            <a:endParaRPr lang="pt-BR"/>
          </a:p>
        </p:txBody>
      </p:sp>
      <p:sp>
        <p:nvSpPr>
          <p:cNvPr id="258732" name="Freeform 258731">
            <a:extLst>
              <a:ext uri="{FF2B5EF4-FFF2-40B4-BE49-F238E27FC236}">
                <a16:creationId xmlns:a16="http://schemas.microsoft.com/office/drawing/2014/main" id="{3832951C-EBF4-CD40-B50E-7363AE60EA37}"/>
              </a:ext>
            </a:extLst>
          </p:cNvPr>
          <p:cNvSpPr/>
          <p:nvPr/>
        </p:nvSpPr>
        <p:spPr>
          <a:xfrm flipV="1">
            <a:off x="2382122" y="2004546"/>
            <a:ext cx="24130" cy="1001768"/>
          </a:xfrm>
          <a:custGeom>
            <a:avLst/>
            <a:gdLst>
              <a:gd name="connsiteX0" fmla="*/ 10 w 24130"/>
              <a:gd name="connsiteY0" fmla="*/ 26 h 1001768"/>
              <a:gd name="connsiteX1" fmla="*/ 10 w 24130"/>
              <a:gd name="connsiteY1" fmla="*/ 1001795 h 1001768"/>
            </a:gdLst>
            <a:ahLst/>
            <a:cxnLst>
              <a:cxn ang="0">
                <a:pos x="connsiteX0" y="connsiteY0"/>
              </a:cxn>
              <a:cxn ang="0">
                <a:pos x="connsiteX1" y="connsiteY1"/>
              </a:cxn>
            </a:cxnLst>
            <a:rect l="l" t="t" r="r" b="b"/>
            <a:pathLst>
              <a:path w="24130" h="1001768">
                <a:moveTo>
                  <a:pt x="10" y="26"/>
                </a:moveTo>
                <a:lnTo>
                  <a:pt x="10" y="1001795"/>
                </a:lnTo>
              </a:path>
            </a:pathLst>
          </a:custGeom>
          <a:noFill/>
          <a:ln w="12055" cap="rnd">
            <a:solidFill>
              <a:srgbClr val="231F20"/>
            </a:solidFill>
            <a:prstDash val="solid"/>
            <a:round/>
          </a:ln>
        </p:spPr>
        <p:txBody>
          <a:bodyPr rtlCol="0" anchor="ctr"/>
          <a:lstStyle/>
          <a:p>
            <a:endParaRPr lang="pt-BR"/>
          </a:p>
        </p:txBody>
      </p:sp>
      <p:sp>
        <p:nvSpPr>
          <p:cNvPr id="258733" name="Freeform 258732">
            <a:extLst>
              <a:ext uri="{FF2B5EF4-FFF2-40B4-BE49-F238E27FC236}">
                <a16:creationId xmlns:a16="http://schemas.microsoft.com/office/drawing/2014/main" id="{88BAAE89-0027-DC40-88BF-1D12B034FBA7}"/>
              </a:ext>
            </a:extLst>
          </p:cNvPr>
          <p:cNvSpPr/>
          <p:nvPr/>
        </p:nvSpPr>
        <p:spPr>
          <a:xfrm>
            <a:off x="2223294" y="5125744"/>
            <a:ext cx="313038" cy="76962"/>
          </a:xfrm>
          <a:custGeom>
            <a:avLst/>
            <a:gdLst>
              <a:gd name="connsiteX0" fmla="*/ 4619 w 313038"/>
              <a:gd name="connsiteY0" fmla="*/ 33910 h 76962"/>
              <a:gd name="connsiteX1" fmla="*/ 249034 w 313038"/>
              <a:gd name="connsiteY1" fmla="*/ 33910 h 76962"/>
              <a:gd name="connsiteX2" fmla="*/ 252145 w 313038"/>
              <a:gd name="connsiteY2" fmla="*/ 35406 h 76962"/>
              <a:gd name="connsiteX3" fmla="*/ 253653 w 313038"/>
              <a:gd name="connsiteY3" fmla="*/ 38421 h 76962"/>
              <a:gd name="connsiteX4" fmla="*/ 252145 w 313038"/>
              <a:gd name="connsiteY4" fmla="*/ 41532 h 76962"/>
              <a:gd name="connsiteX5" fmla="*/ 249034 w 313038"/>
              <a:gd name="connsiteY5" fmla="*/ 43148 h 76962"/>
              <a:gd name="connsiteX6" fmla="*/ 4619 w 313038"/>
              <a:gd name="connsiteY6" fmla="*/ 43148 h 76962"/>
              <a:gd name="connsiteX7" fmla="*/ 1508 w 313038"/>
              <a:gd name="connsiteY7" fmla="*/ 41532 h 76962"/>
              <a:gd name="connsiteX8" fmla="*/ 0 w 313038"/>
              <a:gd name="connsiteY8" fmla="*/ 38421 h 76962"/>
              <a:gd name="connsiteX9" fmla="*/ 1508 w 313038"/>
              <a:gd name="connsiteY9" fmla="*/ 35406 h 76962"/>
              <a:gd name="connsiteX10" fmla="*/ 235934 w 313038"/>
              <a:gd name="connsiteY10" fmla="*/ 0 h 76962"/>
              <a:gd name="connsiteX11" fmla="*/ 313038 w 313038"/>
              <a:gd name="connsiteY11" fmla="*/ 38421 h 76962"/>
              <a:gd name="connsiteX12" fmla="*/ 235934 w 313038"/>
              <a:gd name="connsiteY12" fmla="*/ 76962 h 76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3038" h="76962">
                <a:moveTo>
                  <a:pt x="4619" y="33910"/>
                </a:moveTo>
                <a:lnTo>
                  <a:pt x="249034" y="33910"/>
                </a:lnTo>
                <a:lnTo>
                  <a:pt x="252145" y="35406"/>
                </a:lnTo>
                <a:lnTo>
                  <a:pt x="253653" y="38421"/>
                </a:lnTo>
                <a:lnTo>
                  <a:pt x="252145" y="41532"/>
                </a:lnTo>
                <a:lnTo>
                  <a:pt x="249034" y="43148"/>
                </a:lnTo>
                <a:lnTo>
                  <a:pt x="4619" y="43148"/>
                </a:lnTo>
                <a:lnTo>
                  <a:pt x="1508" y="41532"/>
                </a:lnTo>
                <a:lnTo>
                  <a:pt x="0" y="38421"/>
                </a:lnTo>
                <a:lnTo>
                  <a:pt x="1508" y="35406"/>
                </a:lnTo>
                <a:close/>
                <a:moveTo>
                  <a:pt x="235934" y="0"/>
                </a:moveTo>
                <a:lnTo>
                  <a:pt x="313038" y="38421"/>
                </a:lnTo>
                <a:lnTo>
                  <a:pt x="235934" y="76962"/>
                </a:lnTo>
              </a:path>
            </a:pathLst>
          </a:custGeom>
          <a:solidFill>
            <a:srgbClr val="231F20"/>
          </a:solidFill>
          <a:ln w="24109" cap="flat">
            <a:noFill/>
            <a:prstDash val="solid"/>
            <a:miter/>
          </a:ln>
        </p:spPr>
        <p:txBody>
          <a:bodyPr rtlCol="0" anchor="ctr"/>
          <a:lstStyle/>
          <a:p>
            <a:endParaRPr lang="pt-BR"/>
          </a:p>
        </p:txBody>
      </p:sp>
      <p:sp>
        <p:nvSpPr>
          <p:cNvPr id="258734" name="Freeform 258733">
            <a:extLst>
              <a:ext uri="{FF2B5EF4-FFF2-40B4-BE49-F238E27FC236}">
                <a16:creationId xmlns:a16="http://schemas.microsoft.com/office/drawing/2014/main" id="{D5898BFC-9935-D24A-8186-90CB500B6167}"/>
              </a:ext>
            </a:extLst>
          </p:cNvPr>
          <p:cNvSpPr/>
          <p:nvPr/>
        </p:nvSpPr>
        <p:spPr>
          <a:xfrm>
            <a:off x="2300399" y="3122008"/>
            <a:ext cx="158829" cy="77066"/>
          </a:xfrm>
          <a:custGeom>
            <a:avLst/>
            <a:gdLst>
              <a:gd name="connsiteX0" fmla="*/ 4619 w 158829"/>
              <a:gd name="connsiteY0" fmla="*/ 33918 h 77066"/>
              <a:gd name="connsiteX1" fmla="*/ 94825 w 158829"/>
              <a:gd name="connsiteY1" fmla="*/ 33918 h 77066"/>
              <a:gd name="connsiteX2" fmla="*/ 97936 w 158829"/>
              <a:gd name="connsiteY2" fmla="*/ 35425 h 77066"/>
              <a:gd name="connsiteX3" fmla="*/ 99444 w 158829"/>
              <a:gd name="connsiteY3" fmla="*/ 38534 h 77066"/>
              <a:gd name="connsiteX4" fmla="*/ 97936 w 158829"/>
              <a:gd name="connsiteY4" fmla="*/ 41549 h 77066"/>
              <a:gd name="connsiteX5" fmla="*/ 94825 w 158829"/>
              <a:gd name="connsiteY5" fmla="*/ 43151 h 77066"/>
              <a:gd name="connsiteX6" fmla="*/ 4619 w 158829"/>
              <a:gd name="connsiteY6" fmla="*/ 43151 h 77066"/>
              <a:gd name="connsiteX7" fmla="*/ 1508 w 158829"/>
              <a:gd name="connsiteY7" fmla="*/ 41549 h 77066"/>
              <a:gd name="connsiteX8" fmla="*/ 0 w 158829"/>
              <a:gd name="connsiteY8" fmla="*/ 38534 h 77066"/>
              <a:gd name="connsiteX9" fmla="*/ 1508 w 158829"/>
              <a:gd name="connsiteY9" fmla="*/ 35425 h 77066"/>
              <a:gd name="connsiteX10" fmla="*/ 81723 w 158829"/>
              <a:gd name="connsiteY10" fmla="*/ 0 h 77066"/>
              <a:gd name="connsiteX11" fmla="*/ 158829 w 158829"/>
              <a:gd name="connsiteY11" fmla="*/ 38534 h 77066"/>
              <a:gd name="connsiteX12" fmla="*/ 81723 w 158829"/>
              <a:gd name="connsiteY12" fmla="*/ 77066 h 77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58829" h="77066">
                <a:moveTo>
                  <a:pt x="4619" y="33918"/>
                </a:moveTo>
                <a:lnTo>
                  <a:pt x="94825" y="33918"/>
                </a:lnTo>
                <a:lnTo>
                  <a:pt x="97936" y="35425"/>
                </a:lnTo>
                <a:lnTo>
                  <a:pt x="99444" y="38534"/>
                </a:lnTo>
                <a:lnTo>
                  <a:pt x="97936" y="41549"/>
                </a:lnTo>
                <a:lnTo>
                  <a:pt x="94825" y="43151"/>
                </a:lnTo>
                <a:lnTo>
                  <a:pt x="4619" y="43151"/>
                </a:lnTo>
                <a:lnTo>
                  <a:pt x="1508" y="41549"/>
                </a:lnTo>
                <a:lnTo>
                  <a:pt x="0" y="38534"/>
                </a:lnTo>
                <a:lnTo>
                  <a:pt x="1508" y="35425"/>
                </a:lnTo>
                <a:close/>
                <a:moveTo>
                  <a:pt x="81723" y="0"/>
                </a:moveTo>
                <a:lnTo>
                  <a:pt x="158829" y="38534"/>
                </a:lnTo>
                <a:lnTo>
                  <a:pt x="81723" y="77066"/>
                </a:lnTo>
              </a:path>
            </a:pathLst>
          </a:custGeom>
          <a:solidFill>
            <a:srgbClr val="231F20"/>
          </a:solidFill>
          <a:ln w="24109" cap="flat">
            <a:noFill/>
            <a:prstDash val="solid"/>
            <a:miter/>
          </a:ln>
        </p:spPr>
        <p:txBody>
          <a:bodyPr rtlCol="0" anchor="ctr"/>
          <a:lstStyle/>
          <a:p>
            <a:endParaRPr lang="pt-BR"/>
          </a:p>
        </p:txBody>
      </p:sp>
      <p:sp>
        <p:nvSpPr>
          <p:cNvPr id="258735" name="Freeform 258734">
            <a:extLst>
              <a:ext uri="{FF2B5EF4-FFF2-40B4-BE49-F238E27FC236}">
                <a16:creationId xmlns:a16="http://schemas.microsoft.com/office/drawing/2014/main" id="{FC864AA7-66B9-3342-B876-8E385C133296}"/>
              </a:ext>
            </a:extLst>
          </p:cNvPr>
          <p:cNvSpPr/>
          <p:nvPr/>
        </p:nvSpPr>
        <p:spPr>
          <a:xfrm flipV="1">
            <a:off x="7008401" y="3376873"/>
            <a:ext cx="231219" cy="24118"/>
          </a:xfrm>
          <a:custGeom>
            <a:avLst/>
            <a:gdLst>
              <a:gd name="connsiteX0" fmla="*/ 202 w 231219"/>
              <a:gd name="connsiteY0" fmla="*/ 83 h 24118"/>
              <a:gd name="connsiteX1" fmla="*/ 231421 w 231219"/>
              <a:gd name="connsiteY1" fmla="*/ 83 h 24118"/>
            </a:gdLst>
            <a:ahLst/>
            <a:cxnLst>
              <a:cxn ang="0">
                <a:pos x="connsiteX0" y="connsiteY0"/>
              </a:cxn>
              <a:cxn ang="0">
                <a:pos x="connsiteX1" y="connsiteY1"/>
              </a:cxn>
            </a:cxnLst>
            <a:rect l="l" t="t" r="r" b="b"/>
            <a:pathLst>
              <a:path w="231219" h="24118">
                <a:moveTo>
                  <a:pt x="202" y="83"/>
                </a:moveTo>
                <a:lnTo>
                  <a:pt x="231421" y="83"/>
                </a:lnTo>
              </a:path>
            </a:pathLst>
          </a:custGeom>
          <a:noFill/>
          <a:ln w="12055" cap="rnd">
            <a:solidFill>
              <a:srgbClr val="231F20"/>
            </a:solidFill>
            <a:prstDash val="solid"/>
            <a:round/>
          </a:ln>
        </p:spPr>
        <p:txBody>
          <a:bodyPr rtlCol="0" anchor="ctr"/>
          <a:lstStyle/>
          <a:p>
            <a:endParaRPr lang="pt-BR"/>
          </a:p>
        </p:txBody>
      </p:sp>
      <p:sp>
        <p:nvSpPr>
          <p:cNvPr id="258736" name="Freeform 258735">
            <a:extLst>
              <a:ext uri="{FF2B5EF4-FFF2-40B4-BE49-F238E27FC236}">
                <a16:creationId xmlns:a16="http://schemas.microsoft.com/office/drawing/2014/main" id="{E88D07C4-7EA9-2E4C-8F77-0AEAD15B8820}"/>
              </a:ext>
            </a:extLst>
          </p:cNvPr>
          <p:cNvSpPr/>
          <p:nvPr/>
        </p:nvSpPr>
        <p:spPr>
          <a:xfrm flipV="1">
            <a:off x="6160146" y="4701775"/>
            <a:ext cx="981057" cy="385332"/>
          </a:xfrm>
          <a:custGeom>
            <a:avLst/>
            <a:gdLst>
              <a:gd name="connsiteX0" fmla="*/ 0 w 848164"/>
              <a:gd name="connsiteY0" fmla="*/ 89 h 385332"/>
              <a:gd name="connsiteX1" fmla="*/ 848165 w 848164"/>
              <a:gd name="connsiteY1" fmla="*/ 89 h 385332"/>
              <a:gd name="connsiteX2" fmla="*/ 848165 w 848164"/>
              <a:gd name="connsiteY2" fmla="*/ 385422 h 385332"/>
              <a:gd name="connsiteX3" fmla="*/ 0 w 848164"/>
              <a:gd name="connsiteY3" fmla="*/ 385422 h 385332"/>
            </a:gdLst>
            <a:ahLst/>
            <a:cxnLst>
              <a:cxn ang="0">
                <a:pos x="connsiteX0" y="connsiteY0"/>
              </a:cxn>
              <a:cxn ang="0">
                <a:pos x="connsiteX1" y="connsiteY1"/>
              </a:cxn>
              <a:cxn ang="0">
                <a:pos x="connsiteX2" y="connsiteY2"/>
              </a:cxn>
              <a:cxn ang="0">
                <a:pos x="connsiteX3" y="connsiteY3"/>
              </a:cxn>
            </a:cxnLst>
            <a:rect l="l" t="t" r="r" b="b"/>
            <a:pathLst>
              <a:path w="848164" h="385332">
                <a:moveTo>
                  <a:pt x="0" y="89"/>
                </a:moveTo>
                <a:lnTo>
                  <a:pt x="848165" y="89"/>
                </a:lnTo>
                <a:lnTo>
                  <a:pt x="848165" y="385422"/>
                </a:lnTo>
                <a:lnTo>
                  <a:pt x="0" y="385422"/>
                </a:lnTo>
                <a:close/>
              </a:path>
            </a:pathLst>
          </a:custGeom>
          <a:noFill/>
          <a:ln w="12055" cap="rnd">
            <a:solidFill>
              <a:srgbClr val="231F20"/>
            </a:solidFill>
            <a:prstDash val="solid"/>
            <a:miter/>
          </a:ln>
        </p:spPr>
        <p:txBody>
          <a:bodyPr rtlCol="0" anchor="ctr"/>
          <a:lstStyle/>
          <a:p>
            <a:endParaRPr lang="pt-BR"/>
          </a:p>
        </p:txBody>
      </p:sp>
      <p:sp>
        <p:nvSpPr>
          <p:cNvPr id="258737" name="Freeform 258736">
            <a:extLst>
              <a:ext uri="{FF2B5EF4-FFF2-40B4-BE49-F238E27FC236}">
                <a16:creationId xmlns:a16="http://schemas.microsoft.com/office/drawing/2014/main" id="{226868FB-2ADD-9549-B1D5-CFC63BEDCCFB}"/>
              </a:ext>
            </a:extLst>
          </p:cNvPr>
          <p:cNvSpPr/>
          <p:nvPr/>
        </p:nvSpPr>
        <p:spPr>
          <a:xfrm flipV="1">
            <a:off x="4001320" y="5688771"/>
            <a:ext cx="154209" cy="24118"/>
          </a:xfrm>
          <a:custGeom>
            <a:avLst/>
            <a:gdLst>
              <a:gd name="connsiteX0" fmla="*/ 77 w 154209"/>
              <a:gd name="connsiteY0" fmla="*/ 179 h 24118"/>
              <a:gd name="connsiteX1" fmla="*/ 154286 w 154209"/>
              <a:gd name="connsiteY1" fmla="*/ 179 h 24118"/>
            </a:gdLst>
            <a:ahLst/>
            <a:cxnLst>
              <a:cxn ang="0">
                <a:pos x="connsiteX0" y="connsiteY0"/>
              </a:cxn>
              <a:cxn ang="0">
                <a:pos x="connsiteX1" y="connsiteY1"/>
              </a:cxn>
            </a:cxnLst>
            <a:rect l="l" t="t" r="r" b="b"/>
            <a:pathLst>
              <a:path w="154209" h="24118">
                <a:moveTo>
                  <a:pt x="77" y="179"/>
                </a:moveTo>
                <a:lnTo>
                  <a:pt x="154286" y="179"/>
                </a:lnTo>
              </a:path>
            </a:pathLst>
          </a:custGeom>
          <a:noFill/>
          <a:ln w="12055" cap="rnd">
            <a:solidFill>
              <a:srgbClr val="231F20"/>
            </a:solidFill>
            <a:prstDash val="solid"/>
            <a:round/>
          </a:ln>
        </p:spPr>
        <p:txBody>
          <a:bodyPr rtlCol="0" anchor="ctr"/>
          <a:lstStyle/>
          <a:p>
            <a:endParaRPr lang="pt-BR"/>
          </a:p>
        </p:txBody>
      </p:sp>
      <p:sp>
        <p:nvSpPr>
          <p:cNvPr id="258738" name="Freeform 258737">
            <a:extLst>
              <a:ext uri="{FF2B5EF4-FFF2-40B4-BE49-F238E27FC236}">
                <a16:creationId xmlns:a16="http://schemas.microsoft.com/office/drawing/2014/main" id="{8155D3D3-FEB7-434E-8B35-13E6C8E27951}"/>
              </a:ext>
            </a:extLst>
          </p:cNvPr>
          <p:cNvSpPr/>
          <p:nvPr/>
        </p:nvSpPr>
        <p:spPr>
          <a:xfrm>
            <a:off x="2300399" y="4971505"/>
            <a:ext cx="235933" cy="77058"/>
          </a:xfrm>
          <a:custGeom>
            <a:avLst/>
            <a:gdLst>
              <a:gd name="connsiteX0" fmla="*/ 4619 w 235933"/>
              <a:gd name="connsiteY0" fmla="*/ 33910 h 77058"/>
              <a:gd name="connsiteX1" fmla="*/ 171930 w 235933"/>
              <a:gd name="connsiteY1" fmla="*/ 33910 h 77058"/>
              <a:gd name="connsiteX2" fmla="*/ 175040 w 235933"/>
              <a:gd name="connsiteY2" fmla="*/ 35526 h 77058"/>
              <a:gd name="connsiteX3" fmla="*/ 176548 w 235933"/>
              <a:gd name="connsiteY3" fmla="*/ 38638 h 77058"/>
              <a:gd name="connsiteX4" fmla="*/ 175040 w 235933"/>
              <a:gd name="connsiteY4" fmla="*/ 41653 h 77058"/>
              <a:gd name="connsiteX5" fmla="*/ 171930 w 235933"/>
              <a:gd name="connsiteY5" fmla="*/ 43245 h 77058"/>
              <a:gd name="connsiteX6" fmla="*/ 4619 w 235933"/>
              <a:gd name="connsiteY6" fmla="*/ 43245 h 77058"/>
              <a:gd name="connsiteX7" fmla="*/ 1508 w 235933"/>
              <a:gd name="connsiteY7" fmla="*/ 41653 h 77058"/>
              <a:gd name="connsiteX8" fmla="*/ 0 w 235933"/>
              <a:gd name="connsiteY8" fmla="*/ 38638 h 77058"/>
              <a:gd name="connsiteX9" fmla="*/ 1508 w 235933"/>
              <a:gd name="connsiteY9" fmla="*/ 35526 h 77058"/>
              <a:gd name="connsiteX10" fmla="*/ 158829 w 235933"/>
              <a:gd name="connsiteY10" fmla="*/ 0 h 77058"/>
              <a:gd name="connsiteX11" fmla="*/ 235934 w 235933"/>
              <a:gd name="connsiteY11" fmla="*/ 38638 h 77058"/>
              <a:gd name="connsiteX12" fmla="*/ 158829 w 235933"/>
              <a:gd name="connsiteY12" fmla="*/ 77059 h 770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5933" h="77058">
                <a:moveTo>
                  <a:pt x="4619" y="33910"/>
                </a:moveTo>
                <a:lnTo>
                  <a:pt x="171930" y="33910"/>
                </a:lnTo>
                <a:lnTo>
                  <a:pt x="175040" y="35526"/>
                </a:lnTo>
                <a:lnTo>
                  <a:pt x="176548" y="38638"/>
                </a:lnTo>
                <a:lnTo>
                  <a:pt x="175040" y="41653"/>
                </a:lnTo>
                <a:lnTo>
                  <a:pt x="171930" y="43245"/>
                </a:lnTo>
                <a:lnTo>
                  <a:pt x="4619" y="43245"/>
                </a:lnTo>
                <a:lnTo>
                  <a:pt x="1508" y="41653"/>
                </a:lnTo>
                <a:lnTo>
                  <a:pt x="0" y="38638"/>
                </a:lnTo>
                <a:lnTo>
                  <a:pt x="1508" y="35526"/>
                </a:lnTo>
                <a:close/>
                <a:moveTo>
                  <a:pt x="158829" y="0"/>
                </a:moveTo>
                <a:lnTo>
                  <a:pt x="235934" y="38638"/>
                </a:lnTo>
                <a:lnTo>
                  <a:pt x="158829" y="77059"/>
                </a:lnTo>
              </a:path>
            </a:pathLst>
          </a:custGeom>
          <a:solidFill>
            <a:srgbClr val="231F20"/>
          </a:solidFill>
          <a:ln w="24109" cap="flat">
            <a:noFill/>
            <a:prstDash val="solid"/>
            <a:miter/>
          </a:ln>
        </p:spPr>
        <p:txBody>
          <a:bodyPr rtlCol="0" anchor="ctr"/>
          <a:lstStyle/>
          <a:p>
            <a:endParaRPr lang="pt-BR"/>
          </a:p>
        </p:txBody>
      </p:sp>
      <p:sp>
        <p:nvSpPr>
          <p:cNvPr id="258739" name="Freeform 258738">
            <a:extLst>
              <a:ext uri="{FF2B5EF4-FFF2-40B4-BE49-F238E27FC236}">
                <a16:creationId xmlns:a16="http://schemas.microsoft.com/office/drawing/2014/main" id="{B23645E1-8EE3-AF45-B658-417E8531082F}"/>
              </a:ext>
            </a:extLst>
          </p:cNvPr>
          <p:cNvSpPr/>
          <p:nvPr/>
        </p:nvSpPr>
        <p:spPr>
          <a:xfrm rot="10800000" flipV="1">
            <a:off x="4309737" y="1512396"/>
            <a:ext cx="924413" cy="183260"/>
          </a:xfrm>
          <a:custGeom>
            <a:avLst/>
            <a:gdLst>
              <a:gd name="connsiteX0" fmla="*/ 0 w 771048"/>
              <a:gd name="connsiteY0" fmla="*/ -185 h 231200"/>
              <a:gd name="connsiteX1" fmla="*/ 771048 w 771048"/>
              <a:gd name="connsiteY1" fmla="*/ -185 h 231200"/>
              <a:gd name="connsiteX2" fmla="*/ 771048 w 771048"/>
              <a:gd name="connsiteY2" fmla="*/ 231015 h 231200"/>
              <a:gd name="connsiteX3" fmla="*/ 0 w 771048"/>
              <a:gd name="connsiteY3" fmla="*/ 231015 h 231200"/>
            </a:gdLst>
            <a:ahLst/>
            <a:cxnLst>
              <a:cxn ang="0">
                <a:pos x="connsiteX0" y="connsiteY0"/>
              </a:cxn>
              <a:cxn ang="0">
                <a:pos x="connsiteX1" y="connsiteY1"/>
              </a:cxn>
              <a:cxn ang="0">
                <a:pos x="connsiteX2" y="connsiteY2"/>
              </a:cxn>
              <a:cxn ang="0">
                <a:pos x="connsiteX3" y="connsiteY3"/>
              </a:cxn>
            </a:cxnLst>
            <a:rect l="l" t="t" r="r" b="b"/>
            <a:pathLst>
              <a:path w="771048" h="231200">
                <a:moveTo>
                  <a:pt x="0" y="-185"/>
                </a:moveTo>
                <a:lnTo>
                  <a:pt x="771048" y="-185"/>
                </a:lnTo>
                <a:lnTo>
                  <a:pt x="771048" y="231015"/>
                </a:lnTo>
                <a:lnTo>
                  <a:pt x="0" y="231015"/>
                </a:lnTo>
                <a:close/>
              </a:path>
            </a:pathLst>
          </a:custGeom>
          <a:solidFill>
            <a:srgbClr val="CCEEFB"/>
          </a:solidFill>
          <a:ln w="12055" cap="rnd">
            <a:solidFill>
              <a:srgbClr val="231F20"/>
            </a:solidFill>
            <a:prstDash val="solid"/>
            <a:miter/>
          </a:ln>
        </p:spPr>
        <p:txBody>
          <a:bodyPr rtlCol="0" anchor="ctr"/>
          <a:lstStyle/>
          <a:p>
            <a:pPr algn="ctr"/>
            <a:r>
              <a:rPr lang="pt-BR" sz="1100" i="1" dirty="0" err="1">
                <a:latin typeface="Calibri Light" panose="020F0302020204030204" pitchFamily="34" charset="0"/>
                <a:cs typeface="Calibri Light" panose="020F0302020204030204" pitchFamily="34" charset="0"/>
              </a:rPr>
              <a:t>aluno_cursa</a:t>
            </a:r>
            <a:endParaRPr lang="pt-BR" sz="1100" i="1" dirty="0">
              <a:latin typeface="Calibri Light" panose="020F0302020204030204" pitchFamily="34" charset="0"/>
              <a:cs typeface="Calibri Light" panose="020F0302020204030204" pitchFamily="34" charset="0"/>
            </a:endParaRPr>
          </a:p>
        </p:txBody>
      </p:sp>
      <p:sp>
        <p:nvSpPr>
          <p:cNvPr id="258746" name="Freeform 258745">
            <a:extLst>
              <a:ext uri="{FF2B5EF4-FFF2-40B4-BE49-F238E27FC236}">
                <a16:creationId xmlns:a16="http://schemas.microsoft.com/office/drawing/2014/main" id="{DB5D27A6-14C6-8542-88DA-741129A40BEF}"/>
              </a:ext>
            </a:extLst>
          </p:cNvPr>
          <p:cNvSpPr/>
          <p:nvPr/>
        </p:nvSpPr>
        <p:spPr>
          <a:xfrm rot="10800000" flipV="1">
            <a:off x="2463836" y="2619936"/>
            <a:ext cx="1002359" cy="231200"/>
          </a:xfrm>
          <a:custGeom>
            <a:avLst/>
            <a:gdLst>
              <a:gd name="connsiteX0" fmla="*/ 0 w 1002359"/>
              <a:gd name="connsiteY0" fmla="*/ -89 h 231200"/>
              <a:gd name="connsiteX1" fmla="*/ 1002359 w 1002359"/>
              <a:gd name="connsiteY1" fmla="*/ -89 h 231200"/>
              <a:gd name="connsiteX2" fmla="*/ 1002359 w 1002359"/>
              <a:gd name="connsiteY2" fmla="*/ 231111 h 231200"/>
              <a:gd name="connsiteX3" fmla="*/ 0 w 1002359"/>
              <a:gd name="connsiteY3" fmla="*/ 231111 h 231200"/>
            </a:gdLst>
            <a:ahLst/>
            <a:cxnLst>
              <a:cxn ang="0">
                <a:pos x="connsiteX0" y="connsiteY0"/>
              </a:cxn>
              <a:cxn ang="0">
                <a:pos x="connsiteX1" y="connsiteY1"/>
              </a:cxn>
              <a:cxn ang="0">
                <a:pos x="connsiteX2" y="connsiteY2"/>
              </a:cxn>
              <a:cxn ang="0">
                <a:pos x="connsiteX3" y="connsiteY3"/>
              </a:cxn>
            </a:cxnLst>
            <a:rect l="l" t="t" r="r" b="b"/>
            <a:pathLst>
              <a:path w="1002359" h="231200">
                <a:moveTo>
                  <a:pt x="0" y="-89"/>
                </a:moveTo>
                <a:lnTo>
                  <a:pt x="1002359" y="-89"/>
                </a:lnTo>
                <a:lnTo>
                  <a:pt x="1002359" y="231111"/>
                </a:lnTo>
                <a:lnTo>
                  <a:pt x="0" y="231111"/>
                </a:lnTo>
                <a:close/>
              </a:path>
            </a:pathLst>
          </a:custGeom>
          <a:solidFill>
            <a:srgbClr val="CCEEFB"/>
          </a:solidFill>
          <a:ln w="12055" cap="rnd">
            <a:solidFill>
              <a:srgbClr val="231F20"/>
            </a:solidFill>
            <a:prstDash val="solid"/>
            <a:miter/>
          </a:ln>
        </p:spPr>
        <p:txBody>
          <a:bodyPr rtlCol="0" anchor="ctr"/>
          <a:lstStyle/>
          <a:p>
            <a:pPr algn="ctr"/>
            <a:r>
              <a:rPr lang="pt-BR" sz="1200">
                <a:latin typeface="Calibri Light" panose="020F0302020204030204" pitchFamily="34" charset="0"/>
                <a:cs typeface="Calibri Light" panose="020F0302020204030204" pitchFamily="34" charset="0"/>
              </a:rPr>
              <a:t>turma</a:t>
            </a:r>
          </a:p>
        </p:txBody>
      </p:sp>
      <p:sp>
        <p:nvSpPr>
          <p:cNvPr id="258755" name="Freeform 258754">
            <a:extLst>
              <a:ext uri="{FF2B5EF4-FFF2-40B4-BE49-F238E27FC236}">
                <a16:creationId xmlns:a16="http://schemas.microsoft.com/office/drawing/2014/main" id="{B0B31C74-30F4-8546-A6BC-A2B9832C506F}"/>
              </a:ext>
            </a:extLst>
          </p:cNvPr>
          <p:cNvSpPr/>
          <p:nvPr/>
        </p:nvSpPr>
        <p:spPr>
          <a:xfrm flipV="1">
            <a:off x="2227913" y="3732469"/>
            <a:ext cx="231313" cy="24118"/>
          </a:xfrm>
          <a:custGeom>
            <a:avLst/>
            <a:gdLst>
              <a:gd name="connsiteX0" fmla="*/ 3 w 231313"/>
              <a:gd name="connsiteY0" fmla="*/ 99 h 24118"/>
              <a:gd name="connsiteX1" fmla="*/ 231317 w 231313"/>
              <a:gd name="connsiteY1" fmla="*/ 99 h 24118"/>
            </a:gdLst>
            <a:ahLst/>
            <a:cxnLst>
              <a:cxn ang="0">
                <a:pos x="connsiteX0" y="connsiteY0"/>
              </a:cxn>
              <a:cxn ang="0">
                <a:pos x="connsiteX1" y="connsiteY1"/>
              </a:cxn>
            </a:cxnLst>
            <a:rect l="l" t="t" r="r" b="b"/>
            <a:pathLst>
              <a:path w="231313" h="24118">
                <a:moveTo>
                  <a:pt x="3" y="99"/>
                </a:moveTo>
                <a:lnTo>
                  <a:pt x="231317" y="99"/>
                </a:lnTo>
              </a:path>
            </a:pathLst>
          </a:custGeom>
          <a:noFill/>
          <a:ln w="12055" cap="rnd">
            <a:solidFill>
              <a:srgbClr val="231F20"/>
            </a:solidFill>
            <a:prstDash val="solid"/>
            <a:round/>
          </a:ln>
        </p:spPr>
        <p:txBody>
          <a:bodyPr rtlCol="0" anchor="ctr"/>
          <a:lstStyle/>
          <a:p>
            <a:endParaRPr lang="pt-BR"/>
          </a:p>
        </p:txBody>
      </p:sp>
      <p:sp>
        <p:nvSpPr>
          <p:cNvPr id="258756" name="Freeform 258755">
            <a:extLst>
              <a:ext uri="{FF2B5EF4-FFF2-40B4-BE49-F238E27FC236}">
                <a16:creationId xmlns:a16="http://schemas.microsoft.com/office/drawing/2014/main" id="{FEB8703B-7A6B-4E4A-AB9F-FE7BC225E8B0}"/>
              </a:ext>
            </a:extLst>
          </p:cNvPr>
          <p:cNvSpPr/>
          <p:nvPr/>
        </p:nvSpPr>
        <p:spPr>
          <a:xfrm flipV="1">
            <a:off x="2305017" y="3578337"/>
            <a:ext cx="154209" cy="24118"/>
          </a:xfrm>
          <a:custGeom>
            <a:avLst/>
            <a:gdLst>
              <a:gd name="connsiteX0" fmla="*/ 7 w 154209"/>
              <a:gd name="connsiteY0" fmla="*/ 93 h 24118"/>
              <a:gd name="connsiteX1" fmla="*/ 154216 w 154209"/>
              <a:gd name="connsiteY1" fmla="*/ 93 h 24118"/>
            </a:gdLst>
            <a:ahLst/>
            <a:cxnLst>
              <a:cxn ang="0">
                <a:pos x="connsiteX0" y="connsiteY0"/>
              </a:cxn>
              <a:cxn ang="0">
                <a:pos x="connsiteX1" y="connsiteY1"/>
              </a:cxn>
            </a:cxnLst>
            <a:rect l="l" t="t" r="r" b="b"/>
            <a:pathLst>
              <a:path w="154209" h="24118">
                <a:moveTo>
                  <a:pt x="7" y="93"/>
                </a:moveTo>
                <a:lnTo>
                  <a:pt x="154216" y="93"/>
                </a:lnTo>
              </a:path>
            </a:pathLst>
          </a:custGeom>
          <a:noFill/>
          <a:ln w="12055" cap="rnd">
            <a:solidFill>
              <a:srgbClr val="231F20"/>
            </a:solidFill>
            <a:prstDash val="solid"/>
            <a:round/>
          </a:ln>
        </p:spPr>
        <p:txBody>
          <a:bodyPr rtlCol="0" anchor="ctr"/>
          <a:lstStyle/>
          <a:p>
            <a:endParaRPr lang="pt-BR"/>
          </a:p>
        </p:txBody>
      </p:sp>
      <p:sp>
        <p:nvSpPr>
          <p:cNvPr id="258757" name="Freeform 258756">
            <a:extLst>
              <a:ext uri="{FF2B5EF4-FFF2-40B4-BE49-F238E27FC236}">
                <a16:creationId xmlns:a16="http://schemas.microsoft.com/office/drawing/2014/main" id="{96F92B37-B5AA-694F-B15D-E1C0DFB2EF6C}"/>
              </a:ext>
            </a:extLst>
          </p:cNvPr>
          <p:cNvSpPr/>
          <p:nvPr/>
        </p:nvSpPr>
        <p:spPr>
          <a:xfrm rot="10800000" flipV="1">
            <a:off x="2537194" y="4624710"/>
            <a:ext cx="925254" cy="231200"/>
          </a:xfrm>
          <a:custGeom>
            <a:avLst/>
            <a:gdLst>
              <a:gd name="connsiteX0" fmla="*/ 0 w 925254"/>
              <a:gd name="connsiteY0" fmla="*/ 77 h 231200"/>
              <a:gd name="connsiteX1" fmla="*/ 925255 w 925254"/>
              <a:gd name="connsiteY1" fmla="*/ 77 h 231200"/>
              <a:gd name="connsiteX2" fmla="*/ 925255 w 925254"/>
              <a:gd name="connsiteY2" fmla="*/ 231277 h 231200"/>
              <a:gd name="connsiteX3" fmla="*/ 0 w 925254"/>
              <a:gd name="connsiteY3" fmla="*/ 231277 h 231200"/>
            </a:gdLst>
            <a:ahLst/>
            <a:cxnLst>
              <a:cxn ang="0">
                <a:pos x="connsiteX0" y="connsiteY0"/>
              </a:cxn>
              <a:cxn ang="0">
                <a:pos x="connsiteX1" y="connsiteY1"/>
              </a:cxn>
              <a:cxn ang="0">
                <a:pos x="connsiteX2" y="connsiteY2"/>
              </a:cxn>
              <a:cxn ang="0">
                <a:pos x="connsiteX3" y="connsiteY3"/>
              </a:cxn>
            </a:cxnLst>
            <a:rect l="l" t="t" r="r" b="b"/>
            <a:pathLst>
              <a:path w="925254" h="231200">
                <a:moveTo>
                  <a:pt x="0" y="77"/>
                </a:moveTo>
                <a:lnTo>
                  <a:pt x="925255" y="77"/>
                </a:lnTo>
                <a:lnTo>
                  <a:pt x="925255" y="231277"/>
                </a:lnTo>
                <a:lnTo>
                  <a:pt x="0" y="231277"/>
                </a:lnTo>
                <a:close/>
              </a:path>
            </a:pathLst>
          </a:custGeom>
          <a:solidFill>
            <a:srgbClr val="CCEEFB"/>
          </a:solidFill>
          <a:ln w="12055" cap="rnd">
            <a:solidFill>
              <a:srgbClr val="231F20"/>
            </a:solidFill>
            <a:prstDash val="solid"/>
            <a:miter/>
          </a:ln>
        </p:spPr>
        <p:txBody>
          <a:bodyPr rtlCol="0" anchor="ctr"/>
          <a:lstStyle/>
          <a:p>
            <a:pPr algn="ctr"/>
            <a:r>
              <a:rPr lang="pt-BR" sz="1200">
                <a:latin typeface="Calibri Light" panose="020F0302020204030204" pitchFamily="34" charset="0"/>
                <a:cs typeface="Calibri Light" panose="020F0302020204030204" pitchFamily="34" charset="0"/>
              </a:rPr>
              <a:t>sala</a:t>
            </a:r>
          </a:p>
        </p:txBody>
      </p:sp>
      <p:sp>
        <p:nvSpPr>
          <p:cNvPr id="258768" name="Freeform 258767">
            <a:extLst>
              <a:ext uri="{FF2B5EF4-FFF2-40B4-BE49-F238E27FC236}">
                <a16:creationId xmlns:a16="http://schemas.microsoft.com/office/drawing/2014/main" id="{1F3EBC69-4FF6-444F-9BA8-C574501B337D}"/>
              </a:ext>
            </a:extLst>
          </p:cNvPr>
          <p:cNvSpPr/>
          <p:nvPr/>
        </p:nvSpPr>
        <p:spPr>
          <a:xfrm rot="10800000" flipV="1">
            <a:off x="4156641" y="5164160"/>
            <a:ext cx="925259" cy="231198"/>
          </a:xfrm>
          <a:custGeom>
            <a:avLst/>
            <a:gdLst>
              <a:gd name="connsiteX0" fmla="*/ 0 w 925259"/>
              <a:gd name="connsiteY0" fmla="*/ 121 h 231198"/>
              <a:gd name="connsiteX1" fmla="*/ 925259 w 925259"/>
              <a:gd name="connsiteY1" fmla="*/ 121 h 231198"/>
              <a:gd name="connsiteX2" fmla="*/ 925259 w 925259"/>
              <a:gd name="connsiteY2" fmla="*/ 231320 h 231198"/>
              <a:gd name="connsiteX3" fmla="*/ 0 w 925259"/>
              <a:gd name="connsiteY3" fmla="*/ 231320 h 231198"/>
            </a:gdLst>
            <a:ahLst/>
            <a:cxnLst>
              <a:cxn ang="0">
                <a:pos x="connsiteX0" y="connsiteY0"/>
              </a:cxn>
              <a:cxn ang="0">
                <a:pos x="connsiteX1" y="connsiteY1"/>
              </a:cxn>
              <a:cxn ang="0">
                <a:pos x="connsiteX2" y="connsiteY2"/>
              </a:cxn>
              <a:cxn ang="0">
                <a:pos x="connsiteX3" y="connsiteY3"/>
              </a:cxn>
            </a:cxnLst>
            <a:rect l="l" t="t" r="r" b="b"/>
            <a:pathLst>
              <a:path w="925259" h="231198">
                <a:moveTo>
                  <a:pt x="0" y="121"/>
                </a:moveTo>
                <a:lnTo>
                  <a:pt x="925259" y="121"/>
                </a:lnTo>
                <a:lnTo>
                  <a:pt x="925259" y="231320"/>
                </a:lnTo>
                <a:lnTo>
                  <a:pt x="0" y="231320"/>
                </a:lnTo>
                <a:close/>
              </a:path>
            </a:pathLst>
          </a:custGeom>
          <a:solidFill>
            <a:srgbClr val="CCEEFB"/>
          </a:solidFill>
          <a:ln w="12055" cap="rnd">
            <a:solidFill>
              <a:srgbClr val="231F20"/>
            </a:solidFill>
            <a:prstDash val="solid"/>
            <a:miter/>
          </a:ln>
        </p:spPr>
        <p:txBody>
          <a:bodyPr rtlCol="0" anchor="ctr"/>
          <a:lstStyle/>
          <a:p>
            <a:pPr algn="ctr"/>
            <a:r>
              <a:rPr lang="pt-BR" sz="1200">
                <a:latin typeface="Calibri Light" panose="020F0302020204030204" pitchFamily="34" charset="0"/>
                <a:cs typeface="Calibri Light" panose="020F0302020204030204" pitchFamily="34" charset="0"/>
              </a:rPr>
              <a:t>ensina</a:t>
            </a:r>
          </a:p>
        </p:txBody>
      </p:sp>
      <p:sp>
        <p:nvSpPr>
          <p:cNvPr id="258777" name="Freeform 258776">
            <a:extLst>
              <a:ext uri="{FF2B5EF4-FFF2-40B4-BE49-F238E27FC236}">
                <a16:creationId xmlns:a16="http://schemas.microsoft.com/office/drawing/2014/main" id="{1332237F-E4FD-2046-B7DF-06703923ED50}"/>
              </a:ext>
            </a:extLst>
          </p:cNvPr>
          <p:cNvSpPr/>
          <p:nvPr/>
        </p:nvSpPr>
        <p:spPr>
          <a:xfrm rot="10800000" flipV="1">
            <a:off x="6163265" y="4472729"/>
            <a:ext cx="981056" cy="231104"/>
          </a:xfrm>
          <a:custGeom>
            <a:avLst/>
            <a:gdLst>
              <a:gd name="connsiteX0" fmla="*/ 0 w 848164"/>
              <a:gd name="connsiteY0" fmla="*/ 64 h 231104"/>
              <a:gd name="connsiteX1" fmla="*/ 848165 w 848164"/>
              <a:gd name="connsiteY1" fmla="*/ 64 h 231104"/>
              <a:gd name="connsiteX2" fmla="*/ 848165 w 848164"/>
              <a:gd name="connsiteY2" fmla="*/ 231168 h 231104"/>
              <a:gd name="connsiteX3" fmla="*/ 0 w 848164"/>
              <a:gd name="connsiteY3" fmla="*/ 231168 h 231104"/>
            </a:gdLst>
            <a:ahLst/>
            <a:cxnLst>
              <a:cxn ang="0">
                <a:pos x="connsiteX0" y="connsiteY0"/>
              </a:cxn>
              <a:cxn ang="0">
                <a:pos x="connsiteX1" y="connsiteY1"/>
              </a:cxn>
              <a:cxn ang="0">
                <a:pos x="connsiteX2" y="connsiteY2"/>
              </a:cxn>
              <a:cxn ang="0">
                <a:pos x="connsiteX3" y="connsiteY3"/>
              </a:cxn>
            </a:cxnLst>
            <a:rect l="l" t="t" r="r" b="b"/>
            <a:pathLst>
              <a:path w="848164" h="231104">
                <a:moveTo>
                  <a:pt x="0" y="64"/>
                </a:moveTo>
                <a:lnTo>
                  <a:pt x="848165" y="64"/>
                </a:lnTo>
                <a:lnTo>
                  <a:pt x="848165" y="231168"/>
                </a:lnTo>
                <a:lnTo>
                  <a:pt x="0" y="231168"/>
                </a:lnTo>
                <a:close/>
              </a:path>
            </a:pathLst>
          </a:custGeom>
          <a:solidFill>
            <a:srgbClr val="CCEEFB"/>
          </a:solidFill>
          <a:ln w="12055" cap="rnd">
            <a:solidFill>
              <a:srgbClr val="231F20"/>
            </a:solidFill>
            <a:prstDash val="solid"/>
            <a:miter/>
          </a:ln>
        </p:spPr>
        <p:txBody>
          <a:bodyPr rtlCol="0" anchor="ctr"/>
          <a:lstStyle/>
          <a:p>
            <a:pPr algn="ctr"/>
            <a:r>
              <a:rPr lang="pt-BR" sz="1200">
                <a:latin typeface="Calibri Light" panose="020F0302020204030204" pitchFamily="34" charset="0"/>
                <a:cs typeface="Calibri Light" panose="020F0302020204030204" pitchFamily="34" charset="0"/>
              </a:rPr>
              <a:t>pré-requisito</a:t>
            </a:r>
          </a:p>
        </p:txBody>
      </p:sp>
      <p:sp>
        <p:nvSpPr>
          <p:cNvPr id="258807" name="Freeform 258806">
            <a:extLst>
              <a:ext uri="{FF2B5EF4-FFF2-40B4-BE49-F238E27FC236}">
                <a16:creationId xmlns:a16="http://schemas.microsoft.com/office/drawing/2014/main" id="{DF77B311-B7FC-D44D-933B-E9CC05FCC851}"/>
              </a:ext>
            </a:extLst>
          </p:cNvPr>
          <p:cNvSpPr/>
          <p:nvPr/>
        </p:nvSpPr>
        <p:spPr>
          <a:xfrm flipV="1">
            <a:off x="6160147" y="2852278"/>
            <a:ext cx="848164" cy="770661"/>
          </a:xfrm>
          <a:custGeom>
            <a:avLst/>
            <a:gdLst>
              <a:gd name="connsiteX0" fmla="*/ 0 w 848164"/>
              <a:gd name="connsiteY0" fmla="*/ -48 h 770661"/>
              <a:gd name="connsiteX1" fmla="*/ 848165 w 848164"/>
              <a:gd name="connsiteY1" fmla="*/ -48 h 770661"/>
              <a:gd name="connsiteX2" fmla="*/ 848165 w 848164"/>
              <a:gd name="connsiteY2" fmla="*/ 770613 h 770661"/>
              <a:gd name="connsiteX3" fmla="*/ 0 w 848164"/>
              <a:gd name="connsiteY3" fmla="*/ 770613 h 770661"/>
            </a:gdLst>
            <a:ahLst/>
            <a:cxnLst>
              <a:cxn ang="0">
                <a:pos x="connsiteX0" y="connsiteY0"/>
              </a:cxn>
              <a:cxn ang="0">
                <a:pos x="connsiteX1" y="connsiteY1"/>
              </a:cxn>
              <a:cxn ang="0">
                <a:pos x="connsiteX2" y="connsiteY2"/>
              </a:cxn>
              <a:cxn ang="0">
                <a:pos x="connsiteX3" y="connsiteY3"/>
              </a:cxn>
            </a:cxnLst>
            <a:rect l="l" t="t" r="r" b="b"/>
            <a:pathLst>
              <a:path w="848164" h="770661">
                <a:moveTo>
                  <a:pt x="0" y="-48"/>
                </a:moveTo>
                <a:lnTo>
                  <a:pt x="848165" y="-48"/>
                </a:lnTo>
                <a:lnTo>
                  <a:pt x="848165" y="770613"/>
                </a:lnTo>
                <a:lnTo>
                  <a:pt x="0" y="770613"/>
                </a:lnTo>
                <a:close/>
              </a:path>
            </a:pathLst>
          </a:custGeom>
          <a:noFill/>
          <a:ln w="12055" cap="rnd">
            <a:solidFill>
              <a:srgbClr val="231F20"/>
            </a:solidFill>
            <a:prstDash val="solid"/>
            <a:miter/>
          </a:ln>
        </p:spPr>
        <p:txBody>
          <a:bodyPr rtlCol="0" anchor="ctr"/>
          <a:lstStyle/>
          <a:p>
            <a:endParaRPr lang="pt-BR"/>
          </a:p>
        </p:txBody>
      </p:sp>
      <p:sp>
        <p:nvSpPr>
          <p:cNvPr id="258843" name="Freeform 258842">
            <a:extLst>
              <a:ext uri="{FF2B5EF4-FFF2-40B4-BE49-F238E27FC236}">
                <a16:creationId xmlns:a16="http://schemas.microsoft.com/office/drawing/2014/main" id="{6FB335E2-B881-5C40-972B-B015A2769293}"/>
              </a:ext>
            </a:extLst>
          </p:cNvPr>
          <p:cNvSpPr/>
          <p:nvPr/>
        </p:nvSpPr>
        <p:spPr>
          <a:xfrm rot="10800000" flipV="1">
            <a:off x="6160147" y="2636309"/>
            <a:ext cx="848164" cy="231200"/>
          </a:xfrm>
          <a:custGeom>
            <a:avLst/>
            <a:gdLst>
              <a:gd name="connsiteX0" fmla="*/ 0 w 848164"/>
              <a:gd name="connsiteY0" fmla="*/ -89 h 231200"/>
              <a:gd name="connsiteX1" fmla="*/ 848165 w 848164"/>
              <a:gd name="connsiteY1" fmla="*/ -89 h 231200"/>
              <a:gd name="connsiteX2" fmla="*/ 848165 w 848164"/>
              <a:gd name="connsiteY2" fmla="*/ 231111 h 231200"/>
              <a:gd name="connsiteX3" fmla="*/ 0 w 848164"/>
              <a:gd name="connsiteY3" fmla="*/ 231111 h 231200"/>
            </a:gdLst>
            <a:ahLst/>
            <a:cxnLst>
              <a:cxn ang="0">
                <a:pos x="connsiteX0" y="connsiteY0"/>
              </a:cxn>
              <a:cxn ang="0">
                <a:pos x="connsiteX1" y="connsiteY1"/>
              </a:cxn>
              <a:cxn ang="0">
                <a:pos x="connsiteX2" y="connsiteY2"/>
              </a:cxn>
              <a:cxn ang="0">
                <a:pos x="connsiteX3" y="connsiteY3"/>
              </a:cxn>
            </a:cxnLst>
            <a:rect l="l" t="t" r="r" b="b"/>
            <a:pathLst>
              <a:path w="848164" h="231200">
                <a:moveTo>
                  <a:pt x="0" y="-89"/>
                </a:moveTo>
                <a:lnTo>
                  <a:pt x="848165" y="-89"/>
                </a:lnTo>
                <a:lnTo>
                  <a:pt x="848165" y="231111"/>
                </a:lnTo>
                <a:lnTo>
                  <a:pt x="0" y="231111"/>
                </a:lnTo>
                <a:close/>
              </a:path>
            </a:pathLst>
          </a:custGeom>
          <a:solidFill>
            <a:srgbClr val="CCEEFB"/>
          </a:solidFill>
          <a:ln w="12055" cap="rnd">
            <a:solidFill>
              <a:srgbClr val="231F20"/>
            </a:solidFill>
            <a:prstDash val="solid"/>
            <a:miter/>
          </a:ln>
        </p:spPr>
        <p:txBody>
          <a:bodyPr rtlCol="0" anchor="ctr"/>
          <a:lstStyle/>
          <a:p>
            <a:pPr algn="ctr"/>
            <a:r>
              <a:rPr lang="pt-BR" sz="1200">
                <a:latin typeface="Calibri Light" panose="020F0302020204030204" pitchFamily="34" charset="0"/>
                <a:cs typeface="Calibri Light" panose="020F0302020204030204" pitchFamily="34" charset="0"/>
              </a:rPr>
              <a:t>disciplina</a:t>
            </a:r>
          </a:p>
        </p:txBody>
      </p:sp>
      <p:sp>
        <p:nvSpPr>
          <p:cNvPr id="258851" name="Freeform 258850">
            <a:extLst>
              <a:ext uri="{FF2B5EF4-FFF2-40B4-BE49-F238E27FC236}">
                <a16:creationId xmlns:a16="http://schemas.microsoft.com/office/drawing/2014/main" id="{989C5E5B-7523-6E43-8010-A6FEFD5CAAB5}"/>
              </a:ext>
            </a:extLst>
          </p:cNvPr>
          <p:cNvSpPr/>
          <p:nvPr/>
        </p:nvSpPr>
        <p:spPr>
          <a:xfrm rot="10800000" flipV="1">
            <a:off x="7779356" y="1619216"/>
            <a:ext cx="848140" cy="638127"/>
          </a:xfrm>
          <a:custGeom>
            <a:avLst/>
            <a:gdLst>
              <a:gd name="connsiteX0" fmla="*/ 0 w 848140"/>
              <a:gd name="connsiteY0" fmla="*/ -153 h 693602"/>
              <a:gd name="connsiteX1" fmla="*/ 848141 w 848140"/>
              <a:gd name="connsiteY1" fmla="*/ -153 h 693602"/>
              <a:gd name="connsiteX2" fmla="*/ 848141 w 848140"/>
              <a:gd name="connsiteY2" fmla="*/ 693449 h 693602"/>
              <a:gd name="connsiteX3" fmla="*/ 0 w 848140"/>
              <a:gd name="connsiteY3" fmla="*/ 693449 h 693602"/>
            </a:gdLst>
            <a:ahLst/>
            <a:cxnLst>
              <a:cxn ang="0">
                <a:pos x="connsiteX0" y="connsiteY0"/>
              </a:cxn>
              <a:cxn ang="0">
                <a:pos x="connsiteX1" y="connsiteY1"/>
              </a:cxn>
              <a:cxn ang="0">
                <a:pos x="connsiteX2" y="connsiteY2"/>
              </a:cxn>
              <a:cxn ang="0">
                <a:pos x="connsiteX3" y="connsiteY3"/>
              </a:cxn>
            </a:cxnLst>
            <a:rect l="l" t="t" r="r" b="b"/>
            <a:pathLst>
              <a:path w="848140" h="693602">
                <a:moveTo>
                  <a:pt x="0" y="-153"/>
                </a:moveTo>
                <a:lnTo>
                  <a:pt x="848141" y="-153"/>
                </a:lnTo>
                <a:lnTo>
                  <a:pt x="848141" y="693449"/>
                </a:lnTo>
                <a:lnTo>
                  <a:pt x="0" y="693449"/>
                </a:lnTo>
                <a:close/>
              </a:path>
            </a:pathLst>
          </a:custGeom>
          <a:noFill/>
          <a:ln w="12055" cap="rnd">
            <a:solidFill>
              <a:srgbClr val="231F20"/>
            </a:solidFill>
            <a:prstDash val="solid"/>
            <a:miter/>
          </a:ln>
        </p:spPr>
        <p:txBody>
          <a:bodyPr rtlCol="0" anchor="ctr"/>
          <a:lstStyle/>
          <a:p>
            <a:endParaRPr lang="pt-BR"/>
          </a:p>
        </p:txBody>
      </p:sp>
      <p:sp>
        <p:nvSpPr>
          <p:cNvPr id="258852" name="Freeform 258851">
            <a:extLst>
              <a:ext uri="{FF2B5EF4-FFF2-40B4-BE49-F238E27FC236}">
                <a16:creationId xmlns:a16="http://schemas.microsoft.com/office/drawing/2014/main" id="{67271963-B79E-824A-976F-38AE4A2D10A2}"/>
              </a:ext>
            </a:extLst>
          </p:cNvPr>
          <p:cNvSpPr/>
          <p:nvPr/>
        </p:nvSpPr>
        <p:spPr>
          <a:xfrm rot="10800000" flipV="1">
            <a:off x="7779356" y="1388015"/>
            <a:ext cx="848140" cy="231200"/>
          </a:xfrm>
          <a:custGeom>
            <a:avLst/>
            <a:gdLst>
              <a:gd name="connsiteX0" fmla="*/ 0 w 848140"/>
              <a:gd name="connsiteY0" fmla="*/ -192 h 231200"/>
              <a:gd name="connsiteX1" fmla="*/ 848141 w 848140"/>
              <a:gd name="connsiteY1" fmla="*/ -192 h 231200"/>
              <a:gd name="connsiteX2" fmla="*/ 848141 w 848140"/>
              <a:gd name="connsiteY2" fmla="*/ 231009 h 231200"/>
              <a:gd name="connsiteX3" fmla="*/ 0 w 848140"/>
              <a:gd name="connsiteY3" fmla="*/ 231009 h 231200"/>
            </a:gdLst>
            <a:ahLst/>
            <a:cxnLst>
              <a:cxn ang="0">
                <a:pos x="connsiteX0" y="connsiteY0"/>
              </a:cxn>
              <a:cxn ang="0">
                <a:pos x="connsiteX1" y="connsiteY1"/>
              </a:cxn>
              <a:cxn ang="0">
                <a:pos x="connsiteX2" y="connsiteY2"/>
              </a:cxn>
              <a:cxn ang="0">
                <a:pos x="connsiteX3" y="connsiteY3"/>
              </a:cxn>
            </a:cxnLst>
            <a:rect l="l" t="t" r="r" b="b"/>
            <a:pathLst>
              <a:path w="848140" h="231200">
                <a:moveTo>
                  <a:pt x="0" y="-192"/>
                </a:moveTo>
                <a:lnTo>
                  <a:pt x="848141" y="-192"/>
                </a:lnTo>
                <a:lnTo>
                  <a:pt x="848141" y="231009"/>
                </a:lnTo>
                <a:lnTo>
                  <a:pt x="0" y="231009"/>
                </a:lnTo>
                <a:close/>
              </a:path>
            </a:pathLst>
          </a:custGeom>
          <a:solidFill>
            <a:srgbClr val="CCEEFB"/>
          </a:solidFill>
          <a:ln w="12055" cap="rnd">
            <a:solidFill>
              <a:srgbClr val="231F20"/>
            </a:solidFill>
            <a:prstDash val="solid"/>
            <a:miter/>
          </a:ln>
        </p:spPr>
        <p:txBody>
          <a:bodyPr rtlCol="0" anchor="ctr"/>
          <a:lstStyle/>
          <a:p>
            <a:pPr algn="ctr"/>
            <a:r>
              <a:rPr lang="pt-BR" sz="1100" dirty="0">
                <a:latin typeface="Calibri Light" panose="020F0302020204030204" pitchFamily="34" charset="0"/>
                <a:cs typeface="Calibri Light" panose="020F0302020204030204" pitchFamily="34" charset="0"/>
              </a:rPr>
              <a:t>aluno</a:t>
            </a:r>
          </a:p>
        </p:txBody>
      </p:sp>
      <p:sp>
        <p:nvSpPr>
          <p:cNvPr id="258861" name="Freeform 258860">
            <a:extLst>
              <a:ext uri="{FF2B5EF4-FFF2-40B4-BE49-F238E27FC236}">
                <a16:creationId xmlns:a16="http://schemas.microsoft.com/office/drawing/2014/main" id="{6BDBBF45-ADCD-7B45-8C81-D3E8DB5842D6}"/>
              </a:ext>
            </a:extLst>
          </p:cNvPr>
          <p:cNvSpPr/>
          <p:nvPr/>
        </p:nvSpPr>
        <p:spPr>
          <a:xfrm>
            <a:off x="5234149" y="1766160"/>
            <a:ext cx="2545205" cy="45719"/>
          </a:xfrm>
          <a:custGeom>
            <a:avLst/>
            <a:gdLst>
              <a:gd name="connsiteX0" fmla="*/ 4633 w 2703200"/>
              <a:gd name="connsiteY0" fmla="*/ 33918 h 77066"/>
              <a:gd name="connsiteX1" fmla="*/ 2639207 w 2703200"/>
              <a:gd name="connsiteY1" fmla="*/ 33918 h 77066"/>
              <a:gd name="connsiteX2" fmla="*/ 2642295 w 2703200"/>
              <a:gd name="connsiteY2" fmla="*/ 35425 h 77066"/>
              <a:gd name="connsiteX3" fmla="*/ 2643912 w 2703200"/>
              <a:gd name="connsiteY3" fmla="*/ 38534 h 77066"/>
              <a:gd name="connsiteX4" fmla="*/ 2642295 w 2703200"/>
              <a:gd name="connsiteY4" fmla="*/ 41549 h 77066"/>
              <a:gd name="connsiteX5" fmla="*/ 2639207 w 2703200"/>
              <a:gd name="connsiteY5" fmla="*/ 43151 h 77066"/>
              <a:gd name="connsiteX6" fmla="*/ 4633 w 2703200"/>
              <a:gd name="connsiteY6" fmla="*/ 43151 h 77066"/>
              <a:gd name="connsiteX7" fmla="*/ 1520 w 2703200"/>
              <a:gd name="connsiteY7" fmla="*/ 41549 h 77066"/>
              <a:gd name="connsiteX8" fmla="*/ 0 w 2703200"/>
              <a:gd name="connsiteY8" fmla="*/ 38534 h 77066"/>
              <a:gd name="connsiteX9" fmla="*/ 1520 w 2703200"/>
              <a:gd name="connsiteY9" fmla="*/ 35425 h 77066"/>
              <a:gd name="connsiteX10" fmla="*/ 2626104 w 2703200"/>
              <a:gd name="connsiteY10" fmla="*/ 0 h 77066"/>
              <a:gd name="connsiteX11" fmla="*/ 2703201 w 2703200"/>
              <a:gd name="connsiteY11" fmla="*/ 38534 h 77066"/>
              <a:gd name="connsiteX12" fmla="*/ 2626104 w 2703200"/>
              <a:gd name="connsiteY12" fmla="*/ 77066 h 77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03200" h="77066">
                <a:moveTo>
                  <a:pt x="4633" y="33918"/>
                </a:moveTo>
                <a:lnTo>
                  <a:pt x="2639207" y="33918"/>
                </a:lnTo>
                <a:lnTo>
                  <a:pt x="2642295" y="35425"/>
                </a:lnTo>
                <a:lnTo>
                  <a:pt x="2643912" y="38534"/>
                </a:lnTo>
                <a:lnTo>
                  <a:pt x="2642295" y="41549"/>
                </a:lnTo>
                <a:lnTo>
                  <a:pt x="2639207" y="43151"/>
                </a:lnTo>
                <a:lnTo>
                  <a:pt x="4633" y="43151"/>
                </a:lnTo>
                <a:lnTo>
                  <a:pt x="1520" y="41549"/>
                </a:lnTo>
                <a:lnTo>
                  <a:pt x="0" y="38534"/>
                </a:lnTo>
                <a:lnTo>
                  <a:pt x="1520" y="35425"/>
                </a:lnTo>
                <a:close/>
                <a:moveTo>
                  <a:pt x="2626104" y="0"/>
                </a:moveTo>
                <a:lnTo>
                  <a:pt x="2703201" y="38534"/>
                </a:lnTo>
                <a:lnTo>
                  <a:pt x="2626104" y="77066"/>
                </a:lnTo>
              </a:path>
            </a:pathLst>
          </a:custGeom>
          <a:solidFill>
            <a:srgbClr val="231F20"/>
          </a:solidFill>
          <a:ln w="24109" cap="flat">
            <a:noFill/>
            <a:prstDash val="solid"/>
            <a:miter/>
          </a:ln>
        </p:spPr>
        <p:txBody>
          <a:bodyPr rtlCol="0" anchor="ctr"/>
          <a:lstStyle/>
          <a:p>
            <a:endParaRPr lang="pt-BR"/>
          </a:p>
        </p:txBody>
      </p:sp>
      <p:sp>
        <p:nvSpPr>
          <p:cNvPr id="258862" name="Freeform 258861">
            <a:extLst>
              <a:ext uri="{FF2B5EF4-FFF2-40B4-BE49-F238E27FC236}">
                <a16:creationId xmlns:a16="http://schemas.microsoft.com/office/drawing/2014/main" id="{A6E55290-302A-9044-8815-1D83BEBDE5CA}"/>
              </a:ext>
            </a:extLst>
          </p:cNvPr>
          <p:cNvSpPr/>
          <p:nvPr/>
        </p:nvSpPr>
        <p:spPr>
          <a:xfrm rot="10800000" flipV="1">
            <a:off x="7779355" y="3083479"/>
            <a:ext cx="997725" cy="616422"/>
          </a:xfrm>
          <a:custGeom>
            <a:avLst/>
            <a:gdLst>
              <a:gd name="connsiteX0" fmla="*/ 0 w 848140"/>
              <a:gd name="connsiteY0" fmla="*/ -35 h 616422"/>
              <a:gd name="connsiteX1" fmla="*/ 848141 w 848140"/>
              <a:gd name="connsiteY1" fmla="*/ -35 h 616422"/>
              <a:gd name="connsiteX2" fmla="*/ 848141 w 848140"/>
              <a:gd name="connsiteY2" fmla="*/ 616388 h 616422"/>
              <a:gd name="connsiteX3" fmla="*/ 0 w 848140"/>
              <a:gd name="connsiteY3" fmla="*/ 616388 h 616422"/>
            </a:gdLst>
            <a:ahLst/>
            <a:cxnLst>
              <a:cxn ang="0">
                <a:pos x="connsiteX0" y="connsiteY0"/>
              </a:cxn>
              <a:cxn ang="0">
                <a:pos x="connsiteX1" y="connsiteY1"/>
              </a:cxn>
              <a:cxn ang="0">
                <a:pos x="connsiteX2" y="connsiteY2"/>
              </a:cxn>
              <a:cxn ang="0">
                <a:pos x="connsiteX3" y="connsiteY3"/>
              </a:cxn>
            </a:cxnLst>
            <a:rect l="l" t="t" r="r" b="b"/>
            <a:pathLst>
              <a:path w="848140" h="616422">
                <a:moveTo>
                  <a:pt x="0" y="-35"/>
                </a:moveTo>
                <a:lnTo>
                  <a:pt x="848141" y="-35"/>
                </a:lnTo>
                <a:lnTo>
                  <a:pt x="848141" y="616388"/>
                </a:lnTo>
                <a:lnTo>
                  <a:pt x="0" y="616388"/>
                </a:lnTo>
                <a:close/>
              </a:path>
            </a:pathLst>
          </a:custGeom>
          <a:noFill/>
          <a:ln w="12055" cap="rnd">
            <a:solidFill>
              <a:srgbClr val="231F20"/>
            </a:solidFill>
            <a:prstDash val="solid"/>
            <a:miter/>
          </a:ln>
        </p:spPr>
        <p:txBody>
          <a:bodyPr rtlCol="0" anchor="ctr"/>
          <a:lstStyle/>
          <a:p>
            <a:endParaRPr lang="pt-BR"/>
          </a:p>
        </p:txBody>
      </p:sp>
      <p:sp>
        <p:nvSpPr>
          <p:cNvPr id="258890" name="Freeform 258889">
            <a:extLst>
              <a:ext uri="{FF2B5EF4-FFF2-40B4-BE49-F238E27FC236}">
                <a16:creationId xmlns:a16="http://schemas.microsoft.com/office/drawing/2014/main" id="{CA971F71-26F3-A04A-AC4E-64C23E67CC55}"/>
              </a:ext>
            </a:extLst>
          </p:cNvPr>
          <p:cNvSpPr/>
          <p:nvPr/>
        </p:nvSpPr>
        <p:spPr>
          <a:xfrm rot="10800000" flipV="1">
            <a:off x="7779350" y="2851687"/>
            <a:ext cx="997731" cy="231200"/>
          </a:xfrm>
          <a:custGeom>
            <a:avLst/>
            <a:gdLst>
              <a:gd name="connsiteX0" fmla="*/ 0 w 848140"/>
              <a:gd name="connsiteY0" fmla="*/ -70 h 231200"/>
              <a:gd name="connsiteX1" fmla="*/ 848141 w 848140"/>
              <a:gd name="connsiteY1" fmla="*/ -70 h 231200"/>
              <a:gd name="connsiteX2" fmla="*/ 848141 w 848140"/>
              <a:gd name="connsiteY2" fmla="*/ 231130 h 231200"/>
              <a:gd name="connsiteX3" fmla="*/ 0 w 848140"/>
              <a:gd name="connsiteY3" fmla="*/ 231130 h 231200"/>
            </a:gdLst>
            <a:ahLst/>
            <a:cxnLst>
              <a:cxn ang="0">
                <a:pos x="connsiteX0" y="connsiteY0"/>
              </a:cxn>
              <a:cxn ang="0">
                <a:pos x="connsiteX1" y="connsiteY1"/>
              </a:cxn>
              <a:cxn ang="0">
                <a:pos x="connsiteX2" y="connsiteY2"/>
              </a:cxn>
              <a:cxn ang="0">
                <a:pos x="connsiteX3" y="connsiteY3"/>
              </a:cxn>
            </a:cxnLst>
            <a:rect l="l" t="t" r="r" b="b"/>
            <a:pathLst>
              <a:path w="848140" h="231200">
                <a:moveTo>
                  <a:pt x="0" y="-70"/>
                </a:moveTo>
                <a:lnTo>
                  <a:pt x="848141" y="-70"/>
                </a:lnTo>
                <a:lnTo>
                  <a:pt x="848141" y="231130"/>
                </a:lnTo>
                <a:lnTo>
                  <a:pt x="0" y="231130"/>
                </a:lnTo>
                <a:close/>
              </a:path>
            </a:pathLst>
          </a:custGeom>
          <a:solidFill>
            <a:srgbClr val="CCEEFB"/>
          </a:solidFill>
          <a:ln w="12055" cap="rnd">
            <a:solidFill>
              <a:srgbClr val="231F20"/>
            </a:solidFill>
            <a:prstDash val="solid"/>
            <a:miter/>
          </a:ln>
        </p:spPr>
        <p:txBody>
          <a:bodyPr rtlCol="0" anchor="ctr"/>
          <a:lstStyle/>
          <a:p>
            <a:pPr algn="ctr"/>
            <a:r>
              <a:rPr lang="pt-BR" sz="1100" dirty="0">
                <a:latin typeface="Calibri Light" panose="020F0302020204030204" pitchFamily="34" charset="0"/>
                <a:cs typeface="Calibri Light" panose="020F0302020204030204" pitchFamily="34" charset="0"/>
              </a:rPr>
              <a:t>departamento</a:t>
            </a:r>
          </a:p>
        </p:txBody>
      </p:sp>
      <p:sp>
        <p:nvSpPr>
          <p:cNvPr id="258902" name="Freeform 258901">
            <a:extLst>
              <a:ext uri="{FF2B5EF4-FFF2-40B4-BE49-F238E27FC236}">
                <a16:creationId xmlns:a16="http://schemas.microsoft.com/office/drawing/2014/main" id="{CBAE2D96-4010-5247-8B8B-4418EF852CE7}"/>
              </a:ext>
            </a:extLst>
          </p:cNvPr>
          <p:cNvSpPr/>
          <p:nvPr/>
        </p:nvSpPr>
        <p:spPr>
          <a:xfrm flipV="1">
            <a:off x="8010668" y="4701776"/>
            <a:ext cx="771047" cy="693596"/>
          </a:xfrm>
          <a:custGeom>
            <a:avLst/>
            <a:gdLst>
              <a:gd name="connsiteX0" fmla="*/ 771290 w 771047"/>
              <a:gd name="connsiteY0" fmla="*/ 693763 h 693596"/>
              <a:gd name="connsiteX1" fmla="*/ 243 w 771047"/>
              <a:gd name="connsiteY1" fmla="*/ 693763 h 693596"/>
              <a:gd name="connsiteX2" fmla="*/ 243 w 771047"/>
              <a:gd name="connsiteY2" fmla="*/ 166 h 693596"/>
              <a:gd name="connsiteX3" fmla="*/ 771290 w 771047"/>
              <a:gd name="connsiteY3" fmla="*/ 166 h 693596"/>
            </a:gdLst>
            <a:ahLst/>
            <a:cxnLst>
              <a:cxn ang="0">
                <a:pos x="connsiteX0" y="connsiteY0"/>
              </a:cxn>
              <a:cxn ang="0">
                <a:pos x="connsiteX1" y="connsiteY1"/>
              </a:cxn>
              <a:cxn ang="0">
                <a:pos x="connsiteX2" y="connsiteY2"/>
              </a:cxn>
              <a:cxn ang="0">
                <a:pos x="connsiteX3" y="connsiteY3"/>
              </a:cxn>
            </a:cxnLst>
            <a:rect l="l" t="t" r="r" b="b"/>
            <a:pathLst>
              <a:path w="771047" h="693596">
                <a:moveTo>
                  <a:pt x="771290" y="693763"/>
                </a:moveTo>
                <a:lnTo>
                  <a:pt x="243" y="693763"/>
                </a:lnTo>
                <a:lnTo>
                  <a:pt x="243" y="166"/>
                </a:lnTo>
                <a:lnTo>
                  <a:pt x="771290" y="166"/>
                </a:lnTo>
                <a:close/>
              </a:path>
            </a:pathLst>
          </a:custGeom>
          <a:noFill/>
          <a:ln w="12055" cap="rnd">
            <a:solidFill>
              <a:srgbClr val="231F20"/>
            </a:solidFill>
            <a:prstDash val="solid"/>
            <a:miter/>
          </a:ln>
        </p:spPr>
        <p:txBody>
          <a:bodyPr rtlCol="0" anchor="ctr"/>
          <a:lstStyle/>
          <a:p>
            <a:endParaRPr lang="pt-BR"/>
          </a:p>
        </p:txBody>
      </p:sp>
      <p:sp>
        <p:nvSpPr>
          <p:cNvPr id="258903" name="Freeform 258902">
            <a:extLst>
              <a:ext uri="{FF2B5EF4-FFF2-40B4-BE49-F238E27FC236}">
                <a16:creationId xmlns:a16="http://schemas.microsoft.com/office/drawing/2014/main" id="{5D91AE46-DDCA-6D48-81B0-4FBC4094B678}"/>
              </a:ext>
            </a:extLst>
          </p:cNvPr>
          <p:cNvSpPr/>
          <p:nvPr/>
        </p:nvSpPr>
        <p:spPr>
          <a:xfrm>
            <a:off x="8007556" y="4471855"/>
            <a:ext cx="771043" cy="231104"/>
          </a:xfrm>
          <a:custGeom>
            <a:avLst/>
            <a:gdLst>
              <a:gd name="connsiteX0" fmla="*/ 0 w 771043"/>
              <a:gd name="connsiteY0" fmla="*/ 231104 h 231104"/>
              <a:gd name="connsiteX1" fmla="*/ 771044 w 771043"/>
              <a:gd name="connsiteY1" fmla="*/ 231104 h 231104"/>
              <a:gd name="connsiteX2" fmla="*/ 771044 w 771043"/>
              <a:gd name="connsiteY2" fmla="*/ 0 h 231104"/>
              <a:gd name="connsiteX3" fmla="*/ 0 w 771043"/>
              <a:gd name="connsiteY3" fmla="*/ 0 h 231104"/>
            </a:gdLst>
            <a:ahLst/>
            <a:cxnLst>
              <a:cxn ang="0">
                <a:pos x="connsiteX0" y="connsiteY0"/>
              </a:cxn>
              <a:cxn ang="0">
                <a:pos x="connsiteX1" y="connsiteY1"/>
              </a:cxn>
              <a:cxn ang="0">
                <a:pos x="connsiteX2" y="connsiteY2"/>
              </a:cxn>
              <a:cxn ang="0">
                <a:pos x="connsiteX3" y="connsiteY3"/>
              </a:cxn>
            </a:cxnLst>
            <a:rect l="l" t="t" r="r" b="b"/>
            <a:pathLst>
              <a:path w="771043" h="231104">
                <a:moveTo>
                  <a:pt x="0" y="231104"/>
                </a:moveTo>
                <a:lnTo>
                  <a:pt x="771044" y="231104"/>
                </a:lnTo>
                <a:lnTo>
                  <a:pt x="771044" y="0"/>
                </a:lnTo>
                <a:lnTo>
                  <a:pt x="0" y="0"/>
                </a:lnTo>
                <a:close/>
              </a:path>
            </a:pathLst>
          </a:custGeom>
          <a:solidFill>
            <a:srgbClr val="CCEEFB"/>
          </a:solidFill>
          <a:ln w="24109" cap="flat">
            <a:noFill/>
            <a:prstDash val="solid"/>
            <a:miter/>
          </a:ln>
        </p:spPr>
        <p:txBody>
          <a:bodyPr rtlCol="0" anchor="ctr"/>
          <a:lstStyle/>
          <a:p>
            <a:endParaRPr lang="pt-BR"/>
          </a:p>
        </p:txBody>
      </p:sp>
      <p:sp>
        <p:nvSpPr>
          <p:cNvPr id="258904" name="Freeform 258903">
            <a:extLst>
              <a:ext uri="{FF2B5EF4-FFF2-40B4-BE49-F238E27FC236}">
                <a16:creationId xmlns:a16="http://schemas.microsoft.com/office/drawing/2014/main" id="{89BCFCC6-C9F7-B749-9097-7756C5F400A2}"/>
              </a:ext>
            </a:extLst>
          </p:cNvPr>
          <p:cNvSpPr/>
          <p:nvPr/>
        </p:nvSpPr>
        <p:spPr>
          <a:xfrm rot="10800000" flipV="1">
            <a:off x="8010668" y="4470671"/>
            <a:ext cx="771047" cy="231104"/>
          </a:xfrm>
          <a:custGeom>
            <a:avLst/>
            <a:gdLst>
              <a:gd name="connsiteX0" fmla="*/ 771290 w 771047"/>
              <a:gd name="connsiteY0" fmla="*/ 231243 h 231104"/>
              <a:gd name="connsiteX1" fmla="*/ 243 w 771047"/>
              <a:gd name="connsiteY1" fmla="*/ 231243 h 231104"/>
              <a:gd name="connsiteX2" fmla="*/ 243 w 771047"/>
              <a:gd name="connsiteY2" fmla="*/ 138 h 231104"/>
              <a:gd name="connsiteX3" fmla="*/ 771290 w 771047"/>
              <a:gd name="connsiteY3" fmla="*/ 138 h 231104"/>
            </a:gdLst>
            <a:ahLst/>
            <a:cxnLst>
              <a:cxn ang="0">
                <a:pos x="connsiteX0" y="connsiteY0"/>
              </a:cxn>
              <a:cxn ang="0">
                <a:pos x="connsiteX1" y="connsiteY1"/>
              </a:cxn>
              <a:cxn ang="0">
                <a:pos x="connsiteX2" y="connsiteY2"/>
              </a:cxn>
              <a:cxn ang="0">
                <a:pos x="connsiteX3" y="connsiteY3"/>
              </a:cxn>
            </a:cxnLst>
            <a:rect l="l" t="t" r="r" b="b"/>
            <a:pathLst>
              <a:path w="771047" h="231104">
                <a:moveTo>
                  <a:pt x="771290" y="231243"/>
                </a:moveTo>
                <a:lnTo>
                  <a:pt x="243" y="231243"/>
                </a:lnTo>
                <a:lnTo>
                  <a:pt x="243" y="138"/>
                </a:lnTo>
                <a:lnTo>
                  <a:pt x="771290" y="138"/>
                </a:lnTo>
                <a:close/>
              </a:path>
            </a:pathLst>
          </a:custGeom>
          <a:noFill/>
          <a:ln w="12055" cap="rnd">
            <a:solidFill>
              <a:srgbClr val="231F20"/>
            </a:solidFill>
            <a:prstDash val="solid"/>
            <a:miter/>
          </a:ln>
        </p:spPr>
        <p:txBody>
          <a:bodyPr rtlCol="0" anchor="ctr"/>
          <a:lstStyle/>
          <a:p>
            <a:pPr algn="ctr"/>
            <a:r>
              <a:rPr lang="pt-BR" sz="1100" dirty="0">
                <a:latin typeface="Calibri Light" panose="020F0302020204030204" pitchFamily="34" charset="0"/>
                <a:cs typeface="Calibri Light" panose="020F0302020204030204" pitchFamily="34" charset="0"/>
              </a:rPr>
              <a:t>professor</a:t>
            </a:r>
          </a:p>
        </p:txBody>
      </p:sp>
      <p:sp>
        <p:nvSpPr>
          <p:cNvPr id="258942" name="Freeform 258941">
            <a:extLst>
              <a:ext uri="{FF2B5EF4-FFF2-40B4-BE49-F238E27FC236}">
                <a16:creationId xmlns:a16="http://schemas.microsoft.com/office/drawing/2014/main" id="{AE71A222-C55E-5E48-8A51-8E352CB27DD2}"/>
              </a:ext>
            </a:extLst>
          </p:cNvPr>
          <p:cNvSpPr/>
          <p:nvPr/>
        </p:nvSpPr>
        <p:spPr>
          <a:xfrm rot="10800000" flipV="1">
            <a:off x="9181755" y="2867508"/>
            <a:ext cx="987828" cy="215969"/>
          </a:xfrm>
          <a:custGeom>
            <a:avLst/>
            <a:gdLst>
              <a:gd name="connsiteX0" fmla="*/ 0 w 693946"/>
              <a:gd name="connsiteY0" fmla="*/ -70 h 231200"/>
              <a:gd name="connsiteX1" fmla="*/ 693946 w 693946"/>
              <a:gd name="connsiteY1" fmla="*/ -70 h 231200"/>
              <a:gd name="connsiteX2" fmla="*/ 693946 w 693946"/>
              <a:gd name="connsiteY2" fmla="*/ 231130 h 231200"/>
              <a:gd name="connsiteX3" fmla="*/ 0 w 693946"/>
              <a:gd name="connsiteY3" fmla="*/ 231130 h 231200"/>
            </a:gdLst>
            <a:ahLst/>
            <a:cxnLst>
              <a:cxn ang="0">
                <a:pos x="connsiteX0" y="connsiteY0"/>
              </a:cxn>
              <a:cxn ang="0">
                <a:pos x="connsiteX1" y="connsiteY1"/>
              </a:cxn>
              <a:cxn ang="0">
                <a:pos x="connsiteX2" y="connsiteY2"/>
              </a:cxn>
              <a:cxn ang="0">
                <a:pos x="connsiteX3" y="connsiteY3"/>
              </a:cxn>
            </a:cxnLst>
            <a:rect l="l" t="t" r="r" b="b"/>
            <a:pathLst>
              <a:path w="693946" h="231200">
                <a:moveTo>
                  <a:pt x="0" y="-70"/>
                </a:moveTo>
                <a:lnTo>
                  <a:pt x="693946" y="-70"/>
                </a:lnTo>
                <a:lnTo>
                  <a:pt x="693946" y="231130"/>
                </a:lnTo>
                <a:lnTo>
                  <a:pt x="0" y="231130"/>
                </a:lnTo>
                <a:close/>
              </a:path>
            </a:pathLst>
          </a:custGeom>
          <a:solidFill>
            <a:srgbClr val="CCEEFB"/>
          </a:solidFill>
          <a:ln w="12055" cap="rnd">
            <a:solidFill>
              <a:srgbClr val="231F20"/>
            </a:solidFill>
            <a:prstDash val="solid"/>
            <a:miter/>
          </a:ln>
        </p:spPr>
        <p:txBody>
          <a:bodyPr rtlCol="0" anchor="ctr"/>
          <a:lstStyle/>
          <a:p>
            <a:pPr algn="ctr"/>
            <a:r>
              <a:rPr lang="pt-BR" sz="1200" i="1" dirty="0" err="1">
                <a:latin typeface="Calibri Light" panose="020F0302020204030204" pitchFamily="34" charset="0"/>
                <a:cs typeface="Calibri Light" panose="020F0302020204030204" pitchFamily="34" charset="0"/>
              </a:rPr>
              <a:t>prof_orienta</a:t>
            </a:r>
            <a:endParaRPr lang="pt-BR" sz="1200" i="1" dirty="0">
              <a:latin typeface="Calibri Light" panose="020F0302020204030204" pitchFamily="34" charset="0"/>
              <a:cs typeface="Calibri Light" panose="020F0302020204030204" pitchFamily="34" charset="0"/>
            </a:endParaRPr>
          </a:p>
        </p:txBody>
      </p:sp>
      <p:sp>
        <p:nvSpPr>
          <p:cNvPr id="258951" name="Freeform 258950">
            <a:extLst>
              <a:ext uri="{FF2B5EF4-FFF2-40B4-BE49-F238E27FC236}">
                <a16:creationId xmlns:a16="http://schemas.microsoft.com/office/drawing/2014/main" id="{0010C79D-8CFA-1D48-8288-DA80CDECEFFF}"/>
              </a:ext>
            </a:extLst>
          </p:cNvPr>
          <p:cNvSpPr/>
          <p:nvPr/>
        </p:nvSpPr>
        <p:spPr>
          <a:xfrm>
            <a:off x="3456968" y="2890810"/>
            <a:ext cx="2703179" cy="77066"/>
          </a:xfrm>
          <a:custGeom>
            <a:avLst/>
            <a:gdLst>
              <a:gd name="connsiteX0" fmla="*/ 4619 w 2703179"/>
              <a:gd name="connsiteY0" fmla="*/ 33916 h 77066"/>
              <a:gd name="connsiteX1" fmla="*/ 2639282 w 2703179"/>
              <a:gd name="connsiteY1" fmla="*/ 33916 h 77066"/>
              <a:gd name="connsiteX2" fmla="*/ 2642298 w 2703179"/>
              <a:gd name="connsiteY2" fmla="*/ 35423 h 77066"/>
              <a:gd name="connsiteX3" fmla="*/ 2643891 w 2703179"/>
              <a:gd name="connsiteY3" fmla="*/ 38534 h 77066"/>
              <a:gd name="connsiteX4" fmla="*/ 2642298 w 2703179"/>
              <a:gd name="connsiteY4" fmla="*/ 41549 h 77066"/>
              <a:gd name="connsiteX5" fmla="*/ 2639282 w 2703179"/>
              <a:gd name="connsiteY5" fmla="*/ 43151 h 77066"/>
              <a:gd name="connsiteX6" fmla="*/ 4619 w 2703179"/>
              <a:gd name="connsiteY6" fmla="*/ 43151 h 77066"/>
              <a:gd name="connsiteX7" fmla="*/ 1508 w 2703179"/>
              <a:gd name="connsiteY7" fmla="*/ 41549 h 77066"/>
              <a:gd name="connsiteX8" fmla="*/ 0 w 2703179"/>
              <a:gd name="connsiteY8" fmla="*/ 38534 h 77066"/>
              <a:gd name="connsiteX9" fmla="*/ 1508 w 2703179"/>
              <a:gd name="connsiteY9" fmla="*/ 35423 h 77066"/>
              <a:gd name="connsiteX10" fmla="*/ 2626179 w 2703179"/>
              <a:gd name="connsiteY10" fmla="*/ 0 h 77066"/>
              <a:gd name="connsiteX11" fmla="*/ 2703179 w 2703179"/>
              <a:gd name="connsiteY11" fmla="*/ 38534 h 77066"/>
              <a:gd name="connsiteX12" fmla="*/ 2626179 w 2703179"/>
              <a:gd name="connsiteY12" fmla="*/ 77066 h 77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03179" h="77066">
                <a:moveTo>
                  <a:pt x="4619" y="33916"/>
                </a:moveTo>
                <a:lnTo>
                  <a:pt x="2639282" y="33916"/>
                </a:lnTo>
                <a:lnTo>
                  <a:pt x="2642298" y="35423"/>
                </a:lnTo>
                <a:lnTo>
                  <a:pt x="2643891" y="38534"/>
                </a:lnTo>
                <a:lnTo>
                  <a:pt x="2642298" y="41549"/>
                </a:lnTo>
                <a:lnTo>
                  <a:pt x="2639282" y="43151"/>
                </a:lnTo>
                <a:lnTo>
                  <a:pt x="4619" y="43151"/>
                </a:lnTo>
                <a:lnTo>
                  <a:pt x="1508" y="41549"/>
                </a:lnTo>
                <a:lnTo>
                  <a:pt x="0" y="38534"/>
                </a:lnTo>
                <a:lnTo>
                  <a:pt x="1508" y="35423"/>
                </a:lnTo>
                <a:close/>
                <a:moveTo>
                  <a:pt x="2626179" y="0"/>
                </a:moveTo>
                <a:lnTo>
                  <a:pt x="2703179" y="38534"/>
                </a:lnTo>
                <a:lnTo>
                  <a:pt x="2626179" y="77066"/>
                </a:lnTo>
              </a:path>
            </a:pathLst>
          </a:custGeom>
          <a:solidFill>
            <a:srgbClr val="231F20"/>
          </a:solidFill>
          <a:ln w="24109" cap="flat">
            <a:noFill/>
            <a:prstDash val="solid"/>
            <a:miter/>
          </a:ln>
        </p:spPr>
        <p:txBody>
          <a:bodyPr rtlCol="0" anchor="ctr"/>
          <a:lstStyle/>
          <a:p>
            <a:endParaRPr lang="pt-BR"/>
          </a:p>
        </p:txBody>
      </p:sp>
      <p:sp>
        <p:nvSpPr>
          <p:cNvPr id="258952" name="Freeform 258951">
            <a:extLst>
              <a:ext uri="{FF2B5EF4-FFF2-40B4-BE49-F238E27FC236}">
                <a16:creationId xmlns:a16="http://schemas.microsoft.com/office/drawing/2014/main" id="{20170DF0-BC4E-1B41-8A91-7255517488EF}"/>
              </a:ext>
            </a:extLst>
          </p:cNvPr>
          <p:cNvSpPr/>
          <p:nvPr/>
        </p:nvSpPr>
        <p:spPr>
          <a:xfrm>
            <a:off x="3461587" y="2967876"/>
            <a:ext cx="544351" cy="77066"/>
          </a:xfrm>
          <a:custGeom>
            <a:avLst/>
            <a:gdLst>
              <a:gd name="connsiteX0" fmla="*/ 539733 w 544351"/>
              <a:gd name="connsiteY0" fmla="*/ 43151 h 77066"/>
              <a:gd name="connsiteX1" fmla="*/ 64004 w 544351"/>
              <a:gd name="connsiteY1" fmla="*/ 43151 h 77066"/>
              <a:gd name="connsiteX2" fmla="*/ 60893 w 544351"/>
              <a:gd name="connsiteY2" fmla="*/ 41549 h 77066"/>
              <a:gd name="connsiteX3" fmla="*/ 59385 w 544351"/>
              <a:gd name="connsiteY3" fmla="*/ 38534 h 77066"/>
              <a:gd name="connsiteX4" fmla="*/ 60893 w 544351"/>
              <a:gd name="connsiteY4" fmla="*/ 35425 h 77066"/>
              <a:gd name="connsiteX5" fmla="*/ 64004 w 544351"/>
              <a:gd name="connsiteY5" fmla="*/ 33918 h 77066"/>
              <a:gd name="connsiteX6" fmla="*/ 539733 w 544351"/>
              <a:gd name="connsiteY6" fmla="*/ 33918 h 77066"/>
              <a:gd name="connsiteX7" fmla="*/ 542749 w 544351"/>
              <a:gd name="connsiteY7" fmla="*/ 35425 h 77066"/>
              <a:gd name="connsiteX8" fmla="*/ 544351 w 544351"/>
              <a:gd name="connsiteY8" fmla="*/ 38534 h 77066"/>
              <a:gd name="connsiteX9" fmla="*/ 542749 w 544351"/>
              <a:gd name="connsiteY9" fmla="*/ 41549 h 77066"/>
              <a:gd name="connsiteX10" fmla="*/ 77104 w 544351"/>
              <a:gd name="connsiteY10" fmla="*/ 77066 h 77066"/>
              <a:gd name="connsiteX11" fmla="*/ 0 w 544351"/>
              <a:gd name="connsiteY11" fmla="*/ 38534 h 77066"/>
              <a:gd name="connsiteX12" fmla="*/ 77104 w 544351"/>
              <a:gd name="connsiteY12" fmla="*/ 0 h 77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44351" h="77066">
                <a:moveTo>
                  <a:pt x="539733" y="43151"/>
                </a:moveTo>
                <a:lnTo>
                  <a:pt x="64004" y="43151"/>
                </a:lnTo>
                <a:lnTo>
                  <a:pt x="60893" y="41549"/>
                </a:lnTo>
                <a:lnTo>
                  <a:pt x="59385" y="38534"/>
                </a:lnTo>
                <a:lnTo>
                  <a:pt x="60893" y="35425"/>
                </a:lnTo>
                <a:lnTo>
                  <a:pt x="64004" y="33918"/>
                </a:lnTo>
                <a:lnTo>
                  <a:pt x="539733" y="33918"/>
                </a:lnTo>
                <a:lnTo>
                  <a:pt x="542749" y="35425"/>
                </a:lnTo>
                <a:lnTo>
                  <a:pt x="544351" y="38534"/>
                </a:lnTo>
                <a:lnTo>
                  <a:pt x="542749" y="41549"/>
                </a:lnTo>
                <a:close/>
                <a:moveTo>
                  <a:pt x="77104" y="77066"/>
                </a:moveTo>
                <a:lnTo>
                  <a:pt x="0" y="38534"/>
                </a:lnTo>
                <a:lnTo>
                  <a:pt x="77104" y="0"/>
                </a:lnTo>
              </a:path>
            </a:pathLst>
          </a:custGeom>
          <a:solidFill>
            <a:srgbClr val="231F20"/>
          </a:solidFill>
          <a:ln w="24109" cap="flat">
            <a:noFill/>
            <a:prstDash val="solid"/>
            <a:miter/>
          </a:ln>
        </p:spPr>
        <p:txBody>
          <a:bodyPr rtlCol="0" anchor="ctr"/>
          <a:lstStyle/>
          <a:p>
            <a:endParaRPr lang="pt-BR"/>
          </a:p>
        </p:txBody>
      </p:sp>
      <p:sp>
        <p:nvSpPr>
          <p:cNvPr id="258953" name="Freeform 258952">
            <a:extLst>
              <a:ext uri="{FF2B5EF4-FFF2-40B4-BE49-F238E27FC236}">
                <a16:creationId xmlns:a16="http://schemas.microsoft.com/office/drawing/2014/main" id="{8A7443A5-8D54-134E-9AB9-7FEBB8EEC656}"/>
              </a:ext>
            </a:extLst>
          </p:cNvPr>
          <p:cNvSpPr/>
          <p:nvPr/>
        </p:nvSpPr>
        <p:spPr>
          <a:xfrm flipV="1">
            <a:off x="4401547" y="3622843"/>
            <a:ext cx="1002373" cy="709805"/>
          </a:xfrm>
          <a:custGeom>
            <a:avLst/>
            <a:gdLst>
              <a:gd name="connsiteX0" fmla="*/ 0 w 1002373"/>
              <a:gd name="connsiteY0" fmla="*/ 13 h 709805"/>
              <a:gd name="connsiteX1" fmla="*/ 1002374 w 1002373"/>
              <a:gd name="connsiteY1" fmla="*/ 13 h 709805"/>
              <a:gd name="connsiteX2" fmla="*/ 1002374 w 1002373"/>
              <a:gd name="connsiteY2" fmla="*/ 709818 h 709805"/>
              <a:gd name="connsiteX3" fmla="*/ 0 w 1002373"/>
              <a:gd name="connsiteY3" fmla="*/ 709818 h 709805"/>
            </a:gdLst>
            <a:ahLst/>
            <a:cxnLst>
              <a:cxn ang="0">
                <a:pos x="connsiteX0" y="connsiteY0"/>
              </a:cxn>
              <a:cxn ang="0">
                <a:pos x="connsiteX1" y="connsiteY1"/>
              </a:cxn>
              <a:cxn ang="0">
                <a:pos x="connsiteX2" y="connsiteY2"/>
              </a:cxn>
              <a:cxn ang="0">
                <a:pos x="connsiteX3" y="connsiteY3"/>
              </a:cxn>
            </a:cxnLst>
            <a:rect l="l" t="t" r="r" b="b"/>
            <a:pathLst>
              <a:path w="1002373" h="709805">
                <a:moveTo>
                  <a:pt x="0" y="13"/>
                </a:moveTo>
                <a:lnTo>
                  <a:pt x="1002374" y="13"/>
                </a:lnTo>
                <a:lnTo>
                  <a:pt x="1002374" y="709818"/>
                </a:lnTo>
                <a:lnTo>
                  <a:pt x="0" y="709818"/>
                </a:lnTo>
                <a:close/>
              </a:path>
            </a:pathLst>
          </a:custGeom>
          <a:noFill/>
          <a:ln w="12055" cap="rnd">
            <a:solidFill>
              <a:srgbClr val="231F20"/>
            </a:solidFill>
            <a:prstDash val="solid"/>
            <a:miter/>
          </a:ln>
        </p:spPr>
        <p:txBody>
          <a:bodyPr rtlCol="0" anchor="ctr"/>
          <a:lstStyle/>
          <a:p>
            <a:endParaRPr lang="pt-BR"/>
          </a:p>
        </p:txBody>
      </p:sp>
      <p:sp>
        <p:nvSpPr>
          <p:cNvPr id="258954" name="Freeform 258953">
            <a:extLst>
              <a:ext uri="{FF2B5EF4-FFF2-40B4-BE49-F238E27FC236}">
                <a16:creationId xmlns:a16="http://schemas.microsoft.com/office/drawing/2014/main" id="{C232D599-1835-6840-B29C-C5353B46B2ED}"/>
              </a:ext>
            </a:extLst>
          </p:cNvPr>
          <p:cNvSpPr/>
          <p:nvPr/>
        </p:nvSpPr>
        <p:spPr>
          <a:xfrm rot="10800000" flipV="1">
            <a:off x="4406934" y="3389317"/>
            <a:ext cx="1002373" cy="231200"/>
          </a:xfrm>
          <a:custGeom>
            <a:avLst/>
            <a:gdLst>
              <a:gd name="connsiteX0" fmla="*/ 0 w 1002373"/>
              <a:gd name="connsiteY0" fmla="*/ -26 h 231200"/>
              <a:gd name="connsiteX1" fmla="*/ 1002374 w 1002373"/>
              <a:gd name="connsiteY1" fmla="*/ -26 h 231200"/>
              <a:gd name="connsiteX2" fmla="*/ 1002374 w 1002373"/>
              <a:gd name="connsiteY2" fmla="*/ 231175 h 231200"/>
              <a:gd name="connsiteX3" fmla="*/ 0 w 1002373"/>
              <a:gd name="connsiteY3" fmla="*/ 231175 h 231200"/>
            </a:gdLst>
            <a:ahLst/>
            <a:cxnLst>
              <a:cxn ang="0">
                <a:pos x="connsiteX0" y="connsiteY0"/>
              </a:cxn>
              <a:cxn ang="0">
                <a:pos x="connsiteX1" y="connsiteY1"/>
              </a:cxn>
              <a:cxn ang="0">
                <a:pos x="connsiteX2" y="connsiteY2"/>
              </a:cxn>
              <a:cxn ang="0">
                <a:pos x="connsiteX3" y="connsiteY3"/>
              </a:cxn>
            </a:cxnLst>
            <a:rect l="l" t="t" r="r" b="b"/>
            <a:pathLst>
              <a:path w="1002373" h="231200">
                <a:moveTo>
                  <a:pt x="0" y="-26"/>
                </a:moveTo>
                <a:lnTo>
                  <a:pt x="1002374" y="-26"/>
                </a:lnTo>
                <a:lnTo>
                  <a:pt x="1002374" y="231175"/>
                </a:lnTo>
                <a:lnTo>
                  <a:pt x="0" y="231175"/>
                </a:lnTo>
                <a:close/>
              </a:path>
            </a:pathLst>
          </a:custGeom>
          <a:solidFill>
            <a:srgbClr val="CCEEFB"/>
          </a:solidFill>
          <a:ln w="12055" cap="rnd">
            <a:solidFill>
              <a:srgbClr val="231F20"/>
            </a:solidFill>
            <a:prstDash val="solid"/>
            <a:miter/>
          </a:ln>
        </p:spPr>
        <p:txBody>
          <a:bodyPr rtlCol="0" anchor="ctr"/>
          <a:lstStyle/>
          <a:p>
            <a:pPr algn="ctr"/>
            <a:r>
              <a:rPr lang="pt-BR" sz="1200">
                <a:latin typeface="Calibri Light" panose="020F0302020204030204" pitchFamily="34" charset="0"/>
                <a:cs typeface="Calibri Light" panose="020F0302020204030204" pitchFamily="34" charset="0"/>
              </a:rPr>
              <a:t>horário</a:t>
            </a:r>
          </a:p>
        </p:txBody>
      </p:sp>
      <p:sp>
        <p:nvSpPr>
          <p:cNvPr id="259005" name="Freeform 259004">
            <a:extLst>
              <a:ext uri="{FF2B5EF4-FFF2-40B4-BE49-F238E27FC236}">
                <a16:creationId xmlns:a16="http://schemas.microsoft.com/office/drawing/2014/main" id="{13283079-1038-DB42-8F2A-8EA65C8C638A}"/>
              </a:ext>
            </a:extLst>
          </p:cNvPr>
          <p:cNvSpPr/>
          <p:nvPr/>
        </p:nvSpPr>
        <p:spPr>
          <a:xfrm flipV="1">
            <a:off x="3832956" y="3314678"/>
            <a:ext cx="45719" cy="2654438"/>
          </a:xfrm>
          <a:custGeom>
            <a:avLst/>
            <a:gdLst>
              <a:gd name="connsiteX0" fmla="*/ 71 w 24130"/>
              <a:gd name="connsiteY0" fmla="*/ 80 h 2697225"/>
              <a:gd name="connsiteX1" fmla="*/ 71 w 24130"/>
              <a:gd name="connsiteY1" fmla="*/ 2697305 h 2697225"/>
            </a:gdLst>
            <a:ahLst/>
            <a:cxnLst>
              <a:cxn ang="0">
                <a:pos x="connsiteX0" y="connsiteY0"/>
              </a:cxn>
              <a:cxn ang="0">
                <a:pos x="connsiteX1" y="connsiteY1"/>
              </a:cxn>
            </a:cxnLst>
            <a:rect l="l" t="t" r="r" b="b"/>
            <a:pathLst>
              <a:path w="24130" h="2697225">
                <a:moveTo>
                  <a:pt x="71" y="80"/>
                </a:moveTo>
                <a:lnTo>
                  <a:pt x="71" y="2697305"/>
                </a:lnTo>
              </a:path>
            </a:pathLst>
          </a:custGeom>
          <a:noFill/>
          <a:ln w="12055" cap="rnd">
            <a:solidFill>
              <a:srgbClr val="231F20"/>
            </a:solidFill>
            <a:prstDash val="solid"/>
            <a:round/>
          </a:ln>
        </p:spPr>
        <p:txBody>
          <a:bodyPr rtlCol="0" anchor="ctr"/>
          <a:lstStyle/>
          <a:p>
            <a:endParaRPr lang="pt-BR"/>
          </a:p>
        </p:txBody>
      </p:sp>
      <p:sp>
        <p:nvSpPr>
          <p:cNvPr id="259006" name="Freeform 259005">
            <a:extLst>
              <a:ext uri="{FF2B5EF4-FFF2-40B4-BE49-F238E27FC236}">
                <a16:creationId xmlns:a16="http://schemas.microsoft.com/office/drawing/2014/main" id="{4586F61B-F7C1-264E-86E1-2387EFEF781E}"/>
              </a:ext>
            </a:extLst>
          </p:cNvPr>
          <p:cNvSpPr/>
          <p:nvPr/>
        </p:nvSpPr>
        <p:spPr>
          <a:xfrm flipV="1">
            <a:off x="3847111" y="5944999"/>
            <a:ext cx="308418" cy="24118"/>
          </a:xfrm>
          <a:custGeom>
            <a:avLst/>
            <a:gdLst>
              <a:gd name="connsiteX0" fmla="*/ 308501 w 308418"/>
              <a:gd name="connsiteY0" fmla="*/ 192 h 24118"/>
              <a:gd name="connsiteX1" fmla="*/ 83 w 308418"/>
              <a:gd name="connsiteY1" fmla="*/ 192 h 24118"/>
            </a:gdLst>
            <a:ahLst/>
            <a:cxnLst>
              <a:cxn ang="0">
                <a:pos x="connsiteX0" y="connsiteY0"/>
              </a:cxn>
              <a:cxn ang="0">
                <a:pos x="connsiteX1" y="connsiteY1"/>
              </a:cxn>
            </a:cxnLst>
            <a:rect l="l" t="t" r="r" b="b"/>
            <a:pathLst>
              <a:path w="308418" h="24118">
                <a:moveTo>
                  <a:pt x="308501" y="192"/>
                </a:moveTo>
                <a:lnTo>
                  <a:pt x="83" y="192"/>
                </a:lnTo>
              </a:path>
            </a:pathLst>
          </a:custGeom>
          <a:noFill/>
          <a:ln w="12055" cap="rnd">
            <a:solidFill>
              <a:srgbClr val="231F20"/>
            </a:solidFill>
            <a:prstDash val="solid"/>
            <a:round/>
          </a:ln>
        </p:spPr>
        <p:txBody>
          <a:bodyPr rtlCol="0" anchor="ctr"/>
          <a:lstStyle/>
          <a:p>
            <a:endParaRPr lang="pt-BR"/>
          </a:p>
        </p:txBody>
      </p:sp>
      <p:sp>
        <p:nvSpPr>
          <p:cNvPr id="259008" name="Freeform 259007">
            <a:extLst>
              <a:ext uri="{FF2B5EF4-FFF2-40B4-BE49-F238E27FC236}">
                <a16:creationId xmlns:a16="http://schemas.microsoft.com/office/drawing/2014/main" id="{600A0B34-10A4-E940-A41A-8DA2FEFF8324}"/>
              </a:ext>
            </a:extLst>
          </p:cNvPr>
          <p:cNvSpPr/>
          <p:nvPr/>
        </p:nvSpPr>
        <p:spPr>
          <a:xfrm flipV="1">
            <a:off x="4086493" y="3777074"/>
            <a:ext cx="45719" cy="115599"/>
          </a:xfrm>
          <a:custGeom>
            <a:avLst/>
            <a:gdLst>
              <a:gd name="connsiteX0" fmla="*/ 80 w 24130"/>
              <a:gd name="connsiteY0" fmla="*/ 99 h 154132"/>
              <a:gd name="connsiteX1" fmla="*/ 80 w 24130"/>
              <a:gd name="connsiteY1" fmla="*/ 154232 h 154132"/>
            </a:gdLst>
            <a:ahLst/>
            <a:cxnLst>
              <a:cxn ang="0">
                <a:pos x="connsiteX0" y="connsiteY0"/>
              </a:cxn>
              <a:cxn ang="0">
                <a:pos x="connsiteX1" y="connsiteY1"/>
              </a:cxn>
            </a:cxnLst>
            <a:rect l="l" t="t" r="r" b="b"/>
            <a:pathLst>
              <a:path w="24130" h="154132">
                <a:moveTo>
                  <a:pt x="80" y="99"/>
                </a:moveTo>
                <a:lnTo>
                  <a:pt x="80" y="154232"/>
                </a:lnTo>
              </a:path>
            </a:pathLst>
          </a:custGeom>
          <a:noFill/>
          <a:ln w="12055" cap="rnd">
            <a:solidFill>
              <a:srgbClr val="231F20"/>
            </a:solidFill>
            <a:prstDash val="solid"/>
            <a:round/>
          </a:ln>
        </p:spPr>
        <p:txBody>
          <a:bodyPr rtlCol="0" anchor="ctr"/>
          <a:lstStyle/>
          <a:p>
            <a:endParaRPr lang="pt-BR"/>
          </a:p>
        </p:txBody>
      </p:sp>
      <p:sp>
        <p:nvSpPr>
          <p:cNvPr id="259009" name="Freeform 259008">
            <a:extLst>
              <a:ext uri="{FF2B5EF4-FFF2-40B4-BE49-F238E27FC236}">
                <a16:creationId xmlns:a16="http://schemas.microsoft.com/office/drawing/2014/main" id="{ED99B646-56C2-624A-AD5C-41F79AA2BE25}"/>
              </a:ext>
            </a:extLst>
          </p:cNvPr>
          <p:cNvSpPr/>
          <p:nvPr/>
        </p:nvSpPr>
        <p:spPr>
          <a:xfrm flipV="1">
            <a:off x="3461587" y="3866947"/>
            <a:ext cx="616836" cy="24118"/>
          </a:xfrm>
          <a:custGeom>
            <a:avLst/>
            <a:gdLst>
              <a:gd name="connsiteX0" fmla="*/ 55 w 616836"/>
              <a:gd name="connsiteY0" fmla="*/ 106 h 24118"/>
              <a:gd name="connsiteX1" fmla="*/ 616892 w 616836"/>
              <a:gd name="connsiteY1" fmla="*/ 106 h 24118"/>
            </a:gdLst>
            <a:ahLst/>
            <a:cxnLst>
              <a:cxn ang="0">
                <a:pos x="connsiteX0" y="connsiteY0"/>
              </a:cxn>
              <a:cxn ang="0">
                <a:pos x="connsiteX1" y="connsiteY1"/>
              </a:cxn>
            </a:cxnLst>
            <a:rect l="l" t="t" r="r" b="b"/>
            <a:pathLst>
              <a:path w="616836" h="24118">
                <a:moveTo>
                  <a:pt x="55" y="106"/>
                </a:moveTo>
                <a:lnTo>
                  <a:pt x="616892" y="106"/>
                </a:lnTo>
              </a:path>
            </a:pathLst>
          </a:custGeom>
          <a:noFill/>
          <a:ln w="12055" cap="rnd">
            <a:solidFill>
              <a:srgbClr val="231F20"/>
            </a:solidFill>
            <a:prstDash val="solid"/>
            <a:round/>
          </a:ln>
        </p:spPr>
        <p:txBody>
          <a:bodyPr rtlCol="0" anchor="ctr"/>
          <a:lstStyle/>
          <a:p>
            <a:endParaRPr lang="pt-BR"/>
          </a:p>
        </p:txBody>
      </p:sp>
      <p:sp>
        <p:nvSpPr>
          <p:cNvPr id="259010" name="Freeform 259009">
            <a:extLst>
              <a:ext uri="{FF2B5EF4-FFF2-40B4-BE49-F238E27FC236}">
                <a16:creationId xmlns:a16="http://schemas.microsoft.com/office/drawing/2014/main" id="{D1E37B66-E5D4-D047-A82B-6989958551C0}"/>
              </a:ext>
            </a:extLst>
          </p:cNvPr>
          <p:cNvSpPr/>
          <p:nvPr/>
        </p:nvSpPr>
        <p:spPr>
          <a:xfrm>
            <a:off x="3461587" y="3276143"/>
            <a:ext cx="390142" cy="76972"/>
          </a:xfrm>
          <a:custGeom>
            <a:avLst/>
            <a:gdLst>
              <a:gd name="connsiteX0" fmla="*/ 385524 w 390142"/>
              <a:gd name="connsiteY0" fmla="*/ 43148 h 76972"/>
              <a:gd name="connsiteX1" fmla="*/ 64004 w 390142"/>
              <a:gd name="connsiteY1" fmla="*/ 43148 h 76972"/>
              <a:gd name="connsiteX2" fmla="*/ 60893 w 390142"/>
              <a:gd name="connsiteY2" fmla="*/ 41547 h 76972"/>
              <a:gd name="connsiteX3" fmla="*/ 59385 w 390142"/>
              <a:gd name="connsiteY3" fmla="*/ 38532 h 76972"/>
              <a:gd name="connsiteX4" fmla="*/ 60893 w 390142"/>
              <a:gd name="connsiteY4" fmla="*/ 35423 h 76972"/>
              <a:gd name="connsiteX5" fmla="*/ 64004 w 390142"/>
              <a:gd name="connsiteY5" fmla="*/ 33821 h 76972"/>
              <a:gd name="connsiteX6" fmla="*/ 385524 w 390142"/>
              <a:gd name="connsiteY6" fmla="*/ 33821 h 76972"/>
              <a:gd name="connsiteX7" fmla="*/ 388635 w 390142"/>
              <a:gd name="connsiteY7" fmla="*/ 35423 h 76972"/>
              <a:gd name="connsiteX8" fmla="*/ 390143 w 390142"/>
              <a:gd name="connsiteY8" fmla="*/ 38532 h 76972"/>
              <a:gd name="connsiteX9" fmla="*/ 388635 w 390142"/>
              <a:gd name="connsiteY9" fmla="*/ 41547 h 76972"/>
              <a:gd name="connsiteX10" fmla="*/ 77104 w 390142"/>
              <a:gd name="connsiteY10" fmla="*/ 76972 h 76972"/>
              <a:gd name="connsiteX11" fmla="*/ 0 w 390142"/>
              <a:gd name="connsiteY11" fmla="*/ 38532 h 76972"/>
              <a:gd name="connsiteX12" fmla="*/ 77104 w 390142"/>
              <a:gd name="connsiteY12" fmla="*/ 0 h 76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0142" h="76972">
                <a:moveTo>
                  <a:pt x="385524" y="43148"/>
                </a:moveTo>
                <a:lnTo>
                  <a:pt x="64004" y="43148"/>
                </a:lnTo>
                <a:lnTo>
                  <a:pt x="60893" y="41547"/>
                </a:lnTo>
                <a:lnTo>
                  <a:pt x="59385" y="38532"/>
                </a:lnTo>
                <a:lnTo>
                  <a:pt x="60893" y="35423"/>
                </a:lnTo>
                <a:lnTo>
                  <a:pt x="64004" y="33821"/>
                </a:lnTo>
                <a:lnTo>
                  <a:pt x="385524" y="33821"/>
                </a:lnTo>
                <a:lnTo>
                  <a:pt x="388635" y="35423"/>
                </a:lnTo>
                <a:lnTo>
                  <a:pt x="390143" y="38532"/>
                </a:lnTo>
                <a:lnTo>
                  <a:pt x="388635" y="41547"/>
                </a:lnTo>
                <a:close/>
                <a:moveTo>
                  <a:pt x="77104" y="76972"/>
                </a:moveTo>
                <a:lnTo>
                  <a:pt x="0" y="38532"/>
                </a:lnTo>
                <a:lnTo>
                  <a:pt x="77104" y="0"/>
                </a:lnTo>
              </a:path>
            </a:pathLst>
          </a:custGeom>
          <a:solidFill>
            <a:srgbClr val="231F20"/>
          </a:solidFill>
          <a:ln w="24109" cap="flat">
            <a:noFill/>
            <a:prstDash val="solid"/>
            <a:miter/>
          </a:ln>
        </p:spPr>
        <p:txBody>
          <a:bodyPr rtlCol="0" anchor="ctr"/>
          <a:lstStyle/>
          <a:p>
            <a:endParaRPr lang="pt-BR"/>
          </a:p>
        </p:txBody>
      </p:sp>
      <p:sp>
        <p:nvSpPr>
          <p:cNvPr id="259011" name="Freeform 259010">
            <a:extLst>
              <a:ext uri="{FF2B5EF4-FFF2-40B4-BE49-F238E27FC236}">
                <a16:creationId xmlns:a16="http://schemas.microsoft.com/office/drawing/2014/main" id="{B09C6635-769C-3442-9EEE-10BC0CE12ABC}"/>
              </a:ext>
            </a:extLst>
          </p:cNvPr>
          <p:cNvSpPr/>
          <p:nvPr/>
        </p:nvSpPr>
        <p:spPr>
          <a:xfrm flipV="1">
            <a:off x="3776793" y="3447982"/>
            <a:ext cx="378735" cy="2636737"/>
          </a:xfrm>
          <a:custGeom>
            <a:avLst/>
            <a:gdLst>
              <a:gd name="connsiteX0" fmla="*/ 385606 w 385522"/>
              <a:gd name="connsiteY0" fmla="*/ 86 h 2697233"/>
              <a:gd name="connsiteX1" fmla="*/ 83 w 385522"/>
              <a:gd name="connsiteY1" fmla="*/ 86 h 2697233"/>
              <a:gd name="connsiteX2" fmla="*/ 83 w 385522"/>
              <a:gd name="connsiteY2" fmla="*/ 2697319 h 2697233"/>
            </a:gdLst>
            <a:ahLst/>
            <a:cxnLst>
              <a:cxn ang="0">
                <a:pos x="connsiteX0" y="connsiteY0"/>
              </a:cxn>
              <a:cxn ang="0">
                <a:pos x="connsiteX1" y="connsiteY1"/>
              </a:cxn>
              <a:cxn ang="0">
                <a:pos x="connsiteX2" y="connsiteY2"/>
              </a:cxn>
            </a:cxnLst>
            <a:rect l="l" t="t" r="r" b="b"/>
            <a:pathLst>
              <a:path w="385522" h="2697233">
                <a:moveTo>
                  <a:pt x="385606" y="86"/>
                </a:moveTo>
                <a:lnTo>
                  <a:pt x="83" y="86"/>
                </a:lnTo>
                <a:lnTo>
                  <a:pt x="83" y="2697319"/>
                </a:lnTo>
              </a:path>
            </a:pathLst>
          </a:custGeom>
          <a:noFill/>
          <a:ln w="12055" cap="rnd">
            <a:solidFill>
              <a:srgbClr val="231F20"/>
            </a:solidFill>
            <a:prstDash val="solid"/>
            <a:round/>
          </a:ln>
        </p:spPr>
        <p:txBody>
          <a:bodyPr rtlCol="0" anchor="ctr"/>
          <a:lstStyle/>
          <a:p>
            <a:endParaRPr lang="pt-BR"/>
          </a:p>
        </p:txBody>
      </p:sp>
      <p:sp>
        <p:nvSpPr>
          <p:cNvPr id="259012" name="Freeform 259011">
            <a:extLst>
              <a:ext uri="{FF2B5EF4-FFF2-40B4-BE49-F238E27FC236}">
                <a16:creationId xmlns:a16="http://schemas.microsoft.com/office/drawing/2014/main" id="{FB09D909-5BD5-844E-B1E3-DE39FFBDFF65}"/>
              </a:ext>
            </a:extLst>
          </p:cNvPr>
          <p:cNvSpPr/>
          <p:nvPr/>
        </p:nvSpPr>
        <p:spPr>
          <a:xfrm>
            <a:off x="3461587" y="3409454"/>
            <a:ext cx="313038" cy="77066"/>
          </a:xfrm>
          <a:custGeom>
            <a:avLst/>
            <a:gdLst>
              <a:gd name="connsiteX0" fmla="*/ 308420 w 313038"/>
              <a:gd name="connsiteY0" fmla="*/ 43151 h 77066"/>
              <a:gd name="connsiteX1" fmla="*/ 64004 w 313038"/>
              <a:gd name="connsiteY1" fmla="*/ 43151 h 77066"/>
              <a:gd name="connsiteX2" fmla="*/ 60893 w 313038"/>
              <a:gd name="connsiteY2" fmla="*/ 41643 h 77066"/>
              <a:gd name="connsiteX3" fmla="*/ 59385 w 313038"/>
              <a:gd name="connsiteY3" fmla="*/ 38534 h 77066"/>
              <a:gd name="connsiteX4" fmla="*/ 60893 w 313038"/>
              <a:gd name="connsiteY4" fmla="*/ 34670 h 77066"/>
              <a:gd name="connsiteX5" fmla="*/ 64004 w 313038"/>
              <a:gd name="connsiteY5" fmla="*/ 33918 h 77066"/>
              <a:gd name="connsiteX6" fmla="*/ 308420 w 313038"/>
              <a:gd name="connsiteY6" fmla="*/ 33918 h 77066"/>
              <a:gd name="connsiteX7" fmla="*/ 311436 w 313038"/>
              <a:gd name="connsiteY7" fmla="*/ 34670 h 77066"/>
              <a:gd name="connsiteX8" fmla="*/ 313038 w 313038"/>
              <a:gd name="connsiteY8" fmla="*/ 38534 h 77066"/>
              <a:gd name="connsiteX9" fmla="*/ 311436 w 313038"/>
              <a:gd name="connsiteY9" fmla="*/ 41643 h 77066"/>
              <a:gd name="connsiteX10" fmla="*/ 77104 w 313038"/>
              <a:gd name="connsiteY10" fmla="*/ 77066 h 77066"/>
              <a:gd name="connsiteX11" fmla="*/ 0 w 313038"/>
              <a:gd name="connsiteY11" fmla="*/ 38534 h 77066"/>
              <a:gd name="connsiteX12" fmla="*/ 77104 w 313038"/>
              <a:gd name="connsiteY12" fmla="*/ 0 h 77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3038" h="77066">
                <a:moveTo>
                  <a:pt x="308420" y="43151"/>
                </a:moveTo>
                <a:lnTo>
                  <a:pt x="64004" y="43151"/>
                </a:lnTo>
                <a:lnTo>
                  <a:pt x="60893" y="41643"/>
                </a:lnTo>
                <a:lnTo>
                  <a:pt x="59385" y="38534"/>
                </a:lnTo>
                <a:lnTo>
                  <a:pt x="60893" y="34670"/>
                </a:lnTo>
                <a:lnTo>
                  <a:pt x="64004" y="33918"/>
                </a:lnTo>
                <a:lnTo>
                  <a:pt x="308420" y="33918"/>
                </a:lnTo>
                <a:lnTo>
                  <a:pt x="311436" y="34670"/>
                </a:lnTo>
                <a:lnTo>
                  <a:pt x="313038" y="38534"/>
                </a:lnTo>
                <a:lnTo>
                  <a:pt x="311436" y="41643"/>
                </a:lnTo>
                <a:close/>
                <a:moveTo>
                  <a:pt x="77104" y="77066"/>
                </a:moveTo>
                <a:lnTo>
                  <a:pt x="0" y="38534"/>
                </a:lnTo>
                <a:lnTo>
                  <a:pt x="77104" y="0"/>
                </a:lnTo>
              </a:path>
            </a:pathLst>
          </a:custGeom>
          <a:solidFill>
            <a:srgbClr val="231F20"/>
          </a:solidFill>
          <a:ln w="24109" cap="flat">
            <a:noFill/>
            <a:prstDash val="solid"/>
            <a:miter/>
          </a:ln>
        </p:spPr>
        <p:txBody>
          <a:bodyPr rtlCol="0" anchor="ctr"/>
          <a:lstStyle/>
          <a:p>
            <a:endParaRPr lang="pt-BR"/>
          </a:p>
        </p:txBody>
      </p:sp>
      <p:sp>
        <p:nvSpPr>
          <p:cNvPr id="259013" name="Freeform 259012">
            <a:extLst>
              <a:ext uri="{FF2B5EF4-FFF2-40B4-BE49-F238E27FC236}">
                <a16:creationId xmlns:a16="http://schemas.microsoft.com/office/drawing/2014/main" id="{938BFBDC-8761-4344-9271-44F173EC9A50}"/>
              </a:ext>
            </a:extLst>
          </p:cNvPr>
          <p:cNvSpPr/>
          <p:nvPr/>
        </p:nvSpPr>
        <p:spPr>
          <a:xfrm flipV="1">
            <a:off x="2227913" y="2290510"/>
            <a:ext cx="2081825" cy="24118"/>
          </a:xfrm>
          <a:custGeom>
            <a:avLst/>
            <a:gdLst>
              <a:gd name="connsiteX0" fmla="*/ 2081916 w 2081825"/>
              <a:gd name="connsiteY0" fmla="*/ 39 h 24118"/>
              <a:gd name="connsiteX1" fmla="*/ 90 w 2081825"/>
              <a:gd name="connsiteY1" fmla="*/ 39 h 24118"/>
            </a:gdLst>
            <a:ahLst/>
            <a:cxnLst>
              <a:cxn ang="0">
                <a:pos x="connsiteX0" y="connsiteY0"/>
              </a:cxn>
              <a:cxn ang="0">
                <a:pos x="connsiteX1" y="connsiteY1"/>
              </a:cxn>
            </a:cxnLst>
            <a:rect l="l" t="t" r="r" b="b"/>
            <a:pathLst>
              <a:path w="2081825" h="24118">
                <a:moveTo>
                  <a:pt x="2081916" y="39"/>
                </a:moveTo>
                <a:lnTo>
                  <a:pt x="90" y="39"/>
                </a:lnTo>
              </a:path>
            </a:pathLst>
          </a:custGeom>
          <a:noFill/>
          <a:ln w="12055" cap="rnd">
            <a:solidFill>
              <a:srgbClr val="231F20"/>
            </a:solidFill>
            <a:prstDash val="solid"/>
            <a:round/>
          </a:ln>
        </p:spPr>
        <p:txBody>
          <a:bodyPr rtlCol="0" anchor="ctr"/>
          <a:lstStyle/>
          <a:p>
            <a:endParaRPr lang="pt-BR"/>
          </a:p>
        </p:txBody>
      </p:sp>
      <p:sp>
        <p:nvSpPr>
          <p:cNvPr id="259014" name="Freeform 259013">
            <a:extLst>
              <a:ext uri="{FF2B5EF4-FFF2-40B4-BE49-F238E27FC236}">
                <a16:creationId xmlns:a16="http://schemas.microsoft.com/office/drawing/2014/main" id="{97D4B545-3025-BA47-B993-5E087C4331EF}"/>
              </a:ext>
            </a:extLst>
          </p:cNvPr>
          <p:cNvSpPr/>
          <p:nvPr/>
        </p:nvSpPr>
        <p:spPr>
          <a:xfrm>
            <a:off x="2223294" y="3243732"/>
            <a:ext cx="235933" cy="77066"/>
          </a:xfrm>
          <a:custGeom>
            <a:avLst/>
            <a:gdLst>
              <a:gd name="connsiteX0" fmla="*/ 4619 w 235933"/>
              <a:gd name="connsiteY0" fmla="*/ 33918 h 77066"/>
              <a:gd name="connsiteX1" fmla="*/ 171930 w 235933"/>
              <a:gd name="connsiteY1" fmla="*/ 33918 h 77066"/>
              <a:gd name="connsiteX2" fmla="*/ 175040 w 235933"/>
              <a:gd name="connsiteY2" fmla="*/ 35425 h 77066"/>
              <a:gd name="connsiteX3" fmla="*/ 176549 w 235933"/>
              <a:gd name="connsiteY3" fmla="*/ 38534 h 77066"/>
              <a:gd name="connsiteX4" fmla="*/ 175040 w 235933"/>
              <a:gd name="connsiteY4" fmla="*/ 42396 h 77066"/>
              <a:gd name="connsiteX5" fmla="*/ 171930 w 235933"/>
              <a:gd name="connsiteY5" fmla="*/ 43903 h 77066"/>
              <a:gd name="connsiteX6" fmla="*/ 4619 w 235933"/>
              <a:gd name="connsiteY6" fmla="*/ 43903 h 77066"/>
              <a:gd name="connsiteX7" fmla="*/ 1508 w 235933"/>
              <a:gd name="connsiteY7" fmla="*/ 42396 h 77066"/>
              <a:gd name="connsiteX8" fmla="*/ 0 w 235933"/>
              <a:gd name="connsiteY8" fmla="*/ 38534 h 77066"/>
              <a:gd name="connsiteX9" fmla="*/ 1508 w 235933"/>
              <a:gd name="connsiteY9" fmla="*/ 35425 h 77066"/>
              <a:gd name="connsiteX10" fmla="*/ 158828 w 235933"/>
              <a:gd name="connsiteY10" fmla="*/ 0 h 77066"/>
              <a:gd name="connsiteX11" fmla="*/ 235934 w 235933"/>
              <a:gd name="connsiteY11" fmla="*/ 38534 h 77066"/>
              <a:gd name="connsiteX12" fmla="*/ 158828 w 235933"/>
              <a:gd name="connsiteY12" fmla="*/ 77066 h 77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5933" h="77066">
                <a:moveTo>
                  <a:pt x="4619" y="33918"/>
                </a:moveTo>
                <a:lnTo>
                  <a:pt x="171930" y="33918"/>
                </a:lnTo>
                <a:lnTo>
                  <a:pt x="175040" y="35425"/>
                </a:lnTo>
                <a:lnTo>
                  <a:pt x="176549" y="38534"/>
                </a:lnTo>
                <a:lnTo>
                  <a:pt x="175040" y="42396"/>
                </a:lnTo>
                <a:lnTo>
                  <a:pt x="171930" y="43903"/>
                </a:lnTo>
                <a:lnTo>
                  <a:pt x="4619" y="43903"/>
                </a:lnTo>
                <a:lnTo>
                  <a:pt x="1508" y="42396"/>
                </a:lnTo>
                <a:lnTo>
                  <a:pt x="0" y="38534"/>
                </a:lnTo>
                <a:lnTo>
                  <a:pt x="1508" y="35425"/>
                </a:lnTo>
                <a:close/>
                <a:moveTo>
                  <a:pt x="158828" y="0"/>
                </a:moveTo>
                <a:lnTo>
                  <a:pt x="235934" y="38534"/>
                </a:lnTo>
                <a:lnTo>
                  <a:pt x="158828" y="77066"/>
                </a:lnTo>
              </a:path>
            </a:pathLst>
          </a:custGeom>
          <a:solidFill>
            <a:srgbClr val="231F20"/>
          </a:solidFill>
          <a:ln w="24109" cap="flat">
            <a:noFill/>
            <a:prstDash val="solid"/>
            <a:miter/>
          </a:ln>
        </p:spPr>
        <p:txBody>
          <a:bodyPr rtlCol="0" anchor="ctr"/>
          <a:lstStyle/>
          <a:p>
            <a:endParaRPr lang="pt-BR"/>
          </a:p>
        </p:txBody>
      </p:sp>
      <p:sp>
        <p:nvSpPr>
          <p:cNvPr id="259015" name="Freeform 259014">
            <a:extLst>
              <a:ext uri="{FF2B5EF4-FFF2-40B4-BE49-F238E27FC236}">
                <a16:creationId xmlns:a16="http://schemas.microsoft.com/office/drawing/2014/main" id="{2B6334E2-172D-FB4A-A313-37D48C17C044}"/>
              </a:ext>
            </a:extLst>
          </p:cNvPr>
          <p:cNvSpPr/>
          <p:nvPr/>
        </p:nvSpPr>
        <p:spPr>
          <a:xfrm flipV="1">
            <a:off x="2150808" y="2429775"/>
            <a:ext cx="2158930" cy="24118"/>
          </a:xfrm>
          <a:custGeom>
            <a:avLst/>
            <a:gdLst>
              <a:gd name="connsiteX0" fmla="*/ 2159020 w 2158930"/>
              <a:gd name="connsiteY0" fmla="*/ 45 h 24118"/>
              <a:gd name="connsiteX1" fmla="*/ 90 w 2158930"/>
              <a:gd name="connsiteY1" fmla="*/ 45 h 24118"/>
            </a:gdLst>
            <a:ahLst/>
            <a:cxnLst>
              <a:cxn ang="0">
                <a:pos x="connsiteX0" y="connsiteY0"/>
              </a:cxn>
              <a:cxn ang="0">
                <a:pos x="connsiteX1" y="connsiteY1"/>
              </a:cxn>
            </a:cxnLst>
            <a:rect l="l" t="t" r="r" b="b"/>
            <a:pathLst>
              <a:path w="2158930" h="24118">
                <a:moveTo>
                  <a:pt x="2159020" y="45"/>
                </a:moveTo>
                <a:lnTo>
                  <a:pt x="90" y="45"/>
                </a:lnTo>
              </a:path>
            </a:pathLst>
          </a:custGeom>
          <a:noFill/>
          <a:ln w="12055" cap="rnd">
            <a:solidFill>
              <a:srgbClr val="231F20"/>
            </a:solidFill>
            <a:prstDash val="solid"/>
            <a:round/>
          </a:ln>
        </p:spPr>
        <p:txBody>
          <a:bodyPr rtlCol="0" anchor="ctr"/>
          <a:lstStyle/>
          <a:p>
            <a:endParaRPr lang="pt-BR"/>
          </a:p>
        </p:txBody>
      </p:sp>
      <p:sp>
        <p:nvSpPr>
          <p:cNvPr id="259016" name="Freeform 259015">
            <a:extLst>
              <a:ext uri="{FF2B5EF4-FFF2-40B4-BE49-F238E27FC236}">
                <a16:creationId xmlns:a16="http://schemas.microsoft.com/office/drawing/2014/main" id="{B3EBDEED-DE6F-1E46-B618-087E84585BEF}"/>
              </a:ext>
            </a:extLst>
          </p:cNvPr>
          <p:cNvSpPr/>
          <p:nvPr/>
        </p:nvSpPr>
        <p:spPr>
          <a:xfrm flipV="1">
            <a:off x="2227913" y="2312812"/>
            <a:ext cx="24130" cy="969454"/>
          </a:xfrm>
          <a:custGeom>
            <a:avLst/>
            <a:gdLst>
              <a:gd name="connsiteX0" fmla="*/ 3 w 24130"/>
              <a:gd name="connsiteY0" fmla="*/ 969534 h 969454"/>
              <a:gd name="connsiteX1" fmla="*/ 3 w 24130"/>
              <a:gd name="connsiteY1" fmla="*/ 79 h 969454"/>
            </a:gdLst>
            <a:ahLst/>
            <a:cxnLst>
              <a:cxn ang="0">
                <a:pos x="connsiteX0" y="connsiteY0"/>
              </a:cxn>
              <a:cxn ang="0">
                <a:pos x="connsiteX1" y="connsiteY1"/>
              </a:cxn>
            </a:cxnLst>
            <a:rect l="l" t="t" r="r" b="b"/>
            <a:pathLst>
              <a:path w="24130" h="969454">
                <a:moveTo>
                  <a:pt x="3" y="969534"/>
                </a:moveTo>
                <a:lnTo>
                  <a:pt x="3" y="79"/>
                </a:lnTo>
              </a:path>
            </a:pathLst>
          </a:custGeom>
          <a:noFill/>
          <a:ln w="12055" cap="rnd">
            <a:solidFill>
              <a:srgbClr val="231F20"/>
            </a:solidFill>
            <a:prstDash val="solid"/>
            <a:round/>
          </a:ln>
        </p:spPr>
        <p:txBody>
          <a:bodyPr rtlCol="0" anchor="ctr"/>
          <a:lstStyle/>
          <a:p>
            <a:endParaRPr lang="pt-BR"/>
          </a:p>
        </p:txBody>
      </p:sp>
      <p:sp>
        <p:nvSpPr>
          <p:cNvPr id="259017" name="Freeform 259016">
            <a:extLst>
              <a:ext uri="{FF2B5EF4-FFF2-40B4-BE49-F238E27FC236}">
                <a16:creationId xmlns:a16="http://schemas.microsoft.com/office/drawing/2014/main" id="{FE8A1767-6CBB-2E43-A0CD-C594857677AD}"/>
              </a:ext>
            </a:extLst>
          </p:cNvPr>
          <p:cNvSpPr/>
          <p:nvPr/>
        </p:nvSpPr>
        <p:spPr>
          <a:xfrm>
            <a:off x="2146189" y="3397865"/>
            <a:ext cx="313038" cy="77066"/>
          </a:xfrm>
          <a:custGeom>
            <a:avLst/>
            <a:gdLst>
              <a:gd name="connsiteX0" fmla="*/ 4619 w 313038"/>
              <a:gd name="connsiteY0" fmla="*/ 33918 h 77066"/>
              <a:gd name="connsiteX1" fmla="*/ 249035 w 313038"/>
              <a:gd name="connsiteY1" fmla="*/ 33918 h 77066"/>
              <a:gd name="connsiteX2" fmla="*/ 252145 w 313038"/>
              <a:gd name="connsiteY2" fmla="*/ 35425 h 77066"/>
              <a:gd name="connsiteX3" fmla="*/ 253653 w 313038"/>
              <a:gd name="connsiteY3" fmla="*/ 38534 h 77066"/>
              <a:gd name="connsiteX4" fmla="*/ 252145 w 313038"/>
              <a:gd name="connsiteY4" fmla="*/ 42396 h 77066"/>
              <a:gd name="connsiteX5" fmla="*/ 249035 w 313038"/>
              <a:gd name="connsiteY5" fmla="*/ 43903 h 77066"/>
              <a:gd name="connsiteX6" fmla="*/ 4619 w 313038"/>
              <a:gd name="connsiteY6" fmla="*/ 43903 h 77066"/>
              <a:gd name="connsiteX7" fmla="*/ 1508 w 313038"/>
              <a:gd name="connsiteY7" fmla="*/ 42396 h 77066"/>
              <a:gd name="connsiteX8" fmla="*/ 0 w 313038"/>
              <a:gd name="connsiteY8" fmla="*/ 38534 h 77066"/>
              <a:gd name="connsiteX9" fmla="*/ 1508 w 313038"/>
              <a:gd name="connsiteY9" fmla="*/ 35425 h 77066"/>
              <a:gd name="connsiteX10" fmla="*/ 235933 w 313038"/>
              <a:gd name="connsiteY10" fmla="*/ 0 h 77066"/>
              <a:gd name="connsiteX11" fmla="*/ 313039 w 313038"/>
              <a:gd name="connsiteY11" fmla="*/ 38534 h 77066"/>
              <a:gd name="connsiteX12" fmla="*/ 235933 w 313038"/>
              <a:gd name="connsiteY12" fmla="*/ 77066 h 77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3038" h="77066">
                <a:moveTo>
                  <a:pt x="4619" y="33918"/>
                </a:moveTo>
                <a:lnTo>
                  <a:pt x="249035" y="33918"/>
                </a:lnTo>
                <a:lnTo>
                  <a:pt x="252145" y="35425"/>
                </a:lnTo>
                <a:lnTo>
                  <a:pt x="253653" y="38534"/>
                </a:lnTo>
                <a:lnTo>
                  <a:pt x="252145" y="42396"/>
                </a:lnTo>
                <a:lnTo>
                  <a:pt x="249035" y="43903"/>
                </a:lnTo>
                <a:lnTo>
                  <a:pt x="4619" y="43903"/>
                </a:lnTo>
                <a:lnTo>
                  <a:pt x="1508" y="42396"/>
                </a:lnTo>
                <a:lnTo>
                  <a:pt x="0" y="38534"/>
                </a:lnTo>
                <a:lnTo>
                  <a:pt x="1508" y="35425"/>
                </a:lnTo>
                <a:close/>
                <a:moveTo>
                  <a:pt x="235933" y="0"/>
                </a:moveTo>
                <a:lnTo>
                  <a:pt x="313039" y="38534"/>
                </a:lnTo>
                <a:lnTo>
                  <a:pt x="235933" y="77066"/>
                </a:lnTo>
              </a:path>
            </a:pathLst>
          </a:custGeom>
          <a:solidFill>
            <a:srgbClr val="231F20"/>
          </a:solidFill>
          <a:ln w="24109" cap="flat">
            <a:noFill/>
            <a:prstDash val="solid"/>
            <a:miter/>
          </a:ln>
        </p:spPr>
        <p:txBody>
          <a:bodyPr rtlCol="0" anchor="ctr"/>
          <a:lstStyle/>
          <a:p>
            <a:endParaRPr lang="pt-BR"/>
          </a:p>
        </p:txBody>
      </p:sp>
      <p:sp>
        <p:nvSpPr>
          <p:cNvPr id="259018" name="Freeform 259017">
            <a:extLst>
              <a:ext uri="{FF2B5EF4-FFF2-40B4-BE49-F238E27FC236}">
                <a16:creationId xmlns:a16="http://schemas.microsoft.com/office/drawing/2014/main" id="{3F9C01DD-0C8A-364D-8206-9BDF6F97A810}"/>
              </a:ext>
            </a:extLst>
          </p:cNvPr>
          <p:cNvSpPr/>
          <p:nvPr/>
        </p:nvSpPr>
        <p:spPr>
          <a:xfrm flipV="1">
            <a:off x="2150808" y="2466945"/>
            <a:ext cx="24130" cy="969454"/>
          </a:xfrm>
          <a:custGeom>
            <a:avLst/>
            <a:gdLst>
              <a:gd name="connsiteX0" fmla="*/ 0 w 24130"/>
              <a:gd name="connsiteY0" fmla="*/ 969539 h 969454"/>
              <a:gd name="connsiteX1" fmla="*/ 0 w 24130"/>
              <a:gd name="connsiteY1" fmla="*/ 85 h 969454"/>
            </a:gdLst>
            <a:ahLst/>
            <a:cxnLst>
              <a:cxn ang="0">
                <a:pos x="connsiteX0" y="connsiteY0"/>
              </a:cxn>
              <a:cxn ang="0">
                <a:pos x="connsiteX1" y="connsiteY1"/>
              </a:cxn>
            </a:cxnLst>
            <a:rect l="l" t="t" r="r" b="b"/>
            <a:pathLst>
              <a:path w="24130" h="969454">
                <a:moveTo>
                  <a:pt x="0" y="969539"/>
                </a:moveTo>
                <a:lnTo>
                  <a:pt x="0" y="85"/>
                </a:lnTo>
              </a:path>
            </a:pathLst>
          </a:custGeom>
          <a:noFill/>
          <a:ln w="12055" cap="rnd">
            <a:solidFill>
              <a:srgbClr val="231F20"/>
            </a:solidFill>
            <a:prstDash val="solid"/>
            <a:round/>
          </a:ln>
        </p:spPr>
        <p:txBody>
          <a:bodyPr rtlCol="0" anchor="ctr"/>
          <a:lstStyle/>
          <a:p>
            <a:endParaRPr lang="pt-BR"/>
          </a:p>
        </p:txBody>
      </p:sp>
      <p:sp>
        <p:nvSpPr>
          <p:cNvPr id="259085" name="Freeform 259084">
            <a:extLst>
              <a:ext uri="{FF2B5EF4-FFF2-40B4-BE49-F238E27FC236}">
                <a16:creationId xmlns:a16="http://schemas.microsoft.com/office/drawing/2014/main" id="{36F6D29B-DC92-BD4D-A998-51BA46F80DCB}"/>
              </a:ext>
            </a:extLst>
          </p:cNvPr>
          <p:cNvSpPr/>
          <p:nvPr/>
        </p:nvSpPr>
        <p:spPr>
          <a:xfrm>
            <a:off x="4086059" y="3741460"/>
            <a:ext cx="235933" cy="77056"/>
          </a:xfrm>
          <a:custGeom>
            <a:avLst/>
            <a:gdLst>
              <a:gd name="connsiteX0" fmla="*/ 4619 w 235933"/>
              <a:gd name="connsiteY0" fmla="*/ 33918 h 77056"/>
              <a:gd name="connsiteX1" fmla="*/ 171930 w 235933"/>
              <a:gd name="connsiteY1" fmla="*/ 33918 h 77056"/>
              <a:gd name="connsiteX2" fmla="*/ 175041 w 235933"/>
              <a:gd name="connsiteY2" fmla="*/ 35519 h 77056"/>
              <a:gd name="connsiteX3" fmla="*/ 176549 w 235933"/>
              <a:gd name="connsiteY3" fmla="*/ 38534 h 77056"/>
              <a:gd name="connsiteX4" fmla="*/ 175041 w 235933"/>
              <a:gd name="connsiteY4" fmla="*/ 41643 h 77056"/>
              <a:gd name="connsiteX5" fmla="*/ 171930 w 235933"/>
              <a:gd name="connsiteY5" fmla="*/ 43245 h 77056"/>
              <a:gd name="connsiteX6" fmla="*/ 4619 w 235933"/>
              <a:gd name="connsiteY6" fmla="*/ 43245 h 77056"/>
              <a:gd name="connsiteX7" fmla="*/ 1508 w 235933"/>
              <a:gd name="connsiteY7" fmla="*/ 41643 h 77056"/>
              <a:gd name="connsiteX8" fmla="*/ 0 w 235933"/>
              <a:gd name="connsiteY8" fmla="*/ 38534 h 77056"/>
              <a:gd name="connsiteX9" fmla="*/ 1508 w 235933"/>
              <a:gd name="connsiteY9" fmla="*/ 35519 h 77056"/>
              <a:gd name="connsiteX10" fmla="*/ 158830 w 235933"/>
              <a:gd name="connsiteY10" fmla="*/ 0 h 77056"/>
              <a:gd name="connsiteX11" fmla="*/ 235934 w 235933"/>
              <a:gd name="connsiteY11" fmla="*/ 38534 h 77056"/>
              <a:gd name="connsiteX12" fmla="*/ 158830 w 235933"/>
              <a:gd name="connsiteY12" fmla="*/ 77056 h 77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5933" h="77056">
                <a:moveTo>
                  <a:pt x="4619" y="33918"/>
                </a:moveTo>
                <a:lnTo>
                  <a:pt x="171930" y="33918"/>
                </a:lnTo>
                <a:lnTo>
                  <a:pt x="175041" y="35519"/>
                </a:lnTo>
                <a:lnTo>
                  <a:pt x="176549" y="38534"/>
                </a:lnTo>
                <a:lnTo>
                  <a:pt x="175041" y="41643"/>
                </a:lnTo>
                <a:lnTo>
                  <a:pt x="171930" y="43245"/>
                </a:lnTo>
                <a:lnTo>
                  <a:pt x="4619" y="43245"/>
                </a:lnTo>
                <a:lnTo>
                  <a:pt x="1508" y="41643"/>
                </a:lnTo>
                <a:lnTo>
                  <a:pt x="0" y="38534"/>
                </a:lnTo>
                <a:lnTo>
                  <a:pt x="1508" y="35519"/>
                </a:lnTo>
                <a:close/>
                <a:moveTo>
                  <a:pt x="158830" y="0"/>
                </a:moveTo>
                <a:lnTo>
                  <a:pt x="235934" y="38534"/>
                </a:lnTo>
                <a:lnTo>
                  <a:pt x="158830" y="77056"/>
                </a:lnTo>
              </a:path>
            </a:pathLst>
          </a:custGeom>
          <a:solidFill>
            <a:srgbClr val="231F20"/>
          </a:solidFill>
          <a:ln w="24109" cap="flat">
            <a:noFill/>
            <a:prstDash val="solid"/>
            <a:miter/>
          </a:ln>
        </p:spPr>
        <p:txBody>
          <a:bodyPr rtlCol="0" anchor="ctr"/>
          <a:lstStyle/>
          <a:p>
            <a:endParaRPr lang="pt-BR"/>
          </a:p>
        </p:txBody>
      </p:sp>
      <p:sp>
        <p:nvSpPr>
          <p:cNvPr id="259086" name="Freeform 259085">
            <a:extLst>
              <a:ext uri="{FF2B5EF4-FFF2-40B4-BE49-F238E27FC236}">
                <a16:creationId xmlns:a16="http://schemas.microsoft.com/office/drawing/2014/main" id="{C95904C6-31AB-8844-A389-56B5BF1F8CB2}"/>
              </a:ext>
            </a:extLst>
          </p:cNvPr>
          <p:cNvSpPr/>
          <p:nvPr/>
        </p:nvSpPr>
        <p:spPr>
          <a:xfrm>
            <a:off x="4158451" y="3741460"/>
            <a:ext cx="235933" cy="77056"/>
          </a:xfrm>
          <a:custGeom>
            <a:avLst/>
            <a:gdLst>
              <a:gd name="connsiteX0" fmla="*/ 4619 w 235933"/>
              <a:gd name="connsiteY0" fmla="*/ 33918 h 77056"/>
              <a:gd name="connsiteX1" fmla="*/ 171930 w 235933"/>
              <a:gd name="connsiteY1" fmla="*/ 33918 h 77056"/>
              <a:gd name="connsiteX2" fmla="*/ 175041 w 235933"/>
              <a:gd name="connsiteY2" fmla="*/ 35519 h 77056"/>
              <a:gd name="connsiteX3" fmla="*/ 176549 w 235933"/>
              <a:gd name="connsiteY3" fmla="*/ 38534 h 77056"/>
              <a:gd name="connsiteX4" fmla="*/ 175041 w 235933"/>
              <a:gd name="connsiteY4" fmla="*/ 41643 h 77056"/>
              <a:gd name="connsiteX5" fmla="*/ 171930 w 235933"/>
              <a:gd name="connsiteY5" fmla="*/ 43245 h 77056"/>
              <a:gd name="connsiteX6" fmla="*/ 4619 w 235933"/>
              <a:gd name="connsiteY6" fmla="*/ 43245 h 77056"/>
              <a:gd name="connsiteX7" fmla="*/ 1508 w 235933"/>
              <a:gd name="connsiteY7" fmla="*/ 41643 h 77056"/>
              <a:gd name="connsiteX8" fmla="*/ 0 w 235933"/>
              <a:gd name="connsiteY8" fmla="*/ 38534 h 77056"/>
              <a:gd name="connsiteX9" fmla="*/ 1508 w 235933"/>
              <a:gd name="connsiteY9" fmla="*/ 35519 h 77056"/>
              <a:gd name="connsiteX10" fmla="*/ 158830 w 235933"/>
              <a:gd name="connsiteY10" fmla="*/ 0 h 77056"/>
              <a:gd name="connsiteX11" fmla="*/ 235934 w 235933"/>
              <a:gd name="connsiteY11" fmla="*/ 38534 h 77056"/>
              <a:gd name="connsiteX12" fmla="*/ 158830 w 235933"/>
              <a:gd name="connsiteY12" fmla="*/ 77056 h 77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5933" h="77056">
                <a:moveTo>
                  <a:pt x="4619" y="33918"/>
                </a:moveTo>
                <a:lnTo>
                  <a:pt x="171930" y="33918"/>
                </a:lnTo>
                <a:lnTo>
                  <a:pt x="175041" y="35519"/>
                </a:lnTo>
                <a:lnTo>
                  <a:pt x="176549" y="38534"/>
                </a:lnTo>
                <a:lnTo>
                  <a:pt x="175041" y="41643"/>
                </a:lnTo>
                <a:lnTo>
                  <a:pt x="171930" y="43245"/>
                </a:lnTo>
                <a:lnTo>
                  <a:pt x="4619" y="43245"/>
                </a:lnTo>
                <a:lnTo>
                  <a:pt x="1508" y="41643"/>
                </a:lnTo>
                <a:lnTo>
                  <a:pt x="0" y="38534"/>
                </a:lnTo>
                <a:lnTo>
                  <a:pt x="1508" y="35519"/>
                </a:lnTo>
                <a:close/>
                <a:moveTo>
                  <a:pt x="158830" y="0"/>
                </a:moveTo>
                <a:lnTo>
                  <a:pt x="235934" y="38534"/>
                </a:lnTo>
                <a:lnTo>
                  <a:pt x="158830" y="77056"/>
                </a:lnTo>
              </a:path>
            </a:pathLst>
          </a:custGeom>
          <a:solidFill>
            <a:srgbClr val="231F20"/>
          </a:solidFill>
          <a:ln w="24109" cap="flat">
            <a:noFill/>
            <a:prstDash val="solid"/>
            <a:miter/>
          </a:ln>
        </p:spPr>
        <p:txBody>
          <a:bodyPr rtlCol="0" anchor="ctr"/>
          <a:lstStyle/>
          <a:p>
            <a:endParaRPr lang="pt-BR"/>
          </a:p>
        </p:txBody>
      </p:sp>
      <p:sp>
        <p:nvSpPr>
          <p:cNvPr id="259097" name="TextBox 259096">
            <a:extLst>
              <a:ext uri="{FF2B5EF4-FFF2-40B4-BE49-F238E27FC236}">
                <a16:creationId xmlns:a16="http://schemas.microsoft.com/office/drawing/2014/main" id="{F539F6E5-B7E4-6A4F-9F10-078F1AA21D8A}"/>
              </a:ext>
            </a:extLst>
          </p:cNvPr>
          <p:cNvSpPr txBox="1"/>
          <p:nvPr/>
        </p:nvSpPr>
        <p:spPr>
          <a:xfrm>
            <a:off x="7789440" y="1611781"/>
            <a:ext cx="827963" cy="646331"/>
          </a:xfrm>
          <a:prstGeom prst="rect">
            <a:avLst/>
          </a:prstGeom>
          <a:noFill/>
        </p:spPr>
        <p:txBody>
          <a:bodyPr wrap="square" rtlCol="0">
            <a:spAutoFit/>
          </a:bodyPr>
          <a:lstStyle/>
          <a:p>
            <a:r>
              <a:rPr lang="pt-BR" sz="900" u="sng">
                <a:latin typeface="Calibri Light" panose="020F0302020204030204" pitchFamily="34" charset="0"/>
                <a:cs typeface="Calibri Light" panose="020F0302020204030204" pitchFamily="34" charset="0"/>
              </a:rPr>
              <a:t>ID</a:t>
            </a:r>
          </a:p>
          <a:p>
            <a:r>
              <a:rPr lang="pt-BR" sz="900">
                <a:latin typeface="Calibri Light" panose="020F0302020204030204" pitchFamily="34" charset="0"/>
                <a:cs typeface="Calibri Light" panose="020F0302020204030204" pitchFamily="34" charset="0"/>
              </a:rPr>
              <a:t>nome</a:t>
            </a:r>
          </a:p>
          <a:p>
            <a:r>
              <a:rPr lang="pt-BR" sz="900">
                <a:latin typeface="Calibri Light" panose="020F0302020204030204" pitchFamily="34" charset="0"/>
                <a:cs typeface="Calibri Light" panose="020F0302020204030204" pitchFamily="34" charset="0"/>
              </a:rPr>
              <a:t>nome_dept</a:t>
            </a:r>
          </a:p>
          <a:p>
            <a:r>
              <a:rPr lang="pt-BR" sz="900">
                <a:latin typeface="Calibri Light" panose="020F0302020204030204" pitchFamily="34" charset="0"/>
                <a:cs typeface="Calibri Light" panose="020F0302020204030204" pitchFamily="34" charset="0"/>
              </a:rPr>
              <a:t>tot_cred</a:t>
            </a:r>
          </a:p>
        </p:txBody>
      </p:sp>
      <p:sp>
        <p:nvSpPr>
          <p:cNvPr id="259104" name="TextBox 259103">
            <a:extLst>
              <a:ext uri="{FF2B5EF4-FFF2-40B4-BE49-F238E27FC236}">
                <a16:creationId xmlns:a16="http://schemas.microsoft.com/office/drawing/2014/main" id="{8ADD6649-601A-124C-9293-F04D4BF2C2F8}"/>
              </a:ext>
            </a:extLst>
          </p:cNvPr>
          <p:cNvSpPr txBox="1"/>
          <p:nvPr/>
        </p:nvSpPr>
        <p:spPr>
          <a:xfrm>
            <a:off x="9157834" y="3059066"/>
            <a:ext cx="987828" cy="430887"/>
          </a:xfrm>
          <a:prstGeom prst="rect">
            <a:avLst/>
          </a:prstGeom>
          <a:noFill/>
        </p:spPr>
        <p:txBody>
          <a:bodyPr wrap="square" rtlCol="0">
            <a:spAutoFit/>
          </a:bodyPr>
          <a:lstStyle/>
          <a:p>
            <a:r>
              <a:rPr lang="pt-BR" sz="1100" u="sng" dirty="0" err="1">
                <a:latin typeface="Calibri Light" panose="020F0302020204030204" pitchFamily="34" charset="0"/>
                <a:cs typeface="Calibri Light" panose="020F0302020204030204" pitchFamily="34" charset="0"/>
              </a:rPr>
              <a:t>a_id</a:t>
            </a:r>
            <a:endParaRPr lang="pt-BR" sz="1100" u="sng" dirty="0">
              <a:latin typeface="Calibri Light" panose="020F0302020204030204" pitchFamily="34" charset="0"/>
              <a:cs typeface="Calibri Light" panose="020F0302020204030204" pitchFamily="34" charset="0"/>
            </a:endParaRPr>
          </a:p>
          <a:p>
            <a:r>
              <a:rPr lang="pt-BR" sz="1100" dirty="0" err="1">
                <a:latin typeface="Calibri Light" panose="020F0302020204030204" pitchFamily="34" charset="0"/>
                <a:cs typeface="Calibri Light" panose="020F0302020204030204" pitchFamily="34" charset="0"/>
              </a:rPr>
              <a:t>p_id</a:t>
            </a:r>
            <a:endParaRPr lang="pt-BR" sz="1100" dirty="0">
              <a:latin typeface="Calibri Light" panose="020F0302020204030204" pitchFamily="34" charset="0"/>
              <a:cs typeface="Calibri Light" panose="020F0302020204030204" pitchFamily="34" charset="0"/>
            </a:endParaRPr>
          </a:p>
        </p:txBody>
      </p:sp>
      <p:sp>
        <p:nvSpPr>
          <p:cNvPr id="259116" name="TextBox 259115">
            <a:extLst>
              <a:ext uri="{FF2B5EF4-FFF2-40B4-BE49-F238E27FC236}">
                <a16:creationId xmlns:a16="http://schemas.microsoft.com/office/drawing/2014/main" id="{D4DA437F-57E5-6F4C-B730-B9FD36C605B0}"/>
              </a:ext>
            </a:extLst>
          </p:cNvPr>
          <p:cNvSpPr txBox="1"/>
          <p:nvPr/>
        </p:nvSpPr>
        <p:spPr>
          <a:xfrm>
            <a:off x="8010668" y="4694341"/>
            <a:ext cx="766414" cy="646331"/>
          </a:xfrm>
          <a:prstGeom prst="rect">
            <a:avLst/>
          </a:prstGeom>
          <a:noFill/>
        </p:spPr>
        <p:txBody>
          <a:bodyPr wrap="square" rtlCol="0">
            <a:spAutoFit/>
          </a:bodyPr>
          <a:lstStyle/>
          <a:p>
            <a:r>
              <a:rPr lang="pt-BR" sz="900" u="sng" dirty="0">
                <a:latin typeface="Calibri Light" panose="020F0302020204030204" pitchFamily="34" charset="0"/>
                <a:cs typeface="Calibri Light" panose="020F0302020204030204" pitchFamily="34" charset="0"/>
              </a:rPr>
              <a:t>ID</a:t>
            </a:r>
          </a:p>
          <a:p>
            <a:r>
              <a:rPr lang="pt-BR" sz="900" dirty="0">
                <a:latin typeface="Calibri Light" panose="020F0302020204030204" pitchFamily="34" charset="0"/>
                <a:cs typeface="Calibri Light" panose="020F0302020204030204" pitchFamily="34" charset="0"/>
              </a:rPr>
              <a:t>nome</a:t>
            </a:r>
          </a:p>
          <a:p>
            <a:r>
              <a:rPr lang="pt-BR" sz="900" dirty="0" err="1">
                <a:latin typeface="Calibri Light" panose="020F0302020204030204" pitchFamily="34" charset="0"/>
                <a:cs typeface="Calibri Light" panose="020F0302020204030204" pitchFamily="34" charset="0"/>
              </a:rPr>
              <a:t>nome_dept</a:t>
            </a:r>
            <a:endParaRPr lang="pt-BR" sz="900" dirty="0">
              <a:latin typeface="Calibri Light" panose="020F0302020204030204" pitchFamily="34" charset="0"/>
              <a:cs typeface="Calibri Light" panose="020F0302020204030204" pitchFamily="34" charset="0"/>
            </a:endParaRPr>
          </a:p>
          <a:p>
            <a:r>
              <a:rPr lang="pt-BR" sz="900" dirty="0">
                <a:latin typeface="Calibri Light" panose="020F0302020204030204" pitchFamily="34" charset="0"/>
                <a:cs typeface="Calibri Light" panose="020F0302020204030204" pitchFamily="34" charset="0"/>
              </a:rPr>
              <a:t>salário</a:t>
            </a:r>
          </a:p>
        </p:txBody>
      </p:sp>
      <p:sp>
        <p:nvSpPr>
          <p:cNvPr id="259118" name="TextBox 259117">
            <a:extLst>
              <a:ext uri="{FF2B5EF4-FFF2-40B4-BE49-F238E27FC236}">
                <a16:creationId xmlns:a16="http://schemas.microsoft.com/office/drawing/2014/main" id="{256F4743-1634-1B4F-9322-786A6945FFA2}"/>
              </a:ext>
            </a:extLst>
          </p:cNvPr>
          <p:cNvSpPr txBox="1"/>
          <p:nvPr/>
        </p:nvSpPr>
        <p:spPr>
          <a:xfrm>
            <a:off x="7772467" y="3072932"/>
            <a:ext cx="1004613" cy="646331"/>
          </a:xfrm>
          <a:prstGeom prst="rect">
            <a:avLst/>
          </a:prstGeom>
          <a:noFill/>
        </p:spPr>
        <p:txBody>
          <a:bodyPr wrap="square" rtlCol="0">
            <a:spAutoFit/>
          </a:bodyPr>
          <a:lstStyle/>
          <a:p>
            <a:r>
              <a:rPr lang="pt-BR" sz="900" u="sng" dirty="0" err="1">
                <a:latin typeface="Calibri Light" panose="020F0302020204030204" pitchFamily="34" charset="0"/>
                <a:cs typeface="Calibri Light" panose="020F0302020204030204" pitchFamily="34" charset="0"/>
              </a:rPr>
              <a:t>nome_dept</a:t>
            </a:r>
            <a:endParaRPr lang="pt-BR" sz="900" dirty="0">
              <a:latin typeface="Calibri Light" panose="020F0302020204030204" pitchFamily="34" charset="0"/>
              <a:cs typeface="Calibri Light" panose="020F0302020204030204" pitchFamily="34" charset="0"/>
            </a:endParaRPr>
          </a:p>
          <a:p>
            <a:endParaRPr lang="pt-BR" sz="900" dirty="0">
              <a:latin typeface="Calibri Light" panose="020F0302020204030204" pitchFamily="34" charset="0"/>
              <a:cs typeface="Calibri Light" panose="020F0302020204030204" pitchFamily="34" charset="0"/>
            </a:endParaRPr>
          </a:p>
          <a:p>
            <a:r>
              <a:rPr lang="pt-BR" sz="900" dirty="0">
                <a:latin typeface="Calibri Light" panose="020F0302020204030204" pitchFamily="34" charset="0"/>
                <a:cs typeface="Calibri Light" panose="020F0302020204030204" pitchFamily="34" charset="0"/>
              </a:rPr>
              <a:t>prédio</a:t>
            </a:r>
          </a:p>
          <a:p>
            <a:r>
              <a:rPr lang="pt-BR" sz="900" dirty="0" err="1">
                <a:latin typeface="Calibri Light" panose="020F0302020204030204" pitchFamily="34" charset="0"/>
                <a:cs typeface="Calibri Light" panose="020F0302020204030204" pitchFamily="34" charset="0"/>
              </a:rPr>
              <a:t>orcamento</a:t>
            </a:r>
            <a:endParaRPr lang="pt-BR" sz="900" dirty="0">
              <a:latin typeface="Calibri Light" panose="020F0302020204030204" pitchFamily="34" charset="0"/>
              <a:cs typeface="Calibri Light" panose="020F0302020204030204" pitchFamily="34" charset="0"/>
            </a:endParaRPr>
          </a:p>
        </p:txBody>
      </p:sp>
      <p:sp>
        <p:nvSpPr>
          <p:cNvPr id="259125" name="TextBox 259124">
            <a:extLst>
              <a:ext uri="{FF2B5EF4-FFF2-40B4-BE49-F238E27FC236}">
                <a16:creationId xmlns:a16="http://schemas.microsoft.com/office/drawing/2014/main" id="{562A3237-167B-FB49-8072-7C80EA129DF0}"/>
              </a:ext>
            </a:extLst>
          </p:cNvPr>
          <p:cNvSpPr txBox="1"/>
          <p:nvPr/>
        </p:nvSpPr>
        <p:spPr>
          <a:xfrm>
            <a:off x="6164755" y="2860075"/>
            <a:ext cx="833560" cy="784830"/>
          </a:xfrm>
          <a:prstGeom prst="rect">
            <a:avLst/>
          </a:prstGeom>
          <a:noFill/>
        </p:spPr>
        <p:txBody>
          <a:bodyPr wrap="square" rtlCol="0">
            <a:spAutoFit/>
          </a:bodyPr>
          <a:lstStyle/>
          <a:p>
            <a:r>
              <a:rPr lang="pt-BR" sz="900" u="sng">
                <a:latin typeface="Calibri Light" panose="020F0302020204030204" pitchFamily="34" charset="0"/>
                <a:cs typeface="Calibri Light" panose="020F0302020204030204" pitchFamily="34" charset="0"/>
              </a:rPr>
              <a:t>disciplina_id</a:t>
            </a:r>
          </a:p>
          <a:p>
            <a:endParaRPr lang="pt-BR" sz="900" u="sng">
              <a:latin typeface="Calibri Light" panose="020F0302020204030204" pitchFamily="34" charset="0"/>
              <a:cs typeface="Calibri Light" panose="020F0302020204030204" pitchFamily="34" charset="0"/>
            </a:endParaRPr>
          </a:p>
          <a:p>
            <a:r>
              <a:rPr lang="pt-BR" sz="900">
                <a:latin typeface="Calibri Light" panose="020F0302020204030204" pitchFamily="34" charset="0"/>
                <a:cs typeface="Calibri Light" panose="020F0302020204030204" pitchFamily="34" charset="0"/>
              </a:rPr>
              <a:t>título</a:t>
            </a:r>
          </a:p>
          <a:p>
            <a:r>
              <a:rPr lang="pt-BR" sz="900">
                <a:latin typeface="Calibri Light" panose="020F0302020204030204" pitchFamily="34" charset="0"/>
                <a:cs typeface="Calibri Light" panose="020F0302020204030204" pitchFamily="34" charset="0"/>
              </a:rPr>
              <a:t>nome_dept</a:t>
            </a:r>
          </a:p>
          <a:p>
            <a:r>
              <a:rPr lang="pt-BR" sz="900">
                <a:latin typeface="Calibri Light" panose="020F0302020204030204" pitchFamily="34" charset="0"/>
                <a:cs typeface="Calibri Light" panose="020F0302020204030204" pitchFamily="34" charset="0"/>
              </a:rPr>
              <a:t>créditos</a:t>
            </a:r>
          </a:p>
        </p:txBody>
      </p:sp>
      <p:sp>
        <p:nvSpPr>
          <p:cNvPr id="259126" name="TextBox 259125">
            <a:extLst>
              <a:ext uri="{FF2B5EF4-FFF2-40B4-BE49-F238E27FC236}">
                <a16:creationId xmlns:a16="http://schemas.microsoft.com/office/drawing/2014/main" id="{BF4332B6-B27B-B943-936D-4B02DE46BC67}"/>
              </a:ext>
            </a:extLst>
          </p:cNvPr>
          <p:cNvSpPr txBox="1"/>
          <p:nvPr/>
        </p:nvSpPr>
        <p:spPr>
          <a:xfrm>
            <a:off x="6173724" y="4664606"/>
            <a:ext cx="834582" cy="369332"/>
          </a:xfrm>
          <a:prstGeom prst="rect">
            <a:avLst/>
          </a:prstGeom>
          <a:noFill/>
        </p:spPr>
        <p:txBody>
          <a:bodyPr wrap="square" rtlCol="0">
            <a:spAutoFit/>
          </a:bodyPr>
          <a:lstStyle/>
          <a:p>
            <a:r>
              <a:rPr lang="pt-BR" sz="900" u="sng">
                <a:latin typeface="Calibri Light" panose="020F0302020204030204" pitchFamily="34" charset="0"/>
                <a:cs typeface="Calibri Light" panose="020F0302020204030204" pitchFamily="34" charset="0"/>
              </a:rPr>
              <a:t>disciplina_id</a:t>
            </a:r>
          </a:p>
          <a:p>
            <a:r>
              <a:rPr lang="pt-BR" sz="900" u="sng">
                <a:latin typeface="Calibri Light" panose="020F0302020204030204" pitchFamily="34" charset="0"/>
                <a:cs typeface="Calibri Light" panose="020F0302020204030204" pitchFamily="34" charset="0"/>
              </a:rPr>
              <a:t>prereq_id</a:t>
            </a:r>
          </a:p>
        </p:txBody>
      </p:sp>
      <p:sp>
        <p:nvSpPr>
          <p:cNvPr id="259130" name="TextBox 259129">
            <a:extLst>
              <a:ext uri="{FF2B5EF4-FFF2-40B4-BE49-F238E27FC236}">
                <a16:creationId xmlns:a16="http://schemas.microsoft.com/office/drawing/2014/main" id="{73FF2225-34B5-6F46-AA66-A21EC6C898C3}"/>
              </a:ext>
            </a:extLst>
          </p:cNvPr>
          <p:cNvSpPr txBox="1"/>
          <p:nvPr/>
        </p:nvSpPr>
        <p:spPr>
          <a:xfrm>
            <a:off x="4158451" y="5406972"/>
            <a:ext cx="917701" cy="923330"/>
          </a:xfrm>
          <a:prstGeom prst="rect">
            <a:avLst/>
          </a:prstGeom>
          <a:noFill/>
        </p:spPr>
        <p:txBody>
          <a:bodyPr wrap="square" rtlCol="0">
            <a:spAutoFit/>
          </a:bodyPr>
          <a:lstStyle/>
          <a:p>
            <a:r>
              <a:rPr lang="pt-BR" sz="900" u="sng" dirty="0">
                <a:latin typeface="Calibri Light" panose="020F0302020204030204" pitchFamily="34" charset="0"/>
                <a:cs typeface="Calibri Light" panose="020F0302020204030204" pitchFamily="34" charset="0"/>
              </a:rPr>
              <a:t>ID</a:t>
            </a:r>
            <a:endParaRPr lang="pt-BR" sz="900" dirty="0">
              <a:latin typeface="Calibri Light" panose="020F0302020204030204" pitchFamily="34" charset="0"/>
              <a:cs typeface="Calibri Light" panose="020F0302020204030204" pitchFamily="34" charset="0"/>
            </a:endParaRPr>
          </a:p>
          <a:p>
            <a:r>
              <a:rPr lang="pt-BR" sz="900" u="sng" dirty="0" err="1">
                <a:latin typeface="Calibri Light" panose="020F0302020204030204" pitchFamily="34" charset="0"/>
                <a:cs typeface="Calibri Light" panose="020F0302020204030204" pitchFamily="34" charset="0"/>
              </a:rPr>
              <a:t>disciplina_id</a:t>
            </a:r>
            <a:endParaRPr lang="pt-BR" sz="900" u="sng" dirty="0">
              <a:latin typeface="Calibri Light" panose="020F0302020204030204" pitchFamily="34" charset="0"/>
              <a:cs typeface="Calibri Light" panose="020F0302020204030204" pitchFamily="34" charset="0"/>
            </a:endParaRPr>
          </a:p>
          <a:p>
            <a:r>
              <a:rPr lang="pt-BR" sz="900" u="sng" dirty="0" err="1">
                <a:latin typeface="Calibri Light" panose="020F0302020204030204" pitchFamily="34" charset="0"/>
                <a:cs typeface="Calibri Light" panose="020F0302020204030204" pitchFamily="34" charset="0"/>
              </a:rPr>
              <a:t>turma_id</a:t>
            </a:r>
            <a:endParaRPr lang="pt-BR" sz="900" u="sng" dirty="0">
              <a:latin typeface="Calibri Light" panose="020F0302020204030204" pitchFamily="34" charset="0"/>
              <a:cs typeface="Calibri Light" panose="020F0302020204030204" pitchFamily="34" charset="0"/>
            </a:endParaRPr>
          </a:p>
          <a:p>
            <a:r>
              <a:rPr lang="pt-BR" sz="900" u="sng" dirty="0">
                <a:latin typeface="Calibri Light" panose="020F0302020204030204" pitchFamily="34" charset="0"/>
                <a:cs typeface="Calibri Light" panose="020F0302020204030204" pitchFamily="34" charset="0"/>
              </a:rPr>
              <a:t>semestre</a:t>
            </a:r>
          </a:p>
          <a:p>
            <a:r>
              <a:rPr lang="pt-BR" sz="900" u="sng" dirty="0">
                <a:latin typeface="Calibri Light" panose="020F0302020204030204" pitchFamily="34" charset="0"/>
                <a:cs typeface="Calibri Light" panose="020F0302020204030204" pitchFamily="34" charset="0"/>
              </a:rPr>
              <a:t>ano</a:t>
            </a:r>
          </a:p>
          <a:p>
            <a:endParaRPr lang="pt-BR" sz="900" u="sng" dirty="0">
              <a:latin typeface="Calibri Light" panose="020F0302020204030204" pitchFamily="34" charset="0"/>
              <a:cs typeface="Calibri Light" panose="020F0302020204030204" pitchFamily="34" charset="0"/>
            </a:endParaRPr>
          </a:p>
        </p:txBody>
      </p:sp>
      <p:sp>
        <p:nvSpPr>
          <p:cNvPr id="259134" name="TextBox 259133">
            <a:extLst>
              <a:ext uri="{FF2B5EF4-FFF2-40B4-BE49-F238E27FC236}">
                <a16:creationId xmlns:a16="http://schemas.microsoft.com/office/drawing/2014/main" id="{A85C6E0E-9552-B14B-B67F-1A1F45FE03E6}"/>
              </a:ext>
            </a:extLst>
          </p:cNvPr>
          <p:cNvSpPr txBox="1"/>
          <p:nvPr/>
        </p:nvSpPr>
        <p:spPr>
          <a:xfrm>
            <a:off x="2531695" y="4870778"/>
            <a:ext cx="925255" cy="507831"/>
          </a:xfrm>
          <a:prstGeom prst="rect">
            <a:avLst/>
          </a:prstGeom>
          <a:noFill/>
        </p:spPr>
        <p:txBody>
          <a:bodyPr wrap="square" rtlCol="0">
            <a:spAutoFit/>
          </a:bodyPr>
          <a:lstStyle/>
          <a:p>
            <a:r>
              <a:rPr lang="pt-BR" sz="900" u="sng" dirty="0">
                <a:latin typeface="Calibri Light" panose="020F0302020204030204" pitchFamily="34" charset="0"/>
                <a:cs typeface="Calibri Light" panose="020F0302020204030204" pitchFamily="34" charset="0"/>
              </a:rPr>
              <a:t>prédio</a:t>
            </a:r>
          </a:p>
          <a:p>
            <a:r>
              <a:rPr lang="pt-BR" sz="900" u="sng" dirty="0" err="1">
                <a:latin typeface="Calibri Light" panose="020F0302020204030204" pitchFamily="34" charset="0"/>
                <a:cs typeface="Calibri Light" panose="020F0302020204030204" pitchFamily="34" charset="0"/>
              </a:rPr>
              <a:t>número_sala</a:t>
            </a:r>
            <a:endParaRPr lang="pt-BR" sz="900" u="sng" dirty="0">
              <a:latin typeface="Calibri Light" panose="020F0302020204030204" pitchFamily="34" charset="0"/>
              <a:cs typeface="Calibri Light" panose="020F0302020204030204" pitchFamily="34" charset="0"/>
            </a:endParaRPr>
          </a:p>
          <a:p>
            <a:r>
              <a:rPr lang="pt-BR" sz="900" dirty="0">
                <a:latin typeface="Calibri Light" panose="020F0302020204030204" pitchFamily="34" charset="0"/>
                <a:cs typeface="Calibri Light" panose="020F0302020204030204" pitchFamily="34" charset="0"/>
              </a:rPr>
              <a:t>capacidade</a:t>
            </a:r>
          </a:p>
        </p:txBody>
      </p:sp>
      <p:sp>
        <p:nvSpPr>
          <p:cNvPr id="1093" name="TextBox 1092">
            <a:extLst>
              <a:ext uri="{FF2B5EF4-FFF2-40B4-BE49-F238E27FC236}">
                <a16:creationId xmlns:a16="http://schemas.microsoft.com/office/drawing/2014/main" id="{6CAFB1CD-0E59-E04D-9019-A4862FBF54C3}"/>
              </a:ext>
            </a:extLst>
          </p:cNvPr>
          <p:cNvSpPr txBox="1"/>
          <p:nvPr/>
        </p:nvSpPr>
        <p:spPr>
          <a:xfrm>
            <a:off x="2465787" y="2851136"/>
            <a:ext cx="994688" cy="1151149"/>
          </a:xfrm>
          <a:prstGeom prst="rect">
            <a:avLst/>
          </a:prstGeom>
          <a:noFill/>
        </p:spPr>
        <p:txBody>
          <a:bodyPr wrap="square" rtlCol="0">
            <a:spAutoFit/>
          </a:bodyPr>
          <a:lstStyle/>
          <a:p>
            <a:pPr>
              <a:lnSpc>
                <a:spcPct val="110000"/>
              </a:lnSpc>
            </a:pPr>
            <a:r>
              <a:rPr lang="pt-BR" sz="900" u="sng" dirty="0" err="1">
                <a:latin typeface="Calibri Light" panose="020F0302020204030204" pitchFamily="34" charset="0"/>
                <a:cs typeface="Calibri Light" panose="020F0302020204030204" pitchFamily="34" charset="0"/>
              </a:rPr>
              <a:t>disciplina_id</a:t>
            </a:r>
            <a:endParaRPr lang="pt-BR" sz="900" u="sng" dirty="0">
              <a:latin typeface="Calibri Light" panose="020F0302020204030204" pitchFamily="34" charset="0"/>
              <a:cs typeface="Calibri Light" panose="020F0302020204030204" pitchFamily="34" charset="0"/>
            </a:endParaRPr>
          </a:p>
          <a:p>
            <a:pPr>
              <a:lnSpc>
                <a:spcPct val="110000"/>
              </a:lnSpc>
            </a:pPr>
            <a:r>
              <a:rPr lang="pt-BR" sz="900" u="sng" dirty="0" err="1">
                <a:latin typeface="Calibri Light" panose="020F0302020204030204" pitchFamily="34" charset="0"/>
                <a:cs typeface="Calibri Light" panose="020F0302020204030204" pitchFamily="34" charset="0"/>
              </a:rPr>
              <a:t>turma_id</a:t>
            </a:r>
            <a:endParaRPr lang="pt-BR" sz="900" u="sng" dirty="0">
              <a:latin typeface="Calibri Light" panose="020F0302020204030204" pitchFamily="34" charset="0"/>
              <a:cs typeface="Calibri Light" panose="020F0302020204030204" pitchFamily="34" charset="0"/>
            </a:endParaRPr>
          </a:p>
          <a:p>
            <a:pPr>
              <a:lnSpc>
                <a:spcPct val="110000"/>
              </a:lnSpc>
            </a:pPr>
            <a:r>
              <a:rPr lang="pt-BR" sz="900" u="sng" dirty="0">
                <a:latin typeface="Calibri Light" panose="020F0302020204030204" pitchFamily="34" charset="0"/>
                <a:cs typeface="Calibri Light" panose="020F0302020204030204" pitchFamily="34" charset="0"/>
              </a:rPr>
              <a:t>semestre</a:t>
            </a:r>
          </a:p>
          <a:p>
            <a:pPr>
              <a:lnSpc>
                <a:spcPct val="110000"/>
              </a:lnSpc>
            </a:pPr>
            <a:r>
              <a:rPr lang="pt-BR" sz="900" u="sng" dirty="0">
                <a:latin typeface="Calibri Light" panose="020F0302020204030204" pitchFamily="34" charset="0"/>
                <a:cs typeface="Calibri Light" panose="020F0302020204030204" pitchFamily="34" charset="0"/>
              </a:rPr>
              <a:t>ano</a:t>
            </a:r>
          </a:p>
          <a:p>
            <a:pPr>
              <a:lnSpc>
                <a:spcPct val="110000"/>
              </a:lnSpc>
            </a:pPr>
            <a:r>
              <a:rPr lang="pt-BR" sz="900" dirty="0">
                <a:latin typeface="Calibri Light" panose="020F0302020204030204" pitchFamily="34" charset="0"/>
                <a:cs typeface="Calibri Light" panose="020F0302020204030204" pitchFamily="34" charset="0"/>
              </a:rPr>
              <a:t>prédio</a:t>
            </a:r>
          </a:p>
          <a:p>
            <a:pPr>
              <a:lnSpc>
                <a:spcPct val="110000"/>
              </a:lnSpc>
            </a:pPr>
            <a:r>
              <a:rPr lang="pt-BR" sz="900" dirty="0" err="1">
                <a:latin typeface="Calibri Light" panose="020F0302020204030204" pitchFamily="34" charset="0"/>
                <a:cs typeface="Calibri Light" panose="020F0302020204030204" pitchFamily="34" charset="0"/>
              </a:rPr>
              <a:t>número_sala</a:t>
            </a:r>
            <a:endParaRPr lang="pt-BR" sz="900" u="sng" dirty="0">
              <a:latin typeface="Calibri Light" panose="020F0302020204030204" pitchFamily="34" charset="0"/>
              <a:cs typeface="Calibri Light" panose="020F0302020204030204" pitchFamily="34" charset="0"/>
            </a:endParaRPr>
          </a:p>
          <a:p>
            <a:pPr>
              <a:lnSpc>
                <a:spcPct val="110000"/>
              </a:lnSpc>
            </a:pPr>
            <a:r>
              <a:rPr lang="pt-BR" sz="900" dirty="0">
                <a:latin typeface="Calibri Light" panose="020F0302020204030204" pitchFamily="34" charset="0"/>
                <a:cs typeface="Calibri Light" panose="020F0302020204030204" pitchFamily="34" charset="0"/>
              </a:rPr>
              <a:t>horário</a:t>
            </a:r>
          </a:p>
        </p:txBody>
      </p:sp>
      <p:sp>
        <p:nvSpPr>
          <p:cNvPr id="1094" name="TextBox 1093">
            <a:extLst>
              <a:ext uri="{FF2B5EF4-FFF2-40B4-BE49-F238E27FC236}">
                <a16:creationId xmlns:a16="http://schemas.microsoft.com/office/drawing/2014/main" id="{0B80EA79-23F0-9E4E-A709-FFD97FB253A3}"/>
              </a:ext>
            </a:extLst>
          </p:cNvPr>
          <p:cNvSpPr txBox="1"/>
          <p:nvPr/>
        </p:nvSpPr>
        <p:spPr>
          <a:xfrm>
            <a:off x="4309745" y="1693659"/>
            <a:ext cx="924409" cy="998800"/>
          </a:xfrm>
          <a:prstGeom prst="rect">
            <a:avLst/>
          </a:prstGeom>
          <a:noFill/>
        </p:spPr>
        <p:txBody>
          <a:bodyPr wrap="square" rtlCol="0">
            <a:spAutoFit/>
          </a:bodyPr>
          <a:lstStyle/>
          <a:p>
            <a:pPr>
              <a:lnSpc>
                <a:spcPct val="110000"/>
              </a:lnSpc>
            </a:pPr>
            <a:r>
              <a:rPr lang="pt-BR" sz="900" u="sng" dirty="0">
                <a:latin typeface="Calibri Light" panose="020F0302020204030204" pitchFamily="34" charset="0"/>
                <a:cs typeface="Calibri Light" panose="020F0302020204030204" pitchFamily="34" charset="0"/>
              </a:rPr>
              <a:t>ID</a:t>
            </a:r>
          </a:p>
          <a:p>
            <a:pPr>
              <a:lnSpc>
                <a:spcPct val="110000"/>
              </a:lnSpc>
            </a:pPr>
            <a:r>
              <a:rPr lang="pt-BR" sz="900" u="sng" dirty="0" err="1">
                <a:latin typeface="Calibri Light" panose="020F0302020204030204" pitchFamily="34" charset="0"/>
                <a:cs typeface="Calibri Light" panose="020F0302020204030204" pitchFamily="34" charset="0"/>
              </a:rPr>
              <a:t>disciplina_id</a:t>
            </a:r>
            <a:endParaRPr lang="pt-BR" sz="900" u="sng" dirty="0">
              <a:latin typeface="Calibri Light" panose="020F0302020204030204" pitchFamily="34" charset="0"/>
              <a:cs typeface="Calibri Light" panose="020F0302020204030204" pitchFamily="34" charset="0"/>
            </a:endParaRPr>
          </a:p>
          <a:p>
            <a:pPr>
              <a:lnSpc>
                <a:spcPct val="110000"/>
              </a:lnSpc>
            </a:pPr>
            <a:r>
              <a:rPr lang="pt-BR" sz="900" u="sng" dirty="0" err="1">
                <a:latin typeface="Calibri Light" panose="020F0302020204030204" pitchFamily="34" charset="0"/>
                <a:cs typeface="Calibri Light" panose="020F0302020204030204" pitchFamily="34" charset="0"/>
              </a:rPr>
              <a:t>turma_id</a:t>
            </a:r>
            <a:endParaRPr lang="pt-BR" sz="900" u="sng" dirty="0">
              <a:latin typeface="Calibri Light" panose="020F0302020204030204" pitchFamily="34" charset="0"/>
              <a:cs typeface="Calibri Light" panose="020F0302020204030204" pitchFamily="34" charset="0"/>
            </a:endParaRPr>
          </a:p>
          <a:p>
            <a:pPr>
              <a:lnSpc>
                <a:spcPct val="110000"/>
              </a:lnSpc>
            </a:pPr>
            <a:r>
              <a:rPr lang="pt-BR" sz="900" u="sng" dirty="0">
                <a:latin typeface="Calibri Light" panose="020F0302020204030204" pitchFamily="34" charset="0"/>
                <a:cs typeface="Calibri Light" panose="020F0302020204030204" pitchFamily="34" charset="0"/>
              </a:rPr>
              <a:t>semestre</a:t>
            </a:r>
          </a:p>
          <a:p>
            <a:pPr>
              <a:lnSpc>
                <a:spcPct val="110000"/>
              </a:lnSpc>
            </a:pPr>
            <a:r>
              <a:rPr lang="pt-BR" sz="900" u="sng" dirty="0">
                <a:latin typeface="Calibri Light" panose="020F0302020204030204" pitchFamily="34" charset="0"/>
                <a:cs typeface="Calibri Light" panose="020F0302020204030204" pitchFamily="34" charset="0"/>
              </a:rPr>
              <a:t>ano</a:t>
            </a:r>
          </a:p>
          <a:p>
            <a:pPr>
              <a:lnSpc>
                <a:spcPct val="110000"/>
              </a:lnSpc>
            </a:pPr>
            <a:r>
              <a:rPr lang="pt-BR" sz="900" dirty="0">
                <a:latin typeface="Calibri Light" panose="020F0302020204030204" pitchFamily="34" charset="0"/>
                <a:cs typeface="Calibri Light" panose="020F0302020204030204" pitchFamily="34" charset="0"/>
              </a:rPr>
              <a:t>nota</a:t>
            </a:r>
          </a:p>
        </p:txBody>
      </p:sp>
      <p:sp>
        <p:nvSpPr>
          <p:cNvPr id="1095" name="TextBox 1094">
            <a:extLst>
              <a:ext uri="{FF2B5EF4-FFF2-40B4-BE49-F238E27FC236}">
                <a16:creationId xmlns:a16="http://schemas.microsoft.com/office/drawing/2014/main" id="{BCF573F1-CC76-4E4E-BC70-5095CD3C4E1E}"/>
              </a:ext>
            </a:extLst>
          </p:cNvPr>
          <p:cNvSpPr txBox="1"/>
          <p:nvPr/>
        </p:nvSpPr>
        <p:spPr>
          <a:xfrm>
            <a:off x="4408712" y="3632117"/>
            <a:ext cx="999808" cy="784830"/>
          </a:xfrm>
          <a:prstGeom prst="rect">
            <a:avLst/>
          </a:prstGeom>
          <a:noFill/>
        </p:spPr>
        <p:txBody>
          <a:bodyPr wrap="square" rtlCol="0">
            <a:spAutoFit/>
          </a:bodyPr>
          <a:lstStyle/>
          <a:p>
            <a:r>
              <a:rPr lang="pt-BR" sz="900" u="sng" dirty="0" err="1">
                <a:latin typeface="Calibri Light" panose="020F0302020204030204" pitchFamily="34" charset="0"/>
                <a:cs typeface="Calibri Light" panose="020F0302020204030204" pitchFamily="34" charset="0"/>
              </a:rPr>
              <a:t>horário_id</a:t>
            </a:r>
            <a:endParaRPr lang="pt-BR" sz="900" dirty="0">
              <a:latin typeface="Calibri Light" panose="020F0302020204030204" pitchFamily="34" charset="0"/>
              <a:cs typeface="Calibri Light" panose="020F0302020204030204" pitchFamily="34" charset="0"/>
            </a:endParaRPr>
          </a:p>
          <a:p>
            <a:r>
              <a:rPr lang="pt-BR" sz="900" u="sng" dirty="0">
                <a:latin typeface="Calibri Light" panose="020F0302020204030204" pitchFamily="34" charset="0"/>
                <a:cs typeface="Calibri Light" panose="020F0302020204030204" pitchFamily="34" charset="0"/>
              </a:rPr>
              <a:t>dia</a:t>
            </a:r>
          </a:p>
          <a:p>
            <a:r>
              <a:rPr lang="pt-BR" sz="900" u="sng" dirty="0" err="1">
                <a:latin typeface="Calibri Light" panose="020F0302020204030204" pitchFamily="34" charset="0"/>
                <a:cs typeface="Calibri Light" panose="020F0302020204030204" pitchFamily="34" charset="0"/>
              </a:rPr>
              <a:t>hora_início</a:t>
            </a:r>
            <a:endParaRPr lang="pt-BR" sz="900" u="sng" dirty="0">
              <a:latin typeface="Calibri Light" panose="020F0302020204030204" pitchFamily="34" charset="0"/>
              <a:cs typeface="Calibri Light" panose="020F0302020204030204" pitchFamily="34" charset="0"/>
            </a:endParaRPr>
          </a:p>
          <a:p>
            <a:r>
              <a:rPr lang="pt-BR" sz="900" dirty="0" err="1">
                <a:latin typeface="Calibri Light" panose="020F0302020204030204" pitchFamily="34" charset="0"/>
                <a:cs typeface="Calibri Light" panose="020F0302020204030204" pitchFamily="34" charset="0"/>
              </a:rPr>
              <a:t>hora_fim</a:t>
            </a:r>
            <a:endParaRPr lang="pt-BR" sz="900" dirty="0">
              <a:latin typeface="Calibri Light" panose="020F0302020204030204" pitchFamily="34" charset="0"/>
              <a:cs typeface="Calibri Light" panose="020F0302020204030204" pitchFamily="34" charset="0"/>
            </a:endParaRPr>
          </a:p>
          <a:p>
            <a:endParaRPr lang="pt-BR" sz="900" u="sng" dirty="0">
              <a:latin typeface="Calibri Light" panose="020F0302020204030204" pitchFamily="34" charset="0"/>
              <a:cs typeface="Calibri Light" panose="020F0302020204030204" pitchFamily="34" charset="0"/>
            </a:endParaRPr>
          </a:p>
        </p:txBody>
      </p:sp>
      <p:sp>
        <p:nvSpPr>
          <p:cNvPr id="4" name="TextBox 3">
            <a:extLst>
              <a:ext uri="{FF2B5EF4-FFF2-40B4-BE49-F238E27FC236}">
                <a16:creationId xmlns:a16="http://schemas.microsoft.com/office/drawing/2014/main" id="{F7463089-D4E9-674A-A740-52D18E64B6D7}"/>
              </a:ext>
            </a:extLst>
          </p:cNvPr>
          <p:cNvSpPr txBox="1"/>
          <p:nvPr/>
        </p:nvSpPr>
        <p:spPr>
          <a:xfrm>
            <a:off x="649509" y="1019503"/>
            <a:ext cx="2324919" cy="584775"/>
          </a:xfrm>
          <a:prstGeom prst="rect">
            <a:avLst/>
          </a:prstGeom>
          <a:noFill/>
        </p:spPr>
        <p:txBody>
          <a:bodyPr wrap="square" rtlCol="0">
            <a:spAutoFit/>
          </a:bodyPr>
          <a:lstStyle/>
          <a:p>
            <a:r>
              <a:rPr lang="pt-BR" dirty="0">
                <a:solidFill>
                  <a:srgbClr val="FF0000"/>
                </a:solidFill>
              </a:rPr>
              <a:t>Mapeamento completo feito em sala de aula!</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3F477ECB-1B1D-4830-A530-CDBFA91473C1}"/>
              </a:ext>
            </a:extLst>
          </p:cNvPr>
          <p:cNvCxnSpPr/>
          <p:nvPr/>
        </p:nvCxnSpPr>
        <p:spPr bwMode="auto">
          <a:xfrm>
            <a:off x="1775339" y="188505"/>
            <a:ext cx="864132" cy="0"/>
          </a:xfrm>
          <a:prstGeom prst="line">
            <a:avLst/>
          </a:prstGeom>
          <a:solidFill>
            <a:schemeClr val="accent1"/>
          </a:solidFill>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cxnSp>
      <p:sp>
        <p:nvSpPr>
          <p:cNvPr id="670722" name="Rectangle 2"/>
          <p:cNvSpPr>
            <a:spLocks noGrp="1" noChangeArrowheads="1"/>
          </p:cNvSpPr>
          <p:nvPr>
            <p:ph type="title" idx="4294967295"/>
          </p:nvPr>
        </p:nvSpPr>
        <p:spPr>
          <a:xfrm>
            <a:off x="585409" y="235013"/>
            <a:ext cx="9586716" cy="660392"/>
          </a:xfrm>
        </p:spPr>
        <p:txBody>
          <a:bodyPr/>
          <a:lstStyle/>
          <a:p>
            <a:pPr>
              <a:defRPr/>
            </a:pPr>
            <a:r>
              <a:rPr lang="pt-BR" altLang="en-US" dirty="0">
                <a:effectLst>
                  <a:outerShdw sx="1000" sy="1000" algn="tl">
                    <a:srgbClr val="C0C0C0"/>
                  </a:outerShdw>
                </a:effectLst>
              </a:rPr>
              <a:t>Mapeamento de especializações/generalizações</a:t>
            </a:r>
          </a:p>
        </p:txBody>
      </p:sp>
      <p:sp>
        <p:nvSpPr>
          <p:cNvPr id="61443" name="Rectangle 3"/>
          <p:cNvSpPr>
            <a:spLocks noGrp="1" noChangeArrowheads="1"/>
          </p:cNvSpPr>
          <p:nvPr>
            <p:ph type="body" idx="4294967295"/>
          </p:nvPr>
        </p:nvSpPr>
        <p:spPr>
          <a:xfrm>
            <a:off x="720477" y="1025620"/>
            <a:ext cx="10882943" cy="5317151"/>
          </a:xfrm>
        </p:spPr>
        <p:txBody>
          <a:bodyPr/>
          <a:lstStyle/>
          <a:p>
            <a:pPr>
              <a:buFont typeface="Wingdings" pitchFamily="2" charset="2"/>
              <a:buChar char="§"/>
              <a:tabLst>
                <a:tab pos="327084" algn="l"/>
                <a:tab pos="1186806" algn="ctr"/>
                <a:tab pos="2318098" algn="l"/>
                <a:tab pos="3614432" algn="ctr"/>
              </a:tabLst>
            </a:pPr>
            <a:r>
              <a:rPr lang="pt-BR" altLang="en-US" sz="2000" dirty="0"/>
              <a:t>Método 1: </a:t>
            </a:r>
          </a:p>
          <a:p>
            <a:pPr lvl="1">
              <a:buFont typeface="Wingdings" pitchFamily="2" charset="2"/>
              <a:buChar char="§"/>
              <a:tabLst>
                <a:tab pos="327084" algn="l"/>
                <a:tab pos="1186806" algn="ctr"/>
                <a:tab pos="2318098" algn="l"/>
                <a:tab pos="3614432" algn="ctr"/>
              </a:tabLst>
            </a:pPr>
            <a:r>
              <a:rPr lang="pt-BR" altLang="en-US" sz="2000" dirty="0">
                <a:ea typeface="ＭＳ Ｐゴシック" panose="020B0600070205080204" pitchFamily="34" charset="-128"/>
              </a:rPr>
              <a:t>Crie uma tabela para cada conjunto entidade de alto nível (superclasse).</a:t>
            </a:r>
          </a:p>
          <a:p>
            <a:pPr marL="457200" lvl="1" indent="0">
              <a:buNone/>
              <a:tabLst>
                <a:tab pos="327084" algn="l"/>
                <a:tab pos="1186806" algn="ctr"/>
                <a:tab pos="2318098" algn="l"/>
                <a:tab pos="3614432" algn="ctr"/>
              </a:tabLst>
            </a:pPr>
            <a:endParaRPr lang="pt-BR" altLang="en-US" sz="2000" dirty="0">
              <a:ea typeface="ＭＳ Ｐゴシック" panose="020B0600070205080204" pitchFamily="34" charset="-128"/>
            </a:endParaRPr>
          </a:p>
          <a:p>
            <a:pPr lvl="1">
              <a:buFont typeface="Wingdings" pitchFamily="2" charset="2"/>
              <a:buChar char="§"/>
              <a:tabLst>
                <a:tab pos="327084" algn="l"/>
                <a:tab pos="1186806" algn="ctr"/>
                <a:tab pos="2318098" algn="l"/>
                <a:tab pos="3614432" algn="ctr"/>
              </a:tabLst>
            </a:pPr>
            <a:r>
              <a:rPr lang="pt-BR" altLang="en-US" sz="2000" dirty="0">
                <a:ea typeface="ＭＳ Ｐゴシック" panose="020B0600070205080204" pitchFamily="34" charset="-128"/>
              </a:rPr>
              <a:t>Crie uma tabela para cada conjunto de entidades de baixo nível, incluindo os atributos locais e a chave primária da entidade de alto nível associada. A chave primária dessas tabelas é a mesma chave primária da entidade de alto nível e são também chaves estrangeiras para a entidade de alto nível. </a:t>
            </a:r>
            <a:endParaRPr lang="pt-BR" altLang="en-US" sz="2000" u="sng" dirty="0">
              <a:ea typeface="ＭＳ Ｐゴシック" panose="020B0600070205080204" pitchFamily="34" charset="-128"/>
            </a:endParaRPr>
          </a:p>
          <a:p>
            <a:pPr marL="457200" lvl="1" indent="0">
              <a:buNone/>
              <a:tabLst>
                <a:tab pos="327084" algn="l"/>
                <a:tab pos="1186806" algn="ctr"/>
                <a:tab pos="2318098" algn="l"/>
                <a:tab pos="3614432" algn="ctr"/>
              </a:tabLst>
            </a:pPr>
            <a:endParaRPr lang="pt-BR" altLang="en-US" sz="2000" u="sng" dirty="0">
              <a:ea typeface="ＭＳ Ｐゴシック" panose="020B0600070205080204" pitchFamily="34" charset="-128"/>
            </a:endParaRPr>
          </a:p>
        </p:txBody>
      </p:sp>
    </p:spTree>
    <p:extLst>
      <p:ext uri="{BB962C8B-B14F-4D97-AF65-F5344CB8AC3E}">
        <p14:creationId xmlns:p14="http://schemas.microsoft.com/office/powerpoint/2010/main" val="373330579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3F477ECB-1B1D-4830-A530-CDBFA91473C1}"/>
              </a:ext>
            </a:extLst>
          </p:cNvPr>
          <p:cNvCxnSpPr/>
          <p:nvPr/>
        </p:nvCxnSpPr>
        <p:spPr bwMode="auto">
          <a:xfrm>
            <a:off x="1775339" y="188505"/>
            <a:ext cx="864132" cy="0"/>
          </a:xfrm>
          <a:prstGeom prst="line">
            <a:avLst/>
          </a:prstGeom>
          <a:solidFill>
            <a:schemeClr val="accent1"/>
          </a:solidFill>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cxnSp>
      <p:sp>
        <p:nvSpPr>
          <p:cNvPr id="670722" name="Rectangle 2"/>
          <p:cNvSpPr>
            <a:spLocks noGrp="1" noChangeArrowheads="1"/>
          </p:cNvSpPr>
          <p:nvPr>
            <p:ph type="title" idx="4294967295"/>
          </p:nvPr>
        </p:nvSpPr>
        <p:spPr>
          <a:xfrm>
            <a:off x="585409" y="235013"/>
            <a:ext cx="10786784" cy="660392"/>
          </a:xfrm>
        </p:spPr>
        <p:txBody>
          <a:bodyPr/>
          <a:lstStyle/>
          <a:p>
            <a:pPr>
              <a:defRPr/>
            </a:pPr>
            <a:r>
              <a:rPr lang="pt-BR" altLang="en-US" dirty="0">
                <a:effectLst>
                  <a:outerShdw sx="1000" sy="1000" algn="tl">
                    <a:srgbClr val="C0C0C0"/>
                  </a:outerShdw>
                </a:effectLst>
              </a:rPr>
              <a:t>Mapeamento de especializações/generalizações (Cont.)</a:t>
            </a:r>
          </a:p>
        </p:txBody>
      </p:sp>
      <p:pic>
        <p:nvPicPr>
          <p:cNvPr id="10" name="Picture 9">
            <a:extLst>
              <a:ext uri="{FF2B5EF4-FFF2-40B4-BE49-F238E27FC236}">
                <a16:creationId xmlns:a16="http://schemas.microsoft.com/office/drawing/2014/main" id="{5A18E3E6-C92A-374E-ACE7-621E98C3B2BE}"/>
              </a:ext>
            </a:extLst>
          </p:cNvPr>
          <p:cNvPicPr>
            <a:picLocks noChangeAspect="1"/>
          </p:cNvPicPr>
          <p:nvPr/>
        </p:nvPicPr>
        <p:blipFill rotWithShape="1">
          <a:blip r:embed="rId3"/>
          <a:srcRect l="18621" t="-1" b="35177"/>
          <a:stretch/>
        </p:blipFill>
        <p:spPr>
          <a:xfrm>
            <a:off x="1328401" y="1447027"/>
            <a:ext cx="3240569" cy="2667582"/>
          </a:xfrm>
          <a:prstGeom prst="rect">
            <a:avLst/>
          </a:prstGeom>
        </p:spPr>
      </p:pic>
      <p:sp>
        <p:nvSpPr>
          <p:cNvPr id="11" name="Rectangle 10">
            <a:extLst>
              <a:ext uri="{FF2B5EF4-FFF2-40B4-BE49-F238E27FC236}">
                <a16:creationId xmlns:a16="http://schemas.microsoft.com/office/drawing/2014/main" id="{CA804B6C-6748-0B4C-BBC0-119305D680DA}"/>
              </a:ext>
            </a:extLst>
          </p:cNvPr>
          <p:cNvSpPr/>
          <p:nvPr/>
        </p:nvSpPr>
        <p:spPr bwMode="auto">
          <a:xfrm>
            <a:off x="2600587" y="1505571"/>
            <a:ext cx="920707" cy="283779"/>
          </a:xfrm>
          <a:prstGeom prst="rect">
            <a:avLst/>
          </a:prstGeom>
          <a:solidFill>
            <a:srgbClr val="CCEEFB"/>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pt-BR" sz="1600" i="1" dirty="0">
                <a:latin typeface="Helvetica" charset="0"/>
              </a:rPr>
              <a:t>pessoa</a:t>
            </a:r>
            <a:endParaRPr kumimoji="0" lang="pt-BR" sz="1600" b="0" i="1" u="none" strike="noStrike" cap="none" normalizeH="0" baseline="0" dirty="0">
              <a:ln>
                <a:noFill/>
              </a:ln>
              <a:solidFill>
                <a:schemeClr val="tx1"/>
              </a:solidFill>
              <a:effectLst/>
              <a:latin typeface="Helvetica" charset="0"/>
            </a:endParaRPr>
          </a:p>
        </p:txBody>
      </p:sp>
      <p:sp>
        <p:nvSpPr>
          <p:cNvPr id="12" name="Rectangle 11">
            <a:extLst>
              <a:ext uri="{FF2B5EF4-FFF2-40B4-BE49-F238E27FC236}">
                <a16:creationId xmlns:a16="http://schemas.microsoft.com/office/drawing/2014/main" id="{E0D9C7EC-BCB5-0E40-BE53-76F7C8E5364F}"/>
              </a:ext>
            </a:extLst>
          </p:cNvPr>
          <p:cNvSpPr/>
          <p:nvPr/>
        </p:nvSpPr>
        <p:spPr bwMode="auto">
          <a:xfrm>
            <a:off x="1642044" y="3438425"/>
            <a:ext cx="977462" cy="283779"/>
          </a:xfrm>
          <a:prstGeom prst="rect">
            <a:avLst/>
          </a:prstGeom>
          <a:solidFill>
            <a:srgbClr val="CCEEFB"/>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pt-BR" sz="1600" b="0" i="1" u="none" strike="noStrike" cap="none" normalizeH="0" baseline="0" dirty="0">
                <a:ln>
                  <a:noFill/>
                </a:ln>
                <a:solidFill>
                  <a:schemeClr val="tx1"/>
                </a:solidFill>
                <a:effectLst/>
                <a:latin typeface="Helvetica" charset="0"/>
              </a:rPr>
              <a:t>funcionário</a:t>
            </a:r>
          </a:p>
        </p:txBody>
      </p:sp>
      <p:sp>
        <p:nvSpPr>
          <p:cNvPr id="13" name="Rectangle 12">
            <a:extLst>
              <a:ext uri="{FF2B5EF4-FFF2-40B4-BE49-F238E27FC236}">
                <a16:creationId xmlns:a16="http://schemas.microsoft.com/office/drawing/2014/main" id="{C1EBF074-3136-1E4F-96BA-CFF92B20C735}"/>
              </a:ext>
            </a:extLst>
          </p:cNvPr>
          <p:cNvSpPr/>
          <p:nvPr/>
        </p:nvSpPr>
        <p:spPr bwMode="auto">
          <a:xfrm>
            <a:off x="3509735" y="3448937"/>
            <a:ext cx="977462" cy="283779"/>
          </a:xfrm>
          <a:prstGeom prst="rect">
            <a:avLst/>
          </a:prstGeom>
          <a:solidFill>
            <a:srgbClr val="CCEEFB"/>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pt-BR" sz="1600" i="1" dirty="0">
                <a:latin typeface="Helvetica" charset="0"/>
              </a:rPr>
              <a:t>aluno</a:t>
            </a:r>
            <a:endParaRPr kumimoji="0" lang="pt-BR" sz="1600" b="0" i="1" u="none" strike="noStrike" cap="none" normalizeH="0" baseline="0" dirty="0">
              <a:ln>
                <a:noFill/>
              </a:ln>
              <a:solidFill>
                <a:schemeClr val="tx1"/>
              </a:solidFill>
              <a:effectLst/>
              <a:latin typeface="Helvetica" charset="0"/>
            </a:endParaRPr>
          </a:p>
        </p:txBody>
      </p:sp>
      <p:sp>
        <p:nvSpPr>
          <p:cNvPr id="16" name="Rectangle 15">
            <a:extLst>
              <a:ext uri="{FF2B5EF4-FFF2-40B4-BE49-F238E27FC236}">
                <a16:creationId xmlns:a16="http://schemas.microsoft.com/office/drawing/2014/main" id="{465A40D2-0A86-E544-A6A2-1188A0148BA1}"/>
              </a:ext>
            </a:extLst>
          </p:cNvPr>
          <p:cNvSpPr/>
          <p:nvPr/>
        </p:nvSpPr>
        <p:spPr bwMode="auto">
          <a:xfrm>
            <a:off x="2540884" y="1847895"/>
            <a:ext cx="920707" cy="914499"/>
          </a:xfrm>
          <a:prstGeom prst="rect">
            <a:avLst/>
          </a:prstGeom>
          <a:solidFill>
            <a:schemeClr val="accent1"/>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defTabSz="914400" rtl="0" eaLnBrk="0" fontAlgn="base" latinLnBrk="0" hangingPunct="0">
              <a:lnSpc>
                <a:spcPct val="100000"/>
              </a:lnSpc>
              <a:spcBef>
                <a:spcPct val="0"/>
              </a:spcBef>
              <a:spcAft>
                <a:spcPct val="0"/>
              </a:spcAft>
              <a:buClrTx/>
              <a:buSzTx/>
              <a:buFontTx/>
              <a:buNone/>
              <a:tabLst/>
            </a:pPr>
            <a:r>
              <a:rPr kumimoji="0" lang="pt-BR" sz="1200" b="0" i="1" u="sng" strike="noStrike" cap="none" normalizeH="0" baseline="0" dirty="0">
                <a:ln>
                  <a:noFill/>
                </a:ln>
                <a:solidFill>
                  <a:schemeClr val="tx1"/>
                </a:solidFill>
                <a:effectLst/>
                <a:latin typeface="Helvetica" charset="0"/>
              </a:rPr>
              <a:t>ID</a:t>
            </a:r>
          </a:p>
          <a:p>
            <a:pPr marL="0" marR="0" indent="0" defTabSz="914400" rtl="0" eaLnBrk="0" fontAlgn="base" latinLnBrk="0" hangingPunct="0">
              <a:lnSpc>
                <a:spcPct val="100000"/>
              </a:lnSpc>
              <a:spcBef>
                <a:spcPct val="0"/>
              </a:spcBef>
              <a:spcAft>
                <a:spcPct val="0"/>
              </a:spcAft>
              <a:buClrTx/>
              <a:buSzTx/>
              <a:buFontTx/>
              <a:buNone/>
              <a:tabLst/>
            </a:pPr>
            <a:r>
              <a:rPr lang="pt-BR" sz="1200" i="1" dirty="0">
                <a:latin typeface="Helvetica" charset="0"/>
              </a:rPr>
              <a:t>n</a:t>
            </a:r>
            <a:r>
              <a:rPr kumimoji="0" lang="pt-BR" sz="1200" b="0" i="1" strike="noStrike" cap="none" normalizeH="0" baseline="0" dirty="0">
                <a:ln>
                  <a:noFill/>
                </a:ln>
                <a:solidFill>
                  <a:schemeClr val="tx1"/>
                </a:solidFill>
                <a:effectLst/>
                <a:latin typeface="Helvetica" charset="0"/>
              </a:rPr>
              <a:t>ome</a:t>
            </a:r>
          </a:p>
          <a:p>
            <a:pPr marL="0" marR="0" indent="0" defTabSz="914400" rtl="0" eaLnBrk="0" fontAlgn="base" latinLnBrk="0" hangingPunct="0">
              <a:lnSpc>
                <a:spcPct val="100000"/>
              </a:lnSpc>
              <a:spcBef>
                <a:spcPct val="0"/>
              </a:spcBef>
              <a:spcAft>
                <a:spcPct val="0"/>
              </a:spcAft>
              <a:buClrTx/>
              <a:buSzTx/>
              <a:buFontTx/>
              <a:buNone/>
              <a:tabLst/>
            </a:pPr>
            <a:r>
              <a:rPr lang="pt-BR" sz="1200" i="1" dirty="0">
                <a:latin typeface="Helvetica" charset="0"/>
              </a:rPr>
              <a:t>r</a:t>
            </a:r>
            <a:r>
              <a:rPr kumimoji="0" lang="pt-BR" sz="1200" b="0" i="1" strike="noStrike" cap="none" normalizeH="0" baseline="0" dirty="0">
                <a:ln>
                  <a:noFill/>
                </a:ln>
                <a:solidFill>
                  <a:schemeClr val="tx1"/>
                </a:solidFill>
                <a:effectLst/>
                <a:latin typeface="Helvetica" charset="0"/>
              </a:rPr>
              <a:t>ua</a:t>
            </a:r>
          </a:p>
          <a:p>
            <a:pPr marL="0" marR="0" indent="0" defTabSz="914400" rtl="0" eaLnBrk="0" fontAlgn="base" latinLnBrk="0" hangingPunct="0">
              <a:lnSpc>
                <a:spcPct val="100000"/>
              </a:lnSpc>
              <a:spcBef>
                <a:spcPct val="0"/>
              </a:spcBef>
              <a:spcAft>
                <a:spcPct val="0"/>
              </a:spcAft>
              <a:buClrTx/>
              <a:buSzTx/>
              <a:buFontTx/>
              <a:buNone/>
              <a:tabLst/>
            </a:pPr>
            <a:r>
              <a:rPr kumimoji="0" lang="pt-BR" sz="1200" b="0" i="1" strike="noStrike" cap="none" normalizeH="0" baseline="0" dirty="0">
                <a:ln>
                  <a:noFill/>
                </a:ln>
                <a:solidFill>
                  <a:schemeClr val="tx1"/>
                </a:solidFill>
                <a:effectLst/>
                <a:latin typeface="Helvetica" charset="0"/>
              </a:rPr>
              <a:t>cidade</a:t>
            </a:r>
          </a:p>
        </p:txBody>
      </p:sp>
      <p:sp>
        <p:nvSpPr>
          <p:cNvPr id="17" name="Rectangle 16">
            <a:extLst>
              <a:ext uri="{FF2B5EF4-FFF2-40B4-BE49-F238E27FC236}">
                <a16:creationId xmlns:a16="http://schemas.microsoft.com/office/drawing/2014/main" id="{009ECC05-6305-9243-99B1-F041F558E7A4}"/>
              </a:ext>
            </a:extLst>
          </p:cNvPr>
          <p:cNvSpPr/>
          <p:nvPr/>
        </p:nvSpPr>
        <p:spPr bwMode="auto">
          <a:xfrm>
            <a:off x="1628696" y="3796725"/>
            <a:ext cx="762777" cy="283780"/>
          </a:xfrm>
          <a:prstGeom prst="rect">
            <a:avLst/>
          </a:prstGeom>
          <a:solidFill>
            <a:schemeClr val="accent1"/>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defTabSz="914400" rtl="0" eaLnBrk="0" fontAlgn="base" latinLnBrk="0" hangingPunct="0">
              <a:lnSpc>
                <a:spcPct val="100000"/>
              </a:lnSpc>
              <a:spcBef>
                <a:spcPct val="0"/>
              </a:spcBef>
              <a:spcAft>
                <a:spcPct val="0"/>
              </a:spcAft>
              <a:buClrTx/>
              <a:buSzTx/>
              <a:buFontTx/>
              <a:buNone/>
              <a:tabLst/>
            </a:pPr>
            <a:r>
              <a:rPr lang="pt-BR" sz="1200" i="1" dirty="0">
                <a:latin typeface="Helvetica" charset="0"/>
              </a:rPr>
              <a:t>salário</a:t>
            </a:r>
            <a:endParaRPr kumimoji="0" lang="pt-BR" sz="1200" b="0" i="1" strike="noStrike" cap="none" normalizeH="0" baseline="0" dirty="0">
              <a:ln>
                <a:noFill/>
              </a:ln>
              <a:solidFill>
                <a:schemeClr val="tx1"/>
              </a:solidFill>
              <a:effectLst/>
              <a:latin typeface="Helvetica" charset="0"/>
            </a:endParaRPr>
          </a:p>
        </p:txBody>
      </p:sp>
      <p:sp>
        <p:nvSpPr>
          <p:cNvPr id="18" name="Rectangle 17">
            <a:extLst>
              <a:ext uri="{FF2B5EF4-FFF2-40B4-BE49-F238E27FC236}">
                <a16:creationId xmlns:a16="http://schemas.microsoft.com/office/drawing/2014/main" id="{8C3A7E5C-D095-C545-A5D7-0B4E15F486AB}"/>
              </a:ext>
            </a:extLst>
          </p:cNvPr>
          <p:cNvSpPr/>
          <p:nvPr/>
        </p:nvSpPr>
        <p:spPr bwMode="auto">
          <a:xfrm>
            <a:off x="3488714" y="3796725"/>
            <a:ext cx="977462" cy="227140"/>
          </a:xfrm>
          <a:prstGeom prst="rect">
            <a:avLst/>
          </a:prstGeom>
          <a:solidFill>
            <a:schemeClr val="accent1"/>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pt-BR" sz="1200" i="1" dirty="0" err="1">
                <a:latin typeface="Helvetica" charset="0"/>
              </a:rPr>
              <a:t>tot_créditos</a:t>
            </a:r>
            <a:endParaRPr kumimoji="0" lang="pt-BR" sz="1200" b="0" i="1" u="none" strike="noStrike" cap="none" normalizeH="0" baseline="0" dirty="0">
              <a:ln>
                <a:noFill/>
              </a:ln>
              <a:solidFill>
                <a:schemeClr val="tx1"/>
              </a:solidFill>
              <a:effectLst/>
              <a:latin typeface="Helvetica" charset="0"/>
            </a:endParaRPr>
          </a:p>
        </p:txBody>
      </p:sp>
      <p:sp>
        <p:nvSpPr>
          <p:cNvPr id="2" name="TextBox 1">
            <a:extLst>
              <a:ext uri="{FF2B5EF4-FFF2-40B4-BE49-F238E27FC236}">
                <a16:creationId xmlns:a16="http://schemas.microsoft.com/office/drawing/2014/main" id="{71971A79-8B96-B44C-9C6F-A1F63C8E6C10}"/>
              </a:ext>
            </a:extLst>
          </p:cNvPr>
          <p:cNvSpPr txBox="1"/>
          <p:nvPr/>
        </p:nvSpPr>
        <p:spPr>
          <a:xfrm>
            <a:off x="8170531" y="5304720"/>
            <a:ext cx="3240570" cy="830997"/>
          </a:xfrm>
          <a:prstGeom prst="rect">
            <a:avLst/>
          </a:prstGeom>
          <a:noFill/>
          <a:ln>
            <a:solidFill>
              <a:schemeClr val="tx1"/>
            </a:solidFill>
          </a:ln>
        </p:spPr>
        <p:txBody>
          <a:bodyPr wrap="square" rtlCol="0">
            <a:spAutoFit/>
          </a:bodyPr>
          <a:lstStyle/>
          <a:p>
            <a:r>
              <a:rPr lang="pt-BR" i="1" dirty="0"/>
              <a:t>pessoa = (</a:t>
            </a:r>
            <a:r>
              <a:rPr lang="pt-BR" i="1" u="sng" dirty="0"/>
              <a:t>ID</a:t>
            </a:r>
            <a:r>
              <a:rPr lang="pt-BR" i="1" dirty="0"/>
              <a:t>, nome, rua, cidade)</a:t>
            </a:r>
          </a:p>
          <a:p>
            <a:r>
              <a:rPr lang="pt-BR" i="1" dirty="0"/>
              <a:t>funcionário = (</a:t>
            </a:r>
            <a:r>
              <a:rPr lang="pt-BR" i="1" u="sng" dirty="0"/>
              <a:t>ID</a:t>
            </a:r>
            <a:r>
              <a:rPr lang="pt-BR" dirty="0"/>
              <a:t>, salário</a:t>
            </a:r>
            <a:r>
              <a:rPr lang="pt-BR" i="1" dirty="0"/>
              <a:t>)</a:t>
            </a:r>
          </a:p>
          <a:p>
            <a:r>
              <a:rPr lang="pt-BR" i="1" dirty="0"/>
              <a:t>aluno</a:t>
            </a:r>
            <a:r>
              <a:rPr lang="pt-BR" dirty="0"/>
              <a:t> = </a:t>
            </a:r>
            <a:r>
              <a:rPr lang="pt-BR" i="1" dirty="0"/>
              <a:t>(</a:t>
            </a:r>
            <a:r>
              <a:rPr lang="pt-BR" i="1" u="sng" dirty="0"/>
              <a:t>ID</a:t>
            </a:r>
            <a:r>
              <a:rPr lang="pt-BR" dirty="0"/>
              <a:t>, </a:t>
            </a:r>
            <a:r>
              <a:rPr lang="pt-BR" i="1" dirty="0" err="1"/>
              <a:t>tot_cred</a:t>
            </a:r>
            <a:r>
              <a:rPr lang="pt-BR" i="1" dirty="0"/>
              <a:t>)</a:t>
            </a:r>
            <a:r>
              <a:rPr lang="pt-BR" dirty="0"/>
              <a:t> </a:t>
            </a:r>
            <a:r>
              <a:rPr lang="pt-BR" i="1" dirty="0"/>
              <a:t>  </a:t>
            </a:r>
          </a:p>
        </p:txBody>
      </p:sp>
      <p:sp>
        <p:nvSpPr>
          <p:cNvPr id="24" name="Rectangle 23">
            <a:extLst>
              <a:ext uri="{FF2B5EF4-FFF2-40B4-BE49-F238E27FC236}">
                <a16:creationId xmlns:a16="http://schemas.microsoft.com/office/drawing/2014/main" id="{C5A8FEA0-0C1A-A145-A2DD-D7227051384E}"/>
              </a:ext>
            </a:extLst>
          </p:cNvPr>
          <p:cNvSpPr/>
          <p:nvPr/>
        </p:nvSpPr>
        <p:spPr bwMode="auto">
          <a:xfrm>
            <a:off x="9187404" y="1686532"/>
            <a:ext cx="920707" cy="283779"/>
          </a:xfrm>
          <a:prstGeom prst="rect">
            <a:avLst/>
          </a:prstGeom>
          <a:solidFill>
            <a:srgbClr val="CCEEFB"/>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pt-BR" sz="1600" i="1" dirty="0">
                <a:latin typeface="Helvetica" charset="0"/>
              </a:rPr>
              <a:t>pessoa</a:t>
            </a:r>
            <a:endParaRPr kumimoji="0" lang="pt-BR" sz="1600" b="0" i="1" u="none" strike="noStrike" cap="none" normalizeH="0" baseline="0" dirty="0">
              <a:ln>
                <a:noFill/>
              </a:ln>
              <a:solidFill>
                <a:schemeClr val="tx1"/>
              </a:solidFill>
              <a:effectLst/>
              <a:latin typeface="Helvetica" charset="0"/>
            </a:endParaRPr>
          </a:p>
        </p:txBody>
      </p:sp>
      <p:sp>
        <p:nvSpPr>
          <p:cNvPr id="25" name="Rectangle 24">
            <a:extLst>
              <a:ext uri="{FF2B5EF4-FFF2-40B4-BE49-F238E27FC236}">
                <a16:creationId xmlns:a16="http://schemas.microsoft.com/office/drawing/2014/main" id="{79B42F15-95CB-034F-9810-11434EB1AB4C}"/>
              </a:ext>
            </a:extLst>
          </p:cNvPr>
          <p:cNvSpPr/>
          <p:nvPr/>
        </p:nvSpPr>
        <p:spPr bwMode="auto">
          <a:xfrm>
            <a:off x="9190762" y="1976306"/>
            <a:ext cx="920707" cy="914499"/>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defTabSz="914400" rtl="0" eaLnBrk="0" fontAlgn="base" latinLnBrk="0" hangingPunct="0">
              <a:lnSpc>
                <a:spcPct val="100000"/>
              </a:lnSpc>
              <a:spcBef>
                <a:spcPct val="0"/>
              </a:spcBef>
              <a:spcAft>
                <a:spcPct val="0"/>
              </a:spcAft>
              <a:buClrTx/>
              <a:buSzTx/>
              <a:buFontTx/>
              <a:buNone/>
              <a:tabLst/>
            </a:pPr>
            <a:r>
              <a:rPr kumimoji="0" lang="pt-BR" sz="1200" b="0" i="1" u="sng" strike="noStrike" cap="none" normalizeH="0" baseline="0" dirty="0">
                <a:ln>
                  <a:noFill/>
                </a:ln>
                <a:solidFill>
                  <a:schemeClr val="tx1"/>
                </a:solidFill>
                <a:effectLst/>
                <a:latin typeface="Helvetica" charset="0"/>
              </a:rPr>
              <a:t>ID</a:t>
            </a:r>
          </a:p>
          <a:p>
            <a:pPr marL="0" marR="0" indent="0" defTabSz="914400" rtl="0" eaLnBrk="0" fontAlgn="base" latinLnBrk="0" hangingPunct="0">
              <a:lnSpc>
                <a:spcPct val="100000"/>
              </a:lnSpc>
              <a:spcBef>
                <a:spcPct val="0"/>
              </a:spcBef>
              <a:spcAft>
                <a:spcPct val="0"/>
              </a:spcAft>
              <a:buClrTx/>
              <a:buSzTx/>
              <a:buFontTx/>
              <a:buNone/>
              <a:tabLst/>
            </a:pPr>
            <a:r>
              <a:rPr lang="pt-BR" sz="1200" i="1" dirty="0">
                <a:latin typeface="Helvetica" charset="0"/>
              </a:rPr>
              <a:t>n</a:t>
            </a:r>
            <a:r>
              <a:rPr kumimoji="0" lang="pt-BR" sz="1200" b="0" i="1" strike="noStrike" cap="none" normalizeH="0" baseline="0" dirty="0">
                <a:ln>
                  <a:noFill/>
                </a:ln>
                <a:solidFill>
                  <a:schemeClr val="tx1"/>
                </a:solidFill>
                <a:effectLst/>
                <a:latin typeface="Helvetica" charset="0"/>
              </a:rPr>
              <a:t>ome</a:t>
            </a:r>
          </a:p>
          <a:p>
            <a:pPr marL="0" marR="0" indent="0" defTabSz="914400" rtl="0" eaLnBrk="0" fontAlgn="base" latinLnBrk="0" hangingPunct="0">
              <a:lnSpc>
                <a:spcPct val="100000"/>
              </a:lnSpc>
              <a:spcBef>
                <a:spcPct val="0"/>
              </a:spcBef>
              <a:spcAft>
                <a:spcPct val="0"/>
              </a:spcAft>
              <a:buClrTx/>
              <a:buSzTx/>
              <a:buFontTx/>
              <a:buNone/>
              <a:tabLst/>
            </a:pPr>
            <a:r>
              <a:rPr lang="pt-BR" sz="1200" i="1" dirty="0">
                <a:latin typeface="Helvetica" charset="0"/>
              </a:rPr>
              <a:t>r</a:t>
            </a:r>
            <a:r>
              <a:rPr kumimoji="0" lang="pt-BR" sz="1200" b="0" i="1" strike="noStrike" cap="none" normalizeH="0" baseline="0" dirty="0">
                <a:ln>
                  <a:noFill/>
                </a:ln>
                <a:solidFill>
                  <a:schemeClr val="tx1"/>
                </a:solidFill>
                <a:effectLst/>
                <a:latin typeface="Helvetica" charset="0"/>
              </a:rPr>
              <a:t>ua</a:t>
            </a:r>
          </a:p>
          <a:p>
            <a:pPr marL="0" marR="0" indent="0" defTabSz="914400" rtl="0" eaLnBrk="0" fontAlgn="base" latinLnBrk="0" hangingPunct="0">
              <a:lnSpc>
                <a:spcPct val="100000"/>
              </a:lnSpc>
              <a:spcBef>
                <a:spcPct val="0"/>
              </a:spcBef>
              <a:spcAft>
                <a:spcPct val="0"/>
              </a:spcAft>
              <a:buClrTx/>
              <a:buSzTx/>
              <a:buFontTx/>
              <a:buNone/>
              <a:tabLst/>
            </a:pPr>
            <a:r>
              <a:rPr kumimoji="0" lang="pt-BR" sz="1200" b="0" i="1" strike="noStrike" cap="none" normalizeH="0" baseline="0" dirty="0">
                <a:ln>
                  <a:noFill/>
                </a:ln>
                <a:solidFill>
                  <a:schemeClr val="tx1"/>
                </a:solidFill>
                <a:effectLst/>
                <a:latin typeface="Helvetica" charset="0"/>
              </a:rPr>
              <a:t>cidade</a:t>
            </a:r>
          </a:p>
        </p:txBody>
      </p:sp>
      <p:sp>
        <p:nvSpPr>
          <p:cNvPr id="26" name="Rectangle 25">
            <a:extLst>
              <a:ext uri="{FF2B5EF4-FFF2-40B4-BE49-F238E27FC236}">
                <a16:creationId xmlns:a16="http://schemas.microsoft.com/office/drawing/2014/main" id="{0FD415AC-0EA1-5E4F-8564-1F2031997927}"/>
              </a:ext>
            </a:extLst>
          </p:cNvPr>
          <p:cNvSpPr/>
          <p:nvPr/>
        </p:nvSpPr>
        <p:spPr bwMode="auto">
          <a:xfrm>
            <a:off x="7605600" y="3459908"/>
            <a:ext cx="1129862" cy="283779"/>
          </a:xfrm>
          <a:prstGeom prst="rect">
            <a:avLst/>
          </a:prstGeom>
          <a:solidFill>
            <a:srgbClr val="CCEEFB"/>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pt-BR" b="0" i="1" u="none" strike="noStrike" cap="none" normalizeH="0" baseline="0" dirty="0">
                <a:ln>
                  <a:noFill/>
                </a:ln>
                <a:solidFill>
                  <a:schemeClr val="tx1"/>
                </a:solidFill>
                <a:effectLst/>
                <a:latin typeface="Helvetica" charset="0"/>
              </a:rPr>
              <a:t>funcionário</a:t>
            </a:r>
            <a:endParaRPr kumimoji="0" lang="pt-BR" sz="1600" b="0" i="1" u="none" strike="noStrike" cap="none" normalizeH="0" baseline="0" dirty="0">
              <a:ln>
                <a:noFill/>
              </a:ln>
              <a:solidFill>
                <a:schemeClr val="tx1"/>
              </a:solidFill>
              <a:effectLst/>
              <a:latin typeface="Helvetica" charset="0"/>
            </a:endParaRPr>
          </a:p>
        </p:txBody>
      </p:sp>
      <p:sp>
        <p:nvSpPr>
          <p:cNvPr id="27" name="Rectangle 26">
            <a:extLst>
              <a:ext uri="{FF2B5EF4-FFF2-40B4-BE49-F238E27FC236}">
                <a16:creationId xmlns:a16="http://schemas.microsoft.com/office/drawing/2014/main" id="{8B211435-2FA9-EF49-8C3F-EC283B1DDC92}"/>
              </a:ext>
            </a:extLst>
          </p:cNvPr>
          <p:cNvSpPr/>
          <p:nvPr/>
        </p:nvSpPr>
        <p:spPr bwMode="auto">
          <a:xfrm>
            <a:off x="7608958" y="3749683"/>
            <a:ext cx="1126504" cy="563108"/>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defTabSz="914400" rtl="0" eaLnBrk="0" fontAlgn="base" latinLnBrk="0" hangingPunct="0">
              <a:lnSpc>
                <a:spcPct val="100000"/>
              </a:lnSpc>
              <a:spcBef>
                <a:spcPct val="0"/>
              </a:spcBef>
              <a:spcAft>
                <a:spcPct val="0"/>
              </a:spcAft>
              <a:buClrTx/>
              <a:buSzTx/>
              <a:buFontTx/>
              <a:buNone/>
              <a:tabLst/>
            </a:pPr>
            <a:r>
              <a:rPr kumimoji="0" lang="pt-BR" sz="1200" b="0" i="1" u="sng" strike="noStrike" cap="none" normalizeH="0" baseline="0" dirty="0">
                <a:ln>
                  <a:noFill/>
                </a:ln>
                <a:solidFill>
                  <a:schemeClr val="tx1"/>
                </a:solidFill>
                <a:effectLst/>
                <a:latin typeface="Helvetica" charset="0"/>
              </a:rPr>
              <a:t>ID</a:t>
            </a:r>
          </a:p>
          <a:p>
            <a:pPr marL="0" marR="0" indent="0" defTabSz="914400" rtl="0" eaLnBrk="0" fontAlgn="base" latinLnBrk="0" hangingPunct="0">
              <a:lnSpc>
                <a:spcPct val="100000"/>
              </a:lnSpc>
              <a:spcBef>
                <a:spcPct val="0"/>
              </a:spcBef>
              <a:spcAft>
                <a:spcPct val="0"/>
              </a:spcAft>
              <a:buClrTx/>
              <a:buSzTx/>
              <a:buFontTx/>
              <a:buNone/>
              <a:tabLst/>
            </a:pPr>
            <a:r>
              <a:rPr kumimoji="0" lang="pt-BR" sz="1200" b="0" i="1" strike="noStrike" cap="none" normalizeH="0" baseline="0" dirty="0">
                <a:ln>
                  <a:noFill/>
                </a:ln>
                <a:solidFill>
                  <a:schemeClr val="tx1"/>
                </a:solidFill>
                <a:effectLst/>
                <a:latin typeface="Helvetica" charset="0"/>
              </a:rPr>
              <a:t>salário</a:t>
            </a:r>
          </a:p>
        </p:txBody>
      </p:sp>
      <p:sp>
        <p:nvSpPr>
          <p:cNvPr id="28" name="Rectangle 27">
            <a:extLst>
              <a:ext uri="{FF2B5EF4-FFF2-40B4-BE49-F238E27FC236}">
                <a16:creationId xmlns:a16="http://schemas.microsoft.com/office/drawing/2014/main" id="{2B548BE0-39EF-2641-B9C4-D1927692AC3F}"/>
              </a:ext>
            </a:extLst>
          </p:cNvPr>
          <p:cNvSpPr/>
          <p:nvPr/>
        </p:nvSpPr>
        <p:spPr bwMode="auto">
          <a:xfrm>
            <a:off x="10616806" y="3444145"/>
            <a:ext cx="1129862" cy="283779"/>
          </a:xfrm>
          <a:prstGeom prst="rect">
            <a:avLst/>
          </a:prstGeom>
          <a:solidFill>
            <a:srgbClr val="CCEEFB"/>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defTabSz="914400" rtl="0" eaLnBrk="0" fontAlgn="base" latinLnBrk="0" hangingPunct="0">
              <a:lnSpc>
                <a:spcPct val="100000"/>
              </a:lnSpc>
              <a:spcBef>
                <a:spcPct val="0"/>
              </a:spcBef>
              <a:spcAft>
                <a:spcPct val="0"/>
              </a:spcAft>
              <a:buClrTx/>
              <a:buSzTx/>
              <a:buFontTx/>
              <a:buNone/>
              <a:tabLst/>
            </a:pPr>
            <a:r>
              <a:rPr lang="pt-BR" sz="1600" i="1" dirty="0">
                <a:latin typeface="Helvetica" charset="0"/>
              </a:rPr>
              <a:t>aluno</a:t>
            </a:r>
            <a:endParaRPr kumimoji="0" lang="pt-BR" sz="1600" b="0" i="1" u="none" strike="noStrike" cap="none" normalizeH="0" baseline="0" dirty="0">
              <a:ln>
                <a:noFill/>
              </a:ln>
              <a:solidFill>
                <a:schemeClr val="tx1"/>
              </a:solidFill>
              <a:effectLst/>
              <a:latin typeface="Helvetica" charset="0"/>
            </a:endParaRPr>
          </a:p>
        </p:txBody>
      </p:sp>
      <p:sp>
        <p:nvSpPr>
          <p:cNvPr id="29" name="Rectangle 28">
            <a:extLst>
              <a:ext uri="{FF2B5EF4-FFF2-40B4-BE49-F238E27FC236}">
                <a16:creationId xmlns:a16="http://schemas.microsoft.com/office/drawing/2014/main" id="{6CCC9F08-056D-4D4B-9F11-5E37231ECC50}"/>
              </a:ext>
            </a:extLst>
          </p:cNvPr>
          <p:cNvSpPr/>
          <p:nvPr/>
        </p:nvSpPr>
        <p:spPr bwMode="auto">
          <a:xfrm>
            <a:off x="10620164" y="3733920"/>
            <a:ext cx="1126504" cy="563108"/>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defTabSz="914400" rtl="0" eaLnBrk="0" fontAlgn="base" latinLnBrk="0" hangingPunct="0">
              <a:lnSpc>
                <a:spcPct val="100000"/>
              </a:lnSpc>
              <a:spcBef>
                <a:spcPct val="0"/>
              </a:spcBef>
              <a:spcAft>
                <a:spcPct val="0"/>
              </a:spcAft>
              <a:buClrTx/>
              <a:buSzTx/>
              <a:buFontTx/>
              <a:buNone/>
              <a:tabLst/>
            </a:pPr>
            <a:r>
              <a:rPr kumimoji="0" lang="pt-BR" sz="1200" b="0" i="1" u="sng" strike="noStrike" cap="none" normalizeH="0" baseline="0" dirty="0">
                <a:ln>
                  <a:noFill/>
                </a:ln>
                <a:solidFill>
                  <a:schemeClr val="tx1"/>
                </a:solidFill>
                <a:effectLst/>
                <a:latin typeface="Helvetica" charset="0"/>
              </a:rPr>
              <a:t>ID</a:t>
            </a:r>
          </a:p>
          <a:p>
            <a:pPr marL="0" marR="0" indent="0" defTabSz="914400" rtl="0" eaLnBrk="0" fontAlgn="base" latinLnBrk="0" hangingPunct="0">
              <a:lnSpc>
                <a:spcPct val="100000"/>
              </a:lnSpc>
              <a:spcBef>
                <a:spcPct val="0"/>
              </a:spcBef>
              <a:spcAft>
                <a:spcPct val="0"/>
              </a:spcAft>
              <a:buClrTx/>
              <a:buSzTx/>
              <a:buFontTx/>
              <a:buNone/>
              <a:tabLst/>
            </a:pPr>
            <a:r>
              <a:rPr lang="pt-BR" sz="1200" i="1" dirty="0" err="1">
                <a:latin typeface="Helvetica" charset="0"/>
              </a:rPr>
              <a:t>tot_créditos</a:t>
            </a:r>
            <a:endParaRPr kumimoji="0" lang="pt-BR" sz="1200" b="0" i="1" strike="noStrike" cap="none" normalizeH="0" baseline="0" dirty="0">
              <a:ln>
                <a:noFill/>
              </a:ln>
              <a:solidFill>
                <a:schemeClr val="tx1"/>
              </a:solidFill>
              <a:effectLst/>
              <a:latin typeface="Helvetica" charset="0"/>
            </a:endParaRPr>
          </a:p>
        </p:txBody>
      </p:sp>
      <p:cxnSp>
        <p:nvCxnSpPr>
          <p:cNvPr id="5" name="Straight Connector 4">
            <a:extLst>
              <a:ext uri="{FF2B5EF4-FFF2-40B4-BE49-F238E27FC236}">
                <a16:creationId xmlns:a16="http://schemas.microsoft.com/office/drawing/2014/main" id="{06C8F416-BDA5-214C-AAEC-7663C2F8E270}"/>
              </a:ext>
            </a:extLst>
          </p:cNvPr>
          <p:cNvCxnSpPr>
            <a:cxnSpLocks/>
          </p:cNvCxnSpPr>
          <p:nvPr/>
        </p:nvCxnSpPr>
        <p:spPr bwMode="auto">
          <a:xfrm flipH="1">
            <a:off x="10331669" y="3796725"/>
            <a:ext cx="285138" cy="0"/>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1ED9A207-209C-6A46-9024-05BFFC198D15}"/>
              </a:ext>
            </a:extLst>
          </p:cNvPr>
          <p:cNvCxnSpPr/>
          <p:nvPr/>
        </p:nvCxnSpPr>
        <p:spPr bwMode="auto">
          <a:xfrm flipV="1">
            <a:off x="10331669" y="2070538"/>
            <a:ext cx="0" cy="1726187"/>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30" name="Straight Arrow Connector 29">
            <a:extLst>
              <a:ext uri="{FF2B5EF4-FFF2-40B4-BE49-F238E27FC236}">
                <a16:creationId xmlns:a16="http://schemas.microsoft.com/office/drawing/2014/main" id="{890D00E8-1855-D645-9532-757E26A0EAB2}"/>
              </a:ext>
            </a:extLst>
          </p:cNvPr>
          <p:cNvCxnSpPr/>
          <p:nvPr/>
        </p:nvCxnSpPr>
        <p:spPr bwMode="auto">
          <a:xfrm flipH="1">
            <a:off x="10108111" y="2070538"/>
            <a:ext cx="223558"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4" name="Straight Connector 33">
            <a:extLst>
              <a:ext uri="{FF2B5EF4-FFF2-40B4-BE49-F238E27FC236}">
                <a16:creationId xmlns:a16="http://schemas.microsoft.com/office/drawing/2014/main" id="{26436ACE-596A-CD4D-987B-565229FC2BAB}"/>
              </a:ext>
            </a:extLst>
          </p:cNvPr>
          <p:cNvCxnSpPr/>
          <p:nvPr/>
        </p:nvCxnSpPr>
        <p:spPr bwMode="auto">
          <a:xfrm>
            <a:off x="8735462" y="3891315"/>
            <a:ext cx="219352"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36" name="Straight Connector 35">
            <a:extLst>
              <a:ext uri="{FF2B5EF4-FFF2-40B4-BE49-F238E27FC236}">
                <a16:creationId xmlns:a16="http://schemas.microsoft.com/office/drawing/2014/main" id="{5B0F2137-9F61-A743-8AA5-5B6CBEA24989}"/>
              </a:ext>
            </a:extLst>
          </p:cNvPr>
          <p:cNvCxnSpPr/>
          <p:nvPr/>
        </p:nvCxnSpPr>
        <p:spPr bwMode="auto">
          <a:xfrm flipV="1">
            <a:off x="8954814" y="2070538"/>
            <a:ext cx="0" cy="1807779"/>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38" name="Straight Arrow Connector 37">
            <a:extLst>
              <a:ext uri="{FF2B5EF4-FFF2-40B4-BE49-F238E27FC236}">
                <a16:creationId xmlns:a16="http://schemas.microsoft.com/office/drawing/2014/main" id="{A489A2CC-1ACE-4043-B11F-4666A22C036A}"/>
              </a:ext>
            </a:extLst>
          </p:cNvPr>
          <p:cNvCxnSpPr/>
          <p:nvPr/>
        </p:nvCxnSpPr>
        <p:spPr bwMode="auto">
          <a:xfrm>
            <a:off x="8954814" y="2070538"/>
            <a:ext cx="232590"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40" name="Straight Arrow Connector 39">
            <a:extLst>
              <a:ext uri="{FF2B5EF4-FFF2-40B4-BE49-F238E27FC236}">
                <a16:creationId xmlns:a16="http://schemas.microsoft.com/office/drawing/2014/main" id="{5EC1F39D-2954-3442-A451-DDA96405080B}"/>
              </a:ext>
            </a:extLst>
          </p:cNvPr>
          <p:cNvCxnSpPr/>
          <p:nvPr/>
        </p:nvCxnSpPr>
        <p:spPr bwMode="auto">
          <a:xfrm>
            <a:off x="4960883" y="2522483"/>
            <a:ext cx="2644717" cy="0"/>
          </a:xfrm>
          <a:prstGeom prst="straightConnector1">
            <a:avLst/>
          </a:prstGeom>
          <a:solidFill>
            <a:schemeClr val="accent1"/>
          </a:solidFill>
          <a:ln w="60325" cap="flat" cmpd="sng" algn="ctr">
            <a:solidFill>
              <a:schemeClr val="tx1"/>
            </a:solidFill>
            <a:prstDash val="solid"/>
            <a:round/>
            <a:headEnd type="none" w="med" len="med"/>
            <a:tailEnd type="triangle"/>
          </a:ln>
          <a:effectLst/>
        </p:spPr>
      </p:cxnSp>
      <p:sp>
        <p:nvSpPr>
          <p:cNvPr id="41" name="TextBox 40">
            <a:extLst>
              <a:ext uri="{FF2B5EF4-FFF2-40B4-BE49-F238E27FC236}">
                <a16:creationId xmlns:a16="http://schemas.microsoft.com/office/drawing/2014/main" id="{2B2B84E1-2B52-1844-A505-85CA9BBF6438}"/>
              </a:ext>
            </a:extLst>
          </p:cNvPr>
          <p:cNvSpPr txBox="1"/>
          <p:nvPr/>
        </p:nvSpPr>
        <p:spPr>
          <a:xfrm>
            <a:off x="5122656" y="2151322"/>
            <a:ext cx="2321170" cy="338554"/>
          </a:xfrm>
          <a:prstGeom prst="rect">
            <a:avLst/>
          </a:prstGeom>
          <a:noFill/>
        </p:spPr>
        <p:txBody>
          <a:bodyPr wrap="square" rtlCol="0">
            <a:spAutoFit/>
          </a:bodyPr>
          <a:lstStyle/>
          <a:p>
            <a:pPr algn="ctr"/>
            <a:r>
              <a:rPr lang="pt-BR" dirty="0"/>
              <a:t>Mapeamento</a:t>
            </a:r>
          </a:p>
        </p:txBody>
      </p:sp>
    </p:spTree>
    <p:extLst>
      <p:ext uri="{BB962C8B-B14F-4D97-AF65-F5344CB8AC3E}">
        <p14:creationId xmlns:p14="http://schemas.microsoft.com/office/powerpoint/2010/main" val="231463538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0CD3AA66-3572-4BFF-962D-40C8BC68FF83}"/>
              </a:ext>
            </a:extLst>
          </p:cNvPr>
          <p:cNvCxnSpPr/>
          <p:nvPr/>
        </p:nvCxnSpPr>
        <p:spPr bwMode="auto">
          <a:xfrm>
            <a:off x="1775339" y="188505"/>
            <a:ext cx="864132" cy="0"/>
          </a:xfrm>
          <a:prstGeom prst="line">
            <a:avLst/>
          </a:prstGeom>
          <a:solidFill>
            <a:schemeClr val="accent1"/>
          </a:solidFill>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cxnSp>
      <p:sp>
        <p:nvSpPr>
          <p:cNvPr id="672770" name="Rectangle 2"/>
          <p:cNvSpPr>
            <a:spLocks noGrp="1" noChangeArrowheads="1"/>
          </p:cNvSpPr>
          <p:nvPr>
            <p:ph type="title" idx="4294967295"/>
          </p:nvPr>
        </p:nvSpPr>
        <p:spPr>
          <a:xfrm>
            <a:off x="697966" y="280079"/>
            <a:ext cx="10006741" cy="576088"/>
          </a:xfrm>
        </p:spPr>
        <p:txBody>
          <a:bodyPr/>
          <a:lstStyle/>
          <a:p>
            <a:pPr>
              <a:defRPr/>
            </a:pPr>
            <a:r>
              <a:rPr lang="pt-BR" altLang="en-US" dirty="0">
                <a:effectLst>
                  <a:outerShdw sx="1000" sy="1000" algn="tl">
                    <a:srgbClr val="C0C0C0"/>
                  </a:outerShdw>
                </a:effectLst>
              </a:rPr>
              <a:t>Mapeamento de especializações (cont.)</a:t>
            </a:r>
            <a:endParaRPr lang="en-US" altLang="en-US" dirty="0">
              <a:effectLst>
                <a:outerShdw blurRad="38100" dist="38100" dir="2700000" algn="tl">
                  <a:srgbClr val="C0C0C0"/>
                </a:outerShdw>
              </a:effectLst>
            </a:endParaRPr>
          </a:p>
        </p:txBody>
      </p:sp>
      <p:sp>
        <p:nvSpPr>
          <p:cNvPr id="62467" name="Rectangle 3"/>
          <p:cNvSpPr>
            <a:spLocks noGrp="1" noChangeArrowheads="1"/>
          </p:cNvSpPr>
          <p:nvPr>
            <p:ph type="body" idx="4294967295"/>
          </p:nvPr>
        </p:nvSpPr>
        <p:spPr>
          <a:xfrm>
            <a:off x="776756" y="1274118"/>
            <a:ext cx="11026687" cy="5303804"/>
          </a:xfrm>
        </p:spPr>
        <p:txBody>
          <a:bodyPr/>
          <a:lstStyle/>
          <a:p>
            <a:pPr>
              <a:buFont typeface="Wingdings" pitchFamily="2" charset="2"/>
              <a:buChar char="§"/>
              <a:tabLst>
                <a:tab pos="327084" algn="l"/>
                <a:tab pos="1186806" algn="ctr"/>
                <a:tab pos="2318098" algn="l"/>
                <a:tab pos="3614432" algn="ctr"/>
              </a:tabLst>
            </a:pPr>
            <a:r>
              <a:rPr lang="pt-BR" altLang="en-US" sz="2000" dirty="0"/>
              <a:t>Método 2:  usado quando a especialização é total e disjunta. </a:t>
            </a:r>
          </a:p>
          <a:p>
            <a:pPr lvl="1">
              <a:buFont typeface="Wingdings" pitchFamily="2" charset="2"/>
              <a:buChar char="§"/>
              <a:tabLst>
                <a:tab pos="327084" algn="l"/>
                <a:tab pos="1186806" algn="ctr"/>
                <a:tab pos="2318098" algn="l"/>
                <a:tab pos="3614432" algn="ctr"/>
              </a:tabLst>
            </a:pPr>
            <a:r>
              <a:rPr lang="pt-BR" altLang="en-US" sz="2000" dirty="0">
                <a:ea typeface="ＭＳ Ｐゴシック" panose="020B0600070205080204" pitchFamily="34" charset="-128"/>
              </a:rPr>
              <a:t>Crie uma tabela para cada conjunto de entidades de baixo nível com todos os atributos locais e herdados. </a:t>
            </a:r>
          </a:p>
          <a:p>
            <a:pPr lvl="1">
              <a:buFont typeface="Wingdings" pitchFamily="2" charset="2"/>
              <a:buChar char="§"/>
              <a:tabLst>
                <a:tab pos="327084" algn="l"/>
                <a:tab pos="1186806" algn="ctr"/>
                <a:tab pos="2318098" algn="l"/>
                <a:tab pos="3614432" algn="ctr"/>
              </a:tabLst>
            </a:pPr>
            <a:r>
              <a:rPr lang="pt-BR" altLang="en-US" sz="2000" dirty="0">
                <a:ea typeface="ＭＳ Ｐゴシック" panose="020B0600070205080204" pitchFamily="34" charset="-128"/>
              </a:rPr>
              <a:t>Se a especialização é total e disjunta, não é necessário criar uma tabela para o conjunto de entidades de alto nível. </a:t>
            </a:r>
          </a:p>
          <a:p>
            <a:pPr lvl="1">
              <a:tabLst>
                <a:tab pos="327084" algn="l"/>
                <a:tab pos="1186806" algn="ctr"/>
                <a:tab pos="2318098" algn="l"/>
                <a:tab pos="3614432" algn="ctr"/>
              </a:tabLst>
            </a:pPr>
            <a:endParaRPr lang="pt-BR" altLang="en-US" sz="2000" dirty="0">
              <a:ea typeface="ＭＳ Ｐゴシック" panose="020B0600070205080204" pitchFamily="34" charset="-128"/>
            </a:endParaRPr>
          </a:p>
          <a:p>
            <a:pPr lvl="1">
              <a:tabLst>
                <a:tab pos="327084" algn="l"/>
                <a:tab pos="1186806" algn="ctr"/>
                <a:tab pos="2318098" algn="l"/>
                <a:tab pos="3614432" algn="ctr"/>
              </a:tabLst>
            </a:pPr>
            <a:endParaRPr lang="pt-BR" altLang="en-US" sz="2000" dirty="0">
              <a:ea typeface="ＭＳ Ｐゴシック" panose="020B0600070205080204" pitchFamily="34" charset="-128"/>
            </a:endParaRPr>
          </a:p>
          <a:p>
            <a:pPr lvl="1">
              <a:tabLst>
                <a:tab pos="327084" algn="l"/>
                <a:tab pos="1186806" algn="ctr"/>
                <a:tab pos="2318098" algn="l"/>
                <a:tab pos="3614432" algn="ctr"/>
              </a:tabLst>
            </a:pPr>
            <a:endParaRPr lang="pt-BR" altLang="en-US" sz="2000" dirty="0">
              <a:ea typeface="ＭＳ Ｐゴシック" panose="020B0600070205080204" pitchFamily="34" charset="-128"/>
            </a:endParaRPr>
          </a:p>
          <a:p>
            <a:pPr>
              <a:buFont typeface="Wingdings" pitchFamily="2" charset="2"/>
              <a:buChar char="§"/>
              <a:tabLst>
                <a:tab pos="327084" algn="l"/>
                <a:tab pos="1186806" algn="ctr"/>
                <a:tab pos="2318098" algn="l"/>
                <a:tab pos="3614432" algn="ctr"/>
              </a:tabLst>
            </a:pPr>
            <a:endParaRPr lang="pt-PT" sz="2000" dirty="0"/>
          </a:p>
          <a:p>
            <a:pPr>
              <a:buFont typeface="Wingdings" pitchFamily="2" charset="2"/>
              <a:buChar char="§"/>
              <a:tabLst>
                <a:tab pos="327084" algn="l"/>
                <a:tab pos="1186806" algn="ctr"/>
                <a:tab pos="2318098" algn="l"/>
                <a:tab pos="3614432" algn="ctr"/>
              </a:tabLst>
            </a:pPr>
            <a:r>
              <a:rPr lang="pt-PT" sz="2000" dirty="0"/>
              <a:t>Uma problema com este método reside na definição de restrições de chave estrangeira. Para perceber o problema, basta imaginar que não teríamos como mapear um conjunto de relacionamentos envolvendo o conjunto de entidades de alto nível </a:t>
            </a:r>
            <a:r>
              <a:rPr lang="pt-PT" sz="2000" i="1" dirty="0"/>
              <a:t>pessoa</a:t>
            </a:r>
            <a:r>
              <a:rPr lang="pt-PT" sz="2000" dirty="0"/>
              <a:t>. Neste caso a solução seria criar uma tabela para pessoa contendo pelo menos sua chave primaria.</a:t>
            </a:r>
            <a:endParaRPr lang="pt-BR" altLang="en-US" sz="2000" dirty="0">
              <a:ea typeface="ＭＳ Ｐゴシック" panose="020B0600070205080204" pitchFamily="34" charset="-128"/>
            </a:endParaRPr>
          </a:p>
          <a:p>
            <a:pPr lvl="1">
              <a:buNone/>
              <a:tabLst>
                <a:tab pos="327084" algn="l"/>
                <a:tab pos="1186806" algn="ctr"/>
                <a:tab pos="2318098" algn="l"/>
                <a:tab pos="3614432" algn="ctr"/>
              </a:tabLst>
            </a:pPr>
            <a:endParaRPr lang="pt-BR" altLang="en-US" sz="2000" dirty="0">
              <a:ea typeface="ＭＳ Ｐゴシック" panose="020B0600070205080204" pitchFamily="34" charset="-128"/>
            </a:endParaRPr>
          </a:p>
          <a:p>
            <a:pPr lvl="1">
              <a:buNone/>
              <a:tabLst>
                <a:tab pos="327084" algn="l"/>
                <a:tab pos="1186806" algn="ctr"/>
                <a:tab pos="2318098" algn="l"/>
                <a:tab pos="3614432" algn="ctr"/>
              </a:tabLst>
            </a:pPr>
            <a:endParaRPr lang="pt-BR" altLang="en-US" sz="2000" dirty="0">
              <a:ea typeface="ＭＳ Ｐゴシック" panose="020B0600070205080204" pitchFamily="34" charset="-128"/>
            </a:endParaRPr>
          </a:p>
        </p:txBody>
      </p:sp>
      <p:sp>
        <p:nvSpPr>
          <p:cNvPr id="7" name="TextBox 6">
            <a:extLst>
              <a:ext uri="{FF2B5EF4-FFF2-40B4-BE49-F238E27FC236}">
                <a16:creationId xmlns:a16="http://schemas.microsoft.com/office/drawing/2014/main" id="{87983D93-0AB1-DB4B-AF75-43413F392824}"/>
              </a:ext>
            </a:extLst>
          </p:cNvPr>
          <p:cNvSpPr txBox="1"/>
          <p:nvPr/>
        </p:nvSpPr>
        <p:spPr>
          <a:xfrm>
            <a:off x="3737195" y="3633632"/>
            <a:ext cx="4471384" cy="584775"/>
          </a:xfrm>
          <a:prstGeom prst="rect">
            <a:avLst/>
          </a:prstGeom>
          <a:noFill/>
          <a:ln>
            <a:solidFill>
              <a:schemeClr val="tx1"/>
            </a:solidFill>
          </a:ln>
        </p:spPr>
        <p:txBody>
          <a:bodyPr wrap="square" rtlCol="0">
            <a:spAutoFit/>
          </a:bodyPr>
          <a:lstStyle/>
          <a:p>
            <a:r>
              <a:rPr lang="pt-BR" i="1" dirty="0"/>
              <a:t>funcionário = (</a:t>
            </a:r>
            <a:r>
              <a:rPr lang="pt-BR" i="1" u="sng" dirty="0"/>
              <a:t>ID</a:t>
            </a:r>
            <a:r>
              <a:rPr lang="pt-BR" dirty="0"/>
              <a:t>, </a:t>
            </a:r>
            <a:r>
              <a:rPr lang="pt-BR" i="1" dirty="0"/>
              <a:t>nome, rua, cidade, </a:t>
            </a:r>
            <a:r>
              <a:rPr lang="pt-BR" dirty="0"/>
              <a:t>salário</a:t>
            </a:r>
            <a:r>
              <a:rPr lang="pt-BR" i="1" dirty="0"/>
              <a:t>)</a:t>
            </a:r>
          </a:p>
          <a:p>
            <a:r>
              <a:rPr lang="pt-BR" i="1" dirty="0"/>
              <a:t>aluno</a:t>
            </a:r>
            <a:r>
              <a:rPr lang="pt-BR" dirty="0"/>
              <a:t> = </a:t>
            </a:r>
            <a:r>
              <a:rPr lang="pt-BR" i="1" dirty="0"/>
              <a:t>(</a:t>
            </a:r>
            <a:r>
              <a:rPr lang="pt-BR" i="1" u="sng" dirty="0"/>
              <a:t>ID</a:t>
            </a:r>
            <a:r>
              <a:rPr lang="pt-BR" dirty="0"/>
              <a:t>, </a:t>
            </a:r>
            <a:r>
              <a:rPr lang="pt-BR" i="1" dirty="0"/>
              <a:t>nome, rua, cidade, </a:t>
            </a:r>
            <a:r>
              <a:rPr lang="pt-BR" i="1" dirty="0" err="1"/>
              <a:t>tot_cred</a:t>
            </a:r>
            <a:r>
              <a:rPr lang="pt-BR" i="1" dirty="0"/>
              <a:t>)</a:t>
            </a:r>
            <a:r>
              <a:rPr lang="pt-BR" dirty="0"/>
              <a:t> </a:t>
            </a:r>
            <a:r>
              <a:rPr lang="pt-BR" i="1" dirty="0"/>
              <a:t>  </a:t>
            </a:r>
          </a:p>
        </p:txBody>
      </p:sp>
    </p:spTree>
    <p:extLst>
      <p:ext uri="{BB962C8B-B14F-4D97-AF65-F5344CB8AC3E}">
        <p14:creationId xmlns:p14="http://schemas.microsoft.com/office/powerpoint/2010/main" val="96057911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D8962555-0291-4727-B566-F7E227EEC3E4}"/>
              </a:ext>
            </a:extLst>
          </p:cNvPr>
          <p:cNvCxnSpPr/>
          <p:nvPr/>
        </p:nvCxnSpPr>
        <p:spPr bwMode="auto">
          <a:xfrm>
            <a:off x="1775339" y="188505"/>
            <a:ext cx="864132" cy="0"/>
          </a:xfrm>
          <a:prstGeom prst="line">
            <a:avLst/>
          </a:prstGeom>
          <a:solidFill>
            <a:schemeClr val="accent1"/>
          </a:solidFill>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cxnSp>
      <p:sp>
        <p:nvSpPr>
          <p:cNvPr id="674818" name="Rectangle 2"/>
          <p:cNvSpPr>
            <a:spLocks noGrp="1" noChangeArrowheads="1"/>
          </p:cNvSpPr>
          <p:nvPr>
            <p:ph type="title"/>
          </p:nvPr>
        </p:nvSpPr>
        <p:spPr>
          <a:xfrm>
            <a:off x="700468" y="17479"/>
            <a:ext cx="9650186" cy="817625"/>
          </a:xfrm>
        </p:spPr>
        <p:txBody>
          <a:bodyPr/>
          <a:lstStyle/>
          <a:p>
            <a:pPr>
              <a:defRPr/>
            </a:pPr>
            <a:r>
              <a:rPr lang="pt-BR" altLang="en-US" dirty="0">
                <a:effectLst>
                  <a:outerShdw sx="1000" sy="1000" algn="tl">
                    <a:srgbClr val="C0C0C0"/>
                  </a:outerShdw>
                </a:effectLst>
              </a:rPr>
              <a:t>Mapeamento de agregações</a:t>
            </a:r>
            <a:endParaRPr lang="en-US" altLang="en-US" dirty="0">
              <a:effectLst>
                <a:outerShdw blurRad="38100" dist="38100" dir="2700000" algn="tl">
                  <a:srgbClr val="C0C0C0"/>
                </a:outerShdw>
              </a:effectLst>
            </a:endParaRPr>
          </a:p>
        </p:txBody>
      </p:sp>
      <p:sp>
        <p:nvSpPr>
          <p:cNvPr id="17411" name="Rectangle 3"/>
          <p:cNvSpPr>
            <a:spLocks noChangeArrowheads="1"/>
          </p:cNvSpPr>
          <p:nvPr/>
        </p:nvSpPr>
        <p:spPr bwMode="auto">
          <a:xfrm>
            <a:off x="700467" y="1343681"/>
            <a:ext cx="7262850" cy="3978609"/>
          </a:xfrm>
          <a:prstGeom prst="rect">
            <a:avLst/>
          </a:prstGeom>
          <a:noFill/>
          <a:ln w="9525">
            <a:noFill/>
            <a:miter lim="800000"/>
            <a:headEnd/>
            <a:tailEnd/>
          </a:ln>
        </p:spPr>
        <p:txBody>
          <a:bodyPr/>
          <a:lstStyle/>
          <a:p>
            <a:pPr marL="324083" indent="-324083">
              <a:spcBef>
                <a:spcPct val="35000"/>
              </a:spcBef>
              <a:buClr>
                <a:srgbClr val="002060"/>
              </a:buClr>
              <a:buSzPct val="110000"/>
              <a:buFont typeface="Wingdings" panose="05000000000000000000" pitchFamily="2" charset="2"/>
              <a:buChar char="§"/>
              <a:defRPr/>
            </a:pPr>
            <a:r>
              <a:rPr kumimoji="1" lang="pt-BR" altLang="en-US" sz="2000" dirty="0">
                <a:latin typeface="Calibri Light" panose="020F0302020204030204" pitchFamily="34" charset="0"/>
                <a:ea typeface="ＭＳ Ｐゴシック" panose="020B0600070205080204" pitchFamily="34" charset="-128"/>
                <a:cs typeface="Calibri Light" panose="020F0302020204030204" pitchFamily="34" charset="0"/>
              </a:rPr>
              <a:t>Para representar a agregação, crie uma tabela contendo:</a:t>
            </a:r>
          </a:p>
          <a:p>
            <a:pPr marL="756194" lvl="1" indent="-324083">
              <a:spcBef>
                <a:spcPct val="35000"/>
              </a:spcBef>
              <a:buClr>
                <a:srgbClr val="FF9933"/>
              </a:buClr>
              <a:buSzPct val="110000"/>
              <a:buFont typeface="Arial" panose="020B0604020202020204" pitchFamily="34" charset="0"/>
              <a:buChar char="•"/>
              <a:defRPr/>
            </a:pPr>
            <a:r>
              <a:rPr kumimoji="1" lang="pt-BR" altLang="en-US" sz="2000" dirty="0">
                <a:latin typeface="Calibri Light" panose="020F0302020204030204" pitchFamily="34" charset="0"/>
                <a:ea typeface="ＭＳ Ｐゴシック" panose="020B0600070205080204" pitchFamily="34" charset="-128"/>
                <a:cs typeface="Calibri Light" panose="020F0302020204030204" pitchFamily="34" charset="0"/>
              </a:rPr>
              <a:t>Chave primária do relacionamento agregado  (no caso, orienta) .</a:t>
            </a:r>
          </a:p>
          <a:p>
            <a:pPr marL="756194" lvl="1" indent="-324083">
              <a:spcBef>
                <a:spcPct val="35000"/>
              </a:spcBef>
              <a:buClr>
                <a:srgbClr val="FF9933"/>
              </a:buClr>
              <a:buSzPct val="110000"/>
              <a:buFont typeface="Arial" panose="020B0604020202020204" pitchFamily="34" charset="0"/>
              <a:buChar char="•"/>
              <a:defRPr/>
            </a:pPr>
            <a:r>
              <a:rPr kumimoji="1" lang="pt-BR" altLang="en-US" sz="2000" dirty="0">
                <a:latin typeface="Calibri Light" panose="020F0302020204030204" pitchFamily="34" charset="0"/>
                <a:ea typeface="ＭＳ Ｐゴシック" panose="020B0600070205080204" pitchFamily="34" charset="-128"/>
                <a:cs typeface="Calibri Light" panose="020F0302020204030204" pitchFamily="34" charset="0"/>
              </a:rPr>
              <a:t>Chave primária do conjunto de entidades associado.</a:t>
            </a:r>
          </a:p>
          <a:p>
            <a:pPr marL="756194" lvl="1" indent="-324083">
              <a:spcBef>
                <a:spcPct val="35000"/>
              </a:spcBef>
              <a:buClr>
                <a:srgbClr val="FF9933"/>
              </a:buClr>
              <a:buSzPct val="110000"/>
              <a:buFont typeface="Arial" panose="020B0604020202020204" pitchFamily="34" charset="0"/>
              <a:buChar char="•"/>
              <a:defRPr/>
            </a:pPr>
            <a:r>
              <a:rPr kumimoji="1" lang="pt-BR" altLang="en-US" sz="2000" dirty="0">
                <a:latin typeface="Calibri Light" panose="020F0302020204030204" pitchFamily="34" charset="0"/>
                <a:ea typeface="ＭＳ Ｐゴシック" panose="020B0600070205080204" pitchFamily="34" charset="-128"/>
                <a:cs typeface="Calibri Light" panose="020F0302020204030204" pitchFamily="34" charset="0"/>
              </a:rPr>
              <a:t>Qualquer outro atributo descritivo.</a:t>
            </a:r>
          </a:p>
          <a:p>
            <a:pPr marL="324083" indent="-324083">
              <a:spcBef>
                <a:spcPct val="35000"/>
              </a:spcBef>
              <a:buClr>
                <a:srgbClr val="002060"/>
              </a:buClr>
              <a:buSzPct val="110000"/>
              <a:buFont typeface="Wingdings" panose="05000000000000000000" pitchFamily="2" charset="2"/>
              <a:buChar char="§"/>
              <a:defRPr/>
            </a:pPr>
            <a:r>
              <a:rPr kumimoji="1" lang="pt-BR" altLang="en-US" sz="2000" dirty="0">
                <a:latin typeface="Calibri Light" panose="020F0302020204030204" pitchFamily="34" charset="0"/>
                <a:ea typeface="ＭＳ Ｐゴシック" panose="020B0600070205080204" pitchFamily="34" charset="-128"/>
                <a:cs typeface="Calibri Light" panose="020F0302020204030204" pitchFamily="34" charset="0"/>
              </a:rPr>
              <a:t>Em nosso exemplo:</a:t>
            </a:r>
          </a:p>
          <a:p>
            <a:pPr marL="756194" lvl="1" indent="-324083">
              <a:spcBef>
                <a:spcPct val="35000"/>
              </a:spcBef>
              <a:buClr>
                <a:srgbClr val="FF9933"/>
              </a:buClr>
              <a:buSzPct val="110000"/>
              <a:buFont typeface="Arial" panose="020B0604020202020204" pitchFamily="34" charset="0"/>
              <a:buChar char="•"/>
              <a:defRPr/>
            </a:pPr>
            <a:r>
              <a:rPr kumimoji="1" lang="pt-BR" altLang="en-US" sz="2000" dirty="0">
                <a:latin typeface="Calibri Light" panose="020F0302020204030204" pitchFamily="34" charset="0"/>
                <a:ea typeface="ＭＳ Ｐゴシック" panose="020B0600070205080204" pitchFamily="34" charset="-128"/>
                <a:cs typeface="Calibri Light" panose="020F0302020204030204" pitchFamily="34" charset="0"/>
              </a:rPr>
              <a:t>A tabela </a:t>
            </a:r>
            <a:r>
              <a:rPr kumimoji="1" lang="pt-BR" altLang="en-US" sz="2000" dirty="0" err="1">
                <a:latin typeface="Calibri Light" panose="020F0302020204030204" pitchFamily="34" charset="0"/>
                <a:ea typeface="ＭＳ Ｐゴシック" panose="020B0600070205080204" pitchFamily="34" charset="-128"/>
                <a:cs typeface="Calibri Light" panose="020F0302020204030204" pitchFamily="34" charset="0"/>
              </a:rPr>
              <a:t>avaliação_de</a:t>
            </a:r>
            <a:r>
              <a:rPr kumimoji="1" lang="pt-BR" altLang="en-US" sz="2000" dirty="0">
                <a:latin typeface="Calibri Light" panose="020F0302020204030204" pitchFamily="34" charset="0"/>
                <a:ea typeface="ＭＳ Ｐゴシック" panose="020B0600070205080204" pitchFamily="34" charset="-128"/>
                <a:cs typeface="Calibri Light" panose="020F0302020204030204" pitchFamily="34" charset="0"/>
              </a:rPr>
              <a:t> seria:</a:t>
            </a:r>
          </a:p>
          <a:p>
            <a:pPr lvl="1">
              <a:spcBef>
                <a:spcPct val="35000"/>
              </a:spcBef>
              <a:buClr>
                <a:srgbClr val="FF9933"/>
              </a:buClr>
              <a:buSzPct val="110000"/>
              <a:defRPr/>
            </a:pPr>
            <a:r>
              <a:rPr kumimoji="1" lang="pt-BR" altLang="en-US" sz="2000" dirty="0">
                <a:latin typeface="Calibri Light" panose="020F0302020204030204" pitchFamily="34" charset="0"/>
                <a:ea typeface="ＭＳ Ｐゴシック" panose="020B0600070205080204" pitchFamily="34" charset="-128"/>
                <a:cs typeface="Calibri Light" panose="020F0302020204030204" pitchFamily="34" charset="0"/>
              </a:rPr>
              <a:t>	       </a:t>
            </a:r>
            <a:r>
              <a:rPr kumimoji="1" lang="pt-BR" altLang="en-US" sz="2000" dirty="0" err="1">
                <a:latin typeface="Calibri Light" panose="020F0302020204030204" pitchFamily="34" charset="0"/>
                <a:ea typeface="ＭＳ Ｐゴシック" panose="020B0600070205080204" pitchFamily="34" charset="-128"/>
                <a:cs typeface="Calibri Light" panose="020F0302020204030204" pitchFamily="34" charset="0"/>
              </a:rPr>
              <a:t>avaliação_de</a:t>
            </a:r>
            <a:r>
              <a:rPr kumimoji="1" lang="pt-BR" altLang="en-US" sz="2000" dirty="0">
                <a:latin typeface="Calibri Light" panose="020F0302020204030204" pitchFamily="34" charset="0"/>
                <a:ea typeface="ＭＳ Ｐゴシック" panose="020B0600070205080204" pitchFamily="34" charset="-128"/>
                <a:cs typeface="Calibri Light" panose="020F0302020204030204" pitchFamily="34" charset="0"/>
              </a:rPr>
              <a:t> (</a:t>
            </a:r>
            <a:r>
              <a:rPr kumimoji="1" lang="pt-BR" altLang="en-US" sz="2000" i="1" u="sng" dirty="0" err="1">
                <a:latin typeface="Calibri Light" panose="020F0302020204030204" pitchFamily="34" charset="0"/>
                <a:ea typeface="ＭＳ Ｐゴシック" panose="020B0600070205080204" pitchFamily="34" charset="-128"/>
                <a:cs typeface="Calibri Light" panose="020F0302020204030204" pitchFamily="34" charset="0"/>
              </a:rPr>
              <a:t>ID_prof</a:t>
            </a:r>
            <a:r>
              <a:rPr kumimoji="1" lang="pt-BR" altLang="en-US" sz="2000" dirty="0">
                <a:latin typeface="Calibri Light" panose="020F0302020204030204" pitchFamily="34" charset="0"/>
                <a:ea typeface="ＭＳ Ｐゴシック" panose="020B0600070205080204" pitchFamily="34" charset="-128"/>
                <a:cs typeface="Calibri Light" panose="020F0302020204030204" pitchFamily="34" charset="0"/>
              </a:rPr>
              <a:t>, </a:t>
            </a:r>
            <a:r>
              <a:rPr kumimoji="1" lang="pt-BR" altLang="en-US" sz="2000" u="sng" dirty="0" err="1">
                <a:latin typeface="Calibri Light" panose="020F0302020204030204" pitchFamily="34" charset="0"/>
                <a:ea typeface="ＭＳ Ｐゴシック" panose="020B0600070205080204" pitchFamily="34" charset="-128"/>
                <a:cs typeface="Calibri Light" panose="020F0302020204030204" pitchFamily="34" charset="0"/>
              </a:rPr>
              <a:t>ID_aluno</a:t>
            </a:r>
            <a:r>
              <a:rPr kumimoji="1" lang="pt-BR" altLang="en-US" sz="2000" dirty="0">
                <a:latin typeface="Calibri Light" panose="020F0302020204030204" pitchFamily="34" charset="0"/>
                <a:ea typeface="ＭＳ Ｐゴシック" panose="020B0600070205080204" pitchFamily="34" charset="-128"/>
                <a:cs typeface="Calibri Light" panose="020F0302020204030204" pitchFamily="34" charset="0"/>
              </a:rPr>
              <a:t>, </a:t>
            </a:r>
            <a:r>
              <a:rPr kumimoji="1" lang="pt-BR" altLang="en-US" sz="2000" u="sng" dirty="0" err="1">
                <a:latin typeface="Calibri Light" panose="020F0302020204030204" pitchFamily="34" charset="0"/>
                <a:ea typeface="ＭＳ Ｐゴシック" panose="020B0600070205080204" pitchFamily="34" charset="-128"/>
                <a:cs typeface="Calibri Light" panose="020F0302020204030204" pitchFamily="34" charset="0"/>
              </a:rPr>
              <a:t>ID_proj</a:t>
            </a:r>
            <a:r>
              <a:rPr kumimoji="1" lang="pt-BR" altLang="en-US" sz="2000" dirty="0">
                <a:latin typeface="Calibri Light" panose="020F0302020204030204" pitchFamily="34" charset="0"/>
                <a:ea typeface="ＭＳ Ｐゴシック" panose="020B0600070205080204" pitchFamily="34" charset="-128"/>
                <a:cs typeface="Calibri Light" panose="020F0302020204030204" pitchFamily="34" charset="0"/>
              </a:rPr>
              <a:t>, </a:t>
            </a:r>
            <a:r>
              <a:rPr kumimoji="1" lang="pt-BR" altLang="en-US" sz="2000" u="sng" dirty="0" err="1">
                <a:latin typeface="Calibri Light" panose="020F0302020204030204" pitchFamily="34" charset="0"/>
                <a:ea typeface="ＭＳ Ｐゴシック" panose="020B0600070205080204" pitchFamily="34" charset="-128"/>
                <a:cs typeface="Calibri Light" panose="020F0302020204030204" pitchFamily="34" charset="0"/>
              </a:rPr>
              <a:t>ID_avaliação</a:t>
            </a:r>
            <a:r>
              <a:rPr kumimoji="1" lang="pt-BR" altLang="en-US" sz="2000" dirty="0">
                <a:latin typeface="Calibri Light" panose="020F0302020204030204" pitchFamily="34" charset="0"/>
                <a:ea typeface="ＭＳ Ｐゴシック" panose="020B0600070205080204" pitchFamily="34" charset="-128"/>
                <a:cs typeface="Calibri Light" panose="020F0302020204030204" pitchFamily="34" charset="0"/>
              </a:rPr>
              <a:t>)</a:t>
            </a:r>
          </a:p>
          <a:p>
            <a:pPr marL="756194" lvl="1" indent="-324083">
              <a:spcBef>
                <a:spcPct val="35000"/>
              </a:spcBef>
              <a:buClr>
                <a:srgbClr val="FF9933"/>
              </a:buClr>
              <a:buSzPct val="110000"/>
              <a:buFont typeface="Arial" panose="020B0604020202020204" pitchFamily="34" charset="0"/>
              <a:buChar char="•"/>
              <a:defRPr/>
            </a:pPr>
            <a:r>
              <a:rPr kumimoji="1" lang="pt-BR" altLang="en-US" sz="2000" dirty="0">
                <a:latin typeface="Calibri Light" panose="020F0302020204030204" pitchFamily="34" charset="0"/>
                <a:ea typeface="ＭＳ Ｐゴシック" panose="020B0600070205080204" pitchFamily="34" charset="-128"/>
                <a:cs typeface="Calibri Light" panose="020F0302020204030204" pitchFamily="34" charset="0"/>
              </a:rPr>
              <a:t>A definição da chave primária segue as regras anteriores.</a:t>
            </a:r>
          </a:p>
          <a:p>
            <a:pPr marL="324083" indent="-324083">
              <a:spcBef>
                <a:spcPct val="35000"/>
              </a:spcBef>
              <a:buClr>
                <a:schemeClr val="tx2"/>
              </a:buClr>
              <a:buSzPct val="90000"/>
              <a:buFont typeface="Monotype Sorts" charset="2"/>
              <a:buChar char="n"/>
              <a:defRPr/>
            </a:pPr>
            <a:endParaRPr kumimoji="1" lang="pt-BR" altLang="en-US" sz="2000" dirty="0">
              <a:ea typeface="ＭＳ Ｐゴシック" charset="-128"/>
            </a:endParaRPr>
          </a:p>
        </p:txBody>
      </p:sp>
      <p:pic>
        <p:nvPicPr>
          <p:cNvPr id="5" name="Picture 38">
            <a:extLst>
              <a:ext uri="{FF2B5EF4-FFF2-40B4-BE49-F238E27FC236}">
                <a16:creationId xmlns:a16="http://schemas.microsoft.com/office/drawing/2014/main" id="{317A1A26-23CA-6943-B77A-8D3EE56C35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08391" y="1470893"/>
            <a:ext cx="4155325" cy="3335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a:extLst>
              <a:ext uri="{FF2B5EF4-FFF2-40B4-BE49-F238E27FC236}">
                <a16:creationId xmlns:a16="http://schemas.microsoft.com/office/drawing/2014/main" id="{F930A04B-8059-C047-A809-53217F6547DD}"/>
              </a:ext>
            </a:extLst>
          </p:cNvPr>
          <p:cNvSpPr/>
          <p:nvPr/>
        </p:nvSpPr>
        <p:spPr bwMode="auto">
          <a:xfrm>
            <a:off x="9713125" y="1590462"/>
            <a:ext cx="845648" cy="206256"/>
          </a:xfrm>
          <a:prstGeom prst="rect">
            <a:avLst/>
          </a:prstGeom>
          <a:solidFill>
            <a:srgbClr val="C5E6F0"/>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pt-BR" sz="1200" i="1" u="none" strike="noStrike" cap="none" normalizeH="0" baseline="0" dirty="0">
                <a:ln>
                  <a:noFill/>
                </a:ln>
                <a:solidFill>
                  <a:schemeClr val="tx1"/>
                </a:solidFill>
                <a:effectLst/>
                <a:latin typeface="Calibri Light" panose="020F0302020204030204" pitchFamily="34" charset="0"/>
                <a:cs typeface="Calibri Light" panose="020F0302020204030204" pitchFamily="34" charset="0"/>
              </a:rPr>
              <a:t>projeto</a:t>
            </a:r>
          </a:p>
        </p:txBody>
      </p:sp>
      <p:sp>
        <p:nvSpPr>
          <p:cNvPr id="7" name="Rectangle 6">
            <a:extLst>
              <a:ext uri="{FF2B5EF4-FFF2-40B4-BE49-F238E27FC236}">
                <a16:creationId xmlns:a16="http://schemas.microsoft.com/office/drawing/2014/main" id="{D5FA36C4-0267-F24E-BD57-A34B8D12A4FA}"/>
              </a:ext>
            </a:extLst>
          </p:cNvPr>
          <p:cNvSpPr/>
          <p:nvPr/>
        </p:nvSpPr>
        <p:spPr bwMode="auto">
          <a:xfrm>
            <a:off x="8181104" y="2416630"/>
            <a:ext cx="845648" cy="206256"/>
          </a:xfrm>
          <a:prstGeom prst="rect">
            <a:avLst/>
          </a:prstGeom>
          <a:solidFill>
            <a:srgbClr val="C5E6F0"/>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pt-BR" sz="1200" i="1" u="none" strike="noStrike" cap="none" normalizeH="0" baseline="0" dirty="0">
                <a:ln>
                  <a:noFill/>
                </a:ln>
                <a:solidFill>
                  <a:schemeClr val="tx1"/>
                </a:solidFill>
                <a:effectLst/>
                <a:latin typeface="Calibri Light" panose="020F0302020204030204" pitchFamily="34" charset="0"/>
                <a:cs typeface="Calibri Light" panose="020F0302020204030204" pitchFamily="34" charset="0"/>
              </a:rPr>
              <a:t>professor</a:t>
            </a:r>
          </a:p>
        </p:txBody>
      </p:sp>
      <p:sp>
        <p:nvSpPr>
          <p:cNvPr id="8" name="Rectangle 7">
            <a:extLst>
              <a:ext uri="{FF2B5EF4-FFF2-40B4-BE49-F238E27FC236}">
                <a16:creationId xmlns:a16="http://schemas.microsoft.com/office/drawing/2014/main" id="{A60B4009-FCED-5846-84B9-3F538037B737}"/>
              </a:ext>
            </a:extLst>
          </p:cNvPr>
          <p:cNvSpPr/>
          <p:nvPr/>
        </p:nvSpPr>
        <p:spPr bwMode="auto">
          <a:xfrm>
            <a:off x="11137434" y="2416630"/>
            <a:ext cx="845648" cy="206256"/>
          </a:xfrm>
          <a:prstGeom prst="rect">
            <a:avLst/>
          </a:prstGeom>
          <a:solidFill>
            <a:srgbClr val="C5E6F0"/>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pt-BR" sz="1200" i="1" dirty="0">
                <a:latin typeface="Calibri Light" panose="020F0302020204030204" pitchFamily="34" charset="0"/>
                <a:cs typeface="Calibri Light" panose="020F0302020204030204" pitchFamily="34" charset="0"/>
              </a:rPr>
              <a:t>aluno</a:t>
            </a:r>
            <a:endParaRPr kumimoji="0" lang="pt-BR" sz="1200" i="1" u="none" strike="noStrike" cap="none" normalizeH="0" baseline="0" dirty="0">
              <a:ln>
                <a:noFill/>
              </a:ln>
              <a:solidFill>
                <a:schemeClr val="tx1"/>
              </a:solidFill>
              <a:effectLst/>
              <a:latin typeface="Calibri Light" panose="020F0302020204030204" pitchFamily="34" charset="0"/>
              <a:cs typeface="Calibri Light" panose="020F0302020204030204" pitchFamily="34" charset="0"/>
            </a:endParaRPr>
          </a:p>
        </p:txBody>
      </p:sp>
      <p:sp>
        <p:nvSpPr>
          <p:cNvPr id="9" name="Rectangle 8">
            <a:extLst>
              <a:ext uri="{FF2B5EF4-FFF2-40B4-BE49-F238E27FC236}">
                <a16:creationId xmlns:a16="http://schemas.microsoft.com/office/drawing/2014/main" id="{3C914319-9C1C-034D-B26C-780D57DE116D}"/>
              </a:ext>
            </a:extLst>
          </p:cNvPr>
          <p:cNvSpPr/>
          <p:nvPr/>
        </p:nvSpPr>
        <p:spPr bwMode="auto">
          <a:xfrm>
            <a:off x="9713125" y="4253451"/>
            <a:ext cx="845648" cy="206256"/>
          </a:xfrm>
          <a:prstGeom prst="rect">
            <a:avLst/>
          </a:prstGeom>
          <a:solidFill>
            <a:srgbClr val="C5E6F0"/>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pt-BR" sz="1200" i="1" dirty="0">
                <a:latin typeface="Calibri Light" panose="020F0302020204030204" pitchFamily="34" charset="0"/>
                <a:cs typeface="Calibri Light" panose="020F0302020204030204" pitchFamily="34" charset="0"/>
              </a:rPr>
              <a:t>avaliação</a:t>
            </a:r>
            <a:endParaRPr kumimoji="0" lang="pt-BR" sz="1200" i="1" u="none" strike="noStrike" cap="none" normalizeH="0" baseline="0" dirty="0">
              <a:ln>
                <a:noFill/>
              </a:ln>
              <a:solidFill>
                <a:schemeClr val="tx1"/>
              </a:solidFill>
              <a:effectLst/>
              <a:latin typeface="Calibri Light" panose="020F0302020204030204" pitchFamily="34" charset="0"/>
              <a:cs typeface="Calibri Light" panose="020F0302020204030204" pitchFamily="34" charset="0"/>
            </a:endParaRPr>
          </a:p>
        </p:txBody>
      </p:sp>
      <p:sp>
        <p:nvSpPr>
          <p:cNvPr id="10" name="Rectangle 9">
            <a:extLst>
              <a:ext uri="{FF2B5EF4-FFF2-40B4-BE49-F238E27FC236}">
                <a16:creationId xmlns:a16="http://schemas.microsoft.com/office/drawing/2014/main" id="{995509F7-C122-564B-BD67-CEDCBC522C5E}"/>
              </a:ext>
            </a:extLst>
          </p:cNvPr>
          <p:cNvSpPr/>
          <p:nvPr/>
        </p:nvSpPr>
        <p:spPr bwMode="auto">
          <a:xfrm>
            <a:off x="9857773" y="3658322"/>
            <a:ext cx="556352" cy="184336"/>
          </a:xfrm>
          <a:prstGeom prst="rect">
            <a:avLst/>
          </a:prstGeom>
          <a:solidFill>
            <a:srgbClr val="ECF6FA"/>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pt-BR" sz="1100" i="1" dirty="0" err="1">
                <a:latin typeface="Calibri Light" panose="020F0302020204030204" pitchFamily="34" charset="0"/>
                <a:cs typeface="Calibri Light" panose="020F0302020204030204" pitchFamily="34" charset="0"/>
              </a:rPr>
              <a:t>avaliação_de</a:t>
            </a:r>
            <a:endParaRPr kumimoji="0" lang="pt-BR" sz="1100" i="1" strike="noStrike" cap="none" normalizeH="0" baseline="0" dirty="0">
              <a:ln>
                <a:noFill/>
              </a:ln>
              <a:solidFill>
                <a:schemeClr val="tx1"/>
              </a:solidFill>
              <a:effectLst/>
              <a:latin typeface="Calibri Light" panose="020F0302020204030204" pitchFamily="34" charset="0"/>
              <a:cs typeface="Calibri Light" panose="020F0302020204030204" pitchFamily="34" charset="0"/>
            </a:endParaRPr>
          </a:p>
        </p:txBody>
      </p:sp>
      <p:sp>
        <p:nvSpPr>
          <p:cNvPr id="11" name="Diamond 10">
            <a:extLst>
              <a:ext uri="{FF2B5EF4-FFF2-40B4-BE49-F238E27FC236}">
                <a16:creationId xmlns:a16="http://schemas.microsoft.com/office/drawing/2014/main" id="{AB55B740-B042-594F-9040-60F0D9529D74}"/>
              </a:ext>
            </a:extLst>
          </p:cNvPr>
          <p:cNvSpPr/>
          <p:nvPr/>
        </p:nvSpPr>
        <p:spPr bwMode="auto">
          <a:xfrm>
            <a:off x="9568260" y="2416630"/>
            <a:ext cx="1035586" cy="455154"/>
          </a:xfrm>
          <a:prstGeom prst="diamond">
            <a:avLst/>
          </a:prstGeom>
          <a:solidFill>
            <a:srgbClr val="ECF6FA"/>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pt-BR" sz="1200" i="1" u="none" strike="noStrike" cap="none" normalizeH="0" baseline="0" dirty="0">
                <a:ln>
                  <a:noFill/>
                </a:ln>
                <a:solidFill>
                  <a:schemeClr val="tx1"/>
                </a:solidFill>
                <a:effectLst/>
                <a:latin typeface="Calibri Light" panose="020F0302020204030204" pitchFamily="34" charset="0"/>
                <a:cs typeface="Calibri Light" panose="020F0302020204030204" pitchFamily="34" charset="0"/>
              </a:rPr>
              <a:t>orienta</a:t>
            </a:r>
          </a:p>
        </p:txBody>
      </p:sp>
    </p:spTree>
    <p:extLst>
      <p:ext uri="{BB962C8B-B14F-4D97-AF65-F5344CB8AC3E}">
        <p14:creationId xmlns:p14="http://schemas.microsoft.com/office/powerpoint/2010/main" val="2267704490"/>
      </p:ext>
    </p:extLst>
  </p:cSld>
  <p:clrMapOvr>
    <a:masterClrMapping/>
  </p:clrMapOvr>
</p:sld>
</file>

<file path=ppt/theme/theme1.xml><?xml version="1.0" encoding="utf-8"?>
<a:theme xmlns:a="http://schemas.openxmlformats.org/drawingml/2006/main" name="2_db-5-grey">
  <a:themeElements>
    <a:clrScheme name="">
      <a:dk1>
        <a:srgbClr val="000000"/>
      </a:dk1>
      <a:lt1>
        <a:srgbClr val="CCECFF"/>
      </a:lt1>
      <a:dk2>
        <a:srgbClr val="CC3300"/>
      </a:dk2>
      <a:lt2>
        <a:srgbClr val="666699"/>
      </a:lt2>
      <a:accent1>
        <a:srgbClr val="FFFFFF"/>
      </a:accent1>
      <a:accent2>
        <a:srgbClr val="CCCC00"/>
      </a:accent2>
      <a:accent3>
        <a:srgbClr val="E2F4FF"/>
      </a:accent3>
      <a:accent4>
        <a:srgbClr val="000000"/>
      </a:accent4>
      <a:accent5>
        <a:srgbClr val="FFFFFF"/>
      </a:accent5>
      <a:accent6>
        <a:srgbClr val="B9B900"/>
      </a:accent6>
      <a:hlink>
        <a:srgbClr val="FF9900"/>
      </a:hlink>
      <a:folHlink>
        <a:srgbClr val="FF9933"/>
      </a:folHlink>
    </a:clrScheme>
    <a:fontScheme name="2_db-5-grey">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a:ln>
              <a:noFill/>
            </a:ln>
            <a:solidFill>
              <a:schemeClr val="tx1"/>
            </a:solidFill>
            <a:effectLst/>
            <a:latin typeface="Helvetic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a:ln>
              <a:noFill/>
            </a:ln>
            <a:solidFill>
              <a:schemeClr val="tx1"/>
            </a:solidFill>
            <a:effectLst/>
            <a:latin typeface="Helvetica" charset="0"/>
          </a:defRPr>
        </a:defPPr>
      </a:lstStyle>
    </a:lnDef>
  </a:objectDefaults>
  <a:extraClrSchemeLst>
    <a:extraClrScheme>
      <a:clrScheme name="2_db-5-grey 1">
        <a:dk1>
          <a:srgbClr val="333333"/>
        </a:dk1>
        <a:lt1>
          <a:srgbClr val="A9BDA9"/>
        </a:lt1>
        <a:dk2>
          <a:srgbClr val="004C2B"/>
        </a:dk2>
        <a:lt2>
          <a:srgbClr val="578963"/>
        </a:lt2>
        <a:accent1>
          <a:srgbClr val="E1B7B7"/>
        </a:accent1>
        <a:accent2>
          <a:srgbClr val="B3E1B3"/>
        </a:accent2>
        <a:accent3>
          <a:srgbClr val="D1DBD1"/>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2_db-5-grey 2">
        <a:dk1>
          <a:srgbClr val="333333"/>
        </a:dk1>
        <a:lt1>
          <a:srgbClr val="FFFFFF"/>
        </a:lt1>
        <a:dk2>
          <a:srgbClr val="004C2B"/>
        </a:dk2>
        <a:lt2>
          <a:srgbClr val="578963"/>
        </a:lt2>
        <a:accent1>
          <a:srgbClr val="E1B7B7"/>
        </a:accent1>
        <a:accent2>
          <a:srgbClr val="B3E1B3"/>
        </a:accent2>
        <a:accent3>
          <a:srgbClr val="FFFFFF"/>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2_db-5-grey 3">
        <a:dk1>
          <a:srgbClr val="000000"/>
        </a:dk1>
        <a:lt1>
          <a:srgbClr val="FFFFFF"/>
        </a:lt1>
        <a:dk2>
          <a:srgbClr val="000000"/>
        </a:dk2>
        <a:lt2>
          <a:srgbClr val="393939"/>
        </a:lt2>
        <a:accent1>
          <a:srgbClr val="CBCBCB"/>
        </a:accent1>
        <a:accent2>
          <a:srgbClr val="808080"/>
        </a:accent2>
        <a:accent3>
          <a:srgbClr val="FFFFFF"/>
        </a:accent3>
        <a:accent4>
          <a:srgbClr val="000000"/>
        </a:accent4>
        <a:accent5>
          <a:srgbClr val="E2E2E2"/>
        </a:accent5>
        <a:accent6>
          <a:srgbClr val="737373"/>
        </a:accent6>
        <a:hlink>
          <a:srgbClr val="B2B2B2"/>
        </a:hlink>
        <a:folHlink>
          <a:srgbClr val="EAEAEA"/>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DB6</Template>
  <TotalTime>97752</TotalTime>
  <Words>4884</Words>
  <Application>Microsoft Macintosh PowerPoint</Application>
  <PresentationFormat>Widescreen</PresentationFormat>
  <Paragraphs>703</Paragraphs>
  <Slides>47</Slides>
  <Notes>37</Notes>
  <HiddenSlides>0</HiddenSlides>
  <MMClips>0</MMClips>
  <ScaleCrop>false</ScaleCrop>
  <HeadingPairs>
    <vt:vector size="8" baseType="variant">
      <vt:variant>
        <vt:lpstr>Fonts Used</vt:lpstr>
      </vt:variant>
      <vt:variant>
        <vt:i4>8</vt:i4>
      </vt:variant>
      <vt:variant>
        <vt:lpstr>Theme</vt:lpstr>
      </vt:variant>
      <vt:variant>
        <vt:i4>1</vt:i4>
      </vt:variant>
      <vt:variant>
        <vt:lpstr>Slide Titles</vt:lpstr>
      </vt:variant>
      <vt:variant>
        <vt:i4>47</vt:i4>
      </vt:variant>
      <vt:variant>
        <vt:lpstr>Custom Shows</vt:lpstr>
      </vt:variant>
      <vt:variant>
        <vt:i4>1</vt:i4>
      </vt:variant>
    </vt:vector>
  </HeadingPairs>
  <TitlesOfParts>
    <vt:vector size="57" baseType="lpstr">
      <vt:lpstr>Arial</vt:lpstr>
      <vt:lpstr>Calibri Light</vt:lpstr>
      <vt:lpstr>Cambria Math</vt:lpstr>
      <vt:lpstr>Helvetica</vt:lpstr>
      <vt:lpstr>Monotype Sorts</vt:lpstr>
      <vt:lpstr>Times New Roman</vt:lpstr>
      <vt:lpstr>Webdings</vt:lpstr>
      <vt:lpstr>Wingdings</vt:lpstr>
      <vt:lpstr>2_db-5-grey</vt:lpstr>
      <vt:lpstr>Introdução ao Modelo Relacional e mapeamento de diagramas ER para digramas relacionais        Prof. Dr. Linder Cândido da Silva 2022</vt:lpstr>
      <vt:lpstr>Tópicos gerais</vt:lpstr>
      <vt:lpstr>Origens do Modelo Relacional</vt:lpstr>
      <vt:lpstr>Conceitos de relação, tuplas e atributos </vt:lpstr>
      <vt:lpstr>Conceitos de relação, tuplas e atributos (cont.) </vt:lpstr>
      <vt:lpstr>Conceitos de relação, tuplas e atributos (cont.)</vt:lpstr>
      <vt:lpstr>Conceitos de relação, tuplas e atributos (cont.)</vt:lpstr>
      <vt:lpstr>Tópicos gerais</vt:lpstr>
      <vt:lpstr>Instância e esquema de relação </vt:lpstr>
      <vt:lpstr>Instância e esquema do Banco de Dados</vt:lpstr>
      <vt:lpstr>Tópicos gerais</vt:lpstr>
      <vt:lpstr>Tipos principais de restrições do modelo relacional </vt:lpstr>
      <vt:lpstr>Restrição de domínio</vt:lpstr>
      <vt:lpstr>Restrição de chave</vt:lpstr>
      <vt:lpstr>Restrição de chave (cont.)</vt:lpstr>
      <vt:lpstr>Restrição de integridade referencial</vt:lpstr>
      <vt:lpstr>Restrição de integridade referencial (Cont.)</vt:lpstr>
      <vt:lpstr>Tópicos gerais</vt:lpstr>
      <vt:lpstr>Diagramas de esquema de Banco de Dados</vt:lpstr>
      <vt:lpstr>Exemplo de notação</vt:lpstr>
      <vt:lpstr>Tópicos gerais</vt:lpstr>
      <vt:lpstr>Reduzindo diagramas ER a esquemas Relacionais</vt:lpstr>
      <vt:lpstr>Passo 1: mapeamento de Conjuntos de Entidades fortes</vt:lpstr>
      <vt:lpstr>Passo 1: mapeamento de Conjuntos de Entidades fortes (cont.)</vt:lpstr>
      <vt:lpstr>Passo 1: mapeamento de Conjuntos de Entidades fortes (cont.)</vt:lpstr>
      <vt:lpstr>Passo 2: mapeamento de Conjuntos de Entidades fracas</vt:lpstr>
      <vt:lpstr>Passo 2: mapeamento de Conjuntos de Entidades fracas (cont.)</vt:lpstr>
      <vt:lpstr>Passo 2: mapeamento de Conjuntos de Entidades fracas (cont.)</vt:lpstr>
      <vt:lpstr>Passo 3: mapeamento de atributos multivalorados</vt:lpstr>
      <vt:lpstr>Passo 3: mapeamento de atributos multivalorados (cont.)</vt:lpstr>
      <vt:lpstr>Passo 4: Mapeamento de Conjuntos de Relacionamento 1:1</vt:lpstr>
      <vt:lpstr>Passo 4: Conjuntos de Relacionamento 1:1 (cont.)</vt:lpstr>
      <vt:lpstr>Passo 5: Mapeamento de  Conjuntos de Relacionamentos binários 1:N (ou N:1)</vt:lpstr>
      <vt:lpstr>Passo 5: Mapeamento de  Conjuntos de Relacionamentos binários 1:N  (cont.)</vt:lpstr>
      <vt:lpstr>Passo 5: Mapeamento de  Conjuntos de Relacionamentos binários 1:N  (cont.)</vt:lpstr>
      <vt:lpstr>Passo 6: Mapeamento de  Conjuntos de Relacionamentos binários N:M</vt:lpstr>
      <vt:lpstr>Passo 6: Mapeamento de  Conjuntos de Relacionamentos binários M:N  (cont.)</vt:lpstr>
      <vt:lpstr>Passo 7: Mapeamento de  Conjuntos de Relacionamentos n-ários</vt:lpstr>
      <vt:lpstr>Retomando o estudo de caso UNIVERSIDADE</vt:lpstr>
      <vt:lpstr>Requisitos do sistema Universidade</vt:lpstr>
      <vt:lpstr>PowerPoint Presentation</vt:lpstr>
      <vt:lpstr>Esquema de Banco de Dados UNIVERSIDADE (cont.)</vt:lpstr>
      <vt:lpstr>Diagrama relacional do Esquema do BD UNIVERSIDADE</vt:lpstr>
      <vt:lpstr>Mapeamento de especializações/generalizações</vt:lpstr>
      <vt:lpstr>Mapeamento de especializações/generalizações (Cont.)</vt:lpstr>
      <vt:lpstr>Mapeamento de especializações (cont.)</vt:lpstr>
      <vt:lpstr>Mapeamento de agregações</vt:lpstr>
      <vt:lpstr>Custom Show 1</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7:  Relational Database Design</dc:title>
  <dc:creator>Marilyn Turnamian</dc:creator>
  <cp:lastModifiedBy>Linder Silva</cp:lastModifiedBy>
  <cp:revision>744</cp:revision>
  <cp:lastPrinted>1999-06-28T19:27:31Z</cp:lastPrinted>
  <dcterms:created xsi:type="dcterms:W3CDTF">2009-12-21T15:40:22Z</dcterms:created>
  <dcterms:modified xsi:type="dcterms:W3CDTF">2022-05-25T02:32:04Z</dcterms:modified>
</cp:coreProperties>
</file>
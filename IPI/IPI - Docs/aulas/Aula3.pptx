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550" r:id="rId3"/>
    <p:sldId id="551" r:id="rId4"/>
    <p:sldId id="552" r:id="rId5"/>
    <p:sldId id="555" r:id="rId6"/>
    <p:sldId id="553" r:id="rId7"/>
    <p:sldId id="554" r:id="rId8"/>
    <p:sldId id="285" r:id="rId9"/>
    <p:sldId id="286" r:id="rId10"/>
    <p:sldId id="556" r:id="rId11"/>
    <p:sldId id="287" r:id="rId12"/>
    <p:sldId id="289" r:id="rId13"/>
    <p:sldId id="557" r:id="rId14"/>
    <p:sldId id="540" r:id="rId15"/>
    <p:sldId id="542" r:id="rId16"/>
    <p:sldId id="543" r:id="rId17"/>
    <p:sldId id="544" r:id="rId18"/>
    <p:sldId id="545" r:id="rId19"/>
    <p:sldId id="558" r:id="rId20"/>
    <p:sldId id="290" r:id="rId21"/>
    <p:sldId id="291" r:id="rId22"/>
    <p:sldId id="546" r:id="rId23"/>
    <p:sldId id="559" r:id="rId24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16"/>
    <p:restoredTop sz="94674"/>
  </p:normalViewPr>
  <p:slideViewPr>
    <p:cSldViewPr snapToGrid="0" snapToObjects="1">
      <p:cViewPr varScale="1">
        <p:scale>
          <a:sx n="115" d="100"/>
          <a:sy n="115" d="100"/>
        </p:scale>
        <p:origin x="68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8-24T14:17:46.52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0 5896,'0'0'0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8FBCA-DCF6-C948-9F9C-AAB791B36139}" type="datetimeFigureOut">
              <a:rPr lang="en-BR" smtClean="0"/>
              <a:t>19/09/22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D15E5-714A-A441-9BBA-31A23F0B662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1824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Olá pessoal, bem vindos à primeira aula de processamento de imagens!  Vou começar falando um pouco sobre questões administrativas e sobre  como o será organizado. Em seguida daremos início ao conteúdo propriamente dito.</a:t>
            </a:r>
          </a:p>
          <a:p>
            <a:endParaRPr lang="en-BR" dirty="0"/>
          </a:p>
          <a:p>
            <a:r>
              <a:rPr lang="en-BR" dirty="0"/>
              <a:t>Como vocês sabem, esse curso está sendo oferecido nesse formato devido à pandemia que estamos vivenciando em 2020. Então, como é um formato novo, acho importante apresentar com um pouco mais de detalhes como o curso será organizado.</a:t>
            </a:r>
          </a:p>
          <a:p>
            <a:endParaRPr lang="en-BR" dirty="0"/>
          </a:p>
          <a:p>
            <a:r>
              <a:rPr lang="en-BR" dirty="0"/>
              <a:t>Até o final do surso, vocês terão uma vídeo aula disponibilizada por semana.</a:t>
            </a:r>
          </a:p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D15E5-714A-A441-9BBA-31A23F0B6623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6936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D15E5-714A-A441-9BBA-31A23F0B6623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6424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D15E5-714A-A441-9BBA-31A23F0B6623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70838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D15E5-714A-A441-9BBA-31A23F0B6623}" type="slidenum">
              <a:rPr lang="en-BR" smtClean="0"/>
              <a:t>19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1546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AC1C-7136-204D-8049-BAF269A93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F6081-A7E2-E942-99CE-ACE37D1DF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5290-DC97-EC4E-B45B-212C1155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F19CA-A286-624D-B5E6-4766DDA18E66}" type="datetime1">
              <a:rPr lang="en-US" smtClean="0"/>
              <a:t>9/19/22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1A776-50B2-1A49-BE77-982379CD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DB1C-E63F-0247-8212-F379AC4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3014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E017-2F61-B643-AA52-641D536D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E3D36-A1FC-C747-AFEF-D09298E69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286D4-61A9-394A-9AA6-5A6602470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EC-870C-2E45-881C-7FA4DFD31045}" type="datetime1">
              <a:rPr lang="en-US" smtClean="0"/>
              <a:t>9/19/22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D61E1-FB39-0D4E-83B6-84E95B0B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5DAFD-5348-AE45-A1D8-325508C2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2389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EA56-5FF2-9B42-9656-7893CE03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84CEB-F8B6-474C-BE96-7564EAD1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8F6F-9BD6-7643-A99D-9828D183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48F7-AC3F-8F46-970F-B3918B0F6F82}" type="datetime1">
              <a:rPr lang="en-US" smtClean="0"/>
              <a:t>9/19/22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97481-085C-574D-8048-5038F736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57D5-30DD-9440-9DE4-BFA32D44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683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A56-68F5-8B45-A533-3D65E42B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55443-0F1A-4D43-A138-CAF5F4F7D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3C1D2-96AB-0B40-AF50-1EB475B2A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E1FEE-1208-674E-A29A-0D3A7542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4C2F-D2AC-5840-8EF2-49857974CF02}" type="datetime1">
              <a:rPr lang="en-US" smtClean="0"/>
              <a:t>9/19/22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6A2F6-53C5-E446-B751-99464815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E645A-3AE0-4F42-AA52-0FFD9902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0634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98EC-2502-334F-8890-5494EF74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C3A42-444C-2048-907E-2EB6D98EE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21AF2-20F8-C24A-95C1-E717B7E3C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18256-C0B0-1A45-9AF1-A8637523F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FB43C-63D4-C542-837E-2A4016356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3FF113-B100-414F-AAB8-963D0E77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52E1-B0A8-8D40-925D-23D7FDECA1F4}" type="datetime1">
              <a:rPr lang="en-US" smtClean="0"/>
              <a:t>9/19/22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802B7-569B-8343-8E7B-019396BD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3F5D6-B366-AB43-BDA3-8FC2437D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4937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B5E0-F626-5A42-8403-75536B65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E7802-2732-3046-9211-C3538550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6709-E2AF-8B42-98B5-28C674E66E3C}" type="datetime1">
              <a:rPr lang="en-US" smtClean="0"/>
              <a:t>9/19/22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D848-357C-9B4D-BAB7-59626665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7A124-F2DE-EE4D-80F5-4644D8AD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8130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709E4-A6C6-E84F-8CC1-0036C207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4A80-4053-0E4F-B924-CDD895C79E75}" type="datetime1">
              <a:rPr lang="en-US" smtClean="0"/>
              <a:t>9/19/22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BD9CF-C6A8-934D-A295-F5F20B6E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4B80A-75AB-5D44-8250-67C3DD7F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0051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AE720-CBB1-9947-AC14-8E0B813E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9770-929F-1545-9432-12D918444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58383-6096-9D44-B278-CF544B2D4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41FF5-35A1-7343-AD26-C244B9F0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D083-E8AB-2E40-9328-E1894F74BA4F}" type="datetime1">
              <a:rPr lang="en-US" smtClean="0"/>
              <a:t>9/19/22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CD350-2FD0-3540-BD5D-25B334C0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8A238-AB38-2440-8678-0339BC5A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9703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05F6-B4FD-884F-A095-221086C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9F31F-5E61-C943-AEA0-E0F226E5E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B14B8-7506-3F4B-88E1-4DCDC02D7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ABEBC-EE4E-1240-B7C7-1B38CCA5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0407-81DF-544B-971E-FD890ADFB05E}" type="datetime1">
              <a:rPr lang="en-US" smtClean="0"/>
              <a:t>9/19/22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66AC1-B516-B741-AAFA-2C21E151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7A36D-473B-284D-B10F-40D8B678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2279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44B9-FEB1-524F-840C-CA403BE1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7357A-1B21-2E4C-8EB8-EF84AA35E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03CEB-AB8B-074C-9099-E20E8F70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8D92-4EE3-3F48-B9F4-6B6DDBC23CD4}" type="datetime1">
              <a:rPr lang="en-US" smtClean="0"/>
              <a:t>9/19/22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3D505-5595-1548-B969-680F8F9EC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7BE0-0D7F-F547-A038-5BFF06AB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6655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0DC62-64BD-744D-84EA-69735A02F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B3755-A485-A846-9AD9-66E19602B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CE307-16B4-5749-BFE9-58D73375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0B20-D8E1-4641-922C-8645E885DF51}" type="datetime1">
              <a:rPr lang="en-US" smtClean="0"/>
              <a:t>9/19/22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114B-6687-2047-A12C-D4A54B3B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4091-1F4A-8F4F-ADC9-1A820508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5770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3207B-5DF3-B14C-9AC5-DA2C3E7E7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9FB65-ADFB-9E4E-B234-BCD226391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C4FE1-715E-3641-9827-23E6EBE6E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27D02-1BD7-3C48-B346-0AD4755EB8F7}" type="datetime1">
              <a:rPr lang="en-US" smtClean="0"/>
              <a:t>9/19/22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756E9-9EB3-BB49-8CD7-6D58527D2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BB85-0C74-1343-90D2-451312B09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6127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itchFamily="2" charset="2"/>
        <a:buChar char="ü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The_Birds_(sculpture)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hyperlink" Target="https://en.wikipedia.org/wiki/The_Birds_(sculpture)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jpeg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jpeg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5.jpeg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jpeg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The_Birds_(sculpture)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13.bin"/><Relationship Id="rId3" Type="http://schemas.openxmlformats.org/officeDocument/2006/relationships/image" Target="../media/image31.png"/><Relationship Id="rId21" Type="http://schemas.openxmlformats.org/officeDocument/2006/relationships/image" Target="../media/image25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26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AAEF-AB51-6A41-AFD2-78F42D0BB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221" y="137053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BR" dirty="0"/>
              <a:t>Processamento de Imagens</a:t>
            </a:r>
            <a:br>
              <a:rPr lang="en-BR" dirty="0"/>
            </a:br>
            <a:br>
              <a:rPr lang="en-BR" dirty="0"/>
            </a:br>
            <a:br>
              <a:rPr lang="en-BR" sz="4000" dirty="0"/>
            </a:br>
            <a:r>
              <a:rPr lang="en-BR" sz="4000" dirty="0"/>
              <a:t> </a:t>
            </a:r>
            <a:r>
              <a:rPr lang="en-BR" sz="4000"/>
              <a:t>Aula 03</a:t>
            </a:r>
            <a:endParaRPr lang="en-BR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63F9A-B5C3-D34D-9B0E-27058D1A0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9422"/>
            <a:ext cx="9144000" cy="2740371"/>
          </a:xfrm>
        </p:spPr>
        <p:txBody>
          <a:bodyPr>
            <a:normAutofit/>
          </a:bodyPr>
          <a:lstStyle/>
          <a:p>
            <a:endParaRPr lang="en-BR" dirty="0"/>
          </a:p>
          <a:p>
            <a:endParaRPr lang="en-BR" dirty="0"/>
          </a:p>
          <a:p>
            <a:endParaRPr lang="en-BR" dirty="0"/>
          </a:p>
          <a:p>
            <a:endParaRPr lang="en-BR" dirty="0"/>
          </a:p>
          <a:p>
            <a:r>
              <a:rPr lang="en-BR" dirty="0"/>
              <a:t>Prof. Dr. Linder Cândido da Silva</a:t>
            </a:r>
          </a:p>
          <a:p>
            <a:r>
              <a:rPr lang="en-BR" dirty="0"/>
              <a:t>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7C894-4F87-F64C-9EE6-81D05CF2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</a:t>
            </a:fld>
            <a:endParaRPr lang="en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35A5F6B-A196-7F40-8EA6-5006699DDBF5}"/>
                  </a:ext>
                </a:extLst>
              </p14:cNvPr>
              <p14:cNvContentPartPr/>
              <p14:nvPr/>
            </p14:nvContentPartPr>
            <p14:xfrm>
              <a:off x="4786222" y="678452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35A5F6B-A196-7F40-8EA6-5006699DDB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1102" y="6769040"/>
                <a:ext cx="3096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9514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03FE-8F23-2C41-938E-3CD158A2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3" y="75757"/>
            <a:ext cx="10515600" cy="699744"/>
          </a:xfrm>
        </p:spPr>
        <p:txBody>
          <a:bodyPr/>
          <a:lstStyle/>
          <a:p>
            <a:r>
              <a:rPr lang="en-BR" dirty="0"/>
              <a:t>Sumário: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3D2D-DB21-0146-8B8C-BAD65917D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38" y="934374"/>
            <a:ext cx="8638848" cy="555849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R" sz="2000" dirty="0">
                <a:solidFill>
                  <a:srgbClr val="891619"/>
                </a:solidFill>
              </a:rPr>
              <a:t>Interpolação de imagens.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/>
          </a:p>
          <a:p>
            <a:pPr marL="514350" indent="-514350">
              <a:buFont typeface="+mj-lt"/>
              <a:buAutoNum type="arabicPeriod"/>
            </a:pPr>
            <a:r>
              <a:rPr lang="en-BR" sz="2000" dirty="0"/>
              <a:t>Reamostragem por interpolação baseada no vizinho mais próximo.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/>
          </a:p>
          <a:p>
            <a:pPr marL="514350" indent="-514350">
              <a:buFont typeface="+mj-lt"/>
              <a:buAutoNum type="arabicPeriod"/>
            </a:pPr>
            <a:r>
              <a:rPr lang="en-BR" sz="2000" dirty="0"/>
              <a:t>Reamostragem por interpolação bilinear.</a:t>
            </a:r>
          </a:p>
          <a:p>
            <a:pPr marL="0" indent="0">
              <a:buNone/>
            </a:pPr>
            <a:r>
              <a:rPr lang="en-BR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/>
          </a:p>
          <a:p>
            <a:pPr marL="0" indent="0">
              <a:buNone/>
            </a:pPr>
            <a:endParaRPr lang="en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CB07-7E99-AE40-A8EA-8000F8B5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1345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0C0BBD-8EDD-9042-91F7-7C856FD78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505729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Introdução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1E15BD-32D8-204F-9788-151263D6A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172"/>
            <a:ext cx="10515600" cy="4805361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Interpolação é o processo de usar dados conhecidos para estimar valores em localizações desconhecidas.</a:t>
            </a: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Os principais métodos de interpolação usados em processamento de imagens são interpolação por vizinho mais próximo, interpolação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bilinear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, e interpolação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bicúbica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0" indent="0">
              <a:buNone/>
            </a:pP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Existem inúmeras aplicações com imagens que utilizam métodos de interpolação. Por exemplo, processos de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reamostragem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(zoom e redução) e correções em transformações geométricas.</a:t>
            </a: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B858E-D961-274C-9F85-F1D42CD9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89683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03FE-8F23-2C41-938E-3CD158A2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3" y="75757"/>
            <a:ext cx="10515600" cy="699744"/>
          </a:xfrm>
        </p:spPr>
        <p:txBody>
          <a:bodyPr/>
          <a:lstStyle/>
          <a:p>
            <a:r>
              <a:rPr lang="en-BR" dirty="0"/>
              <a:t>Sumário: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3D2D-DB21-0146-8B8C-BAD65917D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38" y="934374"/>
            <a:ext cx="8638848" cy="555849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R" sz="2000" dirty="0"/>
              <a:t>Interpolação de imagens.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/>
          </a:p>
          <a:p>
            <a:pPr marL="514350" indent="-514350">
              <a:buFont typeface="+mj-lt"/>
              <a:buAutoNum type="arabicPeriod"/>
            </a:pPr>
            <a:r>
              <a:rPr lang="en-BR" sz="2000" dirty="0">
                <a:solidFill>
                  <a:srgbClr val="891619"/>
                </a:solidFill>
              </a:rPr>
              <a:t>Reamostragem por interpolação baseada no vizinho mais próximo.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>
              <a:solidFill>
                <a:srgbClr val="891619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BR" sz="2000" dirty="0"/>
              <a:t>Reamostragem por interpolação bilinear.</a:t>
            </a:r>
          </a:p>
          <a:p>
            <a:pPr marL="0" indent="0">
              <a:buNone/>
            </a:pPr>
            <a:r>
              <a:rPr lang="en-BR" sz="2000" dirty="0">
                <a:solidFill>
                  <a:srgbClr val="89161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/>
          </a:p>
          <a:p>
            <a:pPr marL="0" indent="0">
              <a:buNone/>
            </a:pPr>
            <a:endParaRPr lang="en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CB07-7E99-AE40-A8EA-8000F8B5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3323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45AF-3175-1947-90A4-D96D27C0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692" y="288008"/>
            <a:ext cx="10902108" cy="681475"/>
          </a:xfrm>
        </p:spPr>
        <p:txBody>
          <a:bodyPr>
            <a:normAutofit/>
          </a:bodyPr>
          <a:lstStyle/>
          <a:p>
            <a:r>
              <a:rPr lang="pt-BR" sz="3600" dirty="0"/>
              <a:t>Interpolação por vizinho mais próximo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F2ADC-AE9C-2D47-87C5-E354E8B6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92" y="1410159"/>
            <a:ext cx="6213513" cy="4766804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A interpolação por vizinho mais próximo é um método determinístico no qual o valor estimado é sempre igual ao da sua amostra mais próxima, desconsiderando qualquer outra.</a:t>
            </a:r>
          </a:p>
          <a:p>
            <a:endParaRPr lang="pt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r>
              <a:rPr lang="pt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Dada a sua simplicidade é regularmente utilizado para interpolações rápidas e em áreas de estudo com dados bem amostrados.</a:t>
            </a:r>
          </a:p>
          <a:p>
            <a:endParaRPr lang="pt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r>
              <a:rPr lang="pt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Na figura ilustrativa ao lado, cada célula colorida indica a área de influência dos pontos pretos quando a interpolação por vizinho mais próxima é aplicada.</a:t>
            </a:r>
            <a:r>
              <a:rPr lang="pt-BR" sz="1600" dirty="0">
                <a:latin typeface="Calibri Light" panose="020F0502020204030204" pitchFamily="34" charset="0"/>
                <a:cs typeface="Calibri Light" panose="020F0502020204030204" pitchFamily="34" charset="0"/>
              </a:rPr>
              <a:t> </a:t>
            </a:r>
            <a:endParaRPr lang="pt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CBAB7-4777-2649-82CA-AEBCB439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5</a:t>
            </a:fld>
            <a:endParaRPr lang="en-B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9B4DF4-8C5D-F240-959A-C3EB40989E1E}"/>
              </a:ext>
            </a:extLst>
          </p:cNvPr>
          <p:cNvGrpSpPr/>
          <p:nvPr/>
        </p:nvGrpSpPr>
        <p:grpSpPr>
          <a:xfrm>
            <a:off x="7388090" y="1550318"/>
            <a:ext cx="4352218" cy="4021602"/>
            <a:chOff x="7388090" y="1550318"/>
            <a:chExt cx="4352218" cy="40216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F606F8-B4C9-3F49-AB08-CD5B4D47F0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60" t="1320"/>
            <a:stretch/>
          </p:blipFill>
          <p:spPr>
            <a:xfrm>
              <a:off x="7765774" y="1550318"/>
              <a:ext cx="3974534" cy="402160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D3407C-CBF6-6641-BD53-E328D78FE1C3}"/>
                </a:ext>
              </a:extLst>
            </p:cNvPr>
            <p:cNvSpPr txBox="1"/>
            <p:nvPr/>
          </p:nvSpPr>
          <p:spPr>
            <a:xfrm>
              <a:off x="7394714" y="1709531"/>
              <a:ext cx="437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799CF1-84BF-E94D-8876-774630346BE8}"/>
                </a:ext>
              </a:extLst>
            </p:cNvPr>
            <p:cNvSpPr txBox="1"/>
            <p:nvPr/>
          </p:nvSpPr>
          <p:spPr>
            <a:xfrm>
              <a:off x="7388090" y="2445028"/>
              <a:ext cx="437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/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494CE5-F2B2-F648-989E-C594615ACB70}"/>
                </a:ext>
              </a:extLst>
            </p:cNvPr>
            <p:cNvSpPr txBox="1"/>
            <p:nvPr/>
          </p:nvSpPr>
          <p:spPr>
            <a:xfrm>
              <a:off x="7394718" y="3154019"/>
              <a:ext cx="437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/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13E404-F1CD-7447-94A8-C077B24AEFBD}"/>
                </a:ext>
              </a:extLst>
            </p:cNvPr>
            <p:cNvSpPr txBox="1"/>
            <p:nvPr/>
          </p:nvSpPr>
          <p:spPr>
            <a:xfrm>
              <a:off x="7388094" y="3916018"/>
              <a:ext cx="437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/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1F3189-9431-E04E-93C4-E04CD337628E}"/>
                </a:ext>
              </a:extLst>
            </p:cNvPr>
            <p:cNvSpPr txBox="1"/>
            <p:nvPr/>
          </p:nvSpPr>
          <p:spPr>
            <a:xfrm>
              <a:off x="7394722" y="4638262"/>
              <a:ext cx="437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2242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42A2-9310-B345-9721-C1489F88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5" y="127622"/>
            <a:ext cx="11477328" cy="736848"/>
          </a:xfrm>
        </p:spPr>
        <p:txBody>
          <a:bodyPr>
            <a:noAutofit/>
          </a:bodyPr>
          <a:lstStyle/>
          <a:p>
            <a:r>
              <a:rPr lang="en-BR" sz="3600" dirty="0"/>
              <a:t>Reamostragem de imagens digitais por vizinho mais próximo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53FF-8F56-E444-BD78-EB91F8E5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5" y="1049287"/>
            <a:ext cx="11477328" cy="2404652"/>
          </a:xfrm>
        </p:spPr>
        <p:txBody>
          <a:bodyPr>
            <a:normAutofit/>
          </a:bodyPr>
          <a:lstStyle/>
          <a:p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Considere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uma imagem de entrada, com dimensões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a imagem de saída, com dimensões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. Se as dimensões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forem maiores que as dimensões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temos uma operação de zoom. Por outro lado, se as dimensões de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J 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forem menores que as dimensões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então temos uma operação de redução.</a:t>
            </a:r>
          </a:p>
          <a:p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Independente do caso (zoom ou redução), na reamostragem por vizinho mais próximo o processo é o mesmo: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Mapeamos as posições (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para posições (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na imagem de entrada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Atribuímos a cada pixel (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J 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o valor do pixel mais próximo a (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BR" sz="2000" i="1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em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0" indent="0">
              <a:buNone/>
            </a:pPr>
            <a:endParaRPr lang="en-BR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BR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BR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14389" lvl="1" indent="-457200">
              <a:buFont typeface="+mj-lt"/>
              <a:buAutoNum type="arabicPeriod"/>
            </a:pPr>
            <a:endParaRPr lang="en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DC121C-D722-A544-9F5D-BEA2D7C8F50B}"/>
              </a:ext>
            </a:extLst>
          </p:cNvPr>
          <p:cNvSpPr txBox="1"/>
          <p:nvPr/>
        </p:nvSpPr>
        <p:spPr>
          <a:xfrm>
            <a:off x="1556761" y="6317482"/>
            <a:ext cx="2513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Imagem original </a:t>
            </a:r>
            <a:r>
              <a:rPr lang="en-BR" b="1" i="1" dirty="0"/>
              <a:t>I</a:t>
            </a:r>
            <a:endParaRPr lang="en-BR" i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C79E59-C335-B340-A28C-B4320BDF2334}"/>
              </a:ext>
            </a:extLst>
          </p:cNvPr>
          <p:cNvSpPr/>
          <p:nvPr/>
        </p:nvSpPr>
        <p:spPr>
          <a:xfrm>
            <a:off x="7285363" y="4143538"/>
            <a:ext cx="3425780" cy="2099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707B3C6-54AF-674E-8518-87204A17F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64135" y="4709395"/>
            <a:ext cx="2305869" cy="15334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DEB3EFD-8BF6-124B-B748-FB413D0F1480}"/>
              </a:ext>
            </a:extLst>
          </p:cNvPr>
          <p:cNvSpPr txBox="1"/>
          <p:nvPr/>
        </p:nvSpPr>
        <p:spPr>
          <a:xfrm>
            <a:off x="7596914" y="6275162"/>
            <a:ext cx="284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Nova imagem </a:t>
            </a:r>
            <a:r>
              <a:rPr lang="en-BR" b="1" i="1" dirty="0"/>
              <a:t>J</a:t>
            </a:r>
            <a:endParaRPr lang="en-BR" i="1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8D53405-5EA6-8C45-A414-60C248B81AC4}"/>
              </a:ext>
            </a:extLst>
          </p:cNvPr>
          <p:cNvCxnSpPr>
            <a:cxnSpLocks/>
          </p:cNvCxnSpPr>
          <p:nvPr/>
        </p:nvCxnSpPr>
        <p:spPr>
          <a:xfrm flipH="1">
            <a:off x="1764135" y="5860326"/>
            <a:ext cx="3672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Left Brace 51">
            <a:extLst>
              <a:ext uri="{FF2B5EF4-FFF2-40B4-BE49-F238E27FC236}">
                <a16:creationId xmlns:a16="http://schemas.microsoft.com/office/drawing/2014/main" id="{8C8B0A0E-7B60-1749-9982-267ABCF33277}"/>
              </a:ext>
            </a:extLst>
          </p:cNvPr>
          <p:cNvSpPr/>
          <p:nvPr/>
        </p:nvSpPr>
        <p:spPr>
          <a:xfrm>
            <a:off x="1331088" y="4689435"/>
            <a:ext cx="318269" cy="153340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335CD78B-A1C4-AB4C-A14D-56943FBE5002}"/>
              </a:ext>
            </a:extLst>
          </p:cNvPr>
          <p:cNvSpPr/>
          <p:nvPr/>
        </p:nvSpPr>
        <p:spPr>
          <a:xfrm rot="5400000">
            <a:off x="2757933" y="3328257"/>
            <a:ext cx="318269" cy="230586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7CC811-31A7-054E-9608-C2FAC91C372E}"/>
              </a:ext>
            </a:extLst>
          </p:cNvPr>
          <p:cNvSpPr txBox="1"/>
          <p:nvPr/>
        </p:nvSpPr>
        <p:spPr>
          <a:xfrm>
            <a:off x="949128" y="5193166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A0D97C-59DE-714E-AE02-2D043273B0A1}"/>
              </a:ext>
            </a:extLst>
          </p:cNvPr>
          <p:cNvSpPr txBox="1"/>
          <p:nvPr/>
        </p:nvSpPr>
        <p:spPr>
          <a:xfrm>
            <a:off x="2633487" y="3936725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FF5BD8FE-BEA2-7B4C-A50A-B67EA95B94E1}"/>
              </a:ext>
            </a:extLst>
          </p:cNvPr>
          <p:cNvSpPr/>
          <p:nvPr/>
        </p:nvSpPr>
        <p:spPr>
          <a:xfrm>
            <a:off x="6935169" y="4137084"/>
            <a:ext cx="318269" cy="20992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0CC436-10EC-0248-B457-DC3513D73B42}"/>
              </a:ext>
            </a:extLst>
          </p:cNvPr>
          <p:cNvSpPr txBox="1"/>
          <p:nvPr/>
        </p:nvSpPr>
        <p:spPr>
          <a:xfrm>
            <a:off x="6564784" y="4998320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4C9CAB3F-BAED-5E4B-AF90-8173D242FC29}"/>
              </a:ext>
            </a:extLst>
          </p:cNvPr>
          <p:cNvSpPr/>
          <p:nvPr/>
        </p:nvSpPr>
        <p:spPr>
          <a:xfrm rot="5400000">
            <a:off x="8829372" y="2249367"/>
            <a:ext cx="318269" cy="3425779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736872-78ED-D647-AEDE-CC06F1C43159}"/>
              </a:ext>
            </a:extLst>
          </p:cNvPr>
          <p:cNvCxnSpPr>
            <a:cxnSpLocks/>
          </p:cNvCxnSpPr>
          <p:nvPr/>
        </p:nvCxnSpPr>
        <p:spPr>
          <a:xfrm flipV="1">
            <a:off x="8365888" y="4166681"/>
            <a:ext cx="0" cy="133916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9680D4-9B4F-0643-8391-7B1A7700083D}"/>
              </a:ext>
            </a:extLst>
          </p:cNvPr>
          <p:cNvCxnSpPr/>
          <p:nvPr/>
        </p:nvCxnSpPr>
        <p:spPr>
          <a:xfrm flipH="1">
            <a:off x="7296938" y="5540573"/>
            <a:ext cx="106894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76FA596-949C-F44A-9262-7B963A87932A}"/>
              </a:ext>
            </a:extLst>
          </p:cNvPr>
          <p:cNvSpPr txBox="1"/>
          <p:nvPr/>
        </p:nvSpPr>
        <p:spPr>
          <a:xfrm>
            <a:off x="7022578" y="5286156"/>
            <a:ext cx="412118" cy="38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4E2FFD-74A1-AC4C-B6EE-DF25477B68FD}"/>
              </a:ext>
            </a:extLst>
          </p:cNvPr>
          <p:cNvSpPr txBox="1"/>
          <p:nvPr/>
        </p:nvSpPr>
        <p:spPr>
          <a:xfrm>
            <a:off x="8199766" y="3835545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B63530C-8542-E545-9974-F5C0E0CC16F0}"/>
              </a:ext>
            </a:extLst>
          </p:cNvPr>
          <p:cNvSpPr/>
          <p:nvPr/>
        </p:nvSpPr>
        <p:spPr>
          <a:xfrm>
            <a:off x="8320809" y="5485365"/>
            <a:ext cx="90152" cy="1067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CFA7F7C-1287-914C-A0F8-456B6298A182}"/>
              </a:ext>
            </a:extLst>
          </p:cNvPr>
          <p:cNvSpPr/>
          <p:nvPr/>
        </p:nvSpPr>
        <p:spPr>
          <a:xfrm>
            <a:off x="2154570" y="5807805"/>
            <a:ext cx="90152" cy="1067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B6EA14D-D64C-C948-851F-7622A9F88BB6}"/>
              </a:ext>
            </a:extLst>
          </p:cNvPr>
          <p:cNvCxnSpPr>
            <a:cxnSpLocks/>
          </p:cNvCxnSpPr>
          <p:nvPr/>
        </p:nvCxnSpPr>
        <p:spPr>
          <a:xfrm flipV="1">
            <a:off x="2206086" y="4696512"/>
            <a:ext cx="0" cy="106368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014CCA1-624E-434D-B3BD-682727C4FE1C}"/>
              </a:ext>
            </a:extLst>
          </p:cNvPr>
          <p:cNvCxnSpPr>
            <a:cxnSpLocks/>
          </p:cNvCxnSpPr>
          <p:nvPr/>
        </p:nvCxnSpPr>
        <p:spPr>
          <a:xfrm flipH="1">
            <a:off x="1787285" y="5860326"/>
            <a:ext cx="3672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6704960-9F24-6049-9020-C64AA8E654A0}"/>
              </a:ext>
            </a:extLst>
          </p:cNvPr>
          <p:cNvSpPr txBox="1"/>
          <p:nvPr/>
        </p:nvSpPr>
        <p:spPr>
          <a:xfrm>
            <a:off x="1438734" y="5570266"/>
            <a:ext cx="412118" cy="38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1CC47B-8EA7-3C45-80AC-E1D5E0F2CEF8}"/>
              </a:ext>
            </a:extLst>
          </p:cNvPr>
          <p:cNvSpPr txBox="1"/>
          <p:nvPr/>
        </p:nvSpPr>
        <p:spPr>
          <a:xfrm>
            <a:off x="1980705" y="4368246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Left Arrow 68">
            <a:extLst>
              <a:ext uri="{FF2B5EF4-FFF2-40B4-BE49-F238E27FC236}">
                <a16:creationId xmlns:a16="http://schemas.microsoft.com/office/drawing/2014/main" id="{22C449C8-2FB8-DE4D-8DC8-689C557F3A4F}"/>
              </a:ext>
            </a:extLst>
          </p:cNvPr>
          <p:cNvSpPr/>
          <p:nvPr/>
        </p:nvSpPr>
        <p:spPr>
          <a:xfrm>
            <a:off x="4606432" y="5133416"/>
            <a:ext cx="1678329" cy="19920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77E01C-4C2C-214A-8776-B470FF441E02}"/>
              </a:ext>
            </a:extLst>
          </p:cNvPr>
          <p:cNvSpPr txBox="1"/>
          <p:nvPr/>
        </p:nvSpPr>
        <p:spPr>
          <a:xfrm>
            <a:off x="4740321" y="4765429"/>
            <a:ext cx="153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/>
              <a:t>Mapeamento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FC440F-E94D-1447-B9A2-3A620C81D5C0}"/>
              </a:ext>
            </a:extLst>
          </p:cNvPr>
          <p:cNvSpPr txBox="1"/>
          <p:nvPr/>
        </p:nvSpPr>
        <p:spPr>
          <a:xfrm>
            <a:off x="8737880" y="3431361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8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42A2-9310-B345-9721-C1489F88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5" y="127622"/>
            <a:ext cx="10983685" cy="736848"/>
          </a:xfrm>
        </p:spPr>
        <p:txBody>
          <a:bodyPr>
            <a:normAutofit fontScale="90000"/>
          </a:bodyPr>
          <a:lstStyle/>
          <a:p>
            <a:r>
              <a:rPr lang="en-BR" sz="3600" dirty="0"/>
              <a:t>Reamostragem por vizinho mais próximo: ideia geral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53FF-8F56-E444-BD78-EB91F8E5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5" y="903515"/>
            <a:ext cx="11473542" cy="1651542"/>
          </a:xfrm>
        </p:spPr>
        <p:txBody>
          <a:bodyPr>
            <a:normAutofit/>
          </a:bodyPr>
          <a:lstStyle/>
          <a:p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 posição (r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em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 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é obtida aplicando uma transformação de escala em (r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), tal como faríamos se quiséssemos transformar as dimensões de J para que ficassem iguais às dimensões da imagem de entrada I.</a:t>
            </a:r>
          </a:p>
          <a:p>
            <a:endParaRPr lang="en-BR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Matematicamente:</a:t>
            </a:r>
            <a:endParaRPr lang="en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DC121C-D722-A544-9F5D-BEA2D7C8F50B}"/>
              </a:ext>
            </a:extLst>
          </p:cNvPr>
          <p:cNvSpPr txBox="1"/>
          <p:nvPr/>
        </p:nvSpPr>
        <p:spPr>
          <a:xfrm>
            <a:off x="1556761" y="6317482"/>
            <a:ext cx="2513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Imagem original </a:t>
            </a:r>
            <a:r>
              <a:rPr lang="en-BR" b="1" dirty="0"/>
              <a:t>I</a:t>
            </a:r>
            <a:endParaRPr lang="en-BR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C79E59-C335-B340-A28C-B4320BDF2334}"/>
              </a:ext>
            </a:extLst>
          </p:cNvPr>
          <p:cNvSpPr/>
          <p:nvPr/>
        </p:nvSpPr>
        <p:spPr>
          <a:xfrm>
            <a:off x="7285363" y="4143538"/>
            <a:ext cx="3425780" cy="2099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707B3C6-54AF-674E-8518-87204A17F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64135" y="4709395"/>
            <a:ext cx="2305869" cy="15334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DEB3EFD-8BF6-124B-B748-FB413D0F1480}"/>
              </a:ext>
            </a:extLst>
          </p:cNvPr>
          <p:cNvSpPr txBox="1"/>
          <p:nvPr/>
        </p:nvSpPr>
        <p:spPr>
          <a:xfrm>
            <a:off x="7596914" y="6275162"/>
            <a:ext cx="284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Nova imagem </a:t>
            </a:r>
            <a:r>
              <a:rPr lang="en-BR" b="1" dirty="0"/>
              <a:t>J</a:t>
            </a:r>
            <a:endParaRPr lang="en-BR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8D53405-5EA6-8C45-A414-60C248B81AC4}"/>
              </a:ext>
            </a:extLst>
          </p:cNvPr>
          <p:cNvCxnSpPr>
            <a:cxnSpLocks/>
          </p:cNvCxnSpPr>
          <p:nvPr/>
        </p:nvCxnSpPr>
        <p:spPr>
          <a:xfrm flipH="1">
            <a:off x="1764135" y="5860326"/>
            <a:ext cx="3672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Left Brace 51">
            <a:extLst>
              <a:ext uri="{FF2B5EF4-FFF2-40B4-BE49-F238E27FC236}">
                <a16:creationId xmlns:a16="http://schemas.microsoft.com/office/drawing/2014/main" id="{8C8B0A0E-7B60-1749-9982-267ABCF33277}"/>
              </a:ext>
            </a:extLst>
          </p:cNvPr>
          <p:cNvSpPr/>
          <p:nvPr/>
        </p:nvSpPr>
        <p:spPr>
          <a:xfrm>
            <a:off x="1331088" y="4689435"/>
            <a:ext cx="318269" cy="153340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335CD78B-A1C4-AB4C-A14D-56943FBE5002}"/>
              </a:ext>
            </a:extLst>
          </p:cNvPr>
          <p:cNvSpPr/>
          <p:nvPr/>
        </p:nvSpPr>
        <p:spPr>
          <a:xfrm rot="5400000">
            <a:off x="2757933" y="3328257"/>
            <a:ext cx="318269" cy="230586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7CC811-31A7-054E-9608-C2FAC91C372E}"/>
              </a:ext>
            </a:extLst>
          </p:cNvPr>
          <p:cNvSpPr txBox="1"/>
          <p:nvPr/>
        </p:nvSpPr>
        <p:spPr>
          <a:xfrm>
            <a:off x="949128" y="5193166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A0D97C-59DE-714E-AE02-2D043273B0A1}"/>
              </a:ext>
            </a:extLst>
          </p:cNvPr>
          <p:cNvSpPr txBox="1"/>
          <p:nvPr/>
        </p:nvSpPr>
        <p:spPr>
          <a:xfrm>
            <a:off x="2697726" y="3958872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FF5BD8FE-BEA2-7B4C-A50A-B67EA95B94E1}"/>
              </a:ext>
            </a:extLst>
          </p:cNvPr>
          <p:cNvSpPr/>
          <p:nvPr/>
        </p:nvSpPr>
        <p:spPr>
          <a:xfrm>
            <a:off x="6935169" y="4137084"/>
            <a:ext cx="318269" cy="20992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0CC436-10EC-0248-B457-DC3513D73B42}"/>
              </a:ext>
            </a:extLst>
          </p:cNvPr>
          <p:cNvSpPr txBox="1"/>
          <p:nvPr/>
        </p:nvSpPr>
        <p:spPr>
          <a:xfrm>
            <a:off x="6564784" y="4998320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4C9CAB3F-BAED-5E4B-AF90-8173D242FC29}"/>
              </a:ext>
            </a:extLst>
          </p:cNvPr>
          <p:cNvSpPr/>
          <p:nvPr/>
        </p:nvSpPr>
        <p:spPr>
          <a:xfrm rot="5400000">
            <a:off x="8829372" y="2249367"/>
            <a:ext cx="318269" cy="3425779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736872-78ED-D647-AEDE-CC06F1C43159}"/>
              </a:ext>
            </a:extLst>
          </p:cNvPr>
          <p:cNvCxnSpPr>
            <a:cxnSpLocks/>
          </p:cNvCxnSpPr>
          <p:nvPr/>
        </p:nvCxnSpPr>
        <p:spPr>
          <a:xfrm flipV="1">
            <a:off x="8365888" y="4166681"/>
            <a:ext cx="0" cy="133916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9680D4-9B4F-0643-8391-7B1A7700083D}"/>
              </a:ext>
            </a:extLst>
          </p:cNvPr>
          <p:cNvCxnSpPr/>
          <p:nvPr/>
        </p:nvCxnSpPr>
        <p:spPr>
          <a:xfrm flipH="1">
            <a:off x="7296938" y="5540573"/>
            <a:ext cx="106894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76FA596-949C-F44A-9262-7B963A87932A}"/>
              </a:ext>
            </a:extLst>
          </p:cNvPr>
          <p:cNvSpPr txBox="1"/>
          <p:nvPr/>
        </p:nvSpPr>
        <p:spPr>
          <a:xfrm>
            <a:off x="7022578" y="5286156"/>
            <a:ext cx="412118" cy="38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4E2FFD-74A1-AC4C-B6EE-DF25477B68FD}"/>
              </a:ext>
            </a:extLst>
          </p:cNvPr>
          <p:cNvSpPr txBox="1"/>
          <p:nvPr/>
        </p:nvSpPr>
        <p:spPr>
          <a:xfrm>
            <a:off x="8199766" y="3835545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B63530C-8542-E545-9974-F5C0E0CC16F0}"/>
              </a:ext>
            </a:extLst>
          </p:cNvPr>
          <p:cNvSpPr/>
          <p:nvPr/>
        </p:nvSpPr>
        <p:spPr>
          <a:xfrm>
            <a:off x="8320809" y="5485365"/>
            <a:ext cx="90152" cy="1067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CFA7F7C-1287-914C-A0F8-456B6298A182}"/>
              </a:ext>
            </a:extLst>
          </p:cNvPr>
          <p:cNvSpPr/>
          <p:nvPr/>
        </p:nvSpPr>
        <p:spPr>
          <a:xfrm>
            <a:off x="2154570" y="5807805"/>
            <a:ext cx="90152" cy="1067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B6EA14D-D64C-C948-851F-7622A9F88BB6}"/>
              </a:ext>
            </a:extLst>
          </p:cNvPr>
          <p:cNvCxnSpPr>
            <a:cxnSpLocks/>
          </p:cNvCxnSpPr>
          <p:nvPr/>
        </p:nvCxnSpPr>
        <p:spPr>
          <a:xfrm flipV="1">
            <a:off x="2206086" y="4696512"/>
            <a:ext cx="0" cy="106368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014CCA1-624E-434D-B3BD-682727C4FE1C}"/>
              </a:ext>
            </a:extLst>
          </p:cNvPr>
          <p:cNvCxnSpPr>
            <a:cxnSpLocks/>
          </p:cNvCxnSpPr>
          <p:nvPr/>
        </p:nvCxnSpPr>
        <p:spPr>
          <a:xfrm flipH="1">
            <a:off x="1787285" y="5860326"/>
            <a:ext cx="3672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6704960-9F24-6049-9020-C64AA8E654A0}"/>
              </a:ext>
            </a:extLst>
          </p:cNvPr>
          <p:cNvSpPr txBox="1"/>
          <p:nvPr/>
        </p:nvSpPr>
        <p:spPr>
          <a:xfrm>
            <a:off x="1438734" y="5570266"/>
            <a:ext cx="412118" cy="38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1CC47B-8EA7-3C45-80AC-E1D5E0F2CEF8}"/>
              </a:ext>
            </a:extLst>
          </p:cNvPr>
          <p:cNvSpPr txBox="1"/>
          <p:nvPr/>
        </p:nvSpPr>
        <p:spPr>
          <a:xfrm>
            <a:off x="1980705" y="4368246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Left Arrow 68">
            <a:extLst>
              <a:ext uri="{FF2B5EF4-FFF2-40B4-BE49-F238E27FC236}">
                <a16:creationId xmlns:a16="http://schemas.microsoft.com/office/drawing/2014/main" id="{22C449C8-2FB8-DE4D-8DC8-689C557F3A4F}"/>
              </a:ext>
            </a:extLst>
          </p:cNvPr>
          <p:cNvSpPr/>
          <p:nvPr/>
        </p:nvSpPr>
        <p:spPr>
          <a:xfrm>
            <a:off x="4606432" y="5133416"/>
            <a:ext cx="1678329" cy="19920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77E01C-4C2C-214A-8776-B470FF441E02}"/>
              </a:ext>
            </a:extLst>
          </p:cNvPr>
          <p:cNvSpPr txBox="1"/>
          <p:nvPr/>
        </p:nvSpPr>
        <p:spPr>
          <a:xfrm>
            <a:off x="4740321" y="4765429"/>
            <a:ext cx="153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/>
              <a:t>Mapeamento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412D85-55DA-A245-AD5A-A63915AFE683}"/>
                  </a:ext>
                </a:extLst>
              </p:cNvPr>
              <p:cNvSpPr txBox="1"/>
              <p:nvPr/>
            </p:nvSpPr>
            <p:spPr>
              <a:xfrm>
                <a:off x="3390711" y="2267295"/>
                <a:ext cx="4238361" cy="1267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BR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BR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412D85-55DA-A245-AD5A-A63915AFE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711" y="2267295"/>
                <a:ext cx="4238361" cy="1267848"/>
              </a:xfrm>
              <a:prstGeom prst="rect">
                <a:avLst/>
              </a:prstGeom>
              <a:blipFill>
                <a:blip r:embed="rId5"/>
                <a:stretch>
                  <a:fillRect t="-55000" b="-8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068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087E-9995-E04F-9744-A2AF53FC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5" y="112881"/>
            <a:ext cx="11251575" cy="1031254"/>
          </a:xfrm>
        </p:spPr>
        <p:txBody>
          <a:bodyPr>
            <a:normAutofit/>
          </a:bodyPr>
          <a:lstStyle/>
          <a:p>
            <a:r>
              <a:rPr lang="en-BR" sz="3600" dirty="0"/>
              <a:t>Reamostragem por vizinho mais próximo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A4B0AF-0BF0-714A-A249-40E7F3854D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225" y="1292772"/>
                <a:ext cx="5294965" cy="5339256"/>
              </a:xfrm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BR" sz="2000" u="sng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Algoritmo</a:t>
                </a:r>
                <a:r>
                  <a:rPr lang="en-B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1. Dados: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Imagem original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B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</m:oMath>
                </a14:m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Imagem de saída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B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</m:oMath>
                </a14:m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2. Fator de escala: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Na linha 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 </a:t>
                </a:r>
                <a:endParaRPr lang="en-BR" sz="1800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r>
                  <a:rPr lang="en-BR" sz="1800" i="1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Na coluna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3. Mapeamento: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 [0 1 2 ...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-1]</a:t>
                </a:r>
                <a14:m>
                  <m:oMath xmlns:m="http://schemas.openxmlformats.org/officeDocument/2006/math">
                    <m:r>
                      <a:rPr lang="en-B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</m:oMath>
                </a14:m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 </a:t>
                </a:r>
                <a:endParaRPr lang="en-BR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C</a:t>
                </a:r>
                <a:r>
                  <a:rPr lang="en-BR" sz="1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 [0 1 2 ...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-1]</a:t>
                </a:r>
                <a14:m>
                  <m:oMath xmlns:m="http://schemas.openxmlformats.org/officeDocument/2006/math">
                    <m:r>
                      <a:rPr lang="en-B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</m:oMath>
                </a14:m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BR" sz="1800" b="1" baseline="-25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4. Coord. dos Viz. mais próximos:</a:t>
                </a:r>
              </a:p>
              <a:p>
                <a:pPr marL="457189" lvl="1" indent="0">
                  <a:buNone/>
                </a:pPr>
                <a:endParaRPr lang="en-BR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5. Para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l=0..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-1, m=0..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(l,m) = 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[l],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[m])</a:t>
                </a:r>
                <a:endParaRPr lang="en-BR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A4B0AF-0BF0-714A-A249-40E7F3854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225" y="1292772"/>
                <a:ext cx="5294965" cy="5339256"/>
              </a:xfrm>
              <a:blipFill>
                <a:blip r:embed="rId2"/>
                <a:stretch>
                  <a:fillRect l="-957" t="-11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8B602D-1AD9-354D-85A3-4525390A476C}"/>
                  </a:ext>
                </a:extLst>
              </p:cNvPr>
              <p:cNvSpPr txBox="1"/>
              <p:nvPr/>
            </p:nvSpPr>
            <p:spPr>
              <a:xfrm>
                <a:off x="1266715" y="4772213"/>
                <a:ext cx="31323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round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BR" b="1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BR" b="1" baseline="-250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m:t>m</m:t>
                          </m:r>
                        </m:e>
                      </m:d>
                      <m:r>
                        <a:rPr lang="en-US" b="0" i="0" baseline="-2500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𝐜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round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BR" b="1" baseline="-250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m:t>m</m:t>
                          </m:r>
                        </m:e>
                      </m:d>
                    </m:oMath>
                  </m:oMathPara>
                </a14:m>
                <a:endParaRPr lang="en-B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8B602D-1AD9-354D-85A3-4525390A4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715" y="4772213"/>
                <a:ext cx="3132332" cy="276999"/>
              </a:xfrm>
              <a:prstGeom prst="rect">
                <a:avLst/>
              </a:prstGeom>
              <a:blipFill>
                <a:blip r:embed="rId3"/>
                <a:stretch>
                  <a:fillRect l="-2429" t="-9091" b="-4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C1D54B-41C1-8E4E-9F4A-CF73F36FE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689313"/>
              </p:ext>
            </p:extLst>
          </p:nvPr>
        </p:nvGraphicFramePr>
        <p:xfrm>
          <a:off x="5612392" y="1648395"/>
          <a:ext cx="1620848" cy="116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212">
                  <a:extLst>
                    <a:ext uri="{9D8B030D-6E8A-4147-A177-3AD203B41FA5}">
                      <a16:colId xmlns:a16="http://schemas.microsoft.com/office/drawing/2014/main" val="3994970576"/>
                    </a:ext>
                  </a:extLst>
                </a:gridCol>
                <a:gridCol w="405212">
                  <a:extLst>
                    <a:ext uri="{9D8B030D-6E8A-4147-A177-3AD203B41FA5}">
                      <a16:colId xmlns:a16="http://schemas.microsoft.com/office/drawing/2014/main" val="2936489584"/>
                    </a:ext>
                  </a:extLst>
                </a:gridCol>
                <a:gridCol w="405212">
                  <a:extLst>
                    <a:ext uri="{9D8B030D-6E8A-4147-A177-3AD203B41FA5}">
                      <a16:colId xmlns:a16="http://schemas.microsoft.com/office/drawing/2014/main" val="3218410567"/>
                    </a:ext>
                  </a:extLst>
                </a:gridCol>
                <a:gridCol w="405212">
                  <a:extLst>
                    <a:ext uri="{9D8B030D-6E8A-4147-A177-3AD203B41FA5}">
                      <a16:colId xmlns:a16="http://schemas.microsoft.com/office/drawing/2014/main" val="3514532563"/>
                    </a:ext>
                  </a:extLst>
                </a:gridCol>
              </a:tblGrid>
              <a:tr h="291080">
                <a:tc>
                  <a:txBody>
                    <a:bodyPr/>
                    <a:lstStyle/>
                    <a:p>
                      <a:pPr algn="ctr"/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233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857313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215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460489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189847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100" b="1" dirty="0">
                          <a:solidFill>
                            <a:schemeClr val="tx1"/>
                          </a:solidFill>
                        </a:rPr>
                        <a:t>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1433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1DDA7A-DEA8-7342-AC37-1B9C999E4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821844"/>
              </p:ext>
            </p:extLst>
          </p:nvPr>
        </p:nvGraphicFramePr>
        <p:xfrm>
          <a:off x="5612392" y="3686308"/>
          <a:ext cx="237374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24">
                  <a:extLst>
                    <a:ext uri="{9D8B030D-6E8A-4147-A177-3AD203B41FA5}">
                      <a16:colId xmlns:a16="http://schemas.microsoft.com/office/drawing/2014/main" val="3994970576"/>
                    </a:ext>
                  </a:extLst>
                </a:gridCol>
                <a:gridCol w="395624">
                  <a:extLst>
                    <a:ext uri="{9D8B030D-6E8A-4147-A177-3AD203B41FA5}">
                      <a16:colId xmlns:a16="http://schemas.microsoft.com/office/drawing/2014/main" val="2936489584"/>
                    </a:ext>
                  </a:extLst>
                </a:gridCol>
                <a:gridCol w="395624">
                  <a:extLst>
                    <a:ext uri="{9D8B030D-6E8A-4147-A177-3AD203B41FA5}">
                      <a16:colId xmlns:a16="http://schemas.microsoft.com/office/drawing/2014/main" val="3218410567"/>
                    </a:ext>
                  </a:extLst>
                </a:gridCol>
                <a:gridCol w="395624">
                  <a:extLst>
                    <a:ext uri="{9D8B030D-6E8A-4147-A177-3AD203B41FA5}">
                      <a16:colId xmlns:a16="http://schemas.microsoft.com/office/drawing/2014/main" val="3514532563"/>
                    </a:ext>
                  </a:extLst>
                </a:gridCol>
                <a:gridCol w="395624">
                  <a:extLst>
                    <a:ext uri="{9D8B030D-6E8A-4147-A177-3AD203B41FA5}">
                      <a16:colId xmlns:a16="http://schemas.microsoft.com/office/drawing/2014/main" val="2526921232"/>
                    </a:ext>
                  </a:extLst>
                </a:gridCol>
                <a:gridCol w="395624">
                  <a:extLst>
                    <a:ext uri="{9D8B030D-6E8A-4147-A177-3AD203B41FA5}">
                      <a16:colId xmlns:a16="http://schemas.microsoft.com/office/drawing/2014/main" val="3838971569"/>
                    </a:ext>
                  </a:extLst>
                </a:gridCol>
              </a:tblGrid>
              <a:tr h="291080"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857313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460489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189847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143311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161052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143789"/>
                  </a:ext>
                </a:extLst>
              </a:tr>
              <a:tr h="291080"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2609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7BBC09-177F-4246-AD20-7DD1AD737685}"/>
              </a:ext>
            </a:extLst>
          </p:cNvPr>
          <p:cNvSpPr txBox="1"/>
          <p:nvPr/>
        </p:nvSpPr>
        <p:spPr>
          <a:xfrm>
            <a:off x="6280926" y="1264928"/>
            <a:ext cx="28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b="1" dirty="0"/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F499A-7F58-B14F-A5BE-ECC8B1EB4A6A}"/>
              </a:ext>
            </a:extLst>
          </p:cNvPr>
          <p:cNvSpPr txBox="1"/>
          <p:nvPr/>
        </p:nvSpPr>
        <p:spPr>
          <a:xfrm>
            <a:off x="6606324" y="3316976"/>
            <a:ext cx="28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37418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CB6B5A-86ED-6B48-997C-9262BCE6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120427"/>
            <a:ext cx="10918371" cy="904138"/>
          </a:xfrm>
        </p:spPr>
        <p:txBody>
          <a:bodyPr>
            <a:normAutofit/>
          </a:bodyPr>
          <a:lstStyle/>
          <a:p>
            <a:r>
              <a:rPr lang="en-BR" sz="3600" dirty="0"/>
              <a:t>Efeitos da reamostragem por vizinho mais próximo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B475A-8BBB-5847-9B84-21BF2D4E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9</a:t>
            </a:fld>
            <a:endParaRPr lang="en-BR"/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18F58E09-8FF4-AD46-A947-577159133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048" y="5773702"/>
            <a:ext cx="1316037" cy="43087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pt-BR" altLang="en-US" sz="1100" dirty="0">
                <a:latin typeface="Comic Sans MS" pitchFamily="66" charset="0"/>
              </a:rPr>
              <a:t>3/7 da dimensão original.</a:t>
            </a:r>
          </a:p>
        </p:txBody>
      </p:sp>
      <p:pic>
        <p:nvPicPr>
          <p:cNvPr id="21" name="Picture 5" descr="saguaros_ds3_7">
            <a:extLst>
              <a:ext uri="{FF2B5EF4-FFF2-40B4-BE49-F238E27FC236}">
                <a16:creationId xmlns:a16="http://schemas.microsoft.com/office/drawing/2014/main" id="{BBAD992C-9B94-1442-B9B6-B582CE271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898" y="3286089"/>
            <a:ext cx="1187450" cy="1735138"/>
          </a:xfrm>
          <a:prstGeom prst="rect">
            <a:avLst/>
          </a:prstGeom>
          <a:noFill/>
          <a:ln>
            <a:noFill/>
          </a:ln>
          <a:effectLst>
            <a:outerShdw blurRad="63500" dist="76200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8">
            <a:extLst>
              <a:ext uri="{FF2B5EF4-FFF2-40B4-BE49-F238E27FC236}">
                <a16:creationId xmlns:a16="http://schemas.microsoft.com/office/drawing/2014/main" id="{51FCAB55-C0E1-9C46-9E7E-2D8C7517A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298" y="3508339"/>
            <a:ext cx="415925" cy="403225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AEB0A5C5-C534-D74E-96B7-2FFB8169687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44273" y="3151152"/>
            <a:ext cx="3759200" cy="35242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4" name="Line 10">
            <a:extLst>
              <a:ext uri="{FF2B5EF4-FFF2-40B4-BE49-F238E27FC236}">
                <a16:creationId xmlns:a16="http://schemas.microsoft.com/office/drawing/2014/main" id="{49447B82-53FF-9944-ACE6-8DDCC0EA10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4273" y="3908389"/>
            <a:ext cx="3759200" cy="22002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11A1E1F1-2859-1E43-8B48-34550C8C98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6885" y="3903627"/>
            <a:ext cx="1050925" cy="227488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39A2C2BB-6FC0-CB4A-A388-05F4E6D46D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1009" y="3146388"/>
            <a:ext cx="1063625" cy="3619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27" name="Picture 6" descr="saguaros_ds3_7_detail_2_b">
            <a:extLst>
              <a:ext uri="{FF2B5EF4-FFF2-40B4-BE49-F238E27FC236}">
                <a16:creationId xmlns:a16="http://schemas.microsoft.com/office/drawing/2014/main" id="{883EA612-FFBA-C042-81C2-48F7A3FBF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273" y="3151152"/>
            <a:ext cx="3105150" cy="3013075"/>
          </a:xfrm>
          <a:prstGeom prst="rect">
            <a:avLst/>
          </a:prstGeom>
          <a:noFill/>
          <a:ln>
            <a:noFill/>
          </a:ln>
          <a:effectLst>
            <a:outerShdw blurRad="63500" dist="76200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6" descr="saguaros">
            <a:extLst>
              <a:ext uri="{FF2B5EF4-FFF2-40B4-BE49-F238E27FC236}">
                <a16:creationId xmlns:a16="http://schemas.microsoft.com/office/drawing/2014/main" id="{C52D30DE-D31A-F947-A405-9A00C171B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273" y="1873214"/>
            <a:ext cx="2771775" cy="4052888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</p:pic>
      <p:sp>
        <p:nvSpPr>
          <p:cNvPr id="29" name="Line 17">
            <a:extLst>
              <a:ext uri="{FF2B5EF4-FFF2-40B4-BE49-F238E27FC236}">
                <a16:creationId xmlns:a16="http://schemas.microsoft.com/office/drawing/2014/main" id="{6B246CFB-5333-D940-B17F-2D31683457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835" y="1873214"/>
            <a:ext cx="1722438" cy="14128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0" name="Line 18">
            <a:extLst>
              <a:ext uri="{FF2B5EF4-FFF2-40B4-BE49-F238E27FC236}">
                <a16:creationId xmlns:a16="http://schemas.microsoft.com/office/drawing/2014/main" id="{3AE69CD6-B7B6-9C4A-9D58-7A6F6A7DA1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44723" y="5013289"/>
            <a:ext cx="1733550" cy="8937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1" name="Line 19">
            <a:extLst>
              <a:ext uri="{FF2B5EF4-FFF2-40B4-BE49-F238E27FC236}">
                <a16:creationId xmlns:a16="http://schemas.microsoft.com/office/drawing/2014/main" id="{2F72687E-F76D-9D4C-907A-C65B2E32C7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30585" y="5016464"/>
            <a:ext cx="3319463" cy="89058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2" name="Line 20">
            <a:extLst>
              <a:ext uri="{FF2B5EF4-FFF2-40B4-BE49-F238E27FC236}">
                <a16:creationId xmlns:a16="http://schemas.microsoft.com/office/drawing/2014/main" id="{8BC6B7C0-364D-EC41-9D8B-50927DA826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30585" y="1873214"/>
            <a:ext cx="3319463" cy="14128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3" name="Text Box 21">
            <a:extLst>
              <a:ext uri="{FF2B5EF4-FFF2-40B4-BE49-F238E27FC236}">
                <a16:creationId xmlns:a16="http://schemas.microsoft.com/office/drawing/2014/main" id="{1F5EF45D-54A2-1E45-A92C-951B83089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123" y="1939889"/>
            <a:ext cx="762000" cy="43087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pt-BR" altLang="en-US" sz="1100" dirty="0">
                <a:latin typeface="Comic Sans MS" pitchFamily="66" charset="0"/>
              </a:rPr>
              <a:t>Imagem original</a:t>
            </a:r>
          </a:p>
        </p:txBody>
      </p:sp>
      <p:sp>
        <p:nvSpPr>
          <p:cNvPr id="34" name="Text Box 22">
            <a:extLst>
              <a:ext uri="{FF2B5EF4-FFF2-40B4-BE49-F238E27FC236}">
                <a16:creationId xmlns:a16="http://schemas.microsoft.com/office/drawing/2014/main" id="{E754414A-0E16-064B-9789-497AB4949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879" y="3286089"/>
            <a:ext cx="1244349" cy="600152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wrap="square" lIns="91429" tIns="45714" rIns="91429" bIns="45714">
            <a:spAutoFit/>
          </a:bodyPr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pt-BR" altLang="en-US" sz="1100" dirty="0">
                <a:latin typeface="Comic Sans MS" pitchFamily="66" charset="0"/>
              </a:rPr>
              <a:t>Detalhes da imagem redimensionada</a:t>
            </a:r>
          </a:p>
        </p:txBody>
      </p:sp>
    </p:spTree>
    <p:extLst>
      <p:ext uri="{BB962C8B-B14F-4D97-AF65-F5344CB8AC3E}">
        <p14:creationId xmlns:p14="http://schemas.microsoft.com/office/powerpoint/2010/main" val="415132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03FE-8F23-2C41-938E-3CD158A2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3" y="75757"/>
            <a:ext cx="10515600" cy="699744"/>
          </a:xfrm>
        </p:spPr>
        <p:txBody>
          <a:bodyPr/>
          <a:lstStyle/>
          <a:p>
            <a:r>
              <a:rPr lang="en-BR" dirty="0"/>
              <a:t>Sumário: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3D2D-DB21-0146-8B8C-BAD65917D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38" y="934374"/>
            <a:ext cx="8638848" cy="555849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R" sz="2000" dirty="0"/>
              <a:t>Interpolação de imagens.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/>
          </a:p>
          <a:p>
            <a:pPr marL="514350" indent="-514350">
              <a:buFont typeface="+mj-lt"/>
              <a:buAutoNum type="arabicPeriod"/>
            </a:pPr>
            <a:r>
              <a:rPr lang="en-BR" sz="2000" dirty="0"/>
              <a:t>Reamostragem por interpolação baseada no vizinho mais próximo.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>
              <a:solidFill>
                <a:srgbClr val="891619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BR" sz="2000" dirty="0">
                <a:solidFill>
                  <a:srgbClr val="891619"/>
                </a:solidFill>
              </a:rPr>
              <a:t>Reamostragem por interpolação bilinear.</a:t>
            </a:r>
          </a:p>
          <a:p>
            <a:pPr marL="0" indent="0">
              <a:buNone/>
            </a:pPr>
            <a:r>
              <a:rPr lang="en-BR" sz="2000" dirty="0">
                <a:solidFill>
                  <a:srgbClr val="89161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BR" sz="2000" dirty="0"/>
          </a:p>
          <a:p>
            <a:pPr marL="0" indent="0">
              <a:buNone/>
            </a:pPr>
            <a:endParaRPr lang="en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CB07-7E99-AE40-A8EA-8000F8B5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8240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54FE-CCFF-4E4B-92C9-4A26C118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621"/>
            <a:ext cx="10515600" cy="1325563"/>
          </a:xfrm>
        </p:spPr>
        <p:txBody>
          <a:bodyPr>
            <a:normAutofit/>
          </a:bodyPr>
          <a:lstStyle/>
          <a:p>
            <a:r>
              <a:rPr lang="en-BR" sz="3600" dirty="0"/>
              <a:t>Interpolação linear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BC01-A402-714D-ADD7-9028DEFE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11</a:t>
            </a:fld>
            <a:endParaRPr lang="en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4">
                <a:extLst>
                  <a:ext uri="{FF2B5EF4-FFF2-40B4-BE49-F238E27FC236}">
                    <a16:creationId xmlns:a16="http://schemas.microsoft.com/office/drawing/2014/main" id="{FF9A7465-A191-E744-B428-351724344E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3185"/>
                <a:ext cx="9155806" cy="736224"/>
              </a:xfrm>
            </p:spPr>
            <p:txBody>
              <a:bodyPr>
                <a:normAutofit/>
              </a:bodyPr>
              <a:lstStyle/>
              <a:p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Se os dois pontos conhecidos forem dados pelas coordenadas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, o </a:t>
                </a:r>
                <a:r>
                  <a:rPr lang="pt-PT" sz="2000" dirty="0" err="1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interpolante</a:t>
                </a:r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linear é a linha reta entre esses pontos.</a:t>
                </a:r>
                <a:endParaRPr lang="en-BR" sz="2000" dirty="0">
                  <a:latin typeface="Calibri Light" panose="020F0502020204030204" pitchFamily="34" charset="0"/>
                  <a:cs typeface="Calibri Light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Content Placeholder 24">
                <a:extLst>
                  <a:ext uri="{FF2B5EF4-FFF2-40B4-BE49-F238E27FC236}">
                    <a16:creationId xmlns:a16="http://schemas.microsoft.com/office/drawing/2014/main" id="{FF9A7465-A191-E744-B428-351724344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3185"/>
                <a:ext cx="9155806" cy="736224"/>
              </a:xfrm>
              <a:blipFill>
                <a:blip r:embed="rId2"/>
                <a:stretch>
                  <a:fillRect l="-694" t="-10345" b="-17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C74A23-5BEA-7747-99C8-8D5E623F1A43}"/>
              </a:ext>
            </a:extLst>
          </p:cNvPr>
          <p:cNvCxnSpPr>
            <a:cxnSpLocks/>
          </p:cNvCxnSpPr>
          <p:nvPr/>
        </p:nvCxnSpPr>
        <p:spPr>
          <a:xfrm flipV="1">
            <a:off x="1815921" y="2292441"/>
            <a:ext cx="0" cy="38121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F8B796-D7E1-444F-AAD2-4698B63FB8DC}"/>
              </a:ext>
            </a:extLst>
          </p:cNvPr>
          <p:cNvCxnSpPr>
            <a:cxnSpLocks/>
          </p:cNvCxnSpPr>
          <p:nvPr/>
        </p:nvCxnSpPr>
        <p:spPr>
          <a:xfrm>
            <a:off x="1105437" y="5625922"/>
            <a:ext cx="44968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86F772A-86AB-4F4E-88C8-4802AAE5DDE1}"/>
              </a:ext>
            </a:extLst>
          </p:cNvPr>
          <p:cNvSpPr/>
          <p:nvPr/>
        </p:nvSpPr>
        <p:spPr>
          <a:xfrm>
            <a:off x="2910626" y="4842456"/>
            <a:ext cx="103031" cy="1030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2D41D47-1129-4842-8048-44BFEC3381BB}"/>
              </a:ext>
            </a:extLst>
          </p:cNvPr>
          <p:cNvCxnSpPr>
            <a:cxnSpLocks/>
          </p:cNvCxnSpPr>
          <p:nvPr/>
        </p:nvCxnSpPr>
        <p:spPr>
          <a:xfrm flipH="1">
            <a:off x="2949262" y="4945487"/>
            <a:ext cx="1" cy="68043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376058-E3CE-174C-BCAF-E9DF0C67AAC1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1825581" y="4893972"/>
            <a:ext cx="108504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DA5656A-4BA4-4240-9AAD-DFE102241B5C}"/>
              </a:ext>
            </a:extLst>
          </p:cNvPr>
          <p:cNvSpPr txBox="1"/>
          <p:nvPr/>
        </p:nvSpPr>
        <p:spPr>
          <a:xfrm>
            <a:off x="2788276" y="5585140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BB750C-AEC6-B340-92BA-C320E439966D}"/>
              </a:ext>
            </a:extLst>
          </p:cNvPr>
          <p:cNvSpPr txBox="1"/>
          <p:nvPr/>
        </p:nvSpPr>
        <p:spPr>
          <a:xfrm>
            <a:off x="1431702" y="4657790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20CB064-14D7-D047-938B-9A5BB5AECBC9}"/>
              </a:ext>
            </a:extLst>
          </p:cNvPr>
          <p:cNvSpPr/>
          <p:nvPr/>
        </p:nvSpPr>
        <p:spPr>
          <a:xfrm>
            <a:off x="3810002" y="3114540"/>
            <a:ext cx="103031" cy="1030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F7AFA9F-EF20-E04D-9975-81DCF7CE7CCC}"/>
              </a:ext>
            </a:extLst>
          </p:cNvPr>
          <p:cNvCxnSpPr>
            <a:cxnSpLocks/>
          </p:cNvCxnSpPr>
          <p:nvPr/>
        </p:nvCxnSpPr>
        <p:spPr>
          <a:xfrm flipH="1">
            <a:off x="3848639" y="3217571"/>
            <a:ext cx="1" cy="240835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E95EDB4-A65C-CA4C-BC6C-13D98DB42E8F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825581" y="3166055"/>
            <a:ext cx="1984421" cy="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3749A15-E265-1243-BAE2-A8A0601E5649}"/>
              </a:ext>
            </a:extLst>
          </p:cNvPr>
          <p:cNvSpPr txBox="1"/>
          <p:nvPr/>
        </p:nvSpPr>
        <p:spPr>
          <a:xfrm>
            <a:off x="3713408" y="5570113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CE6A74-C2F4-D641-A87B-25D205C181DF}"/>
              </a:ext>
            </a:extLst>
          </p:cNvPr>
          <p:cNvSpPr txBox="1"/>
          <p:nvPr/>
        </p:nvSpPr>
        <p:spPr>
          <a:xfrm>
            <a:off x="1416676" y="2942753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12C4CC-92BE-B54D-954C-A7F8C26C78B9}"/>
              </a:ext>
            </a:extLst>
          </p:cNvPr>
          <p:cNvCxnSpPr>
            <a:cxnSpLocks/>
          </p:cNvCxnSpPr>
          <p:nvPr/>
        </p:nvCxnSpPr>
        <p:spPr>
          <a:xfrm flipV="1">
            <a:off x="2788276" y="2794717"/>
            <a:ext cx="1255691" cy="238259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17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54FE-CCFF-4E4B-92C9-4A26C118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621"/>
            <a:ext cx="10515600" cy="1325563"/>
          </a:xfrm>
        </p:spPr>
        <p:txBody>
          <a:bodyPr>
            <a:normAutofit/>
          </a:bodyPr>
          <a:lstStyle/>
          <a:p>
            <a:r>
              <a:rPr lang="en-BR" sz="3600" dirty="0"/>
              <a:t>Interpolação linear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BC01-A402-714D-ADD7-9028DEFE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12</a:t>
            </a:fld>
            <a:endParaRPr lang="en-BR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C74A23-5BEA-7747-99C8-8D5E623F1A43}"/>
              </a:ext>
            </a:extLst>
          </p:cNvPr>
          <p:cNvCxnSpPr>
            <a:cxnSpLocks/>
          </p:cNvCxnSpPr>
          <p:nvPr/>
        </p:nvCxnSpPr>
        <p:spPr>
          <a:xfrm flipV="1">
            <a:off x="1815921" y="2292441"/>
            <a:ext cx="0" cy="38121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F8B796-D7E1-444F-AAD2-4698B63FB8DC}"/>
              </a:ext>
            </a:extLst>
          </p:cNvPr>
          <p:cNvCxnSpPr>
            <a:cxnSpLocks/>
          </p:cNvCxnSpPr>
          <p:nvPr/>
        </p:nvCxnSpPr>
        <p:spPr>
          <a:xfrm>
            <a:off x="1105437" y="5625922"/>
            <a:ext cx="44968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86F772A-86AB-4F4E-88C8-4802AAE5DDE1}"/>
              </a:ext>
            </a:extLst>
          </p:cNvPr>
          <p:cNvSpPr/>
          <p:nvPr/>
        </p:nvSpPr>
        <p:spPr>
          <a:xfrm>
            <a:off x="2910626" y="4842456"/>
            <a:ext cx="103031" cy="1030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2D41D47-1129-4842-8048-44BFEC3381BB}"/>
              </a:ext>
            </a:extLst>
          </p:cNvPr>
          <p:cNvCxnSpPr>
            <a:cxnSpLocks/>
          </p:cNvCxnSpPr>
          <p:nvPr/>
        </p:nvCxnSpPr>
        <p:spPr>
          <a:xfrm flipH="1">
            <a:off x="2949262" y="4945487"/>
            <a:ext cx="1" cy="68043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376058-E3CE-174C-BCAF-E9DF0C67AAC1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1825581" y="4893972"/>
            <a:ext cx="108504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DA5656A-4BA4-4240-9AAD-DFE102241B5C}"/>
              </a:ext>
            </a:extLst>
          </p:cNvPr>
          <p:cNvSpPr txBox="1"/>
          <p:nvPr/>
        </p:nvSpPr>
        <p:spPr>
          <a:xfrm>
            <a:off x="2788276" y="5585140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BB750C-AEC6-B340-92BA-C320E439966D}"/>
              </a:ext>
            </a:extLst>
          </p:cNvPr>
          <p:cNvSpPr txBox="1"/>
          <p:nvPr/>
        </p:nvSpPr>
        <p:spPr>
          <a:xfrm>
            <a:off x="1431702" y="4657790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20CB064-14D7-D047-938B-9A5BB5AECBC9}"/>
              </a:ext>
            </a:extLst>
          </p:cNvPr>
          <p:cNvSpPr/>
          <p:nvPr/>
        </p:nvSpPr>
        <p:spPr>
          <a:xfrm>
            <a:off x="3810002" y="3114540"/>
            <a:ext cx="103031" cy="1030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F7AFA9F-EF20-E04D-9975-81DCF7CE7CCC}"/>
              </a:ext>
            </a:extLst>
          </p:cNvPr>
          <p:cNvCxnSpPr>
            <a:cxnSpLocks/>
          </p:cNvCxnSpPr>
          <p:nvPr/>
        </p:nvCxnSpPr>
        <p:spPr>
          <a:xfrm flipH="1">
            <a:off x="3848639" y="3217571"/>
            <a:ext cx="1" cy="240835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E95EDB4-A65C-CA4C-BC6C-13D98DB42E8F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825581" y="3166055"/>
            <a:ext cx="1984421" cy="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3749A15-E265-1243-BAE2-A8A0601E5649}"/>
              </a:ext>
            </a:extLst>
          </p:cNvPr>
          <p:cNvSpPr txBox="1"/>
          <p:nvPr/>
        </p:nvSpPr>
        <p:spPr>
          <a:xfrm>
            <a:off x="3713408" y="5570113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CE6A74-C2F4-D641-A87B-25D205C181DF}"/>
              </a:ext>
            </a:extLst>
          </p:cNvPr>
          <p:cNvSpPr txBox="1"/>
          <p:nvPr/>
        </p:nvSpPr>
        <p:spPr>
          <a:xfrm>
            <a:off x="1416676" y="2942753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793DC1-5BBE-1840-9333-070C5BDD5576}"/>
              </a:ext>
            </a:extLst>
          </p:cNvPr>
          <p:cNvCxnSpPr>
            <a:cxnSpLocks/>
          </p:cNvCxnSpPr>
          <p:nvPr/>
        </p:nvCxnSpPr>
        <p:spPr>
          <a:xfrm flipV="1">
            <a:off x="2788276" y="2794717"/>
            <a:ext cx="1255691" cy="238259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0F48AD-FA90-B34D-8A40-29720A36F2F9}"/>
              </a:ext>
            </a:extLst>
          </p:cNvPr>
          <p:cNvSpPr txBox="1"/>
          <p:nvPr/>
        </p:nvSpPr>
        <p:spPr>
          <a:xfrm>
            <a:off x="3299134" y="5567965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B0AEF-19BF-274A-B664-696D3007C3C6}"/>
              </a:ext>
            </a:extLst>
          </p:cNvPr>
          <p:cNvCxnSpPr>
            <a:cxnSpLocks/>
          </p:cNvCxnSpPr>
          <p:nvPr/>
        </p:nvCxnSpPr>
        <p:spPr>
          <a:xfrm>
            <a:off x="3460121" y="3889420"/>
            <a:ext cx="1" cy="173435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7E0282-9578-4441-AC19-8F329CDB6447}"/>
              </a:ext>
            </a:extLst>
          </p:cNvPr>
          <p:cNvCxnSpPr>
            <a:cxnSpLocks/>
          </p:cNvCxnSpPr>
          <p:nvPr/>
        </p:nvCxnSpPr>
        <p:spPr>
          <a:xfrm flipV="1">
            <a:off x="1815921" y="3885132"/>
            <a:ext cx="1631321" cy="428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131EB4A-D7B7-164F-BC76-F7125F5FE768}"/>
              </a:ext>
            </a:extLst>
          </p:cNvPr>
          <p:cNvSpPr txBox="1"/>
          <p:nvPr/>
        </p:nvSpPr>
        <p:spPr>
          <a:xfrm>
            <a:off x="1431702" y="3631703"/>
            <a:ext cx="3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550FD-D850-5F44-A0E7-DA9A0EAB13DC}"/>
                  </a:ext>
                </a:extLst>
              </p:cNvPr>
              <p:cNvSpPr txBox="1"/>
              <p:nvPr/>
            </p:nvSpPr>
            <p:spPr>
              <a:xfrm>
                <a:off x="5769733" y="3145073"/>
                <a:ext cx="5094668" cy="1738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BR" sz="2400" dirty="0"/>
                  <a:t>=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BR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550FD-D850-5F44-A0E7-DA9A0EAB1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733" y="3145073"/>
                <a:ext cx="5094668" cy="1738233"/>
              </a:xfrm>
              <a:prstGeom prst="rect">
                <a:avLst/>
              </a:prstGeom>
              <a:blipFill>
                <a:blip r:embed="rId2"/>
                <a:stretch>
                  <a:fillRect b="-29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24">
                <a:extLst>
                  <a:ext uri="{FF2B5EF4-FFF2-40B4-BE49-F238E27FC236}">
                    <a16:creationId xmlns:a16="http://schemas.microsoft.com/office/drawing/2014/main" id="{4D2039E8-D84F-B143-B66D-E782B57B57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53185"/>
                <a:ext cx="9155806" cy="7362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0000"/>
                  </a:buClr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>
                      <a:lumMod val="75000"/>
                    </a:schemeClr>
                  </a:buClr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B050"/>
                  </a:buClr>
                  <a:buFont typeface="Wingdings" pitchFamily="2" charset="2"/>
                  <a:buChar char="ü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Se os dois pontos conhecidos forem dados pelas coordenadas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, o </a:t>
                </a:r>
                <a:r>
                  <a:rPr lang="pt-PT" sz="2000" dirty="0" err="1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interpolante</a:t>
                </a:r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linear é a linha reta entre esses pontos.</a:t>
                </a:r>
                <a:endParaRPr lang="en-BR" sz="2000" dirty="0">
                  <a:latin typeface="Calibri Light" panose="020F0502020204030204" pitchFamily="34" charset="0"/>
                  <a:cs typeface="Calibri Light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Content Placeholder 24">
                <a:extLst>
                  <a:ext uri="{FF2B5EF4-FFF2-40B4-BE49-F238E27FC236}">
                    <a16:creationId xmlns:a16="http://schemas.microsoft.com/office/drawing/2014/main" id="{4D2039E8-D84F-B143-B66D-E782B57B5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53185"/>
                <a:ext cx="9155806" cy="736224"/>
              </a:xfrm>
              <a:prstGeom prst="rect">
                <a:avLst/>
              </a:prstGeom>
              <a:blipFill>
                <a:blip r:embed="rId3"/>
                <a:stretch>
                  <a:fillRect l="-694" t="-10345" b="-17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37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8DFA-D7DB-FA40-8C32-BF8BBF1D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76" y="136524"/>
            <a:ext cx="10847024" cy="656690"/>
          </a:xfrm>
        </p:spPr>
        <p:txBody>
          <a:bodyPr>
            <a:normAutofit/>
          </a:bodyPr>
          <a:lstStyle/>
          <a:p>
            <a:r>
              <a:rPr lang="pt-BR" sz="3600" dirty="0"/>
              <a:t>Interpolação </a:t>
            </a:r>
            <a:r>
              <a:rPr lang="pt-BR" sz="3600" dirty="0" err="1"/>
              <a:t>bilinear</a:t>
            </a:r>
            <a:endParaRPr lang="pt-BR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CDE31-B8E9-0746-99AA-072FB58F1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776" y="903383"/>
                <a:ext cx="11071952" cy="5273580"/>
              </a:xfrm>
            </p:spPr>
            <p:txBody>
              <a:bodyPr>
                <a:normAutofit/>
              </a:bodyPr>
              <a:lstStyle/>
              <a:p>
                <a:r>
                  <a:rPr lang="pt-PT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A interpolação bilinear é uma extensão da interpolação linear para funções de interpolação de duas variáveis em um reticulado 2D. </a:t>
                </a:r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É realizada usando a interpolação linear primeiro em uma direção e depois novamente na outra direção.</a:t>
                </a:r>
              </a:p>
              <a:p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Suponha que queremos encontrar o valor da função desconhecida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𝑓</m:t>
                    </m:r>
                  </m:oMath>
                </a14:m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no ponto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=(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. Para realizar a interpolação </a:t>
                </a:r>
                <a:r>
                  <a:rPr lang="pt-BR" sz="2000" dirty="0" err="1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bilinear</a:t>
                </a:r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precisamos saber o valor 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𝑓</m:t>
                    </m:r>
                  </m:oMath>
                </a14:m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nos quatro pontos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=(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=(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22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=(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 Light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 Light" panose="020F0502020204030204" pitchFamily="34" charset="0"/>
                      </a:rPr>
                      <m:t>)</m:t>
                    </m:r>
                  </m:oMath>
                </a14:m>
                <a:r>
                  <a:rPr lang="pt-BR" sz="2000" dirty="0">
                    <a:latin typeface="Calibri Light" panose="020F0502020204030204" pitchFamily="34" charset="0"/>
                    <a:cs typeface="Calibri Light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CDE31-B8E9-0746-99AA-072FB58F1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776" y="903383"/>
                <a:ext cx="11071952" cy="5273580"/>
              </a:xfrm>
              <a:blipFill>
                <a:blip r:embed="rId2"/>
                <a:stretch>
                  <a:fillRect l="-344" t="-1446" r="-5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0649C-8D8D-A24F-A3D5-A7CC156F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13</a:t>
            </a:fld>
            <a:endParaRPr lang="en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7EF7EC-78F3-364B-ACAB-91389552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11087"/>
            <a:ext cx="3529071" cy="3345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006403-4EE1-9D4B-89E2-215AE3CB8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616" y="3564645"/>
            <a:ext cx="4368800" cy="1028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767950-6254-5942-AB05-496E4192D596}"/>
              </a:ext>
            </a:extLst>
          </p:cNvPr>
          <p:cNvSpPr txBox="1"/>
          <p:nvPr/>
        </p:nvSpPr>
        <p:spPr>
          <a:xfrm>
            <a:off x="5736192" y="2912212"/>
            <a:ext cx="436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Primeiro a interpolação linear na direção </a:t>
            </a:r>
            <a:r>
              <a:rPr lang="pt-BR" dirty="0" err="1"/>
              <a:t>x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D421B0-2C57-C14A-82C6-8E45C9E25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418" y="5567363"/>
            <a:ext cx="4356100" cy="609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C3F5B6-35D1-9541-BC26-F60997185628}"/>
              </a:ext>
            </a:extLst>
          </p:cNvPr>
          <p:cNvSpPr txBox="1"/>
          <p:nvPr/>
        </p:nvSpPr>
        <p:spPr>
          <a:xfrm>
            <a:off x="5781102" y="5105707"/>
            <a:ext cx="436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Depois a interpolação linear na direção y</a:t>
            </a:r>
          </a:p>
        </p:txBody>
      </p:sp>
    </p:spTree>
    <p:extLst>
      <p:ext uri="{BB962C8B-B14F-4D97-AF65-F5344CB8AC3E}">
        <p14:creationId xmlns:p14="http://schemas.microsoft.com/office/powerpoint/2010/main" val="3481078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829607" y="502059"/>
            <a:ext cx="9718183" cy="590931"/>
          </a:xfrm>
        </p:spPr>
        <p:txBody>
          <a:bodyPr wrap="square">
            <a:spAutoFit/>
          </a:bodyPr>
          <a:lstStyle/>
          <a:p>
            <a:r>
              <a:rPr lang="en-BR" sz="3600" dirty="0"/>
              <a:t>Interpolação bilinear em imagens</a:t>
            </a:r>
            <a:endParaRPr lang="en-US" altLang="en-US" sz="3600" dirty="0"/>
          </a:p>
        </p:txBody>
      </p:sp>
      <p:graphicFrame>
        <p:nvGraphicFramePr>
          <p:cNvPr id="58373" name="Object 3"/>
          <p:cNvGraphicFramePr>
            <a:graphicFrameLocks noChangeAspect="1"/>
          </p:cNvGraphicFramePr>
          <p:nvPr/>
        </p:nvGraphicFramePr>
        <p:xfrm>
          <a:off x="1903414" y="3270251"/>
          <a:ext cx="1555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" name="Equation" r:id="rId3" imgW="152268" imgH="317225" progId="Equation.3">
                  <p:embed/>
                </p:oleObj>
              </mc:Choice>
              <mc:Fallback>
                <p:oleObj name="Equation" r:id="rId3" imgW="152268" imgH="317225" progId="Equation.3">
                  <p:embed/>
                  <p:pic>
                    <p:nvPicPr>
                      <p:cNvPr id="5837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3270251"/>
                        <a:ext cx="1555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8374" name="Picture 4" descr="bilinear-0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493" y="1092990"/>
            <a:ext cx="5081587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5" name="Text Box 5"/>
          <p:cNvSpPr txBox="1">
            <a:spLocks noChangeArrowheads="1"/>
          </p:cNvSpPr>
          <p:nvPr/>
        </p:nvSpPr>
        <p:spPr bwMode="auto">
          <a:xfrm>
            <a:off x="304920" y="2129735"/>
            <a:ext cx="5710289" cy="2677644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wrap="square" lIns="91429" tIns="45714" rIns="91429" bIns="45714">
            <a:spAutoFit/>
          </a:bodyPr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pt-BR" altLang="en-US" sz="2400" dirty="0">
                <a:latin typeface="Comic Sans MS" pitchFamily="66" charset="0"/>
              </a:rPr>
              <a:t>Seguindo a ideia que apresentamos nos slides anteriores. Queremos aproximar um ponto entre os quatro pixels destacados. Os tons de cinza ilustram o valor da função e devem ser imaginados como alturas acima do plano da imagem.</a:t>
            </a:r>
          </a:p>
        </p:txBody>
      </p:sp>
    </p:spTree>
    <p:extLst>
      <p:ext uri="{BB962C8B-B14F-4D97-AF65-F5344CB8AC3E}">
        <p14:creationId xmlns:p14="http://schemas.microsoft.com/office/powerpoint/2010/main" val="1718869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20" name="Object 3"/>
          <p:cNvGraphicFramePr>
            <a:graphicFrameLocks noChangeAspect="1"/>
          </p:cNvGraphicFramePr>
          <p:nvPr/>
        </p:nvGraphicFramePr>
        <p:xfrm>
          <a:off x="1903414" y="3270251"/>
          <a:ext cx="1555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6" name="Equation" r:id="rId3" imgW="152268" imgH="317225" progId="Equation.3">
                  <p:embed/>
                </p:oleObj>
              </mc:Choice>
              <mc:Fallback>
                <p:oleObj name="Equation" r:id="rId3" imgW="152268" imgH="317225" progId="Equation.3">
                  <p:embed/>
                  <p:pic>
                    <p:nvPicPr>
                      <p:cNvPr id="604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3270251"/>
                        <a:ext cx="1555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21" name="Picture 4" descr="bilinear-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587" y="1308771"/>
            <a:ext cx="5081587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3" name="Text Box 9"/>
          <p:cNvSpPr txBox="1">
            <a:spLocks noChangeArrowheads="1"/>
          </p:cNvSpPr>
          <p:nvPr/>
        </p:nvSpPr>
        <p:spPr bwMode="auto">
          <a:xfrm>
            <a:off x="829607" y="2485427"/>
            <a:ext cx="4026358" cy="1569648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wrap="square" lIns="91429" tIns="45714" rIns="91429" bIns="45714">
            <a:spAutoFit/>
          </a:bodyPr>
          <a:lstStyle>
            <a:defPPr>
              <a:defRPr lang="en-US"/>
            </a:defPPr>
            <a:lvl1pPr algn="l">
              <a:defRPr sz="2400">
                <a:latin typeface="Comic Sans MS" pitchFamily="66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en-US" dirty="0"/>
              <a:t>Em cinza claro destacamos os pixels cujos valores podem ser inferidos por interpolação </a:t>
            </a:r>
            <a:r>
              <a:rPr lang="pt-BR" altLang="en-US" dirty="0" err="1"/>
              <a:t>bilinear</a:t>
            </a:r>
            <a:r>
              <a:rPr lang="pt-BR" alt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629400" y="63754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9302CFF2-4115-47FF-9FC4-5205358A9AC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25178C9-DFA4-2B42-BAB0-070EFE207A4D}"/>
              </a:ext>
            </a:extLst>
          </p:cNvPr>
          <p:cNvSpPr txBox="1">
            <a:spLocks noChangeArrowheads="1"/>
          </p:cNvSpPr>
          <p:nvPr/>
        </p:nvSpPr>
        <p:spPr>
          <a:xfrm>
            <a:off x="829607" y="502059"/>
            <a:ext cx="1077929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600" dirty="0"/>
              <a:t>Interpolação bilinear em imagens (cont.)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31152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4" name="Picture 2" descr="bilinear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4" y="1827213"/>
            <a:ext cx="5081587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445" name="Object 4"/>
          <p:cNvGraphicFramePr>
            <a:graphicFrameLocks noChangeAspect="1"/>
          </p:cNvGraphicFramePr>
          <p:nvPr/>
        </p:nvGraphicFramePr>
        <p:xfrm>
          <a:off x="1903414" y="3270251"/>
          <a:ext cx="1555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0" name="Equation" r:id="rId4" imgW="152268" imgH="317225" progId="Equation.3">
                  <p:embed/>
                </p:oleObj>
              </mc:Choice>
              <mc:Fallback>
                <p:oleObj name="Equation" r:id="rId4" imgW="152268" imgH="317225" progId="Equation.3">
                  <p:embed/>
                  <p:pic>
                    <p:nvPicPr>
                      <p:cNvPr id="6144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3270251"/>
                        <a:ext cx="1555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Line 7"/>
          <p:cNvSpPr>
            <a:spLocks noChangeShapeType="1"/>
          </p:cNvSpPr>
          <p:nvPr/>
        </p:nvSpPr>
        <p:spPr bwMode="auto">
          <a:xfrm flipV="1">
            <a:off x="5638800" y="2098195"/>
            <a:ext cx="19812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629400" y="63754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9302CFF2-4115-47FF-9FC4-5205358A9AC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D16D4625-A39D-434C-81DC-A4012C90C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339" y="2133600"/>
            <a:ext cx="3305295" cy="1569648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wrap="square" lIns="91429" tIns="45714" rIns="91429" bIns="45714">
            <a:spAutoFit/>
          </a:bodyPr>
          <a:lstStyle>
            <a:defPPr>
              <a:defRPr lang="en-US"/>
            </a:defPPr>
            <a:lvl1pPr algn="l">
              <a:defRPr sz="2400">
                <a:latin typeface="Comic Sans MS" pitchFamily="66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en-US" dirty="0"/>
              <a:t>Imagine os níveis de cinza como alturas acima do plano da imagem.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6A590BFA-9517-5B46-B875-3DE6A1900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0673" y="2880697"/>
            <a:ext cx="2330003" cy="1200316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wrap="square" lIns="91429" tIns="45714" rIns="91429" bIns="45714">
            <a:spAutoFit/>
          </a:bodyPr>
          <a:lstStyle>
            <a:defPPr>
              <a:defRPr lang="en-US"/>
            </a:defPPr>
            <a:lvl1pPr algn="l">
              <a:defRPr sz="2400">
                <a:latin typeface="Comic Sans MS" pitchFamily="66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en-US" dirty="0"/>
              <a:t>Centro = média ponderada das quatro alturas.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5DCF100-E2B2-AD47-B2E8-128637947EBB}"/>
              </a:ext>
            </a:extLst>
          </p:cNvPr>
          <p:cNvSpPr txBox="1">
            <a:spLocks noChangeArrowheads="1"/>
          </p:cNvSpPr>
          <p:nvPr/>
        </p:nvSpPr>
        <p:spPr>
          <a:xfrm>
            <a:off x="829607" y="502059"/>
            <a:ext cx="9718183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600" dirty="0"/>
              <a:t>Interpolação bilinear em imagens (cont.)</a:t>
            </a:r>
            <a:endParaRPr lang="en-US" altLang="en-US" sz="3600" dirty="0"/>
          </a:p>
        </p:txBody>
      </p:sp>
      <p:sp>
        <p:nvSpPr>
          <p:cNvPr id="18" name="Line 7">
            <a:extLst>
              <a:ext uri="{FF2B5EF4-FFF2-40B4-BE49-F238E27FC236}">
                <a16:creationId xmlns:a16="http://schemas.microsoft.com/office/drawing/2014/main" id="{DD273B67-1EA4-634F-851A-004E123B3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3384647"/>
            <a:ext cx="19812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0B7AC5-D002-5246-8AB0-6BDC96F2447C}"/>
              </a:ext>
            </a:extLst>
          </p:cNvPr>
          <p:cNvCxnSpPr/>
          <p:nvPr/>
        </p:nvCxnSpPr>
        <p:spPr>
          <a:xfrm flipV="1">
            <a:off x="5892007" y="2275443"/>
            <a:ext cx="640995" cy="1286452"/>
          </a:xfrm>
          <a:prstGeom prst="line">
            <a:avLst/>
          </a:prstGeom>
          <a:ln w="349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195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8" name="Object 3"/>
          <p:cNvGraphicFramePr>
            <a:graphicFrameLocks noChangeAspect="1"/>
          </p:cNvGraphicFramePr>
          <p:nvPr/>
        </p:nvGraphicFramePr>
        <p:xfrm>
          <a:off x="1903414" y="3270251"/>
          <a:ext cx="1555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" name="Equation" r:id="rId3" imgW="152268" imgH="317225" progId="Equation.3">
                  <p:embed/>
                </p:oleObj>
              </mc:Choice>
              <mc:Fallback>
                <p:oleObj name="Equation" r:id="rId3" imgW="152268" imgH="317225" progId="Equation.3">
                  <p:embed/>
                  <p:pic>
                    <p:nvPicPr>
                      <p:cNvPr id="6246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3270251"/>
                        <a:ext cx="1555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69" name="Picture 4" descr="bilinear-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4" y="1827213"/>
            <a:ext cx="5081587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Line 5"/>
          <p:cNvSpPr>
            <a:spLocks noChangeShapeType="1"/>
          </p:cNvSpPr>
          <p:nvPr/>
        </p:nvSpPr>
        <p:spPr bwMode="auto">
          <a:xfrm flipH="1">
            <a:off x="4343400" y="2514600"/>
            <a:ext cx="1447800" cy="144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71" name="Line 6"/>
          <p:cNvSpPr>
            <a:spLocks noChangeShapeType="1"/>
          </p:cNvSpPr>
          <p:nvPr/>
        </p:nvSpPr>
        <p:spPr bwMode="auto">
          <a:xfrm flipV="1">
            <a:off x="5791200" y="2133600"/>
            <a:ext cx="19812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72" name="Line 7"/>
          <p:cNvSpPr>
            <a:spLocks noChangeShapeType="1"/>
          </p:cNvSpPr>
          <p:nvPr/>
        </p:nvSpPr>
        <p:spPr bwMode="auto">
          <a:xfrm flipV="1">
            <a:off x="4343400" y="3200400"/>
            <a:ext cx="2743200" cy="762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73" name="Line 8"/>
          <p:cNvSpPr>
            <a:spLocks noChangeShapeType="1"/>
          </p:cNvSpPr>
          <p:nvPr/>
        </p:nvSpPr>
        <p:spPr bwMode="auto">
          <a:xfrm flipH="1">
            <a:off x="7086600" y="2133600"/>
            <a:ext cx="685800" cy="1066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74" name="Text Box 9"/>
          <p:cNvSpPr txBox="1">
            <a:spLocks noChangeArrowheads="1"/>
          </p:cNvSpPr>
          <p:nvPr/>
        </p:nvSpPr>
        <p:spPr bwMode="auto">
          <a:xfrm>
            <a:off x="503583" y="1905000"/>
            <a:ext cx="3458817" cy="1015651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wrap="square" lIns="91429" tIns="45714" rIns="91429" bIns="45714">
            <a:spAutoFit/>
          </a:bodyPr>
          <a:lstStyle>
            <a:defPPr>
              <a:defRPr lang="en-US"/>
            </a:defPPr>
            <a:lvl1pPr algn="l">
              <a:defRPr sz="2400">
                <a:latin typeface="Comic Sans MS" pitchFamily="66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en-US" sz="2000" dirty="0"/>
              <a:t>Valores dos novos pixels caem na retas conectando valores dos pixels originais.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629400" y="63754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9302CFF2-4115-47FF-9FC4-5205358A9AC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8F23E2A-8D05-9F4A-9F07-4DDD671EEAF0}"/>
              </a:ext>
            </a:extLst>
          </p:cNvPr>
          <p:cNvSpPr txBox="1">
            <a:spLocks noChangeArrowheads="1"/>
          </p:cNvSpPr>
          <p:nvPr/>
        </p:nvSpPr>
        <p:spPr>
          <a:xfrm>
            <a:off x="503583" y="502059"/>
            <a:ext cx="100442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600" dirty="0"/>
              <a:t>Interpolação bilinear em imagens (cont.)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06465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2" name="Object 3"/>
          <p:cNvGraphicFramePr>
            <a:graphicFrameLocks noChangeAspect="1"/>
          </p:cNvGraphicFramePr>
          <p:nvPr/>
        </p:nvGraphicFramePr>
        <p:xfrm>
          <a:off x="1903414" y="3270251"/>
          <a:ext cx="1555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" name="Equation" r:id="rId3" imgW="152268" imgH="317225" progId="Equation.3">
                  <p:embed/>
                </p:oleObj>
              </mc:Choice>
              <mc:Fallback>
                <p:oleObj name="Equation" r:id="rId3" imgW="152268" imgH="317225" progId="Equation.3">
                  <p:embed/>
                  <p:pic>
                    <p:nvPicPr>
                      <p:cNvPr id="6349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3270251"/>
                        <a:ext cx="1555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493" name="Picture 4" descr="bilinear-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4" y="1827213"/>
            <a:ext cx="5081587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Text Box 5"/>
          <p:cNvSpPr txBox="1">
            <a:spLocks noChangeArrowheads="1"/>
          </p:cNvSpPr>
          <p:nvPr/>
        </p:nvSpPr>
        <p:spPr bwMode="auto">
          <a:xfrm>
            <a:off x="1134737" y="2133600"/>
            <a:ext cx="3021339" cy="461653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63500" dist="88900" dir="2700000" algn="ctr" rotWithShape="0">
              <a:srgbClr val="808080">
                <a:alpha val="50000"/>
              </a:srgbClr>
            </a:outerShdw>
          </a:effectLst>
        </p:spPr>
        <p:txBody>
          <a:bodyPr wrap="square" lIns="91429" tIns="45714" rIns="91429" bIns="45714">
            <a:spAutoFit/>
          </a:bodyPr>
          <a:lstStyle>
            <a:defPPr>
              <a:defRPr lang="en-US"/>
            </a:defPPr>
            <a:lvl1pPr algn="l">
              <a:defRPr sz="2400">
                <a:latin typeface="Comic Sans MS" pitchFamily="66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en-US" dirty="0"/>
              <a:t>O resultado final: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629400" y="63754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9302CFF2-4115-47FF-9FC4-5205358A9ACF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9D13998-55B1-E44E-89DF-A2E7FC591875}"/>
              </a:ext>
            </a:extLst>
          </p:cNvPr>
          <p:cNvSpPr txBox="1">
            <a:spLocks noChangeArrowheads="1"/>
          </p:cNvSpPr>
          <p:nvPr/>
        </p:nvSpPr>
        <p:spPr>
          <a:xfrm>
            <a:off x="829607" y="502059"/>
            <a:ext cx="9718183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600" dirty="0"/>
              <a:t>Interpolação bilinear em imagens (cont.)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7686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42A2-9310-B345-9721-C1489F88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5" y="127622"/>
            <a:ext cx="10983685" cy="736848"/>
          </a:xfrm>
        </p:spPr>
        <p:txBody>
          <a:bodyPr>
            <a:normAutofit/>
          </a:bodyPr>
          <a:lstStyle/>
          <a:p>
            <a:r>
              <a:rPr lang="en-BR" sz="3600" dirty="0"/>
              <a:t>Reamostragem por interpolação bilinear: ideia geral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53FF-8F56-E444-BD78-EB91F8E5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5" y="1049287"/>
            <a:ext cx="11477328" cy="2404652"/>
          </a:xfrm>
        </p:spPr>
        <p:txBody>
          <a:bodyPr>
            <a:normAutofit/>
          </a:bodyPr>
          <a:lstStyle/>
          <a:p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Considere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a imagem de entrada, com dimensões 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xC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a imagem de saída, com dimensões 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xC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. Se as dimensões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forem maiores que as dimensões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temos uma operação de zoom. Por outro lado, se as dimensões de J forem menores que as dimensões de I, então temos uma operação de redução.</a:t>
            </a:r>
          </a:p>
          <a:p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Independente do caso (zoom ou redução), na reamostragem por interpolação bilinear o processo é o mesmo: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Mapeamos as posições (r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de </a:t>
            </a:r>
            <a:r>
              <a:rPr lang="en-BR" sz="2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para posições (r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na imagem de entrada I.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Atribuímos a cada pixel (r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de J o valor da interpolação bilinear no ponto (r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c</a:t>
            </a:r>
            <a:r>
              <a:rPr lang="en-BR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) em I.</a:t>
            </a:r>
          </a:p>
          <a:p>
            <a:pPr marL="0" indent="0">
              <a:buNone/>
            </a:pPr>
            <a:endParaRPr lang="en-BR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BR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BR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14389" lvl="1" indent="-457200">
              <a:buFont typeface="+mj-lt"/>
              <a:buAutoNum type="arabicPeriod"/>
            </a:pPr>
            <a:endParaRPr lang="en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DC121C-D722-A544-9F5D-BEA2D7C8F50B}"/>
              </a:ext>
            </a:extLst>
          </p:cNvPr>
          <p:cNvSpPr txBox="1"/>
          <p:nvPr/>
        </p:nvSpPr>
        <p:spPr>
          <a:xfrm>
            <a:off x="1556761" y="6317482"/>
            <a:ext cx="2513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Imagem original </a:t>
            </a:r>
            <a:r>
              <a:rPr lang="en-BR" b="1" dirty="0"/>
              <a:t>I</a:t>
            </a:r>
            <a:endParaRPr lang="en-BR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C79E59-C335-B340-A28C-B4320BDF2334}"/>
              </a:ext>
            </a:extLst>
          </p:cNvPr>
          <p:cNvSpPr/>
          <p:nvPr/>
        </p:nvSpPr>
        <p:spPr>
          <a:xfrm>
            <a:off x="7285363" y="4143538"/>
            <a:ext cx="3425780" cy="2099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707B3C6-54AF-674E-8518-87204A17F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64135" y="4709395"/>
            <a:ext cx="2305869" cy="15334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DEB3EFD-8BF6-124B-B748-FB413D0F1480}"/>
              </a:ext>
            </a:extLst>
          </p:cNvPr>
          <p:cNvSpPr txBox="1"/>
          <p:nvPr/>
        </p:nvSpPr>
        <p:spPr>
          <a:xfrm>
            <a:off x="7596914" y="6275162"/>
            <a:ext cx="284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Nova imagem </a:t>
            </a:r>
            <a:r>
              <a:rPr lang="en-BR" b="1" dirty="0"/>
              <a:t>J</a:t>
            </a:r>
            <a:endParaRPr lang="en-BR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8D53405-5EA6-8C45-A414-60C248B81AC4}"/>
              </a:ext>
            </a:extLst>
          </p:cNvPr>
          <p:cNvCxnSpPr>
            <a:cxnSpLocks/>
          </p:cNvCxnSpPr>
          <p:nvPr/>
        </p:nvCxnSpPr>
        <p:spPr>
          <a:xfrm flipH="1">
            <a:off x="1764135" y="5860326"/>
            <a:ext cx="3672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Left Brace 51">
            <a:extLst>
              <a:ext uri="{FF2B5EF4-FFF2-40B4-BE49-F238E27FC236}">
                <a16:creationId xmlns:a16="http://schemas.microsoft.com/office/drawing/2014/main" id="{8C8B0A0E-7B60-1749-9982-267ABCF33277}"/>
              </a:ext>
            </a:extLst>
          </p:cNvPr>
          <p:cNvSpPr/>
          <p:nvPr/>
        </p:nvSpPr>
        <p:spPr>
          <a:xfrm>
            <a:off x="1331088" y="4689435"/>
            <a:ext cx="318269" cy="153340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335CD78B-A1C4-AB4C-A14D-56943FBE5002}"/>
              </a:ext>
            </a:extLst>
          </p:cNvPr>
          <p:cNvSpPr/>
          <p:nvPr/>
        </p:nvSpPr>
        <p:spPr>
          <a:xfrm rot="5400000">
            <a:off x="2757933" y="3328257"/>
            <a:ext cx="318269" cy="230586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7CC811-31A7-054E-9608-C2FAC91C372E}"/>
              </a:ext>
            </a:extLst>
          </p:cNvPr>
          <p:cNvSpPr txBox="1"/>
          <p:nvPr/>
        </p:nvSpPr>
        <p:spPr>
          <a:xfrm>
            <a:off x="949128" y="5193166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A0D97C-59DE-714E-AE02-2D043273B0A1}"/>
              </a:ext>
            </a:extLst>
          </p:cNvPr>
          <p:cNvSpPr txBox="1"/>
          <p:nvPr/>
        </p:nvSpPr>
        <p:spPr>
          <a:xfrm>
            <a:off x="2697726" y="3958872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FF5BD8FE-BEA2-7B4C-A50A-B67EA95B94E1}"/>
              </a:ext>
            </a:extLst>
          </p:cNvPr>
          <p:cNvSpPr/>
          <p:nvPr/>
        </p:nvSpPr>
        <p:spPr>
          <a:xfrm>
            <a:off x="6935169" y="4137084"/>
            <a:ext cx="318269" cy="20992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0CC436-10EC-0248-B457-DC3513D73B42}"/>
              </a:ext>
            </a:extLst>
          </p:cNvPr>
          <p:cNvSpPr txBox="1"/>
          <p:nvPr/>
        </p:nvSpPr>
        <p:spPr>
          <a:xfrm>
            <a:off x="6564784" y="4998320"/>
            <a:ext cx="5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4C9CAB3F-BAED-5E4B-AF90-8173D242FC29}"/>
              </a:ext>
            </a:extLst>
          </p:cNvPr>
          <p:cNvSpPr/>
          <p:nvPr/>
        </p:nvSpPr>
        <p:spPr>
          <a:xfrm rot="5400000">
            <a:off x="8829372" y="2249367"/>
            <a:ext cx="318269" cy="3425779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736872-78ED-D647-AEDE-CC06F1C43159}"/>
              </a:ext>
            </a:extLst>
          </p:cNvPr>
          <p:cNvCxnSpPr>
            <a:cxnSpLocks/>
          </p:cNvCxnSpPr>
          <p:nvPr/>
        </p:nvCxnSpPr>
        <p:spPr>
          <a:xfrm flipV="1">
            <a:off x="8365888" y="4166681"/>
            <a:ext cx="0" cy="133916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9680D4-9B4F-0643-8391-7B1A7700083D}"/>
              </a:ext>
            </a:extLst>
          </p:cNvPr>
          <p:cNvCxnSpPr/>
          <p:nvPr/>
        </p:nvCxnSpPr>
        <p:spPr>
          <a:xfrm flipH="1">
            <a:off x="7296938" y="5540573"/>
            <a:ext cx="106894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76FA596-949C-F44A-9262-7B963A87932A}"/>
              </a:ext>
            </a:extLst>
          </p:cNvPr>
          <p:cNvSpPr txBox="1"/>
          <p:nvPr/>
        </p:nvSpPr>
        <p:spPr>
          <a:xfrm>
            <a:off x="7022578" y="5286156"/>
            <a:ext cx="412118" cy="38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4E2FFD-74A1-AC4C-B6EE-DF25477B68FD}"/>
              </a:ext>
            </a:extLst>
          </p:cNvPr>
          <p:cNvSpPr txBox="1"/>
          <p:nvPr/>
        </p:nvSpPr>
        <p:spPr>
          <a:xfrm>
            <a:off x="8199766" y="3835545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B63530C-8542-E545-9974-F5C0E0CC16F0}"/>
              </a:ext>
            </a:extLst>
          </p:cNvPr>
          <p:cNvSpPr/>
          <p:nvPr/>
        </p:nvSpPr>
        <p:spPr>
          <a:xfrm>
            <a:off x="8320809" y="5485365"/>
            <a:ext cx="90152" cy="1067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CFA7F7C-1287-914C-A0F8-456B6298A182}"/>
              </a:ext>
            </a:extLst>
          </p:cNvPr>
          <p:cNvSpPr/>
          <p:nvPr/>
        </p:nvSpPr>
        <p:spPr>
          <a:xfrm>
            <a:off x="2154570" y="5807805"/>
            <a:ext cx="90152" cy="1067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B6EA14D-D64C-C948-851F-7622A9F88BB6}"/>
              </a:ext>
            </a:extLst>
          </p:cNvPr>
          <p:cNvCxnSpPr>
            <a:cxnSpLocks/>
          </p:cNvCxnSpPr>
          <p:nvPr/>
        </p:nvCxnSpPr>
        <p:spPr>
          <a:xfrm flipV="1">
            <a:off x="2206086" y="4696512"/>
            <a:ext cx="0" cy="106368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014CCA1-624E-434D-B3BD-682727C4FE1C}"/>
              </a:ext>
            </a:extLst>
          </p:cNvPr>
          <p:cNvCxnSpPr>
            <a:cxnSpLocks/>
          </p:cNvCxnSpPr>
          <p:nvPr/>
        </p:nvCxnSpPr>
        <p:spPr>
          <a:xfrm flipH="1">
            <a:off x="1787285" y="5860326"/>
            <a:ext cx="3672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6704960-9F24-6049-9020-C64AA8E654A0}"/>
              </a:ext>
            </a:extLst>
          </p:cNvPr>
          <p:cNvSpPr txBox="1"/>
          <p:nvPr/>
        </p:nvSpPr>
        <p:spPr>
          <a:xfrm>
            <a:off x="1438734" y="5570266"/>
            <a:ext cx="412118" cy="38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1CC47B-8EA7-3C45-80AC-E1D5E0F2CEF8}"/>
              </a:ext>
            </a:extLst>
          </p:cNvPr>
          <p:cNvSpPr txBox="1"/>
          <p:nvPr/>
        </p:nvSpPr>
        <p:spPr>
          <a:xfrm>
            <a:off x="1980705" y="4368246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B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Left Arrow 68">
            <a:extLst>
              <a:ext uri="{FF2B5EF4-FFF2-40B4-BE49-F238E27FC236}">
                <a16:creationId xmlns:a16="http://schemas.microsoft.com/office/drawing/2014/main" id="{22C449C8-2FB8-DE4D-8DC8-689C557F3A4F}"/>
              </a:ext>
            </a:extLst>
          </p:cNvPr>
          <p:cNvSpPr/>
          <p:nvPr/>
        </p:nvSpPr>
        <p:spPr>
          <a:xfrm>
            <a:off x="4606432" y="5133416"/>
            <a:ext cx="1678329" cy="19920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77E01C-4C2C-214A-8776-B470FF441E02}"/>
              </a:ext>
            </a:extLst>
          </p:cNvPr>
          <p:cNvSpPr txBox="1"/>
          <p:nvPr/>
        </p:nvSpPr>
        <p:spPr>
          <a:xfrm>
            <a:off x="4740321" y="4765429"/>
            <a:ext cx="153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dirty="0"/>
              <a:t>Mapeamento</a:t>
            </a:r>
          </a:p>
        </p:txBody>
      </p:sp>
    </p:spTree>
    <p:extLst>
      <p:ext uri="{BB962C8B-B14F-4D97-AF65-F5344CB8AC3E}">
        <p14:creationId xmlns:p14="http://schemas.microsoft.com/office/powerpoint/2010/main" val="233528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54FE-CCFF-4E4B-92C9-4A26C118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621"/>
            <a:ext cx="10515600" cy="643907"/>
          </a:xfrm>
        </p:spPr>
        <p:txBody>
          <a:bodyPr>
            <a:normAutofit/>
          </a:bodyPr>
          <a:lstStyle/>
          <a:p>
            <a:r>
              <a:rPr lang="en-BR" sz="3600" dirty="0"/>
              <a:t>Reamostragem por interpolação bilinear: passo a passo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BC01-A402-714D-ADD7-9028DEFE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20</a:t>
            </a:fld>
            <a:endParaRPr lang="en-BR" dirty="0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EEAE7221-C2BF-C445-98C8-5028F1E4D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116" y="1913584"/>
            <a:ext cx="3581400" cy="3429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8" name="Rectangle 34">
            <a:extLst>
              <a:ext uri="{FF2B5EF4-FFF2-40B4-BE49-F238E27FC236}">
                <a16:creationId xmlns:a16="http://schemas.microsoft.com/office/drawing/2014/main" id="{97459A3B-7E68-304F-8F18-57EA323A4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079" y="3748447"/>
            <a:ext cx="554037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grpSp>
        <p:nvGrpSpPr>
          <p:cNvPr id="29" name="Group 3">
            <a:extLst>
              <a:ext uri="{FF2B5EF4-FFF2-40B4-BE49-F238E27FC236}">
                <a16:creationId xmlns:a16="http://schemas.microsoft.com/office/drawing/2014/main" id="{D5587C78-E73D-7948-B518-238EBBFF719A}"/>
              </a:ext>
            </a:extLst>
          </p:cNvPr>
          <p:cNvGrpSpPr>
            <a:grpSpLocks/>
          </p:cNvGrpSpPr>
          <p:nvPr/>
        </p:nvGrpSpPr>
        <p:grpSpPr bwMode="auto">
          <a:xfrm>
            <a:off x="7839105" y="1980259"/>
            <a:ext cx="3443288" cy="3290887"/>
            <a:chOff x="4979341" y="2275892"/>
            <a:chExt cx="3444702" cy="3291868"/>
          </a:xfrm>
          <a:effectLst/>
        </p:grpSpPr>
        <p:grpSp>
          <p:nvGrpSpPr>
            <p:cNvPr id="31" name="Group 8">
              <a:extLst>
                <a:ext uri="{FF2B5EF4-FFF2-40B4-BE49-F238E27FC236}">
                  <a16:creationId xmlns:a16="http://schemas.microsoft.com/office/drawing/2014/main" id="{A2CDF777-F309-C043-8F18-FA511FA81E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7300" y="2439988"/>
              <a:ext cx="3352800" cy="3121025"/>
              <a:chOff x="3168" y="1441"/>
              <a:chExt cx="2112" cy="1966"/>
            </a:xfrm>
          </p:grpSpPr>
          <p:sp>
            <p:nvSpPr>
              <p:cNvPr id="40" name="Rectangle 9">
                <a:extLst>
                  <a:ext uri="{FF2B5EF4-FFF2-40B4-BE49-F238E27FC236}">
                    <a16:creationId xmlns:a16="http://schemas.microsoft.com/office/drawing/2014/main" id="{FF96D67A-B80C-2E4F-816A-F8F8EDB59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1440" cy="13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41" name="Rectangle 10">
                <a:extLst>
                  <a:ext uri="{FF2B5EF4-FFF2-40B4-BE49-F238E27FC236}">
                    <a16:creationId xmlns:a16="http://schemas.microsoft.com/office/drawing/2014/main" id="{DED8AB4B-5812-9846-9D43-03B4AC55B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864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47" name="Rectangle 11">
                <a:extLst>
                  <a:ext uri="{FF2B5EF4-FFF2-40B4-BE49-F238E27FC236}">
                    <a16:creationId xmlns:a16="http://schemas.microsoft.com/office/drawing/2014/main" id="{C17E9201-DEA7-1246-B936-8EC4884F5F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1633"/>
                <a:ext cx="192" cy="192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49" name="Rectangle 12">
                <a:extLst>
                  <a:ext uri="{FF2B5EF4-FFF2-40B4-BE49-F238E27FC236}">
                    <a16:creationId xmlns:a16="http://schemas.microsoft.com/office/drawing/2014/main" id="{A1721A96-2B36-8C43-B1C3-CFF7A208E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1633"/>
                <a:ext cx="192" cy="192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51" name="Rectangle 13">
                <a:extLst>
                  <a:ext uri="{FF2B5EF4-FFF2-40B4-BE49-F238E27FC236}">
                    <a16:creationId xmlns:a16="http://schemas.microsoft.com/office/drawing/2014/main" id="{43D9F4A4-9CA7-CA4C-9646-777FBEAE8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3025"/>
                <a:ext cx="192" cy="192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52" name="Rectangle 14">
                <a:extLst>
                  <a:ext uri="{FF2B5EF4-FFF2-40B4-BE49-F238E27FC236}">
                    <a16:creationId xmlns:a16="http://schemas.microsoft.com/office/drawing/2014/main" id="{BDEB7C3B-AA4A-6048-844E-9B93C894A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3025"/>
                <a:ext cx="192" cy="19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53" name="Rectangle 15">
                <a:extLst>
                  <a:ext uri="{FF2B5EF4-FFF2-40B4-BE49-F238E27FC236}">
                    <a16:creationId xmlns:a16="http://schemas.microsoft.com/office/drawing/2014/main" id="{01B2914D-BAEC-8A47-A745-133DEC7CB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545"/>
                <a:ext cx="192" cy="19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graphicFrame>
            <p:nvGraphicFramePr>
              <p:cNvPr id="54" name="Object 16">
                <a:extLst>
                  <a:ext uri="{FF2B5EF4-FFF2-40B4-BE49-F238E27FC236}">
                    <a16:creationId xmlns:a16="http://schemas.microsoft.com/office/drawing/2014/main" id="{89A41F34-B013-F64E-8575-42562B17FA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5" y="1441"/>
              <a:ext cx="399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13" name="Equation" r:id="rId3" imgW="634725" imgH="304668" progId="Equation.3">
                      <p:embed/>
                    </p:oleObj>
                  </mc:Choice>
                  <mc:Fallback>
                    <p:oleObj name="Equation" r:id="rId3" imgW="634725" imgH="304668" progId="Equation.3">
                      <p:embed/>
                      <p:pic>
                        <p:nvPicPr>
                          <p:cNvPr id="100382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5" y="1441"/>
                            <a:ext cx="399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17">
                <a:extLst>
                  <a:ext uri="{FF2B5EF4-FFF2-40B4-BE49-F238E27FC236}">
                    <a16:creationId xmlns:a16="http://schemas.microsoft.com/office/drawing/2014/main" id="{F869D1E9-2842-D744-8F4E-EFF0582223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8" y="3216"/>
              <a:ext cx="59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14" name="Equation" r:id="rId5" imgW="939392" imgH="304668" progId="Equation.3">
                      <p:embed/>
                    </p:oleObj>
                  </mc:Choice>
                  <mc:Fallback>
                    <p:oleObj name="Equation" r:id="rId5" imgW="939392" imgH="304668" progId="Equation.3">
                      <p:embed/>
                      <p:pic>
                        <p:nvPicPr>
                          <p:cNvPr id="100383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3216"/>
                            <a:ext cx="59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Object 18">
                <a:extLst>
                  <a:ext uri="{FF2B5EF4-FFF2-40B4-BE49-F238E27FC236}">
                    <a16:creationId xmlns:a16="http://schemas.microsoft.com/office/drawing/2014/main" id="{6FB4A36D-D887-6647-8725-88E7C14D44A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88" y="1441"/>
              <a:ext cx="59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15" name="Equation" r:id="rId7" imgW="939392" imgH="304668" progId="Equation.3">
                      <p:embed/>
                    </p:oleObj>
                  </mc:Choice>
                  <mc:Fallback>
                    <p:oleObj name="Equation" r:id="rId7" imgW="939392" imgH="304668" progId="Equation.3">
                      <p:embed/>
                      <p:pic>
                        <p:nvPicPr>
                          <p:cNvPr id="100384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1441"/>
                            <a:ext cx="59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Object 19">
                <a:extLst>
                  <a:ext uri="{FF2B5EF4-FFF2-40B4-BE49-F238E27FC236}">
                    <a16:creationId xmlns:a16="http://schemas.microsoft.com/office/drawing/2014/main" id="{06DDA203-D105-0944-8F75-9CB58DDDBA4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88" y="3216"/>
              <a:ext cx="79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16" name="Equation" r:id="rId9" imgW="1256755" imgH="304668" progId="Equation.3">
                      <p:embed/>
                    </p:oleObj>
                  </mc:Choice>
                  <mc:Fallback>
                    <p:oleObj name="Equation" r:id="rId9" imgW="1256755" imgH="304668" progId="Equation.3">
                      <p:embed/>
                      <p:pic>
                        <p:nvPicPr>
                          <p:cNvPr id="100385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8" y="3216"/>
                            <a:ext cx="79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Object 20">
                <a:extLst>
                  <a:ext uri="{FF2B5EF4-FFF2-40B4-BE49-F238E27FC236}">
                    <a16:creationId xmlns:a16="http://schemas.microsoft.com/office/drawing/2014/main" id="{C667A65E-4F36-A540-87A3-79DF5AAF80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12" y="2784"/>
              <a:ext cx="464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17" name="Equation" r:id="rId11" imgW="736280" imgH="304668" progId="Equation.3">
                      <p:embed/>
                    </p:oleObj>
                  </mc:Choice>
                  <mc:Fallback>
                    <p:oleObj name="Equation" r:id="rId11" imgW="736280" imgH="304668" progId="Equation.3">
                      <p:embed/>
                      <p:pic>
                        <p:nvPicPr>
                          <p:cNvPr id="100386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2" y="2784"/>
                            <a:ext cx="464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Object 21">
                <a:extLst>
                  <a:ext uri="{FF2B5EF4-FFF2-40B4-BE49-F238E27FC236}">
                    <a16:creationId xmlns:a16="http://schemas.microsoft.com/office/drawing/2014/main" id="{7343F61C-3632-7A44-9789-EAFE349E8AA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1968"/>
              <a:ext cx="47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18" name="Equation" r:id="rId13" imgW="748975" imgH="304668" progId="Equation.3">
                      <p:embed/>
                    </p:oleObj>
                  </mc:Choice>
                  <mc:Fallback>
                    <p:oleObj name="Equation" r:id="rId13" imgW="748975" imgH="304668" progId="Equation.3">
                      <p:embed/>
                      <p:pic>
                        <p:nvPicPr>
                          <p:cNvPr id="100387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968"/>
                            <a:ext cx="47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" name="Object 22">
                <a:extLst>
                  <a:ext uri="{FF2B5EF4-FFF2-40B4-BE49-F238E27FC236}">
                    <a16:creationId xmlns:a16="http://schemas.microsoft.com/office/drawing/2014/main" id="{AFA7A24A-ABB3-C041-9671-707DBFA44E6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29" y="2124"/>
              <a:ext cx="167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19" name="Equation" r:id="rId15" imgW="266469" imgH="190335" progId="Equation.3">
                      <p:embed/>
                    </p:oleObj>
                  </mc:Choice>
                  <mc:Fallback>
                    <p:oleObj name="Equation" r:id="rId15" imgW="266469" imgH="190335" progId="Equation.3">
                      <p:embed/>
                      <p:pic>
                        <p:nvPicPr>
                          <p:cNvPr id="100388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9" y="2124"/>
                            <a:ext cx="167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23">
                <a:extLst>
                  <a:ext uri="{FF2B5EF4-FFF2-40B4-BE49-F238E27FC236}">
                    <a16:creationId xmlns:a16="http://schemas.microsoft.com/office/drawing/2014/main" id="{CC0DE5D8-5086-454B-A522-AAE2AE51FD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0" y="1841"/>
              <a:ext cx="176" cy="1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20" name="Equation" r:id="rId17" imgW="279279" imgH="203112" progId="Equation.3">
                      <p:embed/>
                    </p:oleObj>
                  </mc:Choice>
                  <mc:Fallback>
                    <p:oleObj name="Equation" r:id="rId17" imgW="279279" imgH="203112" progId="Equation.3">
                      <p:embed/>
                      <p:pic>
                        <p:nvPicPr>
                          <p:cNvPr id="100389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0" y="1841"/>
                            <a:ext cx="176" cy="1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Line 24">
                <a:extLst>
                  <a:ext uri="{FF2B5EF4-FFF2-40B4-BE49-F238E27FC236}">
                    <a16:creationId xmlns:a16="http://schemas.microsoft.com/office/drawing/2014/main" id="{DCEA5B44-F59C-A84E-A397-D26273C444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196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3" name="Line 25">
                <a:extLst>
                  <a:ext uri="{FF2B5EF4-FFF2-40B4-BE49-F238E27FC236}">
                    <a16:creationId xmlns:a16="http://schemas.microsoft.com/office/drawing/2014/main" id="{0AD2BBC7-7EDA-4F4D-8722-B5DDFEE25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196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4" name="Line 26">
                <a:extLst>
                  <a:ext uri="{FF2B5EF4-FFF2-40B4-BE49-F238E27FC236}">
                    <a16:creationId xmlns:a16="http://schemas.microsoft.com/office/drawing/2014/main" id="{85A83004-3915-6A42-B694-2D8A1D46B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728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5" name="Line 27">
                <a:extLst>
                  <a:ext uri="{FF2B5EF4-FFF2-40B4-BE49-F238E27FC236}">
                    <a16:creationId xmlns:a16="http://schemas.microsoft.com/office/drawing/2014/main" id="{EC029100-A71A-144C-9F64-7FA1E8B8D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264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graphicFrame>
            <p:nvGraphicFramePr>
              <p:cNvPr id="66" name="Object 28">
                <a:extLst>
                  <a:ext uri="{FF2B5EF4-FFF2-40B4-BE49-F238E27FC236}">
                    <a16:creationId xmlns:a16="http://schemas.microsoft.com/office/drawing/2014/main" id="{548C288B-DF66-9D4F-B4AD-9CDD36F8EF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24" y="2544"/>
              <a:ext cx="328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21" name="Equation" r:id="rId19" imgW="520474" imgH="304668" progId="Equation.3">
                      <p:embed/>
                    </p:oleObj>
                  </mc:Choice>
                  <mc:Fallback>
                    <p:oleObj name="Equation" r:id="rId19" imgW="520474" imgH="304668" progId="Equation.3">
                      <p:embed/>
                      <p:pic>
                        <p:nvPicPr>
                          <p:cNvPr id="100394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4" y="2544"/>
                            <a:ext cx="328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C30897E-B46C-E04B-8DF1-49D8CED60F98}"/>
                </a:ext>
              </a:extLst>
            </p:cNvPr>
            <p:cNvSpPr txBox="1"/>
            <p:nvPr/>
          </p:nvSpPr>
          <p:spPr>
            <a:xfrm>
              <a:off x="5163567" y="2275892"/>
              <a:ext cx="779782" cy="44780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2400" baseline="-25000" dirty="0">
                  <a:latin typeface="+mj-lt"/>
                </a:rPr>
                <a:t>0</a:t>
              </a:r>
              <a:r>
                <a:rPr lang="en-US" sz="2400" dirty="0">
                  <a:latin typeface="+mj-lt"/>
                </a:rPr>
                <a:t>, 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latin typeface="+mj-lt"/>
                </a:rPr>
                <a:t>0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8FF291-0133-1D42-AFF7-7073EB16CEC1}"/>
                </a:ext>
              </a:extLst>
            </p:cNvPr>
            <p:cNvSpPr txBox="1"/>
            <p:nvPr/>
          </p:nvSpPr>
          <p:spPr>
            <a:xfrm>
              <a:off x="7190049" y="2371169"/>
              <a:ext cx="1233994" cy="35253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latin typeface="+mj-lt"/>
                </a:rPr>
                <a:t>, 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latin typeface="+mj-lt"/>
                </a:rPr>
                <a:t>0</a:t>
              </a:r>
              <a:r>
                <a:rPr lang="en-US" sz="2400" dirty="0">
                  <a:latin typeface="+mj-lt"/>
                </a:rPr>
                <a:t>+1)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96EFAB-E590-DB4A-A0F1-99970E56B03C}"/>
                </a:ext>
              </a:extLst>
            </p:cNvPr>
            <p:cNvSpPr txBox="1"/>
            <p:nvPr/>
          </p:nvSpPr>
          <p:spPr>
            <a:xfrm>
              <a:off x="4979341" y="5277161"/>
              <a:ext cx="1233994" cy="28424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1000" i="1" dirty="0">
                  <a:latin typeface="+mj-lt"/>
                </a:rPr>
                <a:t> 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solidFill>
                    <a:srgbClr val="000000"/>
                  </a:solidFill>
                  <a:latin typeface="Times New Roman"/>
                </a:rPr>
                <a:t>+1</a:t>
              </a:r>
              <a:r>
                <a:rPr lang="en-US" sz="2400" dirty="0">
                  <a:latin typeface="+mj-lt"/>
                </a:rPr>
                <a:t>,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3D983A-1CD6-7D42-8632-A13664ED8049}"/>
                </a:ext>
              </a:extLst>
            </p:cNvPr>
            <p:cNvSpPr txBox="1"/>
            <p:nvPr/>
          </p:nvSpPr>
          <p:spPr>
            <a:xfrm>
              <a:off x="7174452" y="5285101"/>
              <a:ext cx="1233995" cy="28265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1000" i="1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000000"/>
                  </a:solidFill>
                  <a:latin typeface="+mj-lt"/>
                </a:rPr>
                <a:t>+1</a:t>
              </a:r>
              <a:r>
                <a:rPr lang="en-US" sz="2400" dirty="0">
                  <a:latin typeface="+mj-lt"/>
                </a:rPr>
                <a:t>,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latin typeface="+mj-lt"/>
                </a:rPr>
                <a:t>+1)</a:t>
              </a:r>
            </a:p>
          </p:txBody>
        </p:sp>
      </p:grpSp>
      <p:sp>
        <p:nvSpPr>
          <p:cNvPr id="67" name="Text Box 35">
            <a:extLst>
              <a:ext uri="{FF2B5EF4-FFF2-40B4-BE49-F238E27FC236}">
                <a16:creationId xmlns:a16="http://schemas.microsoft.com/office/drawing/2014/main" id="{2D0DBFC2-38D8-E24E-8FD0-D22BEF5DC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3316" y="3838680"/>
            <a:ext cx="818604" cy="4214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0" tIns="41029" rIns="0" bIns="41029" anchor="ctr" anchorCtr="0">
            <a:noAutofit/>
          </a:bodyPr>
          <a:lstStyle>
            <a:lvl1pPr defTabSz="820738"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 defTabSz="820738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 defTabSz="820738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 defTabSz="820738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 defTabSz="820738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200" dirty="0">
                <a:latin typeface="Euclid Symbol" pitchFamily="18" charset="2"/>
              </a:rPr>
              <a:t>(</a:t>
            </a:r>
            <a:r>
              <a:rPr lang="en-US" altLang="en-US" sz="2200" i="1" dirty="0">
                <a:latin typeface="Times New Roman" pitchFamily="18" charset="0"/>
              </a:rPr>
              <a:t>r</a:t>
            </a:r>
            <a:r>
              <a:rPr lang="en-US" altLang="en-US" sz="2200" i="1" baseline="-25000" dirty="0">
                <a:latin typeface="Times New Roman" pitchFamily="18" charset="0"/>
              </a:rPr>
              <a:t>m</a:t>
            </a:r>
            <a:r>
              <a:rPr lang="en-US" altLang="en-US" sz="2200" dirty="0">
                <a:latin typeface="Times New Roman" pitchFamily="18" charset="0"/>
              </a:rPr>
              <a:t>, </a:t>
            </a:r>
            <a:r>
              <a:rPr lang="en-US" altLang="en-US" sz="2200" i="1" dirty="0">
                <a:latin typeface="Times New Roman" pitchFamily="18" charset="0"/>
              </a:rPr>
              <a:t>c</a:t>
            </a:r>
            <a:r>
              <a:rPr lang="en-US" altLang="en-US" sz="2200" i="1" baseline="-25000" dirty="0">
                <a:latin typeface="Times New Roman" pitchFamily="18" charset="0"/>
              </a:rPr>
              <a:t>m</a:t>
            </a:r>
            <a:r>
              <a:rPr lang="en-US" altLang="en-US" sz="2200" dirty="0">
                <a:latin typeface="Euclid Symbol" pitchFamily="18" charset="2"/>
              </a:rPr>
              <a:t>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417CA6-CE1E-D248-ACF1-6088F9FF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079654"/>
            <a:ext cx="6474349" cy="557742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Para cada pixel (x, y) da imagem de saída </a:t>
            </a:r>
            <a:r>
              <a:rPr lang="en-BR" sz="2000" i="1" dirty="0">
                <a:latin typeface="Calibri Light" panose="020F0502020204030204" pitchFamily="34" charset="0"/>
                <a:cs typeface="Calibri Light" panose="020F0502020204030204" pitchFamily="34" charset="0"/>
              </a:rPr>
              <a:t>J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mapeie sua coordenada para a imagem original </a:t>
            </a:r>
            <a:r>
              <a:rPr lang="en-BR" sz="2000" i="1" dirty="0">
                <a:latin typeface="Calibri Light" panose="020F0502020204030204" pitchFamily="34" charset="0"/>
                <a:cs typeface="Calibri Light" panose="020F0502020204030204" pitchFamily="34" charset="0"/>
              </a:rPr>
              <a:t>I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obtendo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).</a:t>
            </a:r>
          </a:p>
          <a:p>
            <a:pPr marL="457200" indent="-457200">
              <a:buFont typeface="+mj-lt"/>
              <a:buAutoNum type="arabicPeriod"/>
            </a:pPr>
            <a:endParaRPr lang="en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Determine os 4 vizinhos mais próximos de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 em </a:t>
            </a:r>
            <a:r>
              <a:rPr lang="en-BR" sz="2000" i="1" dirty="0">
                <a:latin typeface="Calibri Light" panose="020F0502020204030204" pitchFamily="34" charset="0"/>
                <a:cs typeface="Calibri Light" panose="020F0502020204030204" pitchFamily="34" charset="0"/>
              </a:rPr>
              <a:t>I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isto é, {(r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), 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+1), 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 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+1,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), 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+1,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+1)}.</a:t>
            </a:r>
          </a:p>
          <a:p>
            <a:pPr marL="457200" indent="-457200">
              <a:buFont typeface="+mj-lt"/>
              <a:buAutoNum type="arabicPeriod"/>
            </a:pPr>
            <a:endParaRPr lang="en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Faça uma interpolação linear usando {(r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),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+1)} no ponto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).</a:t>
            </a:r>
          </a:p>
          <a:p>
            <a:pPr marL="457200" indent="-457200">
              <a:buFont typeface="+mj-lt"/>
              <a:buAutoNum type="arabicPeriod"/>
            </a:pPr>
            <a:endParaRPr lang="en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Faça uma interpolação linear usando {(r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 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+1,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), 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+1,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+1)} no ponto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+1,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).</a:t>
            </a:r>
          </a:p>
          <a:p>
            <a:pPr marL="457200" indent="-457200">
              <a:buFont typeface="+mj-lt"/>
              <a:buAutoNum type="arabicPeriod"/>
            </a:pPr>
            <a:endParaRPr lang="en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Finalmente, faça uma interpolação linear usando {(r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),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0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 +1,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)} no ponto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).</a:t>
            </a:r>
          </a:p>
          <a:p>
            <a:pPr marL="457200" indent="-457200">
              <a:buFont typeface="+mj-lt"/>
              <a:buAutoNum type="arabicPeriod"/>
            </a:pPr>
            <a:endParaRPr lang="en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Atribua a (x, y) o valor interpolado para (r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, c</a:t>
            </a:r>
            <a:r>
              <a:rPr lang="en-BR" sz="2000" baseline="-25000" dirty="0">
                <a:latin typeface="Calibri Light" panose="020F0502020204030204" pitchFamily="34" charset="0"/>
                <a:cs typeface="Calibri Light" panose="020F0502020204030204" pitchFamily="34" charset="0"/>
              </a:rPr>
              <a:t>m</a:t>
            </a:r>
            <a:r>
              <a:rPr lang="en-BR" sz="2000" dirty="0">
                <a:latin typeface="Calibri Light" panose="020F0502020204030204" pitchFamily="34" charset="0"/>
                <a:cs typeface="Calibri Light" panose="020F0502020204030204" pitchFamily="34" charset="0"/>
              </a:rPr>
              <a:t>).</a:t>
            </a:r>
          </a:p>
          <a:p>
            <a:pPr marL="457200" indent="-457200">
              <a:buFont typeface="+mj-lt"/>
              <a:buAutoNum type="arabicPeriod"/>
            </a:pPr>
            <a:endParaRPr lang="en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BR" sz="2000" dirty="0">
              <a:latin typeface="Calibri Light" panose="020F0502020204030204" pitchFamily="34" charset="0"/>
              <a:cs typeface="Calibri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813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087E-9995-E04F-9744-A2AF53FC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65"/>
            <a:ext cx="10515600" cy="979410"/>
          </a:xfrm>
        </p:spPr>
        <p:txBody>
          <a:bodyPr>
            <a:normAutofit/>
          </a:bodyPr>
          <a:lstStyle/>
          <a:p>
            <a:r>
              <a:rPr lang="en-BR" sz="3600" dirty="0"/>
              <a:t>Reamostragem por interpolação bilinear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A4B0AF-0BF0-714A-A249-40E7F3854D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138223"/>
                <a:ext cx="6417622" cy="5439469"/>
              </a:xfrm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B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Algoritmo: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1. Dados: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Imagem original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B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</m:oMath>
                </a14:m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Imagem escalada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B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</m:oMath>
                </a14:m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2. Fator de escala: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 </a:t>
                </a: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3. Mapeamento: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r>
                  <a:rPr lang="en-BR" sz="1800" b="1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b="1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</a:t>
                </a:r>
                <a:r>
                  <a:rPr lang="en-BR" sz="1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𝒓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  <m:r>
                      <a:rPr lang="en-B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</m:oMath>
                </a14:m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para </a:t>
                </a:r>
                <a:r>
                  <a:rPr lang="en-BR" sz="1800" b="1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[0 1 2 ...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-1]</a:t>
                </a:r>
                <a:endParaRPr lang="en-BR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r>
                  <a:rPr lang="en-B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r>
                  <a:rPr lang="en-BR" sz="1800" b="1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b="1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</a:t>
                </a:r>
                <a:r>
                  <a:rPr lang="en-BR" sz="1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𝒄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  <m:r>
                      <a:rPr lang="en-B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</m:oMath>
                </a14:m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BR" sz="1800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para </a:t>
                </a:r>
                <a:r>
                  <a:rPr lang="en-BR" sz="1800" b="1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[0 1 2 ...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-1]</a:t>
                </a:r>
                <a:endParaRPr lang="en-BR" sz="18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4. Calcule </a:t>
                </a:r>
                <a:r>
                  <a:rPr lang="en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BR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BR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BR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BR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para cada par </a:t>
                </a:r>
                <a:r>
                  <a:rPr lang="en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BR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BR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BR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BR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457189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floor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floor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)</m:t>
                      </m:r>
                    </m:oMath>
                  </m:oMathPara>
                </a14:m>
                <a:endParaRPr lang="en-BR" sz="18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5. Para cada par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BR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BR" sz="1800" i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</a:t>
                </a: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obtido de </a:t>
                </a:r>
                <a:r>
                  <a:rPr lang="en-BR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(r,c)</a:t>
                </a: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457189" lvl="1" indent="0">
                  <a:buNone/>
                </a:pPr>
                <a:r>
                  <a:rPr lang="en-BR" sz="18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endParaRPr lang="en-BR" sz="18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189" lvl="1" indent="0">
                  <a:buNone/>
                </a:pPr>
                <a:endParaRPr lang="en-BR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A4B0AF-0BF0-714A-A249-40E7F3854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138223"/>
                <a:ext cx="6417622" cy="5439469"/>
              </a:xfrm>
              <a:blipFill>
                <a:blip r:embed="rId3"/>
                <a:stretch>
                  <a:fillRect l="-791" t="-11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>
            <a:extLst>
              <a:ext uri="{FF2B5EF4-FFF2-40B4-BE49-F238E27FC236}">
                <a16:creationId xmlns:a16="http://schemas.microsoft.com/office/drawing/2014/main" id="{1464FC5C-7DDA-8E43-B2AE-CFD73E6EF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8027" y="1913584"/>
            <a:ext cx="3581400" cy="3429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14" name="Rectangle 34">
            <a:extLst>
              <a:ext uri="{FF2B5EF4-FFF2-40B4-BE49-F238E27FC236}">
                <a16:creationId xmlns:a16="http://schemas.microsoft.com/office/drawing/2014/main" id="{4158CF1D-178F-BB46-9F0C-F1A2AD420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0990" y="3748447"/>
            <a:ext cx="554037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grpSp>
        <p:nvGrpSpPr>
          <p:cNvPr id="15" name="Group 3">
            <a:extLst>
              <a:ext uri="{FF2B5EF4-FFF2-40B4-BE49-F238E27FC236}">
                <a16:creationId xmlns:a16="http://schemas.microsoft.com/office/drawing/2014/main" id="{8C316166-57B4-0440-9270-2E41A6910926}"/>
              </a:ext>
            </a:extLst>
          </p:cNvPr>
          <p:cNvGrpSpPr>
            <a:grpSpLocks/>
          </p:cNvGrpSpPr>
          <p:nvPr/>
        </p:nvGrpSpPr>
        <p:grpSpPr bwMode="auto">
          <a:xfrm>
            <a:off x="7955016" y="1980259"/>
            <a:ext cx="3443288" cy="3290887"/>
            <a:chOff x="4979341" y="2275892"/>
            <a:chExt cx="3444702" cy="3291868"/>
          </a:xfrm>
          <a:effectLst/>
        </p:grpSpPr>
        <p:grpSp>
          <p:nvGrpSpPr>
            <p:cNvPr id="16" name="Group 8">
              <a:extLst>
                <a:ext uri="{FF2B5EF4-FFF2-40B4-BE49-F238E27FC236}">
                  <a16:creationId xmlns:a16="http://schemas.microsoft.com/office/drawing/2014/main" id="{415C1C62-7134-344F-B004-32B9A29739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7300" y="2439988"/>
              <a:ext cx="3352800" cy="3121025"/>
              <a:chOff x="3168" y="1441"/>
              <a:chExt cx="2112" cy="1966"/>
            </a:xfrm>
          </p:grpSpPr>
          <p:sp>
            <p:nvSpPr>
              <p:cNvPr id="21" name="Rectangle 9">
                <a:extLst>
                  <a:ext uri="{FF2B5EF4-FFF2-40B4-BE49-F238E27FC236}">
                    <a16:creationId xmlns:a16="http://schemas.microsoft.com/office/drawing/2014/main" id="{CB20A926-CE51-714B-A4CE-DC32F6607F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1440" cy="13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Rectangle 10">
                <a:extLst>
                  <a:ext uri="{FF2B5EF4-FFF2-40B4-BE49-F238E27FC236}">
                    <a16:creationId xmlns:a16="http://schemas.microsoft.com/office/drawing/2014/main" id="{9A5F1A16-F173-D547-AAD2-53EA118AF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864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248AE171-B253-CD4B-A91A-EF9CA251DB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1633"/>
                <a:ext cx="192" cy="192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6507E82D-EBC9-494F-9F17-528F88163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1633"/>
                <a:ext cx="192" cy="192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6F450056-7B6D-B84B-AE5B-AED0A809A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3025"/>
                <a:ext cx="192" cy="192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4C1D7217-DE36-EE42-9ACF-E4DE0728E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3025"/>
                <a:ext cx="192" cy="19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7" name="Rectangle 15">
                <a:extLst>
                  <a:ext uri="{FF2B5EF4-FFF2-40B4-BE49-F238E27FC236}">
                    <a16:creationId xmlns:a16="http://schemas.microsoft.com/office/drawing/2014/main" id="{3A94733E-17FD-5445-B1E0-B051D054A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545"/>
                <a:ext cx="192" cy="19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tx2"/>
                    </a:solidFill>
                    <a:latin typeface="Arial" charset="0"/>
                  </a:defRPr>
                </a:lvl1pPr>
                <a:lvl2pPr marL="742950" indent="-285750">
                  <a:defRPr sz="3200">
                    <a:solidFill>
                      <a:schemeClr val="tx2"/>
                    </a:solidFill>
                    <a:latin typeface="Arial" charset="0"/>
                  </a:defRPr>
                </a:lvl2pPr>
                <a:lvl3pPr marL="11430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3pPr>
                <a:lvl4pPr marL="16002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4pPr>
                <a:lvl5pPr marL="2057400" indent="-228600">
                  <a:defRPr sz="3200">
                    <a:solidFill>
                      <a:schemeClr val="tx2"/>
                    </a:solidFill>
                    <a:latin typeface="Arial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2"/>
                    </a:solidFill>
                    <a:latin typeface="Arial" charset="0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</a:endParaRPr>
              </a:p>
            </p:txBody>
          </p:sp>
          <p:graphicFrame>
            <p:nvGraphicFramePr>
              <p:cNvPr id="28" name="Object 16">
                <a:extLst>
                  <a:ext uri="{FF2B5EF4-FFF2-40B4-BE49-F238E27FC236}">
                    <a16:creationId xmlns:a16="http://schemas.microsoft.com/office/drawing/2014/main" id="{8AE393F3-A886-F246-A4B0-25B6993380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5" y="1441"/>
              <a:ext cx="399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0" name="Equation" r:id="rId4" imgW="634725" imgH="304668" progId="Equation.3">
                      <p:embed/>
                    </p:oleObj>
                  </mc:Choice>
                  <mc:Fallback>
                    <p:oleObj name="Equation" r:id="rId4" imgW="634725" imgH="304668" progId="Equation.3">
                      <p:embed/>
                      <p:pic>
                        <p:nvPicPr>
                          <p:cNvPr id="54" name="Object 16">
                            <a:extLst>
                              <a:ext uri="{FF2B5EF4-FFF2-40B4-BE49-F238E27FC236}">
                                <a16:creationId xmlns:a16="http://schemas.microsoft.com/office/drawing/2014/main" id="{89A41F34-B013-F64E-8575-42562B17FA5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5" y="1441"/>
                            <a:ext cx="399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17">
                <a:extLst>
                  <a:ext uri="{FF2B5EF4-FFF2-40B4-BE49-F238E27FC236}">
                    <a16:creationId xmlns:a16="http://schemas.microsoft.com/office/drawing/2014/main" id="{D26D2417-6259-3A40-9F2F-2774D3397D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8" y="3216"/>
              <a:ext cx="59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1" name="Equation" r:id="rId6" imgW="939392" imgH="304668" progId="Equation.3">
                      <p:embed/>
                    </p:oleObj>
                  </mc:Choice>
                  <mc:Fallback>
                    <p:oleObj name="Equation" r:id="rId6" imgW="939392" imgH="304668" progId="Equation.3">
                      <p:embed/>
                      <p:pic>
                        <p:nvPicPr>
                          <p:cNvPr id="55" name="Object 17">
                            <a:extLst>
                              <a:ext uri="{FF2B5EF4-FFF2-40B4-BE49-F238E27FC236}">
                                <a16:creationId xmlns:a16="http://schemas.microsoft.com/office/drawing/2014/main" id="{F869D1E9-2842-D744-8F4E-EFF0582223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3216"/>
                            <a:ext cx="59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18">
                <a:extLst>
                  <a:ext uri="{FF2B5EF4-FFF2-40B4-BE49-F238E27FC236}">
                    <a16:creationId xmlns:a16="http://schemas.microsoft.com/office/drawing/2014/main" id="{798E89A5-5018-4047-B50F-987761EA94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88" y="1441"/>
              <a:ext cx="59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2" name="Equation" r:id="rId8" imgW="939392" imgH="304668" progId="Equation.3">
                      <p:embed/>
                    </p:oleObj>
                  </mc:Choice>
                  <mc:Fallback>
                    <p:oleObj name="Equation" r:id="rId8" imgW="939392" imgH="304668" progId="Equation.3">
                      <p:embed/>
                      <p:pic>
                        <p:nvPicPr>
                          <p:cNvPr id="56" name="Object 18">
                            <a:extLst>
                              <a:ext uri="{FF2B5EF4-FFF2-40B4-BE49-F238E27FC236}">
                                <a16:creationId xmlns:a16="http://schemas.microsoft.com/office/drawing/2014/main" id="{6FB4A36D-D887-6647-8725-88E7C14D44A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1441"/>
                            <a:ext cx="59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19">
                <a:extLst>
                  <a:ext uri="{FF2B5EF4-FFF2-40B4-BE49-F238E27FC236}">
                    <a16:creationId xmlns:a16="http://schemas.microsoft.com/office/drawing/2014/main" id="{2822BE3C-2F49-9544-AA61-4FF0D5929E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88" y="3216"/>
              <a:ext cx="79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3" name="Equation" r:id="rId10" imgW="1256755" imgH="304668" progId="Equation.3">
                      <p:embed/>
                    </p:oleObj>
                  </mc:Choice>
                  <mc:Fallback>
                    <p:oleObj name="Equation" r:id="rId10" imgW="1256755" imgH="304668" progId="Equation.3">
                      <p:embed/>
                      <p:pic>
                        <p:nvPicPr>
                          <p:cNvPr id="57" name="Object 19">
                            <a:extLst>
                              <a:ext uri="{FF2B5EF4-FFF2-40B4-BE49-F238E27FC236}">
                                <a16:creationId xmlns:a16="http://schemas.microsoft.com/office/drawing/2014/main" id="{06DDA203-D105-0944-8F75-9CB58DDDBA4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8" y="3216"/>
                            <a:ext cx="79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20">
                <a:extLst>
                  <a:ext uri="{FF2B5EF4-FFF2-40B4-BE49-F238E27FC236}">
                    <a16:creationId xmlns:a16="http://schemas.microsoft.com/office/drawing/2014/main" id="{6DF4D256-45FB-E940-ACD7-DD560021BC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12" y="2784"/>
              <a:ext cx="464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4" name="Equation" r:id="rId12" imgW="736280" imgH="304668" progId="Equation.3">
                      <p:embed/>
                    </p:oleObj>
                  </mc:Choice>
                  <mc:Fallback>
                    <p:oleObj name="Equation" r:id="rId12" imgW="736280" imgH="304668" progId="Equation.3">
                      <p:embed/>
                      <p:pic>
                        <p:nvPicPr>
                          <p:cNvPr id="58" name="Object 20">
                            <a:extLst>
                              <a:ext uri="{FF2B5EF4-FFF2-40B4-BE49-F238E27FC236}">
                                <a16:creationId xmlns:a16="http://schemas.microsoft.com/office/drawing/2014/main" id="{C667A65E-4F36-A540-87A3-79DF5AAF804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2" y="2784"/>
                            <a:ext cx="464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21">
                <a:extLst>
                  <a:ext uri="{FF2B5EF4-FFF2-40B4-BE49-F238E27FC236}">
                    <a16:creationId xmlns:a16="http://schemas.microsoft.com/office/drawing/2014/main" id="{2BAD0977-BC8C-784F-916B-3AEF4C629D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1968"/>
              <a:ext cx="47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5" name="Equation" r:id="rId14" imgW="748975" imgH="304668" progId="Equation.3">
                      <p:embed/>
                    </p:oleObj>
                  </mc:Choice>
                  <mc:Fallback>
                    <p:oleObj name="Equation" r:id="rId14" imgW="748975" imgH="304668" progId="Equation.3">
                      <p:embed/>
                      <p:pic>
                        <p:nvPicPr>
                          <p:cNvPr id="59" name="Object 21">
                            <a:extLst>
                              <a:ext uri="{FF2B5EF4-FFF2-40B4-BE49-F238E27FC236}">
                                <a16:creationId xmlns:a16="http://schemas.microsoft.com/office/drawing/2014/main" id="{7343F61C-3632-7A44-9789-EAFE349E8AA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968"/>
                            <a:ext cx="47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22">
                <a:extLst>
                  <a:ext uri="{FF2B5EF4-FFF2-40B4-BE49-F238E27FC236}">
                    <a16:creationId xmlns:a16="http://schemas.microsoft.com/office/drawing/2014/main" id="{04CD0385-F313-AB4A-BB72-427BABFD7A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29" y="2124"/>
              <a:ext cx="167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6" name="Equation" r:id="rId16" imgW="266469" imgH="190335" progId="Equation.3">
                      <p:embed/>
                    </p:oleObj>
                  </mc:Choice>
                  <mc:Fallback>
                    <p:oleObj name="Equation" r:id="rId16" imgW="266469" imgH="190335" progId="Equation.3">
                      <p:embed/>
                      <p:pic>
                        <p:nvPicPr>
                          <p:cNvPr id="60" name="Object 22">
                            <a:extLst>
                              <a:ext uri="{FF2B5EF4-FFF2-40B4-BE49-F238E27FC236}">
                                <a16:creationId xmlns:a16="http://schemas.microsoft.com/office/drawing/2014/main" id="{AFA7A24A-ABB3-C041-9671-707DBFA44E6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9" y="2124"/>
                            <a:ext cx="167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23">
                <a:extLst>
                  <a:ext uri="{FF2B5EF4-FFF2-40B4-BE49-F238E27FC236}">
                    <a16:creationId xmlns:a16="http://schemas.microsoft.com/office/drawing/2014/main" id="{20284304-2BE8-EB43-B48F-C8195601069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0" y="1841"/>
              <a:ext cx="176" cy="1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7" name="Equation" r:id="rId18" imgW="279279" imgH="203112" progId="Equation.3">
                      <p:embed/>
                    </p:oleObj>
                  </mc:Choice>
                  <mc:Fallback>
                    <p:oleObj name="Equation" r:id="rId18" imgW="279279" imgH="203112" progId="Equation.3">
                      <p:embed/>
                      <p:pic>
                        <p:nvPicPr>
                          <p:cNvPr id="61" name="Object 23">
                            <a:extLst>
                              <a:ext uri="{FF2B5EF4-FFF2-40B4-BE49-F238E27FC236}">
                                <a16:creationId xmlns:a16="http://schemas.microsoft.com/office/drawing/2014/main" id="{CC0DE5D8-5086-454B-A522-AAE2AE51FDF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0" y="1841"/>
                            <a:ext cx="176" cy="1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Line 24">
                <a:extLst>
                  <a:ext uri="{FF2B5EF4-FFF2-40B4-BE49-F238E27FC236}">
                    <a16:creationId xmlns:a16="http://schemas.microsoft.com/office/drawing/2014/main" id="{07F1C2BD-752C-A749-A2B6-17D05616C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196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7" name="Line 25">
                <a:extLst>
                  <a:ext uri="{FF2B5EF4-FFF2-40B4-BE49-F238E27FC236}">
                    <a16:creationId xmlns:a16="http://schemas.microsoft.com/office/drawing/2014/main" id="{29058519-E8C4-3443-B02E-DA6430868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196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8" name="Line 26">
                <a:extLst>
                  <a:ext uri="{FF2B5EF4-FFF2-40B4-BE49-F238E27FC236}">
                    <a16:creationId xmlns:a16="http://schemas.microsoft.com/office/drawing/2014/main" id="{F3D2B587-0353-084B-BC1E-A5EE90205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728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9" name="Line 27">
                <a:extLst>
                  <a:ext uri="{FF2B5EF4-FFF2-40B4-BE49-F238E27FC236}">
                    <a16:creationId xmlns:a16="http://schemas.microsoft.com/office/drawing/2014/main" id="{120CE58F-8846-8844-9CF9-CDC0F39F1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264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graphicFrame>
            <p:nvGraphicFramePr>
              <p:cNvPr id="40" name="Object 28">
                <a:extLst>
                  <a:ext uri="{FF2B5EF4-FFF2-40B4-BE49-F238E27FC236}">
                    <a16:creationId xmlns:a16="http://schemas.microsoft.com/office/drawing/2014/main" id="{48B485EC-17DE-4443-932A-9650402E060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24" y="2544"/>
              <a:ext cx="328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8" name="Equation" r:id="rId20" imgW="520474" imgH="304668" progId="Equation.3">
                      <p:embed/>
                    </p:oleObj>
                  </mc:Choice>
                  <mc:Fallback>
                    <p:oleObj name="Equation" r:id="rId20" imgW="520474" imgH="304668" progId="Equation.3">
                      <p:embed/>
                      <p:pic>
                        <p:nvPicPr>
                          <p:cNvPr id="66" name="Object 28">
                            <a:extLst>
                              <a:ext uri="{FF2B5EF4-FFF2-40B4-BE49-F238E27FC236}">
                                <a16:creationId xmlns:a16="http://schemas.microsoft.com/office/drawing/2014/main" id="{548C288B-DF66-9D4F-B4AD-9CDD36F8EFE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4" y="2544"/>
                            <a:ext cx="328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E27869-9C20-9846-A7DD-FA15216ECC97}"/>
                </a:ext>
              </a:extLst>
            </p:cNvPr>
            <p:cNvSpPr txBox="1"/>
            <p:nvPr/>
          </p:nvSpPr>
          <p:spPr>
            <a:xfrm>
              <a:off x="5163567" y="2275892"/>
              <a:ext cx="779782" cy="44780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2400" baseline="-25000" dirty="0">
                  <a:latin typeface="+mj-lt"/>
                </a:rPr>
                <a:t>0</a:t>
              </a:r>
              <a:r>
                <a:rPr lang="en-US" sz="2400" dirty="0">
                  <a:latin typeface="+mj-lt"/>
                </a:rPr>
                <a:t>, 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latin typeface="+mj-lt"/>
                </a:rPr>
                <a:t>0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9D067E-3A6B-7A4A-9A97-A17DB8303E37}"/>
                </a:ext>
              </a:extLst>
            </p:cNvPr>
            <p:cNvSpPr txBox="1"/>
            <p:nvPr/>
          </p:nvSpPr>
          <p:spPr>
            <a:xfrm>
              <a:off x="7190049" y="2371169"/>
              <a:ext cx="1233994" cy="35253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latin typeface="+mj-lt"/>
                </a:rPr>
                <a:t>, 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latin typeface="+mj-lt"/>
                </a:rPr>
                <a:t>0</a:t>
              </a:r>
              <a:r>
                <a:rPr lang="en-US" sz="2400" dirty="0">
                  <a:latin typeface="+mj-lt"/>
                </a:rPr>
                <a:t>+1)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57572C-6246-5A48-8825-834A89896DA5}"/>
                </a:ext>
              </a:extLst>
            </p:cNvPr>
            <p:cNvSpPr txBox="1"/>
            <p:nvPr/>
          </p:nvSpPr>
          <p:spPr>
            <a:xfrm>
              <a:off x="4979341" y="5277161"/>
              <a:ext cx="1233994" cy="28424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1000" i="1" dirty="0">
                  <a:latin typeface="+mj-lt"/>
                </a:rPr>
                <a:t> 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solidFill>
                    <a:srgbClr val="000000"/>
                  </a:solidFill>
                  <a:latin typeface="Times New Roman"/>
                </a:rPr>
                <a:t>+1</a:t>
              </a:r>
              <a:r>
                <a:rPr lang="en-US" sz="2400" dirty="0">
                  <a:latin typeface="+mj-lt"/>
                </a:rPr>
                <a:t>,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BB5681-ED5E-EF4E-AC96-B6346E48F294}"/>
                </a:ext>
              </a:extLst>
            </p:cNvPr>
            <p:cNvSpPr txBox="1"/>
            <p:nvPr/>
          </p:nvSpPr>
          <p:spPr>
            <a:xfrm>
              <a:off x="7174452" y="5285101"/>
              <a:ext cx="1233995" cy="28265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(</a:t>
              </a:r>
              <a:r>
                <a:rPr lang="en-US" sz="2400" i="1" dirty="0">
                  <a:latin typeface="+mj-lt"/>
                </a:rPr>
                <a:t>r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1000" i="1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000000"/>
                  </a:solidFill>
                  <a:latin typeface="+mj-lt"/>
                </a:rPr>
                <a:t>+1</a:t>
              </a:r>
              <a:r>
                <a:rPr lang="en-US" sz="2400" dirty="0">
                  <a:latin typeface="+mj-lt"/>
                </a:rPr>
                <a:t>,</a:t>
              </a:r>
              <a:r>
                <a:rPr lang="en-US" sz="2400" i="1" dirty="0">
                  <a:latin typeface="+mj-lt"/>
                </a:rPr>
                <a:t>c</a:t>
              </a:r>
              <a:r>
                <a:rPr lang="en-US" sz="2400" baseline="-25000" dirty="0">
                  <a:solidFill>
                    <a:srgbClr val="000000"/>
                  </a:solidFill>
                  <a:latin typeface="Times New Roman"/>
                </a:rPr>
                <a:t>0</a:t>
              </a:r>
              <a:r>
                <a:rPr lang="en-US" sz="2400" dirty="0">
                  <a:latin typeface="+mj-lt"/>
                </a:rPr>
                <a:t>+1)</a:t>
              </a:r>
            </a:p>
          </p:txBody>
        </p:sp>
      </p:grpSp>
      <p:sp>
        <p:nvSpPr>
          <p:cNvPr id="41" name="Text Box 35">
            <a:extLst>
              <a:ext uri="{FF2B5EF4-FFF2-40B4-BE49-F238E27FC236}">
                <a16:creationId xmlns:a16="http://schemas.microsoft.com/office/drawing/2014/main" id="{D01179C1-D336-3940-8EE9-8C7ADCACE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227" y="3838680"/>
            <a:ext cx="818604" cy="4214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0" tIns="41029" rIns="0" bIns="41029" anchor="ctr" anchorCtr="0">
            <a:noAutofit/>
          </a:bodyPr>
          <a:lstStyle>
            <a:lvl1pPr defTabSz="820738">
              <a:defRPr sz="3200">
                <a:solidFill>
                  <a:schemeClr val="tx2"/>
                </a:solidFill>
                <a:latin typeface="Arial" charset="0"/>
              </a:defRPr>
            </a:lvl1pPr>
            <a:lvl2pPr marL="742950" indent="-285750" defTabSz="820738">
              <a:defRPr sz="3200">
                <a:solidFill>
                  <a:schemeClr val="tx2"/>
                </a:solidFill>
                <a:latin typeface="Arial" charset="0"/>
              </a:defRPr>
            </a:lvl2pPr>
            <a:lvl3pPr marL="1143000" indent="-228600" defTabSz="820738">
              <a:defRPr sz="3200">
                <a:solidFill>
                  <a:schemeClr val="tx2"/>
                </a:solidFill>
                <a:latin typeface="Arial" charset="0"/>
              </a:defRPr>
            </a:lvl3pPr>
            <a:lvl4pPr marL="1600200" indent="-228600" defTabSz="820738">
              <a:defRPr sz="3200">
                <a:solidFill>
                  <a:schemeClr val="tx2"/>
                </a:solidFill>
                <a:latin typeface="Arial" charset="0"/>
              </a:defRPr>
            </a:lvl4pPr>
            <a:lvl5pPr marL="2057400" indent="-228600" defTabSz="820738">
              <a:defRPr sz="3200">
                <a:solidFill>
                  <a:schemeClr val="tx2"/>
                </a:solidFill>
                <a:latin typeface="Arial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200" dirty="0">
                <a:latin typeface="Euclid Symbol" pitchFamily="18" charset="2"/>
              </a:rPr>
              <a:t>(</a:t>
            </a:r>
            <a:r>
              <a:rPr lang="en-US" altLang="en-US" sz="2200" i="1" dirty="0">
                <a:latin typeface="Times New Roman" pitchFamily="18" charset="0"/>
              </a:rPr>
              <a:t>r</a:t>
            </a:r>
            <a:r>
              <a:rPr lang="en-US" altLang="en-US" sz="2200" i="1" baseline="-25000" dirty="0">
                <a:latin typeface="Times New Roman" pitchFamily="18" charset="0"/>
              </a:rPr>
              <a:t>m</a:t>
            </a:r>
            <a:r>
              <a:rPr lang="en-US" altLang="en-US" sz="2200" dirty="0">
                <a:latin typeface="Times New Roman" pitchFamily="18" charset="0"/>
              </a:rPr>
              <a:t>, </a:t>
            </a:r>
            <a:r>
              <a:rPr lang="en-US" altLang="en-US" sz="2200" i="1" dirty="0">
                <a:latin typeface="Times New Roman" pitchFamily="18" charset="0"/>
              </a:rPr>
              <a:t>c</a:t>
            </a:r>
            <a:r>
              <a:rPr lang="en-US" altLang="en-US" sz="2200" i="1" baseline="-25000" dirty="0">
                <a:latin typeface="Times New Roman" pitchFamily="18" charset="0"/>
              </a:rPr>
              <a:t>m</a:t>
            </a:r>
            <a:r>
              <a:rPr lang="en-US" altLang="en-US" sz="2200" dirty="0">
                <a:latin typeface="Euclid Symbol" pitchFamily="18" charset="2"/>
              </a:rPr>
              <a:t>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84F532-DDB2-E448-A3A7-E9A23CAFEB10}"/>
              </a:ext>
            </a:extLst>
          </p:cNvPr>
          <p:cNvGrpSpPr/>
          <p:nvPr/>
        </p:nvGrpSpPr>
        <p:grpSpPr>
          <a:xfrm>
            <a:off x="1700013" y="5122111"/>
            <a:ext cx="4250026" cy="1404066"/>
            <a:chOff x="1700013" y="5341054"/>
            <a:chExt cx="3458624" cy="1404066"/>
          </a:xfrm>
        </p:grpSpPr>
        <p:graphicFrame>
          <p:nvGraphicFramePr>
            <p:cNvPr id="43" name="Object 6">
              <a:extLst>
                <a:ext uri="{FF2B5EF4-FFF2-40B4-BE49-F238E27FC236}">
                  <a16:creationId xmlns:a16="http://schemas.microsoft.com/office/drawing/2014/main" id="{A90B5846-D76C-3A49-985E-8CE20A7EE2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7836524"/>
                </p:ext>
              </p:extLst>
            </p:nvPr>
          </p:nvGraphicFramePr>
          <p:xfrm>
            <a:off x="2034437" y="5392570"/>
            <a:ext cx="3124200" cy="1352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89" name="Equation" r:id="rId22" imgW="2349360" imgH="1015920" progId="Equation.DSMT4">
                    <p:embed/>
                  </p:oleObj>
                </mc:Choice>
                <mc:Fallback>
                  <p:oleObj name="Equation" r:id="rId22" imgW="2349360" imgH="1015920" progId="Equation.DSMT4">
                    <p:embed/>
                    <p:pic>
                      <p:nvPicPr>
                        <p:cNvPr id="2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4437" y="5392570"/>
                          <a:ext cx="3124200" cy="1352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853F39-152C-1C42-8824-7D8A2345595D}"/>
                </a:ext>
              </a:extLst>
            </p:cNvPr>
            <p:cNvSpPr txBox="1"/>
            <p:nvPr/>
          </p:nvSpPr>
          <p:spPr>
            <a:xfrm>
              <a:off x="1700013" y="5341054"/>
              <a:ext cx="122349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BR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  <a:r>
                <a:rPr lang="en-BR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BR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r,c)</a:t>
              </a:r>
              <a:endParaRPr lang="en-BR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734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4902-B970-E449-AC6B-D3C50327F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Comparação: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BBCB9-81BF-D647-AE97-23C65617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22</a:t>
            </a:fld>
            <a:endParaRPr lang="en-BR"/>
          </a:p>
        </p:txBody>
      </p:sp>
      <p:pic>
        <p:nvPicPr>
          <p:cNvPr id="6" name="Picture 2" descr="fig12">
            <a:extLst>
              <a:ext uri="{FF2B5EF4-FFF2-40B4-BE49-F238E27FC236}">
                <a16:creationId xmlns:a16="http://schemas.microsoft.com/office/drawing/2014/main" id="{CB92CC8B-E47F-9D44-A0B0-6582CAA7B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744" y="1744010"/>
            <a:ext cx="7388225" cy="430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7F60C-E31F-1543-9519-3FD1BB08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6138" y="1744010"/>
            <a:ext cx="3314163" cy="5698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BR" dirty="0"/>
              <a:t>Interpolação bilinear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3831-B27C-4A48-8B1D-1BCEC8F03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81307" y="1762252"/>
            <a:ext cx="3314163" cy="4592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BR" dirty="0"/>
              <a:t>Vizinho mais próximo</a:t>
            </a:r>
          </a:p>
        </p:txBody>
      </p:sp>
    </p:spTree>
    <p:extLst>
      <p:ext uri="{BB962C8B-B14F-4D97-AF65-F5344CB8AC3E}">
        <p14:creationId xmlns:p14="http://schemas.microsoft.com/office/powerpoint/2010/main" val="471965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5985-148C-6E4C-9A0D-06E3E9F9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478935"/>
          </a:xfrm>
        </p:spPr>
        <p:txBody>
          <a:bodyPr>
            <a:normAutofit fontScale="90000"/>
          </a:bodyPr>
          <a:lstStyle/>
          <a:p>
            <a:r>
              <a:rPr lang="pt-BR" sz="3600"/>
              <a:t>Opencv resize()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B1985-79A8-554D-AC1F-026A4200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684" y="1060469"/>
            <a:ext cx="10014019" cy="1120023"/>
          </a:xfrm>
        </p:spPr>
        <p:txBody>
          <a:bodyPr>
            <a:normAutofit fontScale="85000" lnSpcReduction="10000"/>
          </a:bodyPr>
          <a:lstStyle/>
          <a:p>
            <a:r>
              <a:rPr lang="pt-BR" sz="2000">
                <a:latin typeface="Calibri Light" panose="020F0302020204030204" pitchFamily="34" charset="0"/>
                <a:cs typeface="Calibri Light" panose="020F0302020204030204" pitchFamily="34" charset="0"/>
              </a:rPr>
              <a:t>Existem várias APIs disponíveis para realizar reamostragem utilizando as principais técnicas de interpolação. </a:t>
            </a:r>
          </a:p>
          <a:p>
            <a:r>
              <a:rPr lang="pt-BR" sz="2000">
                <a:latin typeface="Calibri Light" panose="020F0302020204030204" pitchFamily="34" charset="0"/>
                <a:cs typeface="Calibri Light" panose="020F0302020204030204" pitchFamily="34" charset="0"/>
              </a:rPr>
              <a:t>Por exemplo, opencv disponibiliza a seguinte função:</a:t>
            </a:r>
          </a:p>
          <a:p>
            <a:pPr marL="0" indent="0" algn="ctr">
              <a:buNone/>
            </a:pPr>
            <a:r>
              <a:rPr lang="pt-BR" sz="2000"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pt-BR" sz="2000">
                <a:latin typeface="Courier New" panose="02070309020205020404" pitchFamily="49" charset="0"/>
                <a:cs typeface="Courier New" panose="02070309020205020404" pitchFamily="49" charset="0"/>
              </a:rPr>
              <a:t>cv2.resize(src, dsize[, dst[, fx[, fy[, interpolation]]]])</a:t>
            </a:r>
          </a:p>
          <a:p>
            <a:pPr marL="0" indent="0" algn="ctr">
              <a:buNone/>
            </a:pPr>
            <a:endParaRPr lang="pt-BR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79B88-A7B0-234C-B33E-A89D5DDE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pt-BR" smtClean="0"/>
              <a:t>23</a:t>
            </a:fld>
            <a:endParaRPr lang="pt-B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0F1B12-89EF-A348-91E6-13662B0F9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036960"/>
              </p:ext>
            </p:extLst>
          </p:nvPr>
        </p:nvGraphicFramePr>
        <p:xfrm>
          <a:off x="1306286" y="2592032"/>
          <a:ext cx="8651630" cy="3213531"/>
        </p:xfrm>
        <a:graphic>
          <a:graphicData uri="http://schemas.openxmlformats.org/drawingml/2006/table">
            <a:tbl>
              <a:tblPr/>
              <a:tblGrid>
                <a:gridCol w="4325815">
                  <a:extLst>
                    <a:ext uri="{9D8B030D-6E8A-4147-A177-3AD203B41FA5}">
                      <a16:colId xmlns:a16="http://schemas.microsoft.com/office/drawing/2014/main" val="3275400178"/>
                    </a:ext>
                  </a:extLst>
                </a:gridCol>
                <a:gridCol w="4325815">
                  <a:extLst>
                    <a:ext uri="{9D8B030D-6E8A-4147-A177-3AD203B41FA5}">
                      <a16:colId xmlns:a16="http://schemas.microsoft.com/office/drawing/2014/main" val="1401829363"/>
                    </a:ext>
                  </a:extLst>
                </a:gridCol>
              </a:tblGrid>
              <a:tr h="195555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>
                          <a:effectLst/>
                        </a:rPr>
                        <a:t>Parâmetros</a:t>
                      </a:r>
                      <a:endParaRPr lang="en-US" sz="1500" dirty="0">
                        <a:effectLst/>
                      </a:endParaRP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>
                          <a:effectLst/>
                        </a:rPr>
                        <a:t>Descrição</a:t>
                      </a:r>
                      <a:endParaRPr lang="en-US" sz="1500" dirty="0">
                        <a:effectLst/>
                      </a:endParaRP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462253"/>
                  </a:ext>
                </a:extLst>
              </a:tr>
              <a:tr h="195555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src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[</a:t>
                      </a:r>
                      <a:r>
                        <a:rPr lang="en-US" sz="1500" dirty="0" err="1">
                          <a:effectLst/>
                        </a:rPr>
                        <a:t>requerido</a:t>
                      </a:r>
                      <a:r>
                        <a:rPr lang="en-US" sz="1500" dirty="0">
                          <a:effectLst/>
                        </a:rPr>
                        <a:t>] </a:t>
                      </a:r>
                      <a:r>
                        <a:rPr lang="en-US" sz="1500" dirty="0" err="1">
                          <a:effectLst/>
                        </a:rPr>
                        <a:t>imagem</a:t>
                      </a:r>
                      <a:r>
                        <a:rPr lang="en-US" sz="1500" dirty="0">
                          <a:effectLst/>
                        </a:rPr>
                        <a:t> de entrada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803451"/>
                  </a:ext>
                </a:extLst>
              </a:tr>
              <a:tr h="195555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dsize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[</a:t>
                      </a:r>
                      <a:r>
                        <a:rPr lang="en-US" sz="1500" dirty="0" err="1">
                          <a:effectLst/>
                        </a:rPr>
                        <a:t>requerido</a:t>
                      </a:r>
                      <a:r>
                        <a:rPr lang="en-US" sz="1500" dirty="0">
                          <a:effectLst/>
                        </a:rPr>
                        <a:t>] </a:t>
                      </a:r>
                      <a:r>
                        <a:rPr lang="en-US" sz="1500" dirty="0" err="1">
                          <a:effectLst/>
                        </a:rPr>
                        <a:t>tamanho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desejado</a:t>
                      </a:r>
                      <a:r>
                        <a:rPr lang="en-US" sz="1500" dirty="0">
                          <a:effectLst/>
                        </a:rPr>
                        <a:t> da </a:t>
                      </a:r>
                      <a:r>
                        <a:rPr lang="en-US" sz="1500" dirty="0" err="1">
                          <a:effectLst/>
                        </a:rPr>
                        <a:t>imagem</a:t>
                      </a:r>
                      <a:r>
                        <a:rPr lang="en-US" sz="1500" dirty="0">
                          <a:effectLst/>
                        </a:rPr>
                        <a:t> de </a:t>
                      </a:r>
                      <a:r>
                        <a:rPr lang="en-US" sz="1500" dirty="0" err="1">
                          <a:effectLst/>
                        </a:rPr>
                        <a:t>saída</a:t>
                      </a:r>
                      <a:endParaRPr lang="en-US" sz="1500" dirty="0">
                        <a:effectLst/>
                      </a:endParaRP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787578"/>
                  </a:ext>
                </a:extLst>
              </a:tr>
              <a:tr h="195555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fx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[</a:t>
                      </a:r>
                      <a:r>
                        <a:rPr lang="en-US" sz="1500" dirty="0" err="1">
                          <a:effectLst/>
                        </a:rPr>
                        <a:t>opcional</a:t>
                      </a:r>
                      <a:r>
                        <a:rPr lang="en-US" sz="1500" dirty="0">
                          <a:effectLst/>
                        </a:rPr>
                        <a:t>] </a:t>
                      </a:r>
                      <a:r>
                        <a:rPr lang="en-US" sz="1500" dirty="0" err="1">
                          <a:effectLst/>
                        </a:rPr>
                        <a:t>fator</a:t>
                      </a:r>
                      <a:r>
                        <a:rPr lang="en-US" sz="1500" dirty="0">
                          <a:effectLst/>
                        </a:rPr>
                        <a:t> de </a:t>
                      </a:r>
                      <a:r>
                        <a:rPr lang="en-US" sz="1500" dirty="0" err="1">
                          <a:effectLst/>
                        </a:rPr>
                        <a:t>escala</a:t>
                      </a:r>
                      <a:r>
                        <a:rPr lang="en-US" sz="1500" dirty="0">
                          <a:effectLst/>
                        </a:rPr>
                        <a:t> horizontal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734428"/>
                  </a:ext>
                </a:extLst>
              </a:tr>
              <a:tr h="195555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fy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[</a:t>
                      </a:r>
                      <a:r>
                        <a:rPr lang="en-US" sz="1500" dirty="0" err="1">
                          <a:effectLst/>
                        </a:rPr>
                        <a:t>opcional</a:t>
                      </a:r>
                      <a:r>
                        <a:rPr lang="en-US" sz="1500" dirty="0">
                          <a:effectLst/>
                        </a:rPr>
                        <a:t>] </a:t>
                      </a:r>
                      <a:r>
                        <a:rPr lang="en-US" sz="1500" dirty="0" err="1">
                          <a:effectLst/>
                        </a:rPr>
                        <a:t>fator</a:t>
                      </a:r>
                      <a:r>
                        <a:rPr lang="en-US" sz="1500" dirty="0">
                          <a:effectLst/>
                        </a:rPr>
                        <a:t> de </a:t>
                      </a:r>
                      <a:r>
                        <a:rPr lang="en-US" sz="1500" dirty="0" err="1">
                          <a:effectLst/>
                        </a:rPr>
                        <a:t>escala</a:t>
                      </a:r>
                      <a:r>
                        <a:rPr lang="en-US" sz="1500" dirty="0">
                          <a:effectLst/>
                        </a:rPr>
                        <a:t> vertical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49579"/>
                  </a:ext>
                </a:extLst>
              </a:tr>
              <a:tr h="1511441">
                <a:tc>
                  <a:txBody>
                    <a:bodyPr/>
                    <a:lstStyle/>
                    <a:p>
                      <a:pPr algn="l"/>
                      <a:r>
                        <a:rPr lang="en-US" sz="1500" dirty="0" err="1">
                          <a:effectLst/>
                        </a:rPr>
                        <a:t>interpolação</a:t>
                      </a:r>
                      <a:endParaRPr lang="en-US" sz="1500" dirty="0">
                        <a:effectLst/>
                      </a:endParaRP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[</a:t>
                      </a:r>
                      <a:r>
                        <a:rPr lang="en-US" sz="1500" dirty="0" err="1">
                          <a:effectLst/>
                        </a:rPr>
                        <a:t>opcional</a:t>
                      </a:r>
                      <a:r>
                        <a:rPr lang="en-US" sz="1500" dirty="0">
                          <a:effectLst/>
                        </a:rPr>
                        <a:t>] flag que </a:t>
                      </a:r>
                      <a:r>
                        <a:rPr lang="en-US" sz="1500" dirty="0" err="1">
                          <a:effectLst/>
                        </a:rPr>
                        <a:t>aceita</a:t>
                      </a:r>
                      <a:r>
                        <a:rPr lang="en-US" sz="1500" dirty="0">
                          <a:effectLst/>
                        </a:rPr>
                        <a:t> um dos </a:t>
                      </a:r>
                      <a:r>
                        <a:rPr lang="en-US" sz="1500" dirty="0" err="1">
                          <a:effectLst/>
                        </a:rPr>
                        <a:t>seguintes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métodos</a:t>
                      </a:r>
                      <a:r>
                        <a:rPr lang="en-US" sz="1500" dirty="0">
                          <a:effectLst/>
                        </a:rPr>
                        <a:t>: INTER_NEAREST (</a:t>
                      </a:r>
                      <a:r>
                        <a:rPr lang="en-US" sz="1500" dirty="0" err="1">
                          <a:effectLst/>
                        </a:rPr>
                        <a:t>vizinho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mais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próximo</a:t>
                      </a:r>
                      <a:r>
                        <a:rPr lang="en-US" sz="1500" dirty="0">
                          <a:effectLst/>
                        </a:rPr>
                        <a:t>), INTER_LINEAR  (bilinear), INTER_AREA (</a:t>
                      </a:r>
                      <a:r>
                        <a:rPr lang="en-US" sz="1500" dirty="0" err="1">
                          <a:effectLst/>
                        </a:rPr>
                        <a:t>replicação</a:t>
                      </a:r>
                      <a:r>
                        <a:rPr lang="en-US" sz="1500" dirty="0">
                          <a:effectLst/>
                        </a:rPr>
                        <a:t> de pixel), INTER_CUBIC  (</a:t>
                      </a:r>
                      <a:r>
                        <a:rPr lang="en-US" sz="1500" dirty="0" err="1">
                          <a:effectLst/>
                        </a:rPr>
                        <a:t>bicúbico</a:t>
                      </a:r>
                      <a:r>
                        <a:rPr lang="en-US" sz="1500" dirty="0">
                          <a:effectLst/>
                        </a:rPr>
                        <a:t>.</a:t>
                      </a:r>
                    </a:p>
                  </a:txBody>
                  <a:tcPr marL="119806" marR="119806" marT="55909" marB="5590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724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83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6438</TotalTime>
  <Words>1732</Words>
  <Application>Microsoft Macintosh PowerPoint</Application>
  <PresentationFormat>Widescreen</PresentationFormat>
  <Paragraphs>261</Paragraphs>
  <Slides>23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Comic Sans MS</vt:lpstr>
      <vt:lpstr>Courier New</vt:lpstr>
      <vt:lpstr>Euclid Symbol</vt:lpstr>
      <vt:lpstr>Times New Roman</vt:lpstr>
      <vt:lpstr>Wingdings</vt:lpstr>
      <vt:lpstr>Office Theme</vt:lpstr>
      <vt:lpstr>Equation</vt:lpstr>
      <vt:lpstr>Processamento de Imagens    Aula 03</vt:lpstr>
      <vt:lpstr>Sumário:</vt:lpstr>
      <vt:lpstr>Introdução</vt:lpstr>
      <vt:lpstr>Sumário:</vt:lpstr>
      <vt:lpstr>Interpolação por vizinho mais próximo</vt:lpstr>
      <vt:lpstr>Reamostragem de imagens digitais por vizinho mais próximo</vt:lpstr>
      <vt:lpstr>Reamostragem por vizinho mais próximo: ideia geral (cont.)</vt:lpstr>
      <vt:lpstr>Reamostragem por vizinho mais próximo (cont.)</vt:lpstr>
      <vt:lpstr>Efeitos da reamostragem por vizinho mais próximo</vt:lpstr>
      <vt:lpstr>Sumário:</vt:lpstr>
      <vt:lpstr>Interpolação linear</vt:lpstr>
      <vt:lpstr>Interpolação linear (cont.)</vt:lpstr>
      <vt:lpstr>Interpolação bilinear</vt:lpstr>
      <vt:lpstr>Interpolação bilinear em imagens</vt:lpstr>
      <vt:lpstr>PowerPoint Presentation</vt:lpstr>
      <vt:lpstr>PowerPoint Presentation</vt:lpstr>
      <vt:lpstr>PowerPoint Presentation</vt:lpstr>
      <vt:lpstr>PowerPoint Presentation</vt:lpstr>
      <vt:lpstr>Reamostragem por interpolação bilinear: ideia geral</vt:lpstr>
      <vt:lpstr>Reamostragem por interpolação bilinear: passo a passo</vt:lpstr>
      <vt:lpstr>Reamostragem por interpolação bilinear</vt:lpstr>
      <vt:lpstr>Comparação:</vt:lpstr>
      <vt:lpstr>Opencv resize()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Linder Silva</cp:lastModifiedBy>
  <cp:revision>226</cp:revision>
  <cp:lastPrinted>2020-07-26T05:16:45Z</cp:lastPrinted>
  <dcterms:created xsi:type="dcterms:W3CDTF">2020-07-19T16:23:49Z</dcterms:created>
  <dcterms:modified xsi:type="dcterms:W3CDTF">2022-09-19T11:41:05Z</dcterms:modified>
</cp:coreProperties>
</file>
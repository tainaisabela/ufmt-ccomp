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587" r:id="rId2"/>
    <p:sldId id="589" r:id="rId3"/>
    <p:sldId id="640" r:id="rId4"/>
    <p:sldId id="605" r:id="rId5"/>
    <p:sldId id="606" r:id="rId6"/>
    <p:sldId id="612" r:id="rId7"/>
    <p:sldId id="626" r:id="rId8"/>
    <p:sldId id="627" r:id="rId9"/>
    <p:sldId id="624" r:id="rId10"/>
    <p:sldId id="639" r:id="rId11"/>
    <p:sldId id="629" r:id="rId12"/>
    <p:sldId id="630" r:id="rId13"/>
    <p:sldId id="631" r:id="rId14"/>
    <p:sldId id="632" r:id="rId15"/>
    <p:sldId id="633" r:id="rId16"/>
    <p:sldId id="634" r:id="rId17"/>
    <p:sldId id="636" r:id="rId18"/>
    <p:sldId id="635" r:id="rId19"/>
    <p:sldId id="638" r:id="rId20"/>
    <p:sldId id="637" r:id="rId21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D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686"/>
    <p:restoredTop sz="94674"/>
  </p:normalViewPr>
  <p:slideViewPr>
    <p:cSldViewPr snapToGrid="0" snapToObjects="1">
      <p:cViewPr varScale="1">
        <p:scale>
          <a:sx n="100" d="100"/>
          <a:sy n="100" d="100"/>
        </p:scale>
        <p:origin x="192" y="5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8-24T14:17:46.52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 0 5896,'0'0'0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68FBCA-DCF6-C948-9F9C-AAB791B36139}" type="datetimeFigureOut">
              <a:rPr lang="en-BR" smtClean="0"/>
              <a:t>16/10/22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D15E5-714A-A441-9BBA-31A23F0B6623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41824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Olá pessoal, bem vindos à primeira aula de processamento de imagens!  Vou começar falando um pouco sobre questões administrativas e sobre  como o será organizado. Em seguida daremos início ao conteúdo propriamente dito.</a:t>
            </a:r>
          </a:p>
          <a:p>
            <a:endParaRPr lang="en-BR" dirty="0"/>
          </a:p>
          <a:p>
            <a:r>
              <a:rPr lang="en-BR" dirty="0"/>
              <a:t>Como vocês sabem, esse curso está sendo oferecido nesse formato devido à pandemia que estamos vivenciando em 2020. Então, como é um formato novo, acho importante apresentar com um pouco mais de detalhes como o curso será organizado.</a:t>
            </a:r>
          </a:p>
          <a:p>
            <a:endParaRPr lang="en-BR" dirty="0"/>
          </a:p>
          <a:p>
            <a:r>
              <a:rPr lang="en-BR" dirty="0"/>
              <a:t>Até o final do surso, vocês terão uma vídeo aula disponibilizada por semana.</a:t>
            </a:r>
          </a:p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D15E5-714A-A441-9BBA-31A23F0B6623}" type="slidenum">
              <a:rPr lang="en-BR" smtClean="0"/>
              <a:t>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29203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AAC1C-7136-204D-8049-BAF269A93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B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F6081-A7E2-E942-99CE-ACE37D1DF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35290-DC97-EC4E-B45B-212C1155C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F19CA-A286-624D-B5E6-4766DDA18E66}" type="datetime1">
              <a:rPr lang="en-US" smtClean="0"/>
              <a:t>10/16/22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1A776-50B2-1A49-BE77-982379CD5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4DB1C-E63F-0247-8212-F379AC4E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3014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4E017-2F61-B643-AA52-641D536DF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E3D36-A1FC-C747-AFEF-D09298E69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286D4-61A9-394A-9AA6-5A6602470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EC-870C-2E45-881C-7FA4DFD31045}" type="datetime1">
              <a:rPr lang="en-US" smtClean="0"/>
              <a:t>10/16/22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D61E1-FB39-0D4E-83B6-84E95B0B9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5DAFD-5348-AE45-A1D8-325508C2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23891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EEA56-5FF2-9B42-9656-7893CE03F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84CEB-F8B6-474C-BE96-7564EAD17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18F6F-9BD6-7643-A99D-9828D1832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348F7-AC3F-8F46-970F-B3918B0F6F82}" type="datetime1">
              <a:rPr lang="en-US" smtClean="0"/>
              <a:t>10/16/22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97481-085C-574D-8048-5038F736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557D5-30DD-9440-9DE4-BFA32D44F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26832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88A56-68F5-8B45-A533-3D65E42BD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55443-0F1A-4D43-A138-CAF5F4F7D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3C1D2-96AB-0B40-AF50-1EB475B2A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E1FEE-1208-674E-A29A-0D3A75420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4C2F-D2AC-5840-8EF2-49857974CF02}" type="datetime1">
              <a:rPr lang="en-US" smtClean="0"/>
              <a:t>10/16/22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6A2F6-53C5-E446-B751-99464815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E645A-3AE0-4F42-AA52-0FFD9902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0634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F98EC-2502-334F-8890-5494EF74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C3A42-444C-2048-907E-2EB6D98EE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21AF2-20F8-C24A-95C1-E717B7E3C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18256-C0B0-1A45-9AF1-A8637523F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EFB43C-63D4-C542-837E-2A40163564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3FF113-B100-414F-AAB8-963D0E772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C52E1-B0A8-8D40-925D-23D7FDECA1F4}" type="datetime1">
              <a:rPr lang="en-US" smtClean="0"/>
              <a:t>10/16/22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8802B7-569B-8343-8E7B-019396BD9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B3F5D6-B366-AB43-BDA3-8FC2437DE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149375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3B5E0-F626-5A42-8403-75536B65D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FE7802-2732-3046-9211-C3538550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6709-E2AF-8B42-98B5-28C674E66E3C}" type="datetime1">
              <a:rPr lang="en-US" smtClean="0"/>
              <a:t>10/16/22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1D848-357C-9B4D-BAB7-59626665E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7A124-F2DE-EE4D-80F5-4644D8AD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81302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1709E4-A6C6-E84F-8CC1-0036C207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4A80-4053-0E4F-B924-CDD895C79E75}" type="datetime1">
              <a:rPr lang="en-US" smtClean="0"/>
              <a:t>10/16/22</a:t>
            </a:fld>
            <a:endParaRPr lang="en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9BD9CF-C6A8-934D-A295-F5F20B6E8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4B80A-75AB-5D44-8250-67C3DD7F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200518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AE720-CBB1-9947-AC14-8E0B813E8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29770-929F-1545-9432-12D918444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58383-6096-9D44-B278-CF544B2D4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C41FF5-35A1-7343-AD26-C244B9F01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D083-E8AB-2E40-9328-E1894F74BA4F}" type="datetime1">
              <a:rPr lang="en-US" smtClean="0"/>
              <a:t>10/16/22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CD350-2FD0-3540-BD5D-25B334C09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8A238-AB38-2440-8678-0339BC5A3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497031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D05F6-B4FD-884F-A095-221086C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09F31F-5E61-C943-AEA0-E0F226E5E7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B14B8-7506-3F4B-88E1-4DCDC02D7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ABEBC-EE4E-1240-B7C7-1B38CCA5F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0407-81DF-544B-971E-FD890ADFB05E}" type="datetime1">
              <a:rPr lang="en-US" smtClean="0"/>
              <a:t>10/16/22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66AC1-B516-B741-AAFA-2C21E151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7A36D-473B-284D-B10F-40D8B678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2279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44B9-FEB1-524F-840C-CA403BE1D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7357A-1B21-2E4C-8EB8-EF84AA35E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03CEB-AB8B-074C-9099-E20E8F708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8D92-4EE3-3F48-B9F4-6B6DDBC23CD4}" type="datetime1">
              <a:rPr lang="en-US" smtClean="0"/>
              <a:t>10/16/22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3D505-5595-1548-B969-680F8F9EC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57BE0-0D7F-F547-A038-5BFF06AB7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66558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90DC62-64BD-744D-84EA-69735A02F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FB3755-A485-A846-9AD9-66E19602B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CE307-16B4-5749-BFE9-58D73375E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0B20-D8E1-4641-922C-8645E885DF51}" type="datetime1">
              <a:rPr lang="en-US" smtClean="0"/>
              <a:t>10/16/22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B114B-6687-2047-A12C-D4A54B3B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54091-1F4A-8F4F-ADC9-1A8205088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5770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D3207B-5DF3-B14C-9AC5-DA2C3E7E7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B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9FB65-ADFB-9E4E-B234-BCD226391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C4FE1-715E-3641-9827-23E6EBE6E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27D02-1BD7-3C48-B346-0AD4755EB8F7}" type="datetime1">
              <a:rPr lang="en-US" smtClean="0"/>
              <a:t>10/16/22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756E9-9EB3-BB49-8CD7-6D58527D2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Prof. Dr. Linder Cândido da Silva</a:t>
            </a:r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BBB85-0C74-1343-90D2-451312B09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2BB99-5A3C-8543-8976-67381C1DCE7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761279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FF0000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75000"/>
          </a:schemeClr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itchFamily="2" charset="2"/>
        <a:buChar char="ü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AAAEF-AB51-6A41-AFD2-78F42D0BB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1921" y="204514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BR" dirty="0"/>
              <a:t>Processamento de Imagens</a:t>
            </a:r>
            <a:br>
              <a:rPr lang="en-BR" dirty="0"/>
            </a:br>
            <a:br>
              <a:rPr lang="en-BR" dirty="0"/>
            </a:br>
            <a:br>
              <a:rPr lang="en-BR" dirty="0"/>
            </a:br>
            <a:r>
              <a:rPr lang="en-BR" sz="4000" dirty="0"/>
              <a:t>Aula 5</a:t>
            </a:r>
            <a:br>
              <a:rPr lang="en-BR" sz="4000" dirty="0"/>
            </a:br>
            <a:r>
              <a:rPr lang="en-BR" sz="4000" dirty="0"/>
              <a:t> Transformações no Domínio Espacial </a:t>
            </a:r>
            <a:br>
              <a:rPr lang="en-BR" sz="4000" dirty="0"/>
            </a:br>
            <a:endParaRPr lang="en-BR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D63F9A-B5C3-D34D-9B0E-27058D1A0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9020" y="3423741"/>
            <a:ext cx="11822980" cy="3175981"/>
          </a:xfrm>
        </p:spPr>
        <p:txBody>
          <a:bodyPr>
            <a:normAutofit fontScale="92500" lnSpcReduction="10000"/>
          </a:bodyPr>
          <a:lstStyle/>
          <a:p>
            <a:endParaRPr lang="en-BR" dirty="0"/>
          </a:p>
          <a:p>
            <a:r>
              <a:rPr lang="en-BR" sz="2200" dirty="0"/>
              <a:t>(filtros espaciais passa-alta, passa-banda, e combinação de métodos)</a:t>
            </a:r>
          </a:p>
          <a:p>
            <a:endParaRPr lang="en-BR" dirty="0"/>
          </a:p>
          <a:p>
            <a:endParaRPr lang="en-BR" dirty="0"/>
          </a:p>
          <a:p>
            <a:endParaRPr lang="en-BR" dirty="0"/>
          </a:p>
          <a:p>
            <a:r>
              <a:rPr lang="en-BR" dirty="0"/>
              <a:t>Prof. Dr. Linder Cândido da Silva</a:t>
            </a:r>
          </a:p>
          <a:p>
            <a:endParaRPr lang="en-BR" dirty="0"/>
          </a:p>
          <a:p>
            <a:r>
              <a:rPr lang="en-BR" dirty="0"/>
              <a:t>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7C894-4F87-F64C-9EE6-81D05CF23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1</a:t>
            </a:fld>
            <a:endParaRPr lang="en-B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35A5F6B-A196-7F40-8EA6-5006699DDBF5}"/>
                  </a:ext>
                </a:extLst>
              </p14:cNvPr>
              <p14:cNvContentPartPr/>
              <p14:nvPr/>
            </p14:nvContentPartPr>
            <p14:xfrm>
              <a:off x="4786222" y="6784520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35A5F6B-A196-7F40-8EA6-5006699DDB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71102" y="6769040"/>
                <a:ext cx="30960" cy="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4586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40DD0-1E27-DB4E-8DEC-BF56C1AC1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627"/>
            <a:ext cx="10515600" cy="1325563"/>
          </a:xfrm>
        </p:spPr>
        <p:txBody>
          <a:bodyPr/>
          <a:lstStyle/>
          <a:p>
            <a:r>
              <a:rPr lang="en-BR" dirty="0"/>
              <a:t>Relembrando...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98EBEB9-BFA8-5D40-8E16-FFB1C9F4A5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4573" y="2568619"/>
            <a:ext cx="4989227" cy="81541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FE999-76BF-3449-A0D6-94479FF8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2</a:t>
            </a:fld>
            <a:endParaRPr lang="en-BR"/>
          </a:p>
        </p:txBody>
      </p:sp>
      <p:pic>
        <p:nvPicPr>
          <p:cNvPr id="5" name="Picture 4" descr="conv.png">
            <a:extLst>
              <a:ext uri="{FF2B5EF4-FFF2-40B4-BE49-F238E27FC236}">
                <a16:creationId xmlns:a16="http://schemas.microsoft.com/office/drawing/2014/main" id="{30E46384-4F1C-CD47-BEF3-88D23ECF0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5" y="1825625"/>
            <a:ext cx="5913165" cy="40505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69478E-51F7-AE43-ACF3-5370ACB87450}"/>
              </a:ext>
            </a:extLst>
          </p:cNvPr>
          <p:cNvSpPr txBox="1"/>
          <p:nvPr/>
        </p:nvSpPr>
        <p:spPr>
          <a:xfrm>
            <a:off x="1268389" y="4507438"/>
            <a:ext cx="17317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K</a:t>
            </a:r>
            <a:r>
              <a:rPr lang="pt-BR" i="1" dirty="0" err="1"/>
              <a:t>ernel</a:t>
            </a:r>
            <a:r>
              <a:rPr lang="pt-BR" b="1" dirty="0"/>
              <a:t> </a:t>
            </a:r>
            <a:r>
              <a:rPr lang="pt-BR" i="1" dirty="0" err="1"/>
              <a:t>w</a:t>
            </a:r>
            <a:endParaRPr lang="pt-BR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82D050-4BBD-2246-B548-E73810DA205B}"/>
              </a:ext>
            </a:extLst>
          </p:cNvPr>
          <p:cNvSpPr txBox="1"/>
          <p:nvPr/>
        </p:nvSpPr>
        <p:spPr>
          <a:xfrm>
            <a:off x="2507519" y="4827587"/>
            <a:ext cx="1441640" cy="338554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pt-BR" sz="1600" dirty="0"/>
              <a:t>Pixel destino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18354-7979-DB40-BE4F-B68FEDD7EFB4}"/>
              </a:ext>
            </a:extLst>
          </p:cNvPr>
          <p:cNvSpPr txBox="1"/>
          <p:nvPr/>
        </p:nvSpPr>
        <p:spPr>
          <a:xfrm>
            <a:off x="7656649" y="2087234"/>
            <a:ext cx="2476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u="sng" dirty="0"/>
              <a:t>Matematicamente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02A3D7-B322-FE49-93CF-B18ED275EA67}"/>
              </a:ext>
            </a:extLst>
          </p:cNvPr>
          <p:cNvSpPr txBox="1"/>
          <p:nvPr/>
        </p:nvSpPr>
        <p:spPr>
          <a:xfrm>
            <a:off x="3293276" y="5856675"/>
            <a:ext cx="1981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Imagem de saída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4563E-ECD4-3747-9CAB-C47E78A9FA42}"/>
              </a:ext>
            </a:extLst>
          </p:cNvPr>
          <p:cNvSpPr txBox="1"/>
          <p:nvPr/>
        </p:nvSpPr>
        <p:spPr>
          <a:xfrm>
            <a:off x="57420" y="1794847"/>
            <a:ext cx="1151009" cy="58477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pt-BR" sz="1600" dirty="0"/>
              <a:t>Pixel central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7EA40D-DAB6-104B-ADBD-8B58D0C085BC}"/>
              </a:ext>
            </a:extLst>
          </p:cNvPr>
          <p:cNvSpPr txBox="1"/>
          <p:nvPr/>
        </p:nvSpPr>
        <p:spPr>
          <a:xfrm>
            <a:off x="6790545" y="3627620"/>
            <a:ext cx="466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dirty="0"/>
              <a:t>Colocado dessa forma, esse procedimento é conhecido como </a:t>
            </a:r>
            <a:r>
              <a:rPr lang="en-BR" b="1" dirty="0"/>
              <a:t>correlação.</a:t>
            </a:r>
          </a:p>
        </p:txBody>
      </p:sp>
    </p:spTree>
    <p:extLst>
      <p:ext uri="{BB962C8B-B14F-4D97-AF65-F5344CB8AC3E}">
        <p14:creationId xmlns:p14="http://schemas.microsoft.com/office/powerpoint/2010/main" val="353626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40DD0-1E27-DB4E-8DEC-BF56C1AC1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74627"/>
            <a:ext cx="10515600" cy="701673"/>
          </a:xfrm>
        </p:spPr>
        <p:txBody>
          <a:bodyPr/>
          <a:lstStyle/>
          <a:p>
            <a:r>
              <a:rPr lang="en-BR" dirty="0"/>
              <a:t>Relembrando...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B0466E7-7AA2-2843-A79E-D1B3D017D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55690"/>
            <a:ext cx="3987800" cy="701673"/>
          </a:xfrm>
        </p:spPr>
        <p:txBody>
          <a:bodyPr/>
          <a:lstStyle/>
          <a:p>
            <a:r>
              <a:rPr lang="pt-BR" u="sng" dirty="0">
                <a:latin typeface="Calibri Light" panose="020F0302020204030204" pitchFamily="34" charset="0"/>
                <a:cs typeface="Calibri Light" panose="020F0302020204030204" pitchFamily="34" charset="0"/>
              </a:rPr>
              <a:t>Para suavização vimos</a:t>
            </a:r>
            <a:r>
              <a:rPr lang="pt-BR" dirty="0">
                <a:latin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AF5EE11-AF83-8745-AA1C-B3ECB33FB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49500"/>
            <a:ext cx="2616200" cy="2222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2385378-A869-C645-ACCB-40CE95EFE962}"/>
              </a:ext>
            </a:extLst>
          </p:cNvPr>
          <p:cNvSpPr txBox="1"/>
          <p:nvPr/>
        </p:nvSpPr>
        <p:spPr>
          <a:xfrm>
            <a:off x="431800" y="5087938"/>
            <a:ext cx="424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+mj-lt"/>
              </a:rPr>
              <a:t>O filtros box correspondem  a uma média aritmética dos pixels envolvidos pelo filtro.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8CC3CA76-3792-1847-BF1C-8F547618FB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08167" y="1859347"/>
                <a:ext cx="3517900" cy="10064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Wingdings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F0000"/>
                  </a:buClr>
                  <a:buFont typeface="Wingdings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>
                      <a:lumMod val="75000"/>
                    </a:schemeClr>
                  </a:buClr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B050"/>
                  </a:buClr>
                  <a:buFont typeface="Wingdings" pitchFamily="2" charset="2"/>
                  <a:buChar char="ü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" pitchFamily="2" charset="2"/>
                  <a:buNone/>
                </a:pPr>
                <a:endParaRPr lang="pt-BR" dirty="0"/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pt-BR" dirty="0"/>
              </a:p>
              <a:p>
                <a:endParaRPr lang="pt-BR" dirty="0"/>
              </a:p>
              <a:p>
                <a:pPr marL="0" indent="0">
                  <a:buFont typeface="Wingdings" pitchFamily="2" charset="2"/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8CC3CA76-3792-1847-BF1C-8F547618F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167" y="1859347"/>
                <a:ext cx="3517900" cy="10064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B8440DF-7229-A34C-8883-9FA1341C3826}"/>
                  </a:ext>
                </a:extLst>
              </p:cNvPr>
              <p:cNvSpPr txBox="1"/>
              <p:nvPr/>
            </p:nvSpPr>
            <p:spPr>
              <a:xfrm>
                <a:off x="5091929" y="5299786"/>
                <a:ext cx="31190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/>
                  <a:t> filtro gaussiano </a:t>
                </a:r>
                <a:r>
                  <a:rPr lang="pt-BR" dirty="0" err="1"/>
                  <a:t>exe</a:t>
                </a:r>
                <a:r>
                  <a:rPr lang="pt-BR" dirty="0"/>
                  <a:t>, </a:t>
                </a:r>
                <a:r>
                  <a:rPr lang="pt-BR" i="1" dirty="0" err="1"/>
                  <a:t>k</a:t>
                </a:r>
                <a:r>
                  <a:rPr lang="pt-BR" dirty="0"/>
                  <a:t>=1 e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dirty="0"/>
                  <a:t>=1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B8440DF-7229-A34C-8883-9FA1341C3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929" y="5299786"/>
                <a:ext cx="3119006" cy="369332"/>
              </a:xfrm>
              <a:prstGeom prst="rect">
                <a:avLst/>
              </a:prstGeom>
              <a:blipFill>
                <a:blip r:embed="rId4"/>
                <a:stretch>
                  <a:fillRect t="-6897" r="-813" b="-275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C8BC3F8F-D1AC-454B-BD25-F6C52F51D3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1022" y="3123512"/>
            <a:ext cx="2882900" cy="219493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B5AF7CF-A96F-3A42-AA69-613938E14AAD}"/>
              </a:ext>
            </a:extLst>
          </p:cNvPr>
          <p:cNvSpPr txBox="1"/>
          <p:nvPr/>
        </p:nvSpPr>
        <p:spPr>
          <a:xfrm>
            <a:off x="5130286" y="5814601"/>
            <a:ext cx="3517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+mj-lt"/>
              </a:rPr>
              <a:t>O filtros gaussianos correspondem  a uma média ponderada dos pixels envolvidos pelo filtro.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2DB5C2-8DFA-2D47-9872-EAF867AF901E}"/>
              </a:ext>
            </a:extLst>
          </p:cNvPr>
          <p:cNvSpPr txBox="1"/>
          <p:nvPr/>
        </p:nvSpPr>
        <p:spPr>
          <a:xfrm>
            <a:off x="1132378" y="4460637"/>
            <a:ext cx="2180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 filtro box 3x3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4FEF34D-F22D-CD47-BE13-E779DD91976C}"/>
              </a:ext>
            </a:extLst>
          </p:cNvPr>
          <p:cNvCxnSpPr>
            <a:cxnSpLocks/>
          </p:cNvCxnSpPr>
          <p:nvPr/>
        </p:nvCxnSpPr>
        <p:spPr>
          <a:xfrm>
            <a:off x="9019853" y="2057400"/>
            <a:ext cx="0" cy="393408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1A8463B-D4E6-164C-8729-EE3CB17940EB}"/>
              </a:ext>
            </a:extLst>
          </p:cNvPr>
          <p:cNvCxnSpPr>
            <a:cxnSpLocks/>
          </p:cNvCxnSpPr>
          <p:nvPr/>
        </p:nvCxnSpPr>
        <p:spPr>
          <a:xfrm>
            <a:off x="4673600" y="2057400"/>
            <a:ext cx="0" cy="393408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974B5BC-8B37-0F43-B1B4-74D31DE7FA3C}"/>
              </a:ext>
            </a:extLst>
          </p:cNvPr>
          <p:cNvSpPr txBox="1"/>
          <p:nvPr/>
        </p:nvSpPr>
        <p:spPr>
          <a:xfrm>
            <a:off x="9131820" y="3571381"/>
            <a:ext cx="27553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Filtro não linear da mediana, que atribui ao pixel de saída a mediana dos valores dos pixels numa vizinhança especificada.</a:t>
            </a:r>
          </a:p>
        </p:txBody>
      </p:sp>
    </p:spTree>
    <p:extLst>
      <p:ext uri="{BB962C8B-B14F-4D97-AF65-F5344CB8AC3E}">
        <p14:creationId xmlns:p14="http://schemas.microsoft.com/office/powerpoint/2010/main" val="2941405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C2C86-C34A-A54C-8472-34BF62025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73"/>
            <a:ext cx="10515600" cy="1325563"/>
          </a:xfrm>
        </p:spPr>
        <p:txBody>
          <a:bodyPr/>
          <a:lstStyle/>
          <a:p>
            <a:r>
              <a:rPr lang="pt-BR" dirty="0"/>
              <a:t>Filtros espaciais passa alta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F5222-0FB5-7145-9CE1-85E7475B7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165224"/>
            <a:ext cx="10845800" cy="5083175"/>
          </a:xfrm>
        </p:spPr>
        <p:txBody>
          <a:bodyPr>
            <a:noAutofit/>
          </a:bodyPr>
          <a:lstStyle/>
          <a:p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Como vimos, a </a:t>
            </a:r>
            <a:r>
              <a:rPr lang="pt-BR" sz="24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convolução</a:t>
            </a:r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 de imagens com filtros espaciais </a:t>
            </a:r>
            <a:r>
              <a:rPr lang="pt-BR" sz="24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linerare</a:t>
            </a:r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4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passa-baixas</a:t>
            </a:r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resulta em uma média localizada cujo efeito é a suavização da imagem. Lembre-se da estatística que as médias (valor esperado) correspondem a uma operação de integração. </a:t>
            </a:r>
          </a:p>
          <a:p>
            <a:pPr lvl="1"/>
            <a:r>
              <a:rPr lang="pt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Filtros Box: média aritmética simples.</a:t>
            </a:r>
          </a:p>
          <a:p>
            <a:pPr lvl="1"/>
            <a:r>
              <a:rPr lang="pt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Filtros Gaussianos: média ponderada que dá mais peso aos pixels próximos ao ponto de interesse.</a:t>
            </a:r>
          </a:p>
          <a:p>
            <a:pPr marL="0" indent="0">
              <a:buNone/>
            </a:pPr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A </a:t>
            </a:r>
            <a:r>
              <a:rPr lang="pt-BR" sz="24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convolução</a:t>
            </a:r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de imagens com filtros passa-alta tem </a:t>
            </a:r>
            <a:r>
              <a:rPr lang="pt-BR" sz="2400" u="sng" dirty="0">
                <a:latin typeface="Calibri Light" panose="020F0302020204030204" pitchFamily="34" charset="0"/>
                <a:cs typeface="Calibri Light" panose="020F0302020204030204" pitchFamily="34" charset="0"/>
              </a:rPr>
              <a:t>efeito oposto</a:t>
            </a:r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, isto é,  as transições bruscas, como os contornos e os ruídos, são enfatizados. Como os filtros passa alta tem o efeito oposto ao dos filtros </a:t>
            </a:r>
            <a:r>
              <a:rPr lang="pt-BR" sz="24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passa-baixas</a:t>
            </a:r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, eles estão associados a uma operação derivativa.</a:t>
            </a:r>
          </a:p>
          <a:p>
            <a:pPr lvl="1"/>
            <a:r>
              <a:rPr lang="pt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Sobel: baseado na derivada primeira.</a:t>
            </a:r>
          </a:p>
          <a:p>
            <a:pPr lvl="1"/>
            <a:r>
              <a:rPr lang="pt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Laplaciana: baseado na derivada segunda.</a:t>
            </a:r>
          </a:p>
          <a:p>
            <a:pPr marL="0" indent="0">
              <a:buNone/>
            </a:pPr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46097-EACA-8F43-A69F-C665BAEE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53988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7C98-EE43-C949-B7BD-BA8EC07A2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69" y="136524"/>
            <a:ext cx="11607281" cy="1014410"/>
          </a:xfrm>
        </p:spPr>
        <p:txBody>
          <a:bodyPr>
            <a:normAutofit/>
          </a:bodyPr>
          <a:lstStyle/>
          <a:p>
            <a:r>
              <a:rPr lang="pt-BR" sz="3600" dirty="0"/>
              <a:t>A derivada primeira e sua aproximação por diferença finita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DE89DCA-79F0-AF4E-A93E-DACAF0FD664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03212" y="1354929"/>
                <a:ext cx="11050588" cy="5162552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ctr">
                  <a:buNone/>
                </a:pPr>
                <a:r>
                  <a:rPr lang="pt-BR" dirty="0">
                    <a:latin typeface="Cambria Math" panose="02040503050406030204" pitchFamily="18" charset="0"/>
                  </a:rPr>
                  <a:t>A definição de derivada parcial de uma função contínua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>
                    <a:latin typeface="Cambria Math" panose="02040503050406030204" pitchFamily="18" charset="0"/>
                  </a:rPr>
                  <a:t> em relação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>
                    <a:latin typeface="Cambria Math" panose="02040503050406030204" pitchFamily="18" charset="0"/>
                  </a:rPr>
                  <a:t>:</a:t>
                </a:r>
              </a:p>
              <a:p>
                <a:pPr marL="0" indent="0">
                  <a:buNone/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 algn="ctr">
                  <a:buNone/>
                </a:pPr>
                <a:r>
                  <a:rPr lang="pt-BR" dirty="0"/>
                  <a:t>Dado que uma imagem digital é </a:t>
                </a:r>
                <a:r>
                  <a:rPr lang="pt-BR" dirty="0" err="1"/>
                  <a:t>discretizada</a:t>
                </a:r>
                <a:r>
                  <a:rPr lang="pt-BR" dirty="0"/>
                  <a:t> em pixels, podemos aproximar essa derivada por diferenças finitas, da seguinte forma:</a:t>
                </a:r>
              </a:p>
              <a:p>
                <a:pPr marL="0" indent="0" algn="ctr">
                  <a:buNone/>
                </a:pPr>
                <a:endParaRPr lang="pt-BR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pt-BR" dirty="0"/>
              </a:p>
              <a:p>
                <a:pPr marL="0" indent="0" algn="ctr">
                  <a:buNone/>
                </a:pPr>
                <a:endParaRPr lang="pt-BR" dirty="0"/>
              </a:p>
              <a:p>
                <a:pPr marL="0" indent="0" algn="ctr">
                  <a:buNone/>
                </a:pPr>
                <a:r>
                  <a:rPr lang="pt-BR" dirty="0"/>
                  <a:t>Que é equivalente a fazer a </a:t>
                </a:r>
                <a:r>
                  <a:rPr lang="pt-BR" dirty="0" err="1"/>
                  <a:t>convolução</a:t>
                </a:r>
                <a:r>
                  <a:rPr lang="pt-BR" dirty="0"/>
                  <a:t> com o seguinte filtro</a:t>
                </a:r>
              </a:p>
              <a:p>
                <a:pPr marL="0" indent="0" algn="ctr">
                  <a:buNone/>
                </a:pPr>
                <a:endParaRPr lang="pt-BR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DE89DCA-79F0-AF4E-A93E-DACAF0FD66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03212" y="1354929"/>
                <a:ext cx="11050588" cy="5162552"/>
              </a:xfrm>
              <a:blipFill>
                <a:blip r:embed="rId2"/>
                <a:stretch>
                  <a:fillRect t="-24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4522E-C727-5840-BBD1-8CE826B1B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69825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67ED3-A80A-F74B-BEFB-AE05965DA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12"/>
            <a:ext cx="10515600" cy="1325563"/>
          </a:xfrm>
        </p:spPr>
        <p:txBody>
          <a:bodyPr>
            <a:normAutofit/>
          </a:bodyPr>
          <a:lstStyle/>
          <a:p>
            <a:r>
              <a:rPr lang="pt-BR" sz="3600" dirty="0"/>
              <a:t>Propriedades da derivada primeira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7AE14-0992-BB45-8FA0-B9F2DB6F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6</a:t>
            </a:fld>
            <a:endParaRPr lang="en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13B2FF-B3F8-7941-A9E9-9DF7BA516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531" y="1410775"/>
            <a:ext cx="11215395" cy="5083331"/>
          </a:xfrm>
        </p:spPr>
        <p:txBody>
          <a:bodyPr/>
          <a:lstStyle/>
          <a:p>
            <a:r>
              <a:rPr lang="pt-BR" dirty="0">
                <a:latin typeface="Calibri Light" panose="020F0302020204030204" pitchFamily="34" charset="0"/>
                <a:cs typeface="Calibri Light" panose="020F0302020204030204" pitchFamily="34" charset="0"/>
              </a:rPr>
              <a:t>Existem várias possibilidades de aproximações para a derivada primeira em um ponto da imagem, mas qualquer definição deve incorporar as seguintes propriedades:</a:t>
            </a:r>
          </a:p>
          <a:p>
            <a:pPr marL="0" indent="0">
              <a:buNone/>
            </a:pPr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dirty="0">
                <a:latin typeface="Calibri Light" panose="020F0302020204030204" pitchFamily="34" charset="0"/>
                <a:cs typeface="Calibri Light" panose="020F0302020204030204" pitchFamily="34" charset="0"/>
              </a:rPr>
              <a:t>Deve ser zero em áreas de intensidade constante.</a:t>
            </a:r>
          </a:p>
          <a:p>
            <a:pPr marL="514350" indent="-514350">
              <a:buFont typeface="+mj-lt"/>
              <a:buAutoNum type="arabicPeriod"/>
            </a:pPr>
            <a:r>
              <a:rPr lang="pt-PT" dirty="0">
                <a:latin typeface="Calibri Light" panose="020F0302020204030204" pitchFamily="34" charset="0"/>
                <a:cs typeface="Calibri Light" panose="020F0302020204030204" pitchFamily="34" charset="0"/>
              </a:rPr>
              <a:t>Deve ser diferente de zero no início de uma rampa.</a:t>
            </a:r>
          </a:p>
          <a:p>
            <a:pPr marL="514350" indent="-514350">
              <a:buFont typeface="+mj-lt"/>
              <a:buAutoNum type="arabicPeriod"/>
            </a:pPr>
            <a:r>
              <a:rPr lang="pt-PT" dirty="0">
                <a:latin typeface="Calibri Light" panose="020F0302020204030204" pitchFamily="34" charset="0"/>
                <a:cs typeface="Calibri Light" panose="020F0302020204030204" pitchFamily="34" charset="0"/>
              </a:rPr>
              <a:t>Deve ser diferente de zero um degrau (salto) de intensidade.</a:t>
            </a:r>
          </a:p>
          <a:p>
            <a:pPr marL="514350" indent="-514350">
              <a:buFont typeface="+mj-lt"/>
              <a:buAutoNum type="arabicPeriod"/>
            </a:pPr>
            <a:r>
              <a:rPr lang="pt-PT" dirty="0">
                <a:latin typeface="Calibri Light" panose="020F0302020204030204" pitchFamily="34" charset="0"/>
                <a:cs typeface="Calibri Light" panose="020F0302020204030204" pitchFamily="34" charset="0"/>
              </a:rPr>
              <a:t>Deve ser diferente de zero ao longo de rampas de intensidade.</a:t>
            </a:r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42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DE89DCA-79F0-AF4E-A93E-DACAF0FD664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03212" y="1405729"/>
                <a:ext cx="11050588" cy="5162552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pt-BR" dirty="0">
                    <a:latin typeface="Cambria Math" panose="02040503050406030204" pitchFamily="18" charset="0"/>
                  </a:rPr>
                  <a:t>Derivada parcial com relação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>
                    <a:latin typeface="Cambria Math" panose="02040503050406030204" pitchFamily="18" charset="0"/>
                  </a:rPr>
                  <a:t> de uma função contínua:</a:t>
                </a:r>
              </a:p>
              <a:p>
                <a:pPr marL="0" indent="0" algn="ctr">
                  <a:buNone/>
                </a:pPr>
                <a:endParaRPr lang="pt-BR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pt-B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pt-BR" dirty="0"/>
                  <a:t>)</a:t>
                </a:r>
              </a:p>
              <a:p>
                <a:pPr marL="0" indent="0" algn="ctr">
                  <a:buNone/>
                </a:pPr>
                <a:endParaRPr lang="pt-BR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  <a:p>
                <a:pPr marL="0" indent="0" algn="ctr">
                  <a:buNone/>
                </a:pPr>
                <a:endParaRPr lang="pt-BR" dirty="0"/>
              </a:p>
              <a:p>
                <a:pPr marL="0" indent="0" algn="ctr">
                  <a:buNone/>
                </a:pPr>
                <a:r>
                  <a:rPr lang="pt-BR" i="1" dirty="0"/>
                  <a:t>Fazendo um shift de 1 pixel para considerar uma vizinhança simétrica</a:t>
                </a:r>
              </a:p>
              <a:p>
                <a:pPr marL="0" indent="0" algn="ctr">
                  <a:buNone/>
                </a:pPr>
                <a:endParaRPr lang="pt-BR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  <a:p>
                <a:pPr marL="0" indent="0" algn="ctr">
                  <a:buNone/>
                </a:pPr>
                <a:endParaRPr lang="pt-BR" dirty="0"/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DE89DCA-79F0-AF4E-A93E-DACAF0FD66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03212" y="1405729"/>
                <a:ext cx="11050588" cy="5162552"/>
              </a:xfrm>
              <a:blipFill>
                <a:blip r:embed="rId2"/>
                <a:stretch>
                  <a:fillRect t="-27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4522E-C727-5840-BBD1-8CE826B1B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7</a:t>
            </a:fld>
            <a:endParaRPr lang="en-BR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688F53F-60DA-F146-9C0F-BA7E849CE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640" y="29228"/>
            <a:ext cx="11467060" cy="1325563"/>
          </a:xfrm>
        </p:spPr>
        <p:txBody>
          <a:bodyPr>
            <a:normAutofit/>
          </a:bodyPr>
          <a:lstStyle/>
          <a:p>
            <a:r>
              <a:rPr lang="pt-BR" sz="3600" dirty="0"/>
              <a:t>Derivada segunda e sua aproximação por diferenças finitas</a:t>
            </a:r>
          </a:p>
        </p:txBody>
      </p:sp>
    </p:spTree>
    <p:extLst>
      <p:ext uri="{BB962C8B-B14F-4D97-AF65-F5344CB8AC3E}">
        <p14:creationId xmlns:p14="http://schemas.microsoft.com/office/powerpoint/2010/main" val="1372504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67ED3-A80A-F74B-BEFB-AE05965DA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2" y="103873"/>
            <a:ext cx="11017898" cy="1325563"/>
          </a:xfrm>
        </p:spPr>
        <p:txBody>
          <a:bodyPr>
            <a:normAutofit/>
          </a:bodyPr>
          <a:lstStyle/>
          <a:p>
            <a:r>
              <a:rPr lang="pt-BR" sz="3600" dirty="0"/>
              <a:t>Propriedades da derivada segunda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7AE14-0992-BB45-8FA0-B9F2DB6F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8</a:t>
            </a:fld>
            <a:endParaRPr lang="en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13B2FF-B3F8-7941-A9E9-9DF7BA516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01" y="1429436"/>
            <a:ext cx="11420669" cy="4747527"/>
          </a:xfrm>
        </p:spPr>
        <p:txBody>
          <a:bodyPr>
            <a:normAutofit/>
          </a:bodyPr>
          <a:lstStyle/>
          <a:p>
            <a:r>
              <a:rPr lang="pt-BR" dirty="0">
                <a:latin typeface="Calibri Light" panose="020F0302020204030204" pitchFamily="34" charset="0"/>
                <a:cs typeface="Calibri Light" panose="020F0302020204030204" pitchFamily="34" charset="0"/>
              </a:rPr>
              <a:t>Similarmente ao caso da derivada primeira, qualquer definição aproximada de derivada segunda deve incorporar as seguintes propriedades:</a:t>
            </a:r>
          </a:p>
          <a:p>
            <a:pPr marL="0" indent="0">
              <a:buNone/>
            </a:pPr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dirty="0">
                <a:latin typeface="Calibri Light" panose="020F0302020204030204" pitchFamily="34" charset="0"/>
                <a:cs typeface="Calibri Light" panose="020F0302020204030204" pitchFamily="34" charset="0"/>
              </a:rPr>
              <a:t>Deve ser zero em áreas de intensidade constante.</a:t>
            </a:r>
          </a:p>
          <a:p>
            <a:pPr marL="514350" indent="-514350">
              <a:buFont typeface="+mj-lt"/>
              <a:buAutoNum type="arabicPeriod"/>
            </a:pPr>
            <a:r>
              <a:rPr lang="pt-PT" dirty="0">
                <a:latin typeface="Calibri Light" panose="020F0302020204030204" pitchFamily="34" charset="0"/>
                <a:cs typeface="Calibri Light" panose="020F0302020204030204" pitchFamily="34" charset="0"/>
              </a:rPr>
              <a:t>Deve ser diferente de zero no início e final de uma rampa ou degrau de intensidade.</a:t>
            </a:r>
          </a:p>
          <a:p>
            <a:pPr marL="514350" indent="-514350">
              <a:buFont typeface="+mj-lt"/>
              <a:buAutoNum type="arabicPeriod"/>
            </a:pPr>
            <a:r>
              <a:rPr lang="pt-PT" dirty="0">
                <a:latin typeface="Calibri Light" panose="020F0302020204030204" pitchFamily="34" charset="0"/>
                <a:cs typeface="Calibri Light" panose="020F0302020204030204" pitchFamily="34" charset="0"/>
              </a:rPr>
              <a:t>Deve ser zero ao longo de rampas de intensidade.</a:t>
            </a:r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199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0736D-0F22-0F4E-9EAC-F7A7B203B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9</a:t>
            </a:fld>
            <a:endParaRPr lang="en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DAC40B-761F-3243-98FC-FE63B5F85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" y="0"/>
            <a:ext cx="1012582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798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DEA5-CFB9-FA49-80E6-3343A606D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61884"/>
            <a:ext cx="11551298" cy="973096"/>
          </a:xfrm>
        </p:spPr>
        <p:txBody>
          <a:bodyPr/>
          <a:lstStyle/>
          <a:p>
            <a:r>
              <a:rPr lang="pt-BR" dirty="0"/>
              <a:t>Filtro </a:t>
            </a:r>
            <a:r>
              <a:rPr lang="pt-BR" dirty="0" err="1"/>
              <a:t>passa-altas</a:t>
            </a:r>
            <a:r>
              <a:rPr lang="pt-BR" dirty="0"/>
              <a:t>:  laplaciano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21F952-7451-DF43-8619-ED7F8CA74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2513" y="1078658"/>
                <a:ext cx="11290041" cy="4146485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pt-BR" sz="2400" u="sng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Laplaciana</a:t>
                </a:r>
              </a:p>
              <a:p>
                <a:pPr marL="0" indent="0" algn="ctr">
                  <a:buNone/>
                </a:pPr>
                <a:endParaRPr lang="pt-BR" sz="2400" u="sng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pt-B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pt-BR" sz="2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240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pt-BR" sz="2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pt-BR" sz="2400" dirty="0"/>
                  <a:t> </a:t>
                </a:r>
              </a:p>
              <a:p>
                <a:endParaRPr lang="pt-BR" sz="2400" dirty="0"/>
              </a:p>
              <a:p>
                <a:pPr marL="0" indent="0" algn="ctr">
                  <a:buNone/>
                </a:pPr>
                <a:r>
                  <a:rPr lang="pt-BR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Aproximando por diferenças finitas nas direções </a:t>
                </a:r>
                <a:r>
                  <a:rPr lang="pt-BR" sz="24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</a:t>
                </a:r>
                <a:r>
                  <a:rPr lang="pt-BR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e </a:t>
                </a:r>
                <a:r>
                  <a:rPr lang="pt-BR" sz="24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y</a:t>
                </a:r>
                <a:r>
                  <a:rPr lang="pt-BR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, obtemos:</a:t>
                </a:r>
              </a:p>
              <a:p>
                <a:endParaRPr lang="pt-BR" sz="2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pt-BR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+1,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−1,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pt-BR" sz="2400" b="0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pt-BR" sz="2400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pt-BR" sz="2400" dirty="0">
                    <a:latin typeface="Calibri Light" panose="020F0302020204030204" pitchFamily="34" charset="0"/>
                    <a:ea typeface="Cambria Math" panose="02040503050406030204" pitchFamily="18" charset="0"/>
                    <a:cs typeface="Calibri Light" panose="020F0302020204030204" pitchFamily="34" charset="0"/>
                  </a:rPr>
                  <a:t>Que pode ser calculada pela </a:t>
                </a:r>
                <a:r>
                  <a:rPr lang="pt-BR" sz="2400" dirty="0" err="1">
                    <a:latin typeface="Calibri Light" panose="020F0302020204030204" pitchFamily="34" charset="0"/>
                    <a:ea typeface="Cambria Math" panose="02040503050406030204" pitchFamily="18" charset="0"/>
                    <a:cs typeface="Calibri Light" panose="020F0302020204030204" pitchFamily="34" charset="0"/>
                  </a:rPr>
                  <a:t>convolução</a:t>
                </a:r>
                <a:r>
                  <a:rPr lang="pt-BR" sz="2400" dirty="0">
                    <a:latin typeface="Calibri Light" panose="020F0302020204030204" pitchFamily="34" charset="0"/>
                    <a:ea typeface="Cambria Math" panose="02040503050406030204" pitchFamily="18" charset="0"/>
                    <a:cs typeface="Calibri Light" panose="020F0302020204030204" pitchFamily="34" charset="0"/>
                  </a:rPr>
                  <a:t> com o seguinte filtro</a:t>
                </a:r>
              </a:p>
              <a:p>
                <a:pPr marL="0" indent="0" algn="ctr">
                  <a:buNone/>
                </a:pPr>
                <a:endParaRPr lang="pt-BR" sz="2400" dirty="0"/>
              </a:p>
              <a:p>
                <a:pPr marL="0" indent="0" algn="ctr">
                  <a:buNone/>
                </a:pPr>
                <a:endParaRPr lang="pt-BR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21F952-7451-DF43-8619-ED7F8CA74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2513" y="1078658"/>
                <a:ext cx="11290041" cy="4146485"/>
              </a:xfrm>
              <a:blipFill>
                <a:blip r:embed="rId2"/>
                <a:stretch>
                  <a:fillRect t="-2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B7BC4-6D41-B94B-9482-6FA1C642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10</a:t>
            </a:fld>
            <a:endParaRPr lang="en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F9EEB6-3217-4D4E-802A-CE9A8DF98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040" y="5049615"/>
            <a:ext cx="1657350" cy="159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800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31975-69DC-B849-914A-E90172F3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016"/>
            <a:ext cx="10515600" cy="1325563"/>
          </a:xfrm>
        </p:spPr>
        <p:txBody>
          <a:bodyPr>
            <a:normAutofit/>
          </a:bodyPr>
          <a:lstStyle/>
          <a:p>
            <a:r>
              <a:rPr lang="pt-BR" sz="3600" dirty="0"/>
              <a:t>Variações do filtro laplaciano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A71A3-FEE4-3D4D-810D-EA9DF9A3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929" y="1651436"/>
            <a:ext cx="10720871" cy="981075"/>
          </a:xfrm>
        </p:spPr>
        <p:txBody>
          <a:bodyPr/>
          <a:lstStyle/>
          <a:p>
            <a:r>
              <a:rPr lang="pt-BR" dirty="0">
                <a:latin typeface="Calibri Light" panose="020F0302020204030204" pitchFamily="34" charset="0"/>
                <a:cs typeface="Calibri Light" panose="020F0302020204030204" pitchFamily="34" charset="0"/>
              </a:rPr>
              <a:t>Variações do filtro laplaciano, as quais capturam as mesmas propriedades:</a:t>
            </a:r>
          </a:p>
          <a:p>
            <a:pPr marL="0" indent="0">
              <a:buNone/>
            </a:pPr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93B05-75C8-864B-9BB6-F8E4F6242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11</a:t>
            </a:fld>
            <a:endParaRPr lang="en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D9DCD1-296A-1A49-8FDE-76A594DDB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4229"/>
            <a:ext cx="91313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790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03872-B433-E447-90B2-9B75DF7CA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061" y="136523"/>
            <a:ext cx="11849878" cy="1325563"/>
          </a:xfrm>
        </p:spPr>
        <p:txBody>
          <a:bodyPr>
            <a:normAutofit/>
          </a:bodyPr>
          <a:lstStyle/>
          <a:p>
            <a:r>
              <a:rPr lang="pt-BR" sz="3600" dirty="0"/>
              <a:t>Aplicação: aguçamento de imagens usando o filtro laplaciano.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FDD6C-BB41-8947-A232-18C358347D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3224" y="1462086"/>
                <a:ext cx="10980576" cy="4714877"/>
              </a:xfrm>
            </p:spPr>
            <p:txBody>
              <a:bodyPr>
                <a:normAutofit fontScale="92500"/>
              </a:bodyPr>
              <a:lstStyle/>
              <a:p>
                <a:r>
                  <a:rPr lang="pt-BR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Procedimento:</a:t>
                </a:r>
              </a:p>
              <a:p>
                <a:endParaRPr lang="pt-BR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Suavizar a imagem com um filtro gaussiano para eliminar pequenos ruídos.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pt-BR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Calcular laplaciana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da imagem de entrada.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 laplaciana destacará transições abruptas de intensidade.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pt-BR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Usar a laplaciana para aguçar a imagem de entrada: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pt-BR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</a:p>
              <a:p>
                <a:pPr lvl="1"/>
                <a:r>
                  <a:rPr lang="pt-BR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 = -1 se os filtros com centros negativos são usados e </a:t>
                </a:r>
                <a:r>
                  <a:rPr lang="pt-BR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</a:t>
                </a:r>
                <a:r>
                  <a:rPr lang="pt-BR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=1 se os filtros com centros positivos são usados.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FDD6C-BB41-8947-A232-18C358347D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3224" y="1462086"/>
                <a:ext cx="10980576" cy="4714877"/>
              </a:xfrm>
              <a:blipFill>
                <a:blip r:embed="rId2"/>
                <a:stretch>
                  <a:fillRect l="-1040" t="-2156" b="-8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0EB6B-F434-CD4D-9A80-520112784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12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78963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E2827-08AA-C24C-8737-08BF38446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13</a:t>
            </a:fld>
            <a:endParaRPr lang="en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064F6C-1641-554C-92D3-4FEBABB9E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851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606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4EEDE7-1CE6-064F-A4DF-1BD291D11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3"/>
            <a:ext cx="105156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Aplicação: aguçamento com máscara de suavização (</a:t>
            </a:r>
            <a:r>
              <a:rPr lang="pt-BR" sz="3200" i="1" dirty="0" err="1"/>
              <a:t>unsharp</a:t>
            </a:r>
            <a:r>
              <a:rPr lang="pt-BR" sz="3200" i="1" dirty="0"/>
              <a:t> </a:t>
            </a:r>
            <a:r>
              <a:rPr lang="pt-BR" sz="3200" i="1" dirty="0" err="1"/>
              <a:t>mask</a:t>
            </a:r>
            <a:r>
              <a:rPr lang="pt-BR" sz="32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E40952-DF40-3F4B-B288-71E95D168F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pt-BR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Obtenha a imagem suavizada,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acc>
                  </m:oMath>
                </a14:m>
                <a:r>
                  <a:rPr lang="pt-BR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, </a:t>
                </a:r>
                <a:r>
                  <a:rPr lang="pt-BR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convoluindo</a:t>
                </a:r>
                <a:r>
                  <a:rPr lang="pt-BR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um filtro gaussiano com a imagem original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pt-BR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pt-BR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Calcule a máscara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acc>
                  </m:oMath>
                </a14:m>
                <a:r>
                  <a:rPr lang="pt-BR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pt-BR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Adicione a máscara à imagem original para obter a imagem aguçada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cg</m:t>
                    </m:r>
                  </m:oMath>
                </a14:m>
                <a:r>
                  <a:rPr lang="pt-BR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 Onde </a:t>
                </a:r>
                <a:r>
                  <a:rPr lang="pt-BR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</a:t>
                </a:r>
                <a:r>
                  <a:rPr lang="pt-BR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é um fator de amplificação.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E40952-DF40-3F4B-B288-71E95D168F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8" t="-2332" r="-6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73E976-48C1-3A40-90B2-CD87498A3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14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7989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54B522-B12B-C146-BC19-EBFFE5384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15</a:t>
            </a:fld>
            <a:endParaRPr lang="en-B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676505-66AB-0946-A4B2-8DAA0831F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0" y="635000"/>
            <a:ext cx="867410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77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9C78F7-A655-0144-B52C-FE489C58A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3"/>
            <a:ext cx="105156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Filtros de aguçamento usando derivadas de primeira ordem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96E1C-B58D-DE40-B153-BE5563A09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8100"/>
            <a:ext cx="10515600" cy="4868863"/>
          </a:xfrm>
        </p:spPr>
        <p:txBody>
          <a:bodyPr>
            <a:normAutofit/>
          </a:bodyPr>
          <a:lstStyle/>
          <a:p>
            <a:r>
              <a:rPr lang="pt-BR" u="sng" dirty="0">
                <a:latin typeface="Calibri Light" panose="020F0302020204030204" pitchFamily="34" charset="0"/>
                <a:cs typeface="Calibri Light" panose="020F0302020204030204" pitchFamily="34" charset="0"/>
              </a:rPr>
              <a:t>Gradiente</a:t>
            </a:r>
            <a:r>
              <a:rPr lang="pt-BR" dirty="0">
                <a:latin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0" indent="0">
              <a:buNone/>
            </a:pPr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pt-BR" dirty="0">
                <a:latin typeface="Calibri Light" panose="020F0302020204030204" pitchFamily="34" charset="0"/>
                <a:cs typeface="Calibri Light" panose="020F0302020204030204" pitchFamily="34" charset="0"/>
              </a:rPr>
              <a:t>O gradiente é o vetor formado pelas derivadas parciais de uma função escalar.</a:t>
            </a:r>
          </a:p>
          <a:p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pt-BR" dirty="0">
                <a:latin typeface="Calibri Light" panose="020F0302020204030204" pitchFamily="34" charset="0"/>
                <a:cs typeface="Calibri Light" panose="020F0302020204030204" pitchFamily="34" charset="0"/>
              </a:rPr>
              <a:t>Sua principal propriedade é que ele aponta para a direção de maior aumento da função.</a:t>
            </a:r>
          </a:p>
          <a:p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014C7A-9000-9D48-A6F1-62F1EA6B5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16</a:t>
            </a:fld>
            <a:endParaRPr lang="en-BR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B1AF10C6-9A7E-544A-9FE7-A1B14BEF6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350" y="3258344"/>
            <a:ext cx="35433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04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C495-3924-F349-9BBD-011844450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12" y="136523"/>
            <a:ext cx="11513976" cy="1325563"/>
          </a:xfrm>
        </p:spPr>
        <p:txBody>
          <a:bodyPr>
            <a:normAutofit/>
          </a:bodyPr>
          <a:lstStyle/>
          <a:p>
            <a:r>
              <a:rPr lang="pt-BR" sz="3600" dirty="0"/>
              <a:t>Filtros de aguçamento usando derivadas de primeira ordem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85F6A-E9D9-924E-A328-89967C9C3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17</a:t>
            </a:fld>
            <a:endParaRPr lang="en-BR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442F2CF-4EA3-1043-A820-7596B8D79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013" y="1462086"/>
            <a:ext cx="11193624" cy="4714877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Como já mencionado, existem várias possibilidades para especificar de forma aproximada o valor das derivadas primeiras. O mais é que a definição usada seja zero em áreas de intensidade constante, </a:t>
            </a:r>
            <a:r>
              <a:rPr lang="pt-PT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seja diferente de zero no início de uma rampa ou degrau de intensidade e seja diferente de zero ao longo de rampas de intensidade.</a:t>
            </a:r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Uma das aproximações mais utilizadas são as dadas pelos </a:t>
            </a:r>
            <a:r>
              <a:rPr lang="pt-BR" sz="2400" u="sng" dirty="0">
                <a:latin typeface="Calibri Light" panose="020F0302020204030204" pitchFamily="34" charset="0"/>
                <a:cs typeface="Calibri Light" panose="020F0302020204030204" pitchFamily="34" charset="0"/>
              </a:rPr>
              <a:t>filtros de </a:t>
            </a:r>
            <a:r>
              <a:rPr lang="pt-BR" sz="2400" u="sng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sobel</a:t>
            </a:r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310495-BFA5-3441-B3BF-2AB5CFCC1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4134630"/>
            <a:ext cx="43434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556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C495-3924-F349-9BBD-011844450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Filtros de aguçamento usando derivadas de primeira ordem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85F6A-E9D9-924E-A328-89967C9C3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18</a:t>
            </a:fld>
            <a:endParaRPr lang="en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442F2CF-4EA3-1043-A820-7596B8D79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alibri Light" panose="020F0302020204030204" pitchFamily="34" charset="0"/>
                <a:cs typeface="Calibri Light" panose="020F0302020204030204" pitchFamily="34" charset="0"/>
              </a:rPr>
              <a:t>A magnitude do vetor gradiente indica a taxa de variação na direção do gradiente.</a:t>
            </a:r>
          </a:p>
          <a:p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pt-BR" dirty="0">
                <a:latin typeface="Calibri Light" panose="020F0302020204030204" pitchFamily="34" charset="0"/>
                <a:cs typeface="Calibri Light" panose="020F0302020204030204" pitchFamily="34" charset="0"/>
              </a:rPr>
              <a:t>No contexto de processamento de imagens, indica taxa de variação da intensidade.</a:t>
            </a:r>
          </a:p>
          <a:p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pt-B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FDBA04-AFA3-7543-8A3C-A8E1AD2F2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0" y="3251200"/>
            <a:ext cx="50292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174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00141-3B13-8240-9F34-A867E7B0F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alibri Light" panose="020F0302020204030204" pitchFamily="34" charset="0"/>
                <a:cs typeface="Calibri Light" panose="020F0302020204030204" pitchFamily="34" charset="0"/>
              </a:rPr>
              <a:t>Combinação de métodos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640D7-39DC-4343-99BA-15B704BED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825625"/>
            <a:ext cx="10858500" cy="4351338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Todas essas técnicas são aplicadas em uma variedade de problemas, incluindo extração de contornos, segmentação, melhoramento, entre outras.</a:t>
            </a:r>
          </a:p>
          <a:p>
            <a:pPr marL="0" indent="0">
              <a:buNone/>
            </a:pPr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Aqui estamos focando em melhoramento, e o exemplo a seguir ilustra como essas técnicas podem ser combinadas a fim de obter um resultado aceitável.</a:t>
            </a:r>
          </a:p>
          <a:p>
            <a:endParaRPr lang="pt-BR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Trata-se de um melhoramento feito em uma imagem de </a:t>
            </a:r>
            <a:r>
              <a:rPr lang="pt-BR" sz="24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raio-x</a:t>
            </a:r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CFD8C1-F738-5046-BD20-9A0E4359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19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22212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47567-7107-1344-AC95-828D746E0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BB99-5A3C-8543-8976-67381C1DCE7D}" type="slidenum">
              <a:rPr lang="en-BR" smtClean="0"/>
              <a:t>20</a:t>
            </a:fld>
            <a:endParaRPr lang="en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8A7900-3969-7447-9772-1713E2E14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2" y="0"/>
            <a:ext cx="5757476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606068-CDCD-F744-B4AF-788375736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765" y="0"/>
            <a:ext cx="56240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944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9238</TotalTime>
  <Words>1124</Words>
  <Application>Microsoft Macintosh PowerPoint</Application>
  <PresentationFormat>Widescreen</PresentationFormat>
  <Paragraphs>152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Wingdings</vt:lpstr>
      <vt:lpstr>Office Theme</vt:lpstr>
      <vt:lpstr>Processamento de Imagens   Aula 5  Transformações no Domínio Espacial  </vt:lpstr>
      <vt:lpstr>Relembrando...</vt:lpstr>
      <vt:lpstr>Relembrando...</vt:lpstr>
      <vt:lpstr>Filtros espaciais passa alta</vt:lpstr>
      <vt:lpstr>A derivada primeira e sua aproximação por diferença finita</vt:lpstr>
      <vt:lpstr>Propriedades da derivada primeira</vt:lpstr>
      <vt:lpstr>Derivada segunda e sua aproximação por diferenças finitas</vt:lpstr>
      <vt:lpstr>Propriedades da derivada segunda</vt:lpstr>
      <vt:lpstr>PowerPoint Presentation</vt:lpstr>
      <vt:lpstr>Filtro passa-altas:  laplaciano</vt:lpstr>
      <vt:lpstr>Variações do filtro laplaciano</vt:lpstr>
      <vt:lpstr>Aplicação: aguçamento de imagens usando o filtro laplaciano.</vt:lpstr>
      <vt:lpstr>PowerPoint Presentation</vt:lpstr>
      <vt:lpstr>Aplicação: aguçamento com máscara de suavização (unsharp mask)</vt:lpstr>
      <vt:lpstr>PowerPoint Presentation</vt:lpstr>
      <vt:lpstr>Filtros de aguçamento usando derivadas de primeira ordem</vt:lpstr>
      <vt:lpstr>Filtros de aguçamento usando derivadas de primeira ordem</vt:lpstr>
      <vt:lpstr>Filtros de aguçamento usando derivadas de primeira ordem</vt:lpstr>
      <vt:lpstr>Combinação de métodos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Linder Silva</cp:lastModifiedBy>
  <cp:revision>398</cp:revision>
  <cp:lastPrinted>2020-07-26T05:16:45Z</cp:lastPrinted>
  <dcterms:created xsi:type="dcterms:W3CDTF">2020-07-19T16:23:49Z</dcterms:created>
  <dcterms:modified xsi:type="dcterms:W3CDTF">2022-10-17T11:19:55Z</dcterms:modified>
</cp:coreProperties>
</file>